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7"/>
  </p:notesMasterIdLst>
  <p:sldIdLst>
    <p:sldId id="257" r:id="rId2"/>
    <p:sldId id="258" r:id="rId3"/>
    <p:sldId id="259" r:id="rId4"/>
    <p:sldId id="280" r:id="rId5"/>
    <p:sldId id="281" r:id="rId6"/>
    <p:sldId id="282" r:id="rId7"/>
    <p:sldId id="260" r:id="rId8"/>
    <p:sldId id="261" r:id="rId9"/>
    <p:sldId id="275" r:id="rId10"/>
    <p:sldId id="262" r:id="rId11"/>
    <p:sldId id="286" r:id="rId12"/>
    <p:sldId id="263" r:id="rId13"/>
    <p:sldId id="264" r:id="rId14"/>
    <p:sldId id="302" r:id="rId15"/>
    <p:sldId id="276" r:id="rId16"/>
    <p:sldId id="277" r:id="rId17"/>
    <p:sldId id="265" r:id="rId18"/>
    <p:sldId id="283" r:id="rId19"/>
    <p:sldId id="284" r:id="rId20"/>
    <p:sldId id="285" r:id="rId21"/>
    <p:sldId id="266" r:id="rId22"/>
    <p:sldId id="267" r:id="rId23"/>
    <p:sldId id="268" r:id="rId24"/>
    <p:sldId id="269" r:id="rId25"/>
    <p:sldId id="278" r:id="rId26"/>
    <p:sldId id="270" r:id="rId27"/>
    <p:sldId id="271" r:id="rId28"/>
    <p:sldId id="303" r:id="rId29"/>
    <p:sldId id="272" r:id="rId30"/>
    <p:sldId id="287" r:id="rId31"/>
    <p:sldId id="288" r:id="rId32"/>
    <p:sldId id="289" r:id="rId33"/>
    <p:sldId id="290" r:id="rId34"/>
    <p:sldId id="291" r:id="rId35"/>
    <p:sldId id="292" r:id="rId36"/>
    <p:sldId id="273" r:id="rId37"/>
    <p:sldId id="274" r:id="rId38"/>
    <p:sldId id="301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57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5" d="100"/>
          <a:sy n="85" d="100"/>
        </p:scale>
        <p:origin x="-3198" y="-84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3E55A8-D5CF-4CB6-A127-D1933B95FA4A}" type="datetimeFigureOut">
              <a:rPr lang="ko-KR" altLang="en-US" smtClean="0"/>
              <a:pPr/>
              <a:t>2013-03-18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817949-EA51-4397-99D6-3B2F4099EE7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2477270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1"/>
          <p:cNvSpPr>
            <a:spLocks noChangeArrowheads="1"/>
          </p:cNvSpPr>
          <p:nvPr/>
        </p:nvSpPr>
        <p:spPr bwMode="white">
          <a:xfrm>
            <a:off x="0" y="0"/>
            <a:ext cx="9144000" cy="3279775"/>
          </a:xfrm>
          <a:prstGeom prst="rect">
            <a:avLst/>
          </a:prstGeom>
          <a:gradFill rotWithShape="1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lin ang="27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>
              <a:ea typeface="굴림" charset="-127"/>
            </a:endParaRPr>
          </a:p>
        </p:txBody>
      </p:sp>
      <p:sp>
        <p:nvSpPr>
          <p:cNvPr id="5" name="Freeform 32"/>
          <p:cNvSpPr>
            <a:spLocks/>
          </p:cNvSpPr>
          <p:nvPr/>
        </p:nvSpPr>
        <p:spPr bwMode="gray">
          <a:xfrm>
            <a:off x="1285852" y="2000240"/>
            <a:ext cx="7859737" cy="1271598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gradFill rotWithShape="1">
            <a:gsLst>
              <a:gs pos="0">
                <a:schemeClr val="accent1">
                  <a:gamma/>
                  <a:shade val="12549"/>
                  <a:invGamma/>
                </a:schemeClr>
              </a:gs>
              <a:gs pos="100000">
                <a:schemeClr val="accent1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6" name="Freeform 33"/>
          <p:cNvSpPr>
            <a:spLocks/>
          </p:cNvSpPr>
          <p:nvPr/>
        </p:nvSpPr>
        <p:spPr bwMode="invGray">
          <a:xfrm>
            <a:off x="-6350" y="3273425"/>
            <a:ext cx="1292202" cy="454018"/>
          </a:xfrm>
          <a:custGeom>
            <a:avLst/>
            <a:gdLst>
              <a:gd name="connsiteX0" fmla="*/ 0 w 10000"/>
              <a:gd name="connsiteY0" fmla="*/ 0 h 9965"/>
              <a:gd name="connsiteX1" fmla="*/ 10000 w 10000"/>
              <a:gd name="connsiteY1" fmla="*/ 0 h 9965"/>
              <a:gd name="connsiteX2" fmla="*/ 8341 w 10000"/>
              <a:gd name="connsiteY2" fmla="*/ 9686 h 9965"/>
              <a:gd name="connsiteX3" fmla="*/ 0 w 10000"/>
              <a:gd name="connsiteY3" fmla="*/ 9965 h 9965"/>
              <a:gd name="connsiteX4" fmla="*/ 0 w 10000"/>
              <a:gd name="connsiteY4" fmla="*/ 0 h 9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9965">
                <a:moveTo>
                  <a:pt x="0" y="0"/>
                </a:moveTo>
                <a:lnTo>
                  <a:pt x="10000" y="0"/>
                </a:lnTo>
                <a:lnTo>
                  <a:pt x="8341" y="9686"/>
                </a:lnTo>
                <a:lnTo>
                  <a:pt x="0" y="996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071670" y="2285992"/>
            <a:ext cx="6715140" cy="685800"/>
          </a:xfrm>
        </p:spPr>
        <p:txBody>
          <a:bodyPr/>
          <a:lstStyle>
            <a:lvl1pPr algn="ctr">
              <a:defRPr sz="4400" b="1" i="0"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altLang="ko-K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286000" y="5638800"/>
            <a:ext cx="6400800" cy="533400"/>
          </a:xfrm>
        </p:spPr>
        <p:txBody>
          <a:bodyPr/>
          <a:lstStyle>
            <a:lvl1pPr marL="0" indent="0" algn="r">
              <a:buFontTx/>
              <a:buNone/>
              <a:defRPr sz="2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smtClean="0"/>
              <a:t>마스터 부제목 스타일 편집</a:t>
            </a:r>
            <a:endParaRPr lang="en-US" altLang="ko-KR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400800"/>
            <a:ext cx="2133600" cy="320675"/>
          </a:xfrm>
        </p:spPr>
        <p:txBody>
          <a:bodyPr/>
          <a:lstStyle>
            <a:lvl1pPr>
              <a:defRPr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ED16AAFA-4550-424F-9D6C-ADABFCF9C3D7}" type="datetimeFigureOut">
              <a:rPr lang="ko-KR" altLang="en-US" smtClean="0"/>
              <a:pPr/>
              <a:t>2013-03-18</a:t>
            </a:fld>
            <a:endParaRPr lang="ko-KR" altLang="en-US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400800"/>
            <a:ext cx="2895600" cy="320675"/>
          </a:xfrm>
        </p:spPr>
        <p:txBody>
          <a:bodyPr/>
          <a:lstStyle>
            <a:lvl1pPr>
              <a:defRPr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400800"/>
            <a:ext cx="2133600" cy="320675"/>
          </a:xfrm>
        </p:spPr>
        <p:txBody>
          <a:bodyPr/>
          <a:lstStyle>
            <a:lvl1pPr>
              <a:defRPr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7CEC74C1-0EC0-40F1-AA0B-9171B5E2F16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43174" y="227013"/>
            <a:ext cx="6500826" cy="762000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ED16AAFA-4550-424F-9D6C-ADABFCF9C3D7}" type="datetimeFigureOut">
              <a:rPr lang="ko-KR" altLang="en-US" smtClean="0"/>
              <a:pPr/>
              <a:t>2013-03-18</a:t>
            </a:fld>
            <a:endParaRPr lang="ko-KR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7CEC74C1-0EC0-40F1-AA0B-9171B5E2F16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ED16AAFA-4550-424F-9D6C-ADABFCF9C3D7}" type="datetimeFigureOut">
              <a:rPr lang="ko-KR" altLang="en-US" smtClean="0"/>
              <a:pPr/>
              <a:t>2013-03-18</a:t>
            </a:fld>
            <a:endParaRPr lang="ko-KR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7CEC74C1-0EC0-40F1-AA0B-9171B5E2F16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447800"/>
            <a:ext cx="4038600" cy="4949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4038600" cy="4949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ED16AAFA-4550-424F-9D6C-ADABFCF9C3D7}" type="datetimeFigureOut">
              <a:rPr lang="ko-KR" altLang="en-US" smtClean="0"/>
              <a:pPr/>
              <a:t>2013-03-18</a:t>
            </a:fld>
            <a:endParaRPr lang="ko-KR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7CEC74C1-0EC0-40F1-AA0B-9171B5E2F16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428860" y="71414"/>
            <a:ext cx="6257940" cy="1143000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ED16AAFA-4550-424F-9D6C-ADABFCF9C3D7}" type="datetimeFigureOut">
              <a:rPr lang="ko-KR" altLang="en-US" smtClean="0"/>
              <a:pPr/>
              <a:t>2013-03-18</a:t>
            </a:fld>
            <a:endParaRPr lang="ko-KR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7CEC74C1-0EC0-40F1-AA0B-9171B5E2F16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ED16AAFA-4550-424F-9D6C-ADABFCF9C3D7}" type="datetimeFigureOut">
              <a:rPr lang="ko-KR" altLang="en-US" smtClean="0"/>
              <a:pPr/>
              <a:t>2013-03-18</a:t>
            </a:fld>
            <a:endParaRPr lang="ko-KR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7CEC74C1-0EC0-40F1-AA0B-9171B5E2F166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6" name="직사각형 5"/>
          <p:cNvSpPr/>
          <p:nvPr userDrawn="1"/>
        </p:nvSpPr>
        <p:spPr bwMode="auto">
          <a:xfrm>
            <a:off x="0" y="1500174"/>
            <a:ext cx="9144000" cy="535782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ED16AAFA-4550-424F-9D6C-ADABFCF9C3D7}" type="datetimeFigureOut">
              <a:rPr lang="ko-KR" altLang="en-US" smtClean="0"/>
              <a:pPr/>
              <a:t>2013-03-18</a:t>
            </a:fld>
            <a:endParaRPr lang="ko-KR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7CEC74C1-0EC0-40F1-AA0B-9171B5E2F16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ED16AAFA-4550-424F-9D6C-ADABFCF9C3D7}" type="datetimeFigureOut">
              <a:rPr lang="ko-KR" altLang="en-US" smtClean="0"/>
              <a:pPr/>
              <a:t>2013-03-18</a:t>
            </a:fld>
            <a:endParaRPr lang="ko-KR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7CEC74C1-0EC0-40F1-AA0B-9171B5E2F16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ko-KR" altLang="en-US" noProof="0" smtClean="0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ED16AAFA-4550-424F-9D6C-ADABFCF9C3D7}" type="datetimeFigureOut">
              <a:rPr lang="ko-KR" altLang="en-US" smtClean="0"/>
              <a:pPr/>
              <a:t>2013-03-18</a:t>
            </a:fld>
            <a:endParaRPr lang="ko-KR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7CEC74C1-0EC0-40F1-AA0B-9171B5E2F16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ED16AAFA-4550-424F-9D6C-ADABFCF9C3D7}" type="datetimeFigureOut">
              <a:rPr lang="ko-KR" altLang="en-US" smtClean="0"/>
              <a:pPr/>
              <a:t>2013-03-18</a:t>
            </a:fld>
            <a:endParaRPr lang="ko-KR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7CEC74C1-0EC0-40F1-AA0B-9171B5E2F16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62738" y="227013"/>
            <a:ext cx="2068512" cy="6170612"/>
          </a:xfrm>
        </p:spPr>
        <p:txBody>
          <a:bodyPr vert="eaVert"/>
          <a:lstStyle>
            <a:lvl1pPr>
              <a:defRPr sz="36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27013"/>
            <a:ext cx="6053138" cy="6170612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ED16AAFA-4550-424F-9D6C-ADABFCF9C3D7}" type="datetimeFigureOut">
              <a:rPr lang="ko-KR" altLang="en-US" smtClean="0"/>
              <a:pPr/>
              <a:t>2013-03-18</a:t>
            </a:fld>
            <a:endParaRPr lang="ko-KR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7CEC74C1-0EC0-40F1-AA0B-9171B5E2F16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406650" y="227013"/>
            <a:ext cx="6324600" cy="762000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457200" y="1447800"/>
            <a:ext cx="8229600" cy="4949825"/>
          </a:xfrm>
        </p:spPr>
        <p:txBody>
          <a:bodyPr/>
          <a:lstStyle/>
          <a:p>
            <a:pPr lvl="0"/>
            <a:r>
              <a:rPr lang="ko-KR" altLang="en-US" noProof="0" smtClean="0"/>
              <a:t>표를 추가하려면 아이콘을 클릭하십시오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ED16AAFA-4550-424F-9D6C-ADABFCF9C3D7}" type="datetimeFigureOut">
              <a:rPr lang="ko-KR" altLang="en-US" smtClean="0"/>
              <a:pPr/>
              <a:t>2013-03-18</a:t>
            </a:fld>
            <a:endParaRPr lang="ko-KR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7CEC74C1-0EC0-40F1-AA0B-9171B5E2F16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vmlDrawing" Target="../drawings/vmlDrawing1.v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1">
                <a:gamma/>
                <a:tint val="39216"/>
                <a:invGamma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31"/>
          <p:cNvSpPr>
            <a:spLocks noChangeArrowheads="1"/>
          </p:cNvSpPr>
          <p:nvPr/>
        </p:nvSpPr>
        <p:spPr bwMode="white">
          <a:xfrm>
            <a:off x="0" y="0"/>
            <a:ext cx="9144000" cy="965200"/>
          </a:xfrm>
          <a:prstGeom prst="rect">
            <a:avLst/>
          </a:prstGeom>
          <a:gradFill rotWithShape="1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lin ang="27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>
              <a:ea typeface="굴림" charset="-127"/>
            </a:endParaRPr>
          </a:p>
        </p:txBody>
      </p:sp>
      <p:graphicFrame>
        <p:nvGraphicFramePr>
          <p:cNvPr id="1026" name="Object 19"/>
          <p:cNvGraphicFramePr>
            <a:graphicFrameLocks noChangeAspect="1"/>
          </p:cNvGraphicFramePr>
          <p:nvPr userDrawn="1"/>
        </p:nvGraphicFramePr>
        <p:xfrm>
          <a:off x="2987675" y="2736850"/>
          <a:ext cx="6156325" cy="4121150"/>
        </p:xfrm>
        <a:graphic>
          <a:graphicData uri="http://schemas.openxmlformats.org/presentationml/2006/ole">
            <p:oleObj spid="_x0000_s1029" name="Image" r:id="rId15" imgW="7949206" imgH="5320635" progId="">
              <p:embed/>
            </p:oleObj>
          </a:graphicData>
        </a:graphic>
      </p:graphicFrame>
      <p:sp>
        <p:nvSpPr>
          <p:cNvPr id="1045" name="Freeform 21"/>
          <p:cNvSpPr>
            <a:spLocks/>
          </p:cNvSpPr>
          <p:nvPr/>
        </p:nvSpPr>
        <p:spPr bwMode="gray">
          <a:xfrm>
            <a:off x="1828800" y="246063"/>
            <a:ext cx="7315200" cy="720725"/>
          </a:xfrm>
          <a:custGeom>
            <a:avLst/>
            <a:gdLst/>
            <a:ahLst/>
            <a:cxnLst>
              <a:cxn ang="0">
                <a:pos x="0" y="454"/>
              </a:cxn>
              <a:cxn ang="0">
                <a:pos x="4798" y="454"/>
              </a:cxn>
              <a:cxn ang="0">
                <a:pos x="4798" y="0"/>
              </a:cxn>
              <a:cxn ang="0">
                <a:pos x="382" y="3"/>
              </a:cxn>
              <a:cxn ang="0">
                <a:pos x="0" y="454"/>
              </a:cxn>
            </a:cxnLst>
            <a:rect l="0" t="0" r="r" b="b"/>
            <a:pathLst>
              <a:path w="4798" h="454">
                <a:moveTo>
                  <a:pt x="0" y="454"/>
                </a:moveTo>
                <a:lnTo>
                  <a:pt x="4798" y="454"/>
                </a:lnTo>
                <a:lnTo>
                  <a:pt x="4798" y="0"/>
                </a:lnTo>
                <a:lnTo>
                  <a:pt x="382" y="3"/>
                </a:lnTo>
                <a:lnTo>
                  <a:pt x="0" y="454"/>
                </a:lnTo>
                <a:close/>
              </a:path>
            </a:pathLst>
          </a:cu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1046" name="Freeform 22"/>
          <p:cNvSpPr>
            <a:spLocks/>
          </p:cNvSpPr>
          <p:nvPr/>
        </p:nvSpPr>
        <p:spPr bwMode="gray">
          <a:xfrm>
            <a:off x="0" y="966788"/>
            <a:ext cx="1828800" cy="28892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338" y="0"/>
              </a:cxn>
              <a:cxn ang="0">
                <a:pos x="1138" y="182"/>
              </a:cxn>
              <a:cxn ang="0">
                <a:pos x="0" y="181"/>
              </a:cxn>
              <a:cxn ang="0">
                <a:pos x="0" y="0"/>
              </a:cxn>
            </a:cxnLst>
            <a:rect l="0" t="0" r="r" b="b"/>
            <a:pathLst>
              <a:path w="1338" h="182">
                <a:moveTo>
                  <a:pt x="0" y="0"/>
                </a:moveTo>
                <a:lnTo>
                  <a:pt x="1338" y="0"/>
                </a:lnTo>
                <a:lnTo>
                  <a:pt x="1138" y="182"/>
                </a:lnTo>
                <a:lnTo>
                  <a:pt x="0" y="18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1031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2406650" y="227013"/>
            <a:ext cx="63246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  <a:endParaRPr lang="en-US" altLang="ko-KR" smtClean="0"/>
          </a:p>
        </p:txBody>
      </p:sp>
      <p:sp>
        <p:nvSpPr>
          <p:cNvPr id="103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447800"/>
            <a:ext cx="8229600" cy="494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altLang="ko-KR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77000"/>
            <a:ext cx="2133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ea typeface="굴림" charset="-127"/>
              </a:defRPr>
            </a:lvl1pPr>
          </a:lstStyle>
          <a:p>
            <a:fld id="{ED16AAFA-4550-424F-9D6C-ADABFCF9C3D7}" type="datetimeFigureOut">
              <a:rPr lang="ko-KR" altLang="en-US" smtClean="0"/>
              <a:pPr/>
              <a:t>2013-03-18</a:t>
            </a:fld>
            <a:endParaRPr lang="ko-KR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77000"/>
            <a:ext cx="2895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>
                <a:ea typeface="굴림" charset="-127"/>
              </a:defRPr>
            </a:lvl1pPr>
          </a:lstStyle>
          <a:p>
            <a:endParaRPr lang="ko-KR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77000"/>
            <a:ext cx="2133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>
                <a:ea typeface="굴림" charset="-127"/>
              </a:defRPr>
            </a:lvl1pPr>
          </a:lstStyle>
          <a:p>
            <a:fld id="{7CEC74C1-0EC0-40F1-AA0B-9171B5E2F16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sz="4000" b="1" i="0">
          <a:solidFill>
            <a:schemeClr val="bg1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sz="4000" i="1">
          <a:solidFill>
            <a:schemeClr val="bg1"/>
          </a:solidFill>
          <a:latin typeface="Arial" charset="0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sz="4000" i="1">
          <a:solidFill>
            <a:schemeClr val="bg1"/>
          </a:solidFill>
          <a:latin typeface="Arial" charset="0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sz="4000" i="1">
          <a:solidFill>
            <a:schemeClr val="bg1"/>
          </a:solidFill>
          <a:latin typeface="Arial" charset="0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sz="4000" i="1">
          <a:solidFill>
            <a:schemeClr val="bg1"/>
          </a:solidFill>
          <a:latin typeface="Arial" charset="0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sz="4000" i="1">
          <a:solidFill>
            <a:schemeClr val="bg1"/>
          </a:solidFill>
          <a:latin typeface="Arial" charset="0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sz="4000" i="1">
          <a:solidFill>
            <a:schemeClr val="bg1"/>
          </a:solidFill>
          <a:latin typeface="Arial" charset="0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sz="4000" i="1">
          <a:solidFill>
            <a:schemeClr val="bg1"/>
          </a:solidFill>
          <a:latin typeface="Arial" charset="0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sz="4000" i="1">
          <a:solidFill>
            <a:schemeClr val="bg1"/>
          </a:solidFill>
          <a:latin typeface="Arial" charset="0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har char="•"/>
        <a:defRPr sz="3200">
          <a:solidFill>
            <a:srgbClr val="000000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har char="–"/>
        <a:defRPr sz="2800">
          <a:solidFill>
            <a:srgbClr val="000000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sz="2400">
          <a:solidFill>
            <a:srgbClr val="000000"/>
          </a:solidFill>
          <a:latin typeface="맑은 고딕" pitchFamily="50" charset="-127"/>
          <a:ea typeface="맑은 고딕" pitchFamily="50" charset="-127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har char="–"/>
        <a:defRPr sz="2000">
          <a:solidFill>
            <a:srgbClr val="000000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sz="2000">
          <a:solidFill>
            <a:srgbClr val="000000"/>
          </a:solidFill>
          <a:latin typeface="맑은 고딕" pitchFamily="50" charset="-127"/>
          <a:ea typeface="맑은 고딕" pitchFamily="50" charset="-127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download.oracle.com/javase/7/docs/api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eclipse.org/downloads/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smtClean="0"/>
              <a:t>Java Basic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 Java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 latinLnBrk="0">
              <a:buFont typeface="Wingdings" pitchFamily="2" charset="2"/>
              <a:buChar char="v"/>
            </a:pPr>
            <a:r>
              <a:rPr lang="en-US" altLang="ko-KR" sz="1600" dirty="0" smtClean="0"/>
              <a:t>JAVA</a:t>
            </a:r>
            <a:endParaRPr lang="ko-KR" altLang="ko-KR" sz="1600" dirty="0"/>
          </a:p>
          <a:p>
            <a:pPr lvl="2" latinLnBrk="0">
              <a:buFont typeface="Wingdings" pitchFamily="2" charset="2"/>
              <a:buChar char="v"/>
            </a:pPr>
            <a:r>
              <a:rPr lang="en-US" altLang="ko-KR" sz="1600" dirty="0" smtClean="0"/>
              <a:t>1995</a:t>
            </a:r>
            <a:r>
              <a:rPr lang="ko-KR" altLang="ko-KR" sz="1600" dirty="0" smtClean="0"/>
              <a:t>년에 </a:t>
            </a:r>
            <a:r>
              <a:rPr lang="ko-KR" altLang="ko-KR" sz="1600" dirty="0"/>
              <a:t>공식적으로 발표한 </a:t>
            </a:r>
            <a:r>
              <a:rPr lang="en-US" altLang="ko-KR" sz="1600" dirty="0"/>
              <a:t>SUN Micro Systems</a:t>
            </a:r>
            <a:r>
              <a:rPr lang="ko-KR" altLang="ko-KR" sz="1600" dirty="0"/>
              <a:t>에서 개발한 객체 지향 프로그래밍 언어</a:t>
            </a:r>
          </a:p>
          <a:p>
            <a:pPr lvl="1" latinLnBrk="0">
              <a:buFont typeface="Wingdings" pitchFamily="2" charset="2"/>
              <a:buChar char="v"/>
            </a:pPr>
            <a:endParaRPr lang="ko-KR" altLang="ko-KR" sz="1600" dirty="0"/>
          </a:p>
          <a:p>
            <a:pPr lvl="1" latinLnBrk="0">
              <a:buFont typeface="Wingdings" pitchFamily="2" charset="2"/>
              <a:buChar char="v"/>
            </a:pPr>
            <a:r>
              <a:rPr lang="ko-KR" altLang="ko-KR" sz="1600" dirty="0" smtClean="0"/>
              <a:t>등장배경</a:t>
            </a:r>
            <a:endParaRPr lang="ko-KR" altLang="ko-KR" sz="1600" dirty="0"/>
          </a:p>
          <a:p>
            <a:pPr lvl="2" latinLnBrk="0">
              <a:buFont typeface="Wingdings" pitchFamily="2" charset="2"/>
              <a:buChar char="v"/>
            </a:pPr>
            <a:r>
              <a:rPr lang="ko-KR" altLang="en-US" sz="1600" dirty="0" smtClean="0"/>
              <a:t>플랫폼 호환성 문제 해결</a:t>
            </a:r>
          </a:p>
          <a:p>
            <a:pPr lvl="2" latinLnBrk="0">
              <a:buFont typeface="Wingdings" pitchFamily="2" charset="2"/>
              <a:buChar char="v"/>
            </a:pPr>
            <a:r>
              <a:rPr lang="ko-KR" altLang="en-US" sz="1600" dirty="0" smtClean="0"/>
              <a:t>플랫폼 독립적인 언어 개발</a:t>
            </a:r>
          </a:p>
          <a:p>
            <a:pPr lvl="1" latinLnBrk="0">
              <a:buFont typeface="Wingdings" pitchFamily="2" charset="2"/>
              <a:buChar char="v"/>
            </a:pPr>
            <a:endParaRPr lang="ko-KR" altLang="ko-KR" sz="1600" dirty="0"/>
          </a:p>
          <a:p>
            <a:pPr lvl="1" latinLnBrk="0">
              <a:buFont typeface="Wingdings" pitchFamily="2" charset="2"/>
              <a:buChar char="v"/>
            </a:pPr>
            <a:r>
              <a:rPr lang="en-US" altLang="ko-KR" sz="1600" dirty="0"/>
              <a:t>Java </a:t>
            </a:r>
            <a:r>
              <a:rPr lang="ko-KR" altLang="ko-KR" sz="1600" dirty="0"/>
              <a:t>이름의 </a:t>
            </a:r>
            <a:r>
              <a:rPr lang="ko-KR" altLang="ko-KR" sz="1600" dirty="0" smtClean="0"/>
              <a:t>유래</a:t>
            </a:r>
            <a:endParaRPr lang="en-US" altLang="ko-KR" sz="1600" dirty="0" smtClean="0"/>
          </a:p>
          <a:p>
            <a:pPr lvl="2" latinLnBrk="0">
              <a:buFont typeface="Wingdings" pitchFamily="2" charset="2"/>
              <a:buChar char="v"/>
            </a:pPr>
            <a:r>
              <a:rPr lang="ko-KR" altLang="ko-KR" sz="1600" dirty="0" smtClean="0"/>
              <a:t>자바라는 </a:t>
            </a:r>
            <a:r>
              <a:rPr lang="ko-KR" altLang="ko-KR" sz="1600" dirty="0"/>
              <a:t>이름은 인도네시아 산 커피 원료 이름</a:t>
            </a:r>
            <a:r>
              <a:rPr lang="en-US" altLang="ko-KR" sz="1600" dirty="0"/>
              <a:t> "</a:t>
            </a:r>
            <a:r>
              <a:rPr lang="ko-KR" altLang="ko-KR" sz="1600" dirty="0"/>
              <a:t>자바</a:t>
            </a:r>
            <a:r>
              <a:rPr lang="en-US" altLang="ko-KR" sz="1600" dirty="0"/>
              <a:t>"</a:t>
            </a:r>
            <a:r>
              <a:rPr lang="ko-KR" altLang="ko-KR" sz="1600" dirty="0"/>
              <a:t>에서 유래</a:t>
            </a:r>
            <a:r>
              <a:rPr lang="en-US" altLang="ko-KR" sz="1600" dirty="0"/>
              <a:t> (</a:t>
            </a:r>
            <a:r>
              <a:rPr lang="ko-KR" altLang="ko-KR" sz="1600" dirty="0"/>
              <a:t>잠들지 않는 인터넷과 의미가 상통</a:t>
            </a:r>
            <a:r>
              <a:rPr lang="en-US" altLang="ko-KR" sz="1600" dirty="0"/>
              <a:t>) </a:t>
            </a:r>
            <a:endParaRPr lang="ko-KR" altLang="ko-KR" sz="1600" dirty="0"/>
          </a:p>
          <a:p>
            <a:pPr lvl="1">
              <a:buFont typeface="Wingdings" pitchFamily="2" charset="2"/>
              <a:buChar char="v"/>
            </a:pPr>
            <a:endParaRPr lang="ko-KR" altLang="en-US" sz="1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 Java</a:t>
            </a:r>
            <a:r>
              <a:rPr lang="ko-KR" altLang="en-US" dirty="0" smtClean="0"/>
              <a:t> 특징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atinLnBrk="0">
              <a:buFont typeface="Wingdings" pitchFamily="2" charset="2"/>
              <a:buChar char="v"/>
            </a:pPr>
            <a:r>
              <a:rPr lang="ko-KR" altLang="en-US" sz="1600" dirty="0" smtClean="0"/>
              <a:t>운영체제에 독립적이고 객체지향언어</a:t>
            </a:r>
            <a:endParaRPr lang="en-US" altLang="ko-KR" sz="1600" dirty="0" smtClean="0"/>
          </a:p>
          <a:p>
            <a:pPr lvl="1" latinLnBrk="0">
              <a:buFont typeface="Wingdings" pitchFamily="2" charset="2"/>
              <a:buChar char="v"/>
            </a:pPr>
            <a:r>
              <a:rPr lang="ko-KR" altLang="en-US" sz="1400" dirty="0" smtClean="0"/>
              <a:t>플랫폼 독립성</a:t>
            </a:r>
            <a:r>
              <a:rPr lang="en-US" altLang="ko-KR" sz="1400" dirty="0" smtClean="0"/>
              <a:t>(Write Once, Use Anywhere)</a:t>
            </a:r>
          </a:p>
          <a:p>
            <a:pPr lvl="1" latinLnBrk="0">
              <a:buFont typeface="Wingdings" pitchFamily="2" charset="2"/>
              <a:buChar char="v"/>
            </a:pPr>
            <a:r>
              <a:rPr lang="en-US" altLang="ko-KR" sz="1400" dirty="0" smtClean="0"/>
              <a:t>OS</a:t>
            </a:r>
            <a:r>
              <a:rPr lang="ko-KR" altLang="en-US" sz="1400" dirty="0" smtClean="0"/>
              <a:t>에 상관없이 어떠한 </a:t>
            </a:r>
            <a:r>
              <a:rPr lang="en-US" altLang="ko-KR" sz="1400" dirty="0" smtClean="0"/>
              <a:t>OS </a:t>
            </a:r>
            <a:r>
              <a:rPr lang="ko-KR" altLang="en-US" sz="1400" dirty="0" smtClean="0"/>
              <a:t>기반 위에서도 동작하며 완벽한 객체지향언어</a:t>
            </a:r>
            <a:endParaRPr lang="en-US" altLang="ko-KR" sz="1400" dirty="0" smtClean="0"/>
          </a:p>
          <a:p>
            <a:pPr latinLnBrk="0">
              <a:buFont typeface="Wingdings" pitchFamily="2" charset="2"/>
              <a:buChar char="v"/>
            </a:pPr>
            <a:r>
              <a:rPr lang="ko-KR" altLang="en-US" sz="1600" dirty="0" smtClean="0"/>
              <a:t>메모리 관리를 </a:t>
            </a:r>
            <a:r>
              <a:rPr lang="en-US" altLang="ko-KR" sz="1600" dirty="0" smtClean="0"/>
              <a:t>Garbage Collection</a:t>
            </a:r>
            <a:r>
              <a:rPr lang="ko-KR" altLang="en-US" sz="1600" dirty="0" smtClean="0"/>
              <a:t>이 자동으로 수행</a:t>
            </a:r>
            <a:endParaRPr lang="en-US" altLang="ko-KR" sz="1600" dirty="0" smtClean="0"/>
          </a:p>
          <a:p>
            <a:pPr latinLnBrk="0">
              <a:buFont typeface="Wingdings" pitchFamily="2" charset="2"/>
              <a:buChar char="v"/>
            </a:pPr>
            <a:r>
              <a:rPr lang="ko-KR" altLang="en-US" sz="1600" dirty="0" smtClean="0"/>
              <a:t>네트워크에 강하고 </a:t>
            </a:r>
            <a:r>
              <a:rPr lang="ko-KR" altLang="en-US" sz="1600" dirty="0" err="1" smtClean="0"/>
              <a:t>보안성이</a:t>
            </a:r>
            <a:r>
              <a:rPr lang="ko-KR" altLang="en-US" sz="1600" dirty="0" smtClean="0"/>
              <a:t> 높아서 분산처리 환경에 적합</a:t>
            </a:r>
            <a:endParaRPr lang="en-US" altLang="ko-KR" sz="1600" dirty="0" smtClean="0"/>
          </a:p>
          <a:p>
            <a:pPr latinLnBrk="0">
              <a:buFont typeface="Wingdings" pitchFamily="2" charset="2"/>
              <a:buChar char="v"/>
            </a:pPr>
            <a:r>
              <a:rPr lang="en-US" altLang="ko-KR" sz="1600" dirty="0" smtClean="0"/>
              <a:t>API</a:t>
            </a:r>
            <a:r>
              <a:rPr lang="ko-KR" altLang="en-US" sz="1600" dirty="0" smtClean="0"/>
              <a:t>제공</a:t>
            </a:r>
            <a:r>
              <a:rPr lang="en-US" altLang="ko-KR" sz="1600" dirty="0" smtClean="0"/>
              <a:t>(Application Programming Interface)</a:t>
            </a:r>
          </a:p>
          <a:p>
            <a:pPr lvl="1" latinLnBrk="0">
              <a:buFont typeface="Wingdings" pitchFamily="2" charset="2"/>
              <a:buChar char="v"/>
            </a:pPr>
            <a:r>
              <a:rPr lang="en-US" altLang="ko-KR" sz="1600" dirty="0" smtClean="0"/>
              <a:t>JAVA API: </a:t>
            </a:r>
            <a:r>
              <a:rPr lang="en-US" altLang="ko-KR" sz="1600" dirty="0" smtClean="0">
                <a:hlinkClick r:id="rId2"/>
              </a:rPr>
              <a:t>http://download.oracle.com/javase/7/docs/api/</a:t>
            </a:r>
            <a:endParaRPr lang="en-US" altLang="ko-KR" sz="1600" dirty="0" smtClean="0"/>
          </a:p>
          <a:p>
            <a:pPr latinLnBrk="0">
              <a:buFont typeface="Wingdings" pitchFamily="2" charset="2"/>
              <a:buChar char="v"/>
            </a:pPr>
            <a:r>
              <a:rPr lang="ko-KR" altLang="en-US" sz="1600" dirty="0" smtClean="0"/>
              <a:t>인터프리터 언어</a:t>
            </a:r>
            <a:r>
              <a:rPr lang="en-US" altLang="ko-KR" sz="1600" dirty="0" smtClean="0"/>
              <a:t>: </a:t>
            </a:r>
            <a:r>
              <a:rPr lang="ko-KR" altLang="en-US" sz="1600" dirty="0" smtClean="0"/>
              <a:t>동적 로딩</a:t>
            </a:r>
            <a:r>
              <a:rPr lang="en-US" altLang="ko-KR" sz="1600" dirty="0" smtClean="0"/>
              <a:t>(</a:t>
            </a:r>
            <a:r>
              <a:rPr lang="ko-KR" altLang="en-US" sz="1600" dirty="0" smtClean="0"/>
              <a:t>실행 시 메모리를 할당</a:t>
            </a:r>
            <a:r>
              <a:rPr lang="en-US" altLang="ko-KR" sz="1600" dirty="0" smtClean="0"/>
              <a:t>)</a:t>
            </a:r>
            <a:r>
              <a:rPr lang="ko-KR" altLang="en-US" sz="1600" dirty="0" smtClean="0"/>
              <a:t>을 지원</a:t>
            </a:r>
            <a:endParaRPr lang="en-US" altLang="ko-KR" sz="1600" dirty="0" smtClean="0"/>
          </a:p>
          <a:p>
            <a:pPr latinLnBrk="0">
              <a:buFont typeface="Wingdings" pitchFamily="2" charset="2"/>
              <a:buChar char="v"/>
            </a:pPr>
            <a:r>
              <a:rPr lang="ko-KR" altLang="en-US" sz="1600" dirty="0" smtClean="0"/>
              <a:t>다운로드</a:t>
            </a:r>
            <a:endParaRPr lang="en-US" altLang="ko-KR" sz="1600" dirty="0" smtClean="0"/>
          </a:p>
          <a:p>
            <a:pPr lvl="1" latinLnBrk="0">
              <a:buFont typeface="Wingdings" pitchFamily="2" charset="2"/>
              <a:buChar char="v"/>
            </a:pPr>
            <a:r>
              <a:rPr lang="en-US" altLang="ko-KR" sz="1600" dirty="0" smtClean="0"/>
              <a:t>http://java.sun.com/javase/downloads/index.jsp</a:t>
            </a:r>
            <a:endParaRPr lang="ko-KR" altLang="en-US" sz="1600" dirty="0" smtClean="0"/>
          </a:p>
          <a:p>
            <a:pPr>
              <a:buFont typeface="Wingdings" pitchFamily="2" charset="2"/>
              <a:buChar char="v"/>
            </a:pPr>
            <a:endParaRPr lang="ko-KR" altLang="en-US" sz="1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684574" y="3902029"/>
            <a:ext cx="774720" cy="1485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681537" y="3886647"/>
            <a:ext cx="978172" cy="9320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483768" y="980728"/>
            <a:ext cx="4536504" cy="473968"/>
          </a:xfrm>
        </p:spPr>
        <p:txBody>
          <a:bodyPr/>
          <a:lstStyle/>
          <a:p>
            <a:r>
              <a:rPr lang="ko-KR" altLang="en-US" sz="2000" dirty="0" smtClean="0">
                <a:solidFill>
                  <a:srgbClr val="FF0000"/>
                </a:solidFill>
                <a:cs typeface="Arial" pitchFamily="34" charset="0"/>
              </a:rPr>
              <a:t>플랫폼 종속성</a:t>
            </a:r>
            <a:r>
              <a:rPr lang="en-US" altLang="ko-KR" sz="2000" dirty="0" smtClean="0">
                <a:solidFill>
                  <a:srgbClr val="FF0000"/>
                </a:solidFill>
                <a:cs typeface="Arial" pitchFamily="34" charset="0"/>
              </a:rPr>
              <a:t>(platform dependency)</a:t>
            </a:r>
            <a:endParaRPr lang="ko-KR" altLang="en-US" sz="2000" dirty="0">
              <a:solidFill>
                <a:srgbClr val="FF0000"/>
              </a:solidFill>
              <a:cs typeface="Arial" pitchFamily="34" charset="0"/>
            </a:endParaRPr>
          </a:p>
        </p:txBody>
      </p:sp>
      <p:sp>
        <p:nvSpPr>
          <p:cNvPr id="30" name="슬라이드 번호 개체 틀 29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A6BD2C2-3D3B-4E94-BD92-61B02C5F4DEE}" type="slidenum">
              <a:rPr lang="ko-KR" altLang="en-US" b="1" smtClean="0"/>
              <a:pPr/>
              <a:t>4</a:t>
            </a:fld>
            <a:endParaRPr lang="ko-KR" altLang="en-US" b="1"/>
          </a:p>
        </p:txBody>
      </p:sp>
      <p:sp>
        <p:nvSpPr>
          <p:cNvPr id="7" name="TextBox 6"/>
          <p:cNvSpPr txBox="1"/>
          <p:nvPr/>
        </p:nvSpPr>
        <p:spPr>
          <a:xfrm>
            <a:off x="928662" y="5143512"/>
            <a:ext cx="17859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 smtClean="0"/>
              <a:t>인텔 </a:t>
            </a:r>
            <a:r>
              <a:rPr lang="en-US" altLang="ko-KR" sz="1400" b="1" dirty="0" smtClean="0"/>
              <a:t>CPU + </a:t>
            </a:r>
            <a:r>
              <a:rPr lang="ko-KR" altLang="en-US" sz="1400" b="1" dirty="0" err="1" smtClean="0"/>
              <a:t>리눅스</a:t>
            </a:r>
            <a:endParaRPr lang="ko-KR" altLang="en-US" sz="1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3071802" y="5429264"/>
            <a:ext cx="2071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/>
              <a:t>Apple </a:t>
            </a:r>
            <a:r>
              <a:rPr lang="ko-KR" altLang="en-US" sz="1400" b="1" dirty="0" smtClean="0"/>
              <a:t>사의 </a:t>
            </a:r>
            <a:r>
              <a:rPr lang="en-US" altLang="ko-KR" sz="1400" b="1" dirty="0" smtClean="0"/>
              <a:t>MAC PC</a:t>
            </a:r>
            <a:endParaRPr lang="ko-KR" altLang="en-US" sz="1400" b="1" dirty="0"/>
          </a:p>
        </p:txBody>
      </p:sp>
      <p:sp>
        <p:nvSpPr>
          <p:cNvPr id="10" name="한쪽 모서리가 잘린 사각형 9"/>
          <p:cNvSpPr/>
          <p:nvPr/>
        </p:nvSpPr>
        <p:spPr>
          <a:xfrm>
            <a:off x="3500430" y="2143116"/>
            <a:ext cx="1431610" cy="571504"/>
          </a:xfrm>
          <a:prstGeom prst="snip1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 smtClean="0">
                <a:solidFill>
                  <a:schemeClr val="tx1"/>
                </a:solidFill>
              </a:rPr>
              <a:t>C/C++</a:t>
            </a:r>
            <a:r>
              <a:rPr lang="ko-KR" altLang="en-US" sz="1400" b="1" dirty="0" smtClean="0">
                <a:solidFill>
                  <a:schemeClr val="tx1"/>
                </a:solidFill>
              </a:rPr>
              <a:t> </a:t>
            </a:r>
            <a:endParaRPr lang="en-US" altLang="ko-KR" sz="1400" b="1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1400" b="1" dirty="0" smtClean="0">
                <a:solidFill>
                  <a:schemeClr val="tx1"/>
                </a:solidFill>
              </a:rPr>
              <a:t>응용 프로그램</a:t>
            </a:r>
            <a:endParaRPr lang="ko-KR" altLang="en-US" sz="1400" b="1" dirty="0">
              <a:solidFill>
                <a:schemeClr val="tx1"/>
              </a:solidFill>
            </a:endParaRPr>
          </a:p>
        </p:txBody>
      </p:sp>
      <p:cxnSp>
        <p:nvCxnSpPr>
          <p:cNvPr id="11" name="직선 화살표 연결선 10"/>
          <p:cNvCxnSpPr>
            <a:endCxn id="10" idx="2"/>
          </p:cNvCxnSpPr>
          <p:nvPr/>
        </p:nvCxnSpPr>
        <p:spPr>
          <a:xfrm>
            <a:off x="2214546" y="2428868"/>
            <a:ext cx="1285884" cy="0"/>
          </a:xfrm>
          <a:prstGeom prst="straightConnector1">
            <a:avLst/>
          </a:prstGeom>
          <a:ln w="190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자유형 11"/>
          <p:cNvSpPr/>
          <p:nvPr/>
        </p:nvSpPr>
        <p:spPr>
          <a:xfrm>
            <a:off x="1960465" y="2706483"/>
            <a:ext cx="2045109" cy="1415845"/>
          </a:xfrm>
          <a:custGeom>
            <a:avLst/>
            <a:gdLst>
              <a:gd name="connsiteX0" fmla="*/ 2045109 w 2045109"/>
              <a:gd name="connsiteY0" fmla="*/ 0 h 1415845"/>
              <a:gd name="connsiteX1" fmla="*/ 1130709 w 2045109"/>
              <a:gd name="connsiteY1" fmla="*/ 570271 h 1415845"/>
              <a:gd name="connsiteX2" fmla="*/ 353961 w 2045109"/>
              <a:gd name="connsiteY2" fmla="*/ 894736 h 1415845"/>
              <a:gd name="connsiteX3" fmla="*/ 0 w 2045109"/>
              <a:gd name="connsiteY3" fmla="*/ 1415845 h 1415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45109" h="1415845">
                <a:moveTo>
                  <a:pt x="2045109" y="0"/>
                </a:moveTo>
                <a:cubicBezTo>
                  <a:pt x="1728838" y="210574"/>
                  <a:pt x="1412567" y="421148"/>
                  <a:pt x="1130709" y="570271"/>
                </a:cubicBezTo>
                <a:cubicBezTo>
                  <a:pt x="848851" y="719394"/>
                  <a:pt x="542413" y="753807"/>
                  <a:pt x="353961" y="894736"/>
                </a:cubicBezTo>
                <a:cubicBezTo>
                  <a:pt x="165510" y="1035665"/>
                  <a:pt x="82755" y="1225755"/>
                  <a:pt x="0" y="1415845"/>
                </a:cubicBezTo>
              </a:path>
            </a:pathLst>
          </a:custGeom>
          <a:ln w="19050">
            <a:solidFill>
              <a:srgbClr val="00B050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b="1"/>
          </a:p>
        </p:txBody>
      </p:sp>
      <p:sp>
        <p:nvSpPr>
          <p:cNvPr id="13" name="자유형 12"/>
          <p:cNvSpPr/>
          <p:nvPr/>
        </p:nvSpPr>
        <p:spPr>
          <a:xfrm>
            <a:off x="3849897" y="2726149"/>
            <a:ext cx="150600" cy="1202918"/>
          </a:xfrm>
          <a:custGeom>
            <a:avLst/>
            <a:gdLst>
              <a:gd name="connsiteX0" fmla="*/ 175343 w 175343"/>
              <a:gd name="connsiteY0" fmla="*/ 0 h 1504335"/>
              <a:gd name="connsiteX1" fmla="*/ 8194 w 175343"/>
              <a:gd name="connsiteY1" fmla="*/ 688258 h 1504335"/>
              <a:gd name="connsiteX2" fmla="*/ 126181 w 175343"/>
              <a:gd name="connsiteY2" fmla="*/ 1504335 h 1504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5343" h="1504335">
                <a:moveTo>
                  <a:pt x="175343" y="0"/>
                </a:moveTo>
                <a:cubicBezTo>
                  <a:pt x="95865" y="218768"/>
                  <a:pt x="16388" y="437536"/>
                  <a:pt x="8194" y="688258"/>
                </a:cubicBezTo>
                <a:cubicBezTo>
                  <a:pt x="0" y="938980"/>
                  <a:pt x="63090" y="1221657"/>
                  <a:pt x="126181" y="1504335"/>
                </a:cubicBezTo>
              </a:path>
            </a:pathLst>
          </a:custGeom>
          <a:ln w="19050">
            <a:solidFill>
              <a:srgbClr val="00B050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b="1"/>
          </a:p>
        </p:txBody>
      </p:sp>
      <p:sp>
        <p:nvSpPr>
          <p:cNvPr id="14" name="자유형 13"/>
          <p:cNvSpPr/>
          <p:nvPr/>
        </p:nvSpPr>
        <p:spPr>
          <a:xfrm>
            <a:off x="4025238" y="2735980"/>
            <a:ext cx="2046959" cy="1264524"/>
          </a:xfrm>
          <a:custGeom>
            <a:avLst/>
            <a:gdLst>
              <a:gd name="connsiteX0" fmla="*/ 0 w 1612490"/>
              <a:gd name="connsiteY0" fmla="*/ 0 h 1435510"/>
              <a:gd name="connsiteX1" fmla="*/ 353961 w 1612490"/>
              <a:gd name="connsiteY1" fmla="*/ 619432 h 1435510"/>
              <a:gd name="connsiteX2" fmla="*/ 894735 w 1612490"/>
              <a:gd name="connsiteY2" fmla="*/ 1150374 h 1435510"/>
              <a:gd name="connsiteX3" fmla="*/ 1612490 w 1612490"/>
              <a:gd name="connsiteY3" fmla="*/ 1435510 h 1435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12490" h="1435510">
                <a:moveTo>
                  <a:pt x="0" y="0"/>
                </a:moveTo>
                <a:cubicBezTo>
                  <a:pt x="102419" y="213851"/>
                  <a:pt x="204839" y="427703"/>
                  <a:pt x="353961" y="619432"/>
                </a:cubicBezTo>
                <a:cubicBezTo>
                  <a:pt x="503083" y="811161"/>
                  <a:pt x="684980" y="1014361"/>
                  <a:pt x="894735" y="1150374"/>
                </a:cubicBezTo>
                <a:cubicBezTo>
                  <a:pt x="1104490" y="1286387"/>
                  <a:pt x="1358490" y="1360948"/>
                  <a:pt x="1612490" y="1435510"/>
                </a:cubicBezTo>
              </a:path>
            </a:pathLst>
          </a:custGeom>
          <a:ln w="19050">
            <a:solidFill>
              <a:srgbClr val="00B050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b="1"/>
          </a:p>
        </p:txBody>
      </p:sp>
      <p:sp>
        <p:nvSpPr>
          <p:cNvPr id="15" name="TextBox 14"/>
          <p:cNvSpPr txBox="1"/>
          <p:nvPr/>
        </p:nvSpPr>
        <p:spPr>
          <a:xfrm>
            <a:off x="2096607" y="3214686"/>
            <a:ext cx="6062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smtClean="0"/>
              <a:t>실행 </a:t>
            </a:r>
            <a:endParaRPr lang="ko-KR" altLang="en-US" sz="1400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2935601" y="3422244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smtClean="0"/>
              <a:t>실행되지</a:t>
            </a:r>
            <a:endParaRPr lang="en-US" altLang="ko-KR" sz="1400" b="1" dirty="0" smtClean="0"/>
          </a:p>
          <a:p>
            <a:r>
              <a:rPr lang="ko-KR" altLang="en-US" sz="1400" b="1" dirty="0" smtClean="0"/>
              <a:t> 않음 </a:t>
            </a:r>
            <a:endParaRPr lang="ko-KR" altLang="en-US" sz="14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4838110" y="3174952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smtClean="0"/>
              <a:t>실행되지</a:t>
            </a:r>
            <a:endParaRPr lang="en-US" altLang="ko-KR" sz="1400" b="1" dirty="0" smtClean="0"/>
          </a:p>
          <a:p>
            <a:r>
              <a:rPr lang="ko-KR" altLang="en-US" sz="1400" b="1" dirty="0" smtClean="0"/>
              <a:t> 않음 </a:t>
            </a:r>
            <a:endParaRPr lang="ko-KR" altLang="en-US" sz="1400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2071670" y="1571612"/>
            <a:ext cx="17859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 smtClean="0"/>
              <a:t>인</a:t>
            </a:r>
            <a:r>
              <a:rPr lang="ko-KR" altLang="en-US" sz="1400" b="1" dirty="0"/>
              <a:t>텔</a:t>
            </a:r>
            <a:r>
              <a:rPr lang="en-US" altLang="ko-KR" sz="1400" b="1" dirty="0" smtClean="0"/>
              <a:t> CPU</a:t>
            </a:r>
            <a:r>
              <a:rPr lang="ko-KR" altLang="en-US" sz="1400" b="1" dirty="0" smtClean="0"/>
              <a:t>를 가진</a:t>
            </a:r>
            <a:endParaRPr lang="en-US" altLang="ko-KR" sz="1400" b="1" dirty="0" smtClean="0"/>
          </a:p>
          <a:p>
            <a:r>
              <a:rPr lang="ko-KR" altLang="en-US" sz="1400" b="1" dirty="0" err="1" smtClean="0"/>
              <a:t>리눅스</a:t>
            </a:r>
            <a:r>
              <a:rPr lang="ko-KR" altLang="en-US" sz="1400" b="1" dirty="0" smtClean="0"/>
              <a:t> 환경에서</a:t>
            </a:r>
            <a:endParaRPr lang="en-US" altLang="ko-KR" sz="1400" b="1" dirty="0" smtClean="0"/>
          </a:p>
          <a:p>
            <a:r>
              <a:rPr lang="ko-KR" altLang="en-US" sz="1400" b="1" dirty="0" smtClean="0"/>
              <a:t>개발</a:t>
            </a:r>
            <a:endParaRPr lang="ko-KR" altLang="en-US" sz="1400" b="1" dirty="0"/>
          </a:p>
        </p:txBody>
      </p:sp>
      <p:sp>
        <p:nvSpPr>
          <p:cNvPr id="23" name="곱셈 기호 22"/>
          <p:cNvSpPr/>
          <p:nvPr/>
        </p:nvSpPr>
        <p:spPr>
          <a:xfrm>
            <a:off x="4500562" y="3214686"/>
            <a:ext cx="357190" cy="428628"/>
          </a:xfrm>
          <a:prstGeom prst="mathMultiply">
            <a:avLst>
              <a:gd name="adj1" fmla="val 15315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/>
          </a:p>
        </p:txBody>
      </p:sp>
      <p:sp>
        <p:nvSpPr>
          <p:cNvPr id="24" name="곱셈 기호 23"/>
          <p:cNvSpPr/>
          <p:nvPr/>
        </p:nvSpPr>
        <p:spPr>
          <a:xfrm>
            <a:off x="3714744" y="3357562"/>
            <a:ext cx="357190" cy="428628"/>
          </a:xfrm>
          <a:prstGeom prst="mathMultiply">
            <a:avLst>
              <a:gd name="adj1" fmla="val 15315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/>
          </a:p>
        </p:txBody>
      </p:sp>
      <p:sp>
        <p:nvSpPr>
          <p:cNvPr id="22" name="TextBox 21"/>
          <p:cNvSpPr txBox="1"/>
          <p:nvPr/>
        </p:nvSpPr>
        <p:spPr>
          <a:xfrm>
            <a:off x="5048717" y="1511186"/>
            <a:ext cx="36888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smtClean="0">
                <a:solidFill>
                  <a:srgbClr val="0070C0"/>
                </a:solidFill>
              </a:rPr>
              <a:t>플랫폼 </a:t>
            </a:r>
            <a:r>
              <a:rPr lang="en-US" altLang="ko-KR" sz="1400" b="1" dirty="0" smtClean="0">
                <a:solidFill>
                  <a:srgbClr val="0070C0"/>
                </a:solidFill>
              </a:rPr>
              <a:t>= </a:t>
            </a:r>
            <a:r>
              <a:rPr lang="ko-KR" altLang="en-US" sz="1400" b="1" dirty="0" smtClean="0">
                <a:solidFill>
                  <a:srgbClr val="0070C0"/>
                </a:solidFill>
              </a:rPr>
              <a:t>하드웨어 플랫폼 </a:t>
            </a:r>
            <a:r>
              <a:rPr lang="en-US" altLang="ko-KR" sz="1400" b="1" dirty="0" smtClean="0">
                <a:solidFill>
                  <a:srgbClr val="0070C0"/>
                </a:solidFill>
              </a:rPr>
              <a:t>+ </a:t>
            </a:r>
            <a:r>
              <a:rPr lang="ko-KR" altLang="en-US" sz="1400" b="1" dirty="0" smtClean="0">
                <a:solidFill>
                  <a:srgbClr val="0070C0"/>
                </a:solidFill>
              </a:rPr>
              <a:t>운영체제 플랫폼</a:t>
            </a:r>
            <a:endParaRPr lang="ko-KR" altLang="en-US" sz="1400" b="1" dirty="0">
              <a:solidFill>
                <a:srgbClr val="0070C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00770" y="1951814"/>
            <a:ext cx="3127779" cy="95410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400" b="1" dirty="0" smtClean="0">
                <a:solidFill>
                  <a:srgbClr val="0070C0"/>
                </a:solidFill>
              </a:rPr>
              <a:t>프로그램의 플랫폼 호환성 없는 이유</a:t>
            </a:r>
            <a:endParaRPr lang="en-US" altLang="ko-KR" sz="1400" b="1" dirty="0" smtClean="0">
              <a:solidFill>
                <a:srgbClr val="0070C0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ko-KR" altLang="en-US" sz="1400" b="1" dirty="0" smtClean="0">
                <a:solidFill>
                  <a:srgbClr val="0070C0"/>
                </a:solidFill>
              </a:rPr>
              <a:t> 기계어가 </a:t>
            </a:r>
            <a:r>
              <a:rPr lang="en-US" altLang="ko-KR" sz="1400" b="1" dirty="0" smtClean="0">
                <a:solidFill>
                  <a:srgbClr val="0070C0"/>
                </a:solidFill>
              </a:rPr>
              <a:t>CPU</a:t>
            </a:r>
            <a:r>
              <a:rPr lang="ko-KR" altLang="en-US" sz="1400" b="1" dirty="0" smtClean="0">
                <a:solidFill>
                  <a:srgbClr val="0070C0"/>
                </a:solidFill>
              </a:rPr>
              <a:t>마다 다름</a:t>
            </a:r>
            <a:endParaRPr lang="en-US" altLang="ko-KR" sz="1400" b="1" dirty="0" smtClean="0">
              <a:solidFill>
                <a:srgbClr val="0070C0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US" altLang="ko-KR" sz="1400" b="1" dirty="0">
                <a:solidFill>
                  <a:srgbClr val="0070C0"/>
                </a:solidFill>
              </a:rPr>
              <a:t> </a:t>
            </a:r>
            <a:r>
              <a:rPr lang="ko-KR" altLang="en-US" sz="1400" b="1" dirty="0" smtClean="0">
                <a:solidFill>
                  <a:srgbClr val="0070C0"/>
                </a:solidFill>
              </a:rPr>
              <a:t>운영체제마다 </a:t>
            </a:r>
            <a:r>
              <a:rPr lang="en-US" altLang="ko-KR" sz="1400" b="1" dirty="0" smtClean="0">
                <a:solidFill>
                  <a:srgbClr val="0070C0"/>
                </a:solidFill>
              </a:rPr>
              <a:t>API</a:t>
            </a:r>
            <a:r>
              <a:rPr lang="ko-KR" altLang="en-US" sz="1400" b="1" dirty="0" smtClean="0">
                <a:solidFill>
                  <a:srgbClr val="0070C0"/>
                </a:solidFill>
              </a:rPr>
              <a:t> 다름</a:t>
            </a:r>
            <a:endParaRPr lang="en-US" altLang="ko-KR" sz="1400" b="1" dirty="0" smtClean="0">
              <a:solidFill>
                <a:srgbClr val="0070C0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ko-KR" altLang="en-US" sz="1400" b="1" dirty="0" smtClean="0">
                <a:solidFill>
                  <a:srgbClr val="0070C0"/>
                </a:solidFill>
              </a:rPr>
              <a:t> 운영체제마다 실행파일</a:t>
            </a:r>
            <a:r>
              <a:rPr lang="en-US" altLang="ko-KR" sz="1400" b="1" dirty="0" smtClean="0">
                <a:solidFill>
                  <a:srgbClr val="0070C0"/>
                </a:solidFill>
              </a:rPr>
              <a:t> </a:t>
            </a:r>
            <a:r>
              <a:rPr lang="ko-KR" altLang="en-US" sz="1400" b="1" dirty="0" smtClean="0">
                <a:solidFill>
                  <a:srgbClr val="0070C0"/>
                </a:solidFill>
              </a:rPr>
              <a:t>형식 다름</a:t>
            </a:r>
            <a:endParaRPr lang="ko-KR" altLang="en-US" sz="1400" b="1" dirty="0">
              <a:solidFill>
                <a:srgbClr val="0070C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228345" y="4871346"/>
            <a:ext cx="24399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 smtClean="0"/>
              <a:t>인텔 </a:t>
            </a:r>
            <a:r>
              <a:rPr lang="en-US" altLang="ko-KR" sz="1400" b="1" dirty="0" smtClean="0"/>
              <a:t>CPU + </a:t>
            </a:r>
            <a:r>
              <a:rPr lang="ko-KR" altLang="en-US" sz="1400" b="1" dirty="0" smtClean="0"/>
              <a:t>윈도우 노트북</a:t>
            </a:r>
            <a:endParaRPr lang="ko-KR" altLang="en-US" sz="1400" b="1" dirty="0"/>
          </a:p>
        </p:txBody>
      </p:sp>
      <p:pic>
        <p:nvPicPr>
          <p:cNvPr id="28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361761" y="4198757"/>
            <a:ext cx="903510" cy="857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26914" y="1448845"/>
            <a:ext cx="1469693" cy="1538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1" name="제목 1"/>
          <p:cNvSpPr txBox="1">
            <a:spLocks/>
          </p:cNvSpPr>
          <p:nvPr/>
        </p:nvSpPr>
        <p:spPr bwMode="white">
          <a:xfrm>
            <a:off x="2643174" y="227013"/>
            <a:ext cx="6500826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6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j-cs"/>
              </a:rPr>
              <a:t>2. Java</a:t>
            </a:r>
            <a:r>
              <a:rPr kumimoji="0" lang="ko-KR" altLang="en-US" sz="36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j-cs"/>
              </a:rPr>
              <a:t> 특징</a:t>
            </a:r>
            <a:endParaRPr kumimoji="0" lang="ko-KR" altLang="en-US" sz="36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67815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Font typeface="Wingdings" pitchFamily="2" charset="2"/>
              <a:buChar char="v"/>
            </a:pPr>
            <a:r>
              <a:rPr lang="en-US" altLang="ko-KR" sz="1600" dirty="0" smtClean="0"/>
              <a:t>WORA(Write Once Run Anywhere)</a:t>
            </a:r>
          </a:p>
          <a:p>
            <a:pPr lvl="1">
              <a:buFont typeface="Wingdings" pitchFamily="2" charset="2"/>
              <a:buChar char="Ø"/>
            </a:pPr>
            <a:r>
              <a:rPr lang="ko-KR" altLang="en-US" sz="1400" dirty="0" smtClean="0"/>
              <a:t>한 번 작성된 코드는 모든 플랫폼에서 실행</a:t>
            </a:r>
            <a:endParaRPr lang="en-US" altLang="ko-KR" sz="1400" dirty="0" smtClean="0"/>
          </a:p>
          <a:p>
            <a:pPr lvl="1">
              <a:buFont typeface="Wingdings" pitchFamily="2" charset="2"/>
              <a:buChar char="Ø"/>
            </a:pPr>
            <a:r>
              <a:rPr lang="en-US" altLang="ko-KR" sz="1400" dirty="0" smtClean="0"/>
              <a:t>C/C++ </a:t>
            </a:r>
            <a:r>
              <a:rPr lang="ko-KR" altLang="en-US" sz="1400" dirty="0" smtClean="0"/>
              <a:t>등 기존 언어가 가진 플랫폼 종속성 극복</a:t>
            </a:r>
            <a:endParaRPr lang="en-US" altLang="ko-KR" sz="1400" dirty="0" smtClean="0"/>
          </a:p>
          <a:p>
            <a:pPr lvl="2">
              <a:buFont typeface="Wingdings" pitchFamily="2" charset="2"/>
              <a:buChar char="Ø"/>
            </a:pPr>
            <a:r>
              <a:rPr lang="en-US" altLang="ko-KR" sz="1400" dirty="0" smtClean="0"/>
              <a:t>OS, H/W</a:t>
            </a:r>
            <a:r>
              <a:rPr lang="ko-KR" altLang="en-US" sz="1400" dirty="0" smtClean="0"/>
              <a:t>에 상관없이 자바 프로그램이 동일하게 실행</a:t>
            </a:r>
            <a:endParaRPr lang="en-US" altLang="ko-KR" sz="1400" dirty="0" smtClean="0"/>
          </a:p>
          <a:p>
            <a:pPr lvl="1">
              <a:buFont typeface="Wingdings" pitchFamily="2" charset="2"/>
              <a:buChar char="Ø"/>
            </a:pPr>
            <a:r>
              <a:rPr lang="ko-KR" altLang="en-US" sz="1400" dirty="0" smtClean="0"/>
              <a:t>네트워크에 연결된 어느 클라이언트에서나 실행</a:t>
            </a:r>
            <a:endParaRPr lang="en-US" altLang="ko-KR" sz="1400" dirty="0" smtClean="0"/>
          </a:p>
          <a:p>
            <a:pPr lvl="2">
              <a:buFont typeface="Wingdings" pitchFamily="2" charset="2"/>
              <a:buChar char="Ø"/>
            </a:pPr>
            <a:r>
              <a:rPr lang="ko-KR" altLang="en-US" sz="1400" dirty="0" smtClean="0"/>
              <a:t>웹 브라우저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분산 환경 지원</a:t>
            </a:r>
            <a:endParaRPr lang="en-US" altLang="ko-KR" sz="1400" dirty="0" smtClean="0"/>
          </a:p>
          <a:p>
            <a:pPr lvl="2">
              <a:buNone/>
            </a:pPr>
            <a:endParaRPr lang="en-US" altLang="ko-KR" sz="1400" dirty="0" smtClean="0"/>
          </a:p>
          <a:p>
            <a:pPr>
              <a:buFont typeface="Wingdings" pitchFamily="2" charset="2"/>
              <a:buChar char="v"/>
            </a:pPr>
            <a:r>
              <a:rPr lang="en-US" altLang="ko-KR" sz="1600" dirty="0" smtClean="0"/>
              <a:t>WORA</a:t>
            </a:r>
            <a:r>
              <a:rPr lang="ko-KR" altLang="en-US" sz="1600" dirty="0" smtClean="0"/>
              <a:t>를 가능하게 하는 자바의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특징</a:t>
            </a:r>
            <a:endParaRPr lang="en-US" altLang="ko-KR" sz="1600" dirty="0" smtClean="0"/>
          </a:p>
          <a:p>
            <a:pPr lvl="1">
              <a:buFont typeface="Wingdings" pitchFamily="2" charset="2"/>
              <a:buChar char="Ø"/>
            </a:pPr>
            <a:r>
              <a:rPr lang="ko-KR" altLang="en-US" sz="1400" dirty="0" smtClean="0"/>
              <a:t>바이트 코드</a:t>
            </a:r>
            <a:r>
              <a:rPr lang="en-US" altLang="ko-KR" sz="1400" dirty="0" smtClean="0"/>
              <a:t>(byte code)</a:t>
            </a:r>
          </a:p>
          <a:p>
            <a:pPr lvl="2">
              <a:buFont typeface="Wingdings" pitchFamily="2" charset="2"/>
              <a:buChar char="Ø"/>
            </a:pPr>
            <a:r>
              <a:rPr lang="ko-KR" altLang="en-US" sz="1400" dirty="0" smtClean="0"/>
              <a:t>자바 소스를 컴파일 한 목적 코드</a:t>
            </a:r>
            <a:endParaRPr lang="en-US" altLang="ko-KR" sz="1400" dirty="0" smtClean="0"/>
          </a:p>
          <a:p>
            <a:pPr lvl="2">
              <a:buFont typeface="Wingdings" pitchFamily="2" charset="2"/>
              <a:buChar char="Ø"/>
            </a:pPr>
            <a:r>
              <a:rPr lang="en-US" altLang="ko-KR" sz="1400" dirty="0" smtClean="0"/>
              <a:t>CPU</a:t>
            </a:r>
            <a:r>
              <a:rPr lang="ko-KR" altLang="en-US" sz="1400" dirty="0" smtClean="0"/>
              <a:t>에 종속적이지 않은 중립적인 코드</a:t>
            </a:r>
            <a:endParaRPr lang="en-US" altLang="ko-KR" sz="1400" dirty="0" smtClean="0"/>
          </a:p>
          <a:p>
            <a:pPr lvl="2">
              <a:buFont typeface="Wingdings" pitchFamily="2" charset="2"/>
              <a:buChar char="Ø"/>
            </a:pPr>
            <a:r>
              <a:rPr lang="en-US" altLang="ko-KR" sz="1400" dirty="0" smtClean="0"/>
              <a:t>JVM</a:t>
            </a:r>
            <a:r>
              <a:rPr lang="ko-KR" altLang="en-US" sz="1400" dirty="0" smtClean="0"/>
              <a:t>에 의해 해석되고 실행됨</a:t>
            </a:r>
            <a:endParaRPr lang="en-US" altLang="ko-KR" sz="1400" dirty="0" smtClean="0"/>
          </a:p>
          <a:p>
            <a:pPr lvl="1">
              <a:buFont typeface="Wingdings" pitchFamily="2" charset="2"/>
              <a:buChar char="Ø"/>
            </a:pPr>
            <a:r>
              <a:rPr lang="en-US" altLang="ko-KR" sz="1400" dirty="0" smtClean="0"/>
              <a:t>JVM(Java Virtual Machine)</a:t>
            </a:r>
          </a:p>
          <a:p>
            <a:pPr lvl="2">
              <a:buFont typeface="Wingdings" pitchFamily="2" charset="2"/>
              <a:buChar char="Ø"/>
            </a:pPr>
            <a:r>
              <a:rPr lang="ko-KR" altLang="en-US" sz="1400" dirty="0" smtClean="0"/>
              <a:t>자바 바이트 코드를 실행하는 자바 가상 기계</a:t>
            </a:r>
            <a:r>
              <a:rPr lang="en-US" altLang="ko-KR" sz="1400" dirty="0" smtClean="0"/>
              <a:t>(</a:t>
            </a:r>
            <a:r>
              <a:rPr lang="ko-KR" altLang="en-US" sz="1400" dirty="0" smtClean="0"/>
              <a:t>소프트웨어</a:t>
            </a:r>
            <a:r>
              <a:rPr lang="en-US" altLang="ko-KR" sz="1400" dirty="0" smtClean="0"/>
              <a:t>)</a:t>
            </a:r>
            <a:endParaRPr lang="ko-KR" altLang="en-US" sz="14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A6BD2C2-3D3B-4E94-BD92-61B02C5F4DEE}" type="slidenum">
              <a:rPr lang="ko-KR" altLang="en-US" smtClean="0"/>
              <a:pPr/>
              <a:t>5</a:t>
            </a:fld>
            <a:endParaRPr lang="ko-KR" altLang="en-US"/>
          </a:p>
        </p:txBody>
      </p:sp>
      <p:sp>
        <p:nvSpPr>
          <p:cNvPr id="6" name="제목 1"/>
          <p:cNvSpPr txBox="1">
            <a:spLocks/>
          </p:cNvSpPr>
          <p:nvPr/>
        </p:nvSpPr>
        <p:spPr bwMode="white">
          <a:xfrm>
            <a:off x="2643174" y="227013"/>
            <a:ext cx="6500826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6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j-cs"/>
              </a:rPr>
              <a:t>2. Java</a:t>
            </a:r>
            <a:r>
              <a:rPr kumimoji="0" lang="ko-KR" altLang="en-US" sz="36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j-cs"/>
              </a:rPr>
              <a:t> 특징</a:t>
            </a:r>
            <a:endParaRPr kumimoji="0" lang="ko-KR" altLang="en-US" sz="36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24840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630135" y="1572982"/>
            <a:ext cx="1335264" cy="13975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862677" y="3953053"/>
            <a:ext cx="978172" cy="9320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" name="슬라이드 번호 개체 틀 2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A6BD2C2-3D3B-4E94-BD92-61B02C5F4DEE}" type="slidenum">
              <a:rPr lang="ko-KR" altLang="en-US" smtClean="0"/>
              <a:pPr/>
              <a:t>6</a:t>
            </a:fld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1767619" y="5443297"/>
            <a:ext cx="19499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/>
              <a:t>인텔 </a:t>
            </a:r>
            <a:r>
              <a:rPr lang="en-US" altLang="ko-KR" sz="1400" dirty="0" smtClean="0"/>
              <a:t>CPU + </a:t>
            </a:r>
            <a:r>
              <a:rPr lang="ko-KR" altLang="en-US" sz="1400" dirty="0" err="1" smtClean="0"/>
              <a:t>리눅스</a:t>
            </a:r>
            <a:endParaRPr lang="ko-KR" altLang="en-US" sz="1400" dirty="0"/>
          </a:p>
        </p:txBody>
      </p:sp>
      <p:sp>
        <p:nvSpPr>
          <p:cNvPr id="15" name="TextBox 14"/>
          <p:cNvSpPr txBox="1"/>
          <p:nvPr/>
        </p:nvSpPr>
        <p:spPr>
          <a:xfrm>
            <a:off x="3911762" y="5892351"/>
            <a:ext cx="2071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Apple </a:t>
            </a:r>
            <a:r>
              <a:rPr lang="ko-KR" altLang="en-US" sz="1400" dirty="0" smtClean="0"/>
              <a:t>사의 </a:t>
            </a:r>
            <a:r>
              <a:rPr lang="en-US" altLang="ko-KR" sz="1400" dirty="0" smtClean="0"/>
              <a:t>MAC PC</a:t>
            </a:r>
            <a:endParaRPr lang="ko-KR" altLang="en-US" sz="1400" dirty="0"/>
          </a:p>
        </p:txBody>
      </p:sp>
      <p:sp>
        <p:nvSpPr>
          <p:cNvPr id="18" name="한쪽 모서리가 잘린 사각형 17"/>
          <p:cNvSpPr/>
          <p:nvPr/>
        </p:nvSpPr>
        <p:spPr>
          <a:xfrm>
            <a:off x="4310363" y="2143116"/>
            <a:ext cx="1368722" cy="571504"/>
          </a:xfrm>
          <a:prstGeom prst="snip1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tx1"/>
                </a:solidFill>
              </a:rPr>
              <a:t>자바 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 smtClean="0">
                <a:solidFill>
                  <a:schemeClr val="tx1"/>
                </a:solidFill>
              </a:rPr>
              <a:t>응용 프로그램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직선 화살표 연결선 19"/>
          <p:cNvCxnSpPr>
            <a:endCxn id="18" idx="2"/>
          </p:cNvCxnSpPr>
          <p:nvPr/>
        </p:nvCxnSpPr>
        <p:spPr>
          <a:xfrm>
            <a:off x="3810297" y="2428868"/>
            <a:ext cx="500066" cy="0"/>
          </a:xfrm>
          <a:prstGeom prst="straightConnector1">
            <a:avLst/>
          </a:prstGeom>
          <a:ln w="190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자유형 24"/>
          <p:cNvSpPr/>
          <p:nvPr/>
        </p:nvSpPr>
        <p:spPr>
          <a:xfrm>
            <a:off x="2882840" y="2706483"/>
            <a:ext cx="2045109" cy="1415845"/>
          </a:xfrm>
          <a:custGeom>
            <a:avLst/>
            <a:gdLst>
              <a:gd name="connsiteX0" fmla="*/ 2045109 w 2045109"/>
              <a:gd name="connsiteY0" fmla="*/ 0 h 1415845"/>
              <a:gd name="connsiteX1" fmla="*/ 1130709 w 2045109"/>
              <a:gd name="connsiteY1" fmla="*/ 570271 h 1415845"/>
              <a:gd name="connsiteX2" fmla="*/ 353961 w 2045109"/>
              <a:gd name="connsiteY2" fmla="*/ 894736 h 1415845"/>
              <a:gd name="connsiteX3" fmla="*/ 0 w 2045109"/>
              <a:gd name="connsiteY3" fmla="*/ 1415845 h 1415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45109" h="1415845">
                <a:moveTo>
                  <a:pt x="2045109" y="0"/>
                </a:moveTo>
                <a:cubicBezTo>
                  <a:pt x="1728838" y="210574"/>
                  <a:pt x="1412567" y="421148"/>
                  <a:pt x="1130709" y="570271"/>
                </a:cubicBezTo>
                <a:cubicBezTo>
                  <a:pt x="848851" y="719394"/>
                  <a:pt x="542413" y="753807"/>
                  <a:pt x="353961" y="894736"/>
                </a:cubicBezTo>
                <a:cubicBezTo>
                  <a:pt x="165510" y="1035665"/>
                  <a:pt x="82755" y="1225755"/>
                  <a:pt x="0" y="1415845"/>
                </a:cubicBezTo>
              </a:path>
            </a:pathLst>
          </a:custGeom>
          <a:ln w="19050">
            <a:solidFill>
              <a:srgbClr val="00B050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자유형 25"/>
          <p:cNvSpPr/>
          <p:nvPr/>
        </p:nvSpPr>
        <p:spPr>
          <a:xfrm>
            <a:off x="4772272" y="2726149"/>
            <a:ext cx="150600" cy="1202918"/>
          </a:xfrm>
          <a:custGeom>
            <a:avLst/>
            <a:gdLst>
              <a:gd name="connsiteX0" fmla="*/ 175343 w 175343"/>
              <a:gd name="connsiteY0" fmla="*/ 0 h 1504335"/>
              <a:gd name="connsiteX1" fmla="*/ 8194 w 175343"/>
              <a:gd name="connsiteY1" fmla="*/ 688258 h 1504335"/>
              <a:gd name="connsiteX2" fmla="*/ 126181 w 175343"/>
              <a:gd name="connsiteY2" fmla="*/ 1504335 h 1504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5343" h="1504335">
                <a:moveTo>
                  <a:pt x="175343" y="0"/>
                </a:moveTo>
                <a:cubicBezTo>
                  <a:pt x="95865" y="218768"/>
                  <a:pt x="16388" y="437536"/>
                  <a:pt x="8194" y="688258"/>
                </a:cubicBezTo>
                <a:cubicBezTo>
                  <a:pt x="0" y="938980"/>
                  <a:pt x="63090" y="1221657"/>
                  <a:pt x="126181" y="1504335"/>
                </a:cubicBezTo>
              </a:path>
            </a:pathLst>
          </a:custGeom>
          <a:ln w="19050">
            <a:solidFill>
              <a:srgbClr val="00B050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자유형 28"/>
          <p:cNvSpPr/>
          <p:nvPr/>
        </p:nvSpPr>
        <p:spPr>
          <a:xfrm>
            <a:off x="4947613" y="2735980"/>
            <a:ext cx="2046959" cy="1264524"/>
          </a:xfrm>
          <a:custGeom>
            <a:avLst/>
            <a:gdLst>
              <a:gd name="connsiteX0" fmla="*/ 0 w 1612490"/>
              <a:gd name="connsiteY0" fmla="*/ 0 h 1435510"/>
              <a:gd name="connsiteX1" fmla="*/ 353961 w 1612490"/>
              <a:gd name="connsiteY1" fmla="*/ 619432 h 1435510"/>
              <a:gd name="connsiteX2" fmla="*/ 894735 w 1612490"/>
              <a:gd name="connsiteY2" fmla="*/ 1150374 h 1435510"/>
              <a:gd name="connsiteX3" fmla="*/ 1612490 w 1612490"/>
              <a:gd name="connsiteY3" fmla="*/ 1435510 h 1435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12490" h="1435510">
                <a:moveTo>
                  <a:pt x="0" y="0"/>
                </a:moveTo>
                <a:cubicBezTo>
                  <a:pt x="102419" y="213851"/>
                  <a:pt x="204839" y="427703"/>
                  <a:pt x="353961" y="619432"/>
                </a:cubicBezTo>
                <a:cubicBezTo>
                  <a:pt x="503083" y="811161"/>
                  <a:pt x="684980" y="1014361"/>
                  <a:pt x="894735" y="1150374"/>
                </a:cubicBezTo>
                <a:cubicBezTo>
                  <a:pt x="1104490" y="1286387"/>
                  <a:pt x="1358490" y="1360948"/>
                  <a:pt x="1612490" y="1435510"/>
                </a:cubicBezTo>
              </a:path>
            </a:pathLst>
          </a:custGeom>
          <a:ln w="19050">
            <a:solidFill>
              <a:srgbClr val="00B050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2565417" y="3643314"/>
            <a:ext cx="6062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/>
              <a:t>실행 </a:t>
            </a:r>
            <a:endParaRPr lang="ko-KR" altLang="en-US" sz="1400" dirty="0"/>
          </a:p>
        </p:txBody>
      </p:sp>
      <p:sp>
        <p:nvSpPr>
          <p:cNvPr id="31" name="TextBox 30"/>
          <p:cNvSpPr txBox="1"/>
          <p:nvPr/>
        </p:nvSpPr>
        <p:spPr>
          <a:xfrm>
            <a:off x="4279929" y="3429000"/>
            <a:ext cx="6062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/>
              <a:t>실행 </a:t>
            </a:r>
            <a:endParaRPr lang="ko-KR" altLang="en-US" sz="1400" dirty="0"/>
          </a:p>
        </p:txBody>
      </p:sp>
      <p:sp>
        <p:nvSpPr>
          <p:cNvPr id="32" name="TextBox 31"/>
          <p:cNvSpPr txBox="1"/>
          <p:nvPr/>
        </p:nvSpPr>
        <p:spPr>
          <a:xfrm>
            <a:off x="6423069" y="3571876"/>
            <a:ext cx="6062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/>
              <a:t>실행 </a:t>
            </a:r>
            <a:endParaRPr lang="ko-KR" altLang="en-US" sz="1400" dirty="0"/>
          </a:p>
        </p:txBody>
      </p:sp>
      <p:sp>
        <p:nvSpPr>
          <p:cNvPr id="19" name="TextBox 18"/>
          <p:cNvSpPr txBox="1"/>
          <p:nvPr/>
        </p:nvSpPr>
        <p:spPr>
          <a:xfrm>
            <a:off x="966991" y="2070019"/>
            <a:ext cx="14859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i="1" dirty="0" smtClean="0">
                <a:solidFill>
                  <a:srgbClr val="0070C0"/>
                </a:solidFill>
              </a:rPr>
              <a:t>Write Once !!</a:t>
            </a:r>
            <a:endParaRPr lang="ko-KR" altLang="en-US" sz="2000" b="1" i="1" dirty="0">
              <a:solidFill>
                <a:srgbClr val="0070C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99592" y="3171766"/>
            <a:ext cx="17360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i="1" dirty="0" smtClean="0">
                <a:solidFill>
                  <a:srgbClr val="0070C0"/>
                </a:solidFill>
              </a:rPr>
              <a:t>Run Anywhere!!</a:t>
            </a:r>
            <a:endParaRPr lang="ko-KR" altLang="en-US" sz="2000" b="1" i="1" dirty="0">
              <a:solidFill>
                <a:srgbClr val="0070C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975103" y="5072074"/>
            <a:ext cx="1447570" cy="30777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B050"/>
                </a:solidFill>
              </a:rPr>
              <a:t>자바 가상 기계</a:t>
            </a:r>
            <a:endParaRPr lang="ko-KR" altLang="en-US" sz="1400" b="1" dirty="0">
              <a:solidFill>
                <a:srgbClr val="00B05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172772" y="5488560"/>
            <a:ext cx="1464479" cy="30777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00B050"/>
                </a:solidFill>
              </a:rPr>
              <a:t>자바 가상 기계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08821" y="4929198"/>
            <a:ext cx="1386962" cy="30777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00B050"/>
                </a:solidFill>
              </a:rPr>
              <a:t>자바 가상 기계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63631" y="5334164"/>
            <a:ext cx="23762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/>
              <a:t>인텔 </a:t>
            </a:r>
            <a:r>
              <a:rPr lang="en-US" altLang="ko-KR" sz="1400" dirty="0" smtClean="0"/>
              <a:t>CPU + </a:t>
            </a:r>
            <a:r>
              <a:rPr lang="ko-KR" altLang="en-US" sz="1400" dirty="0" smtClean="0"/>
              <a:t>윈도우 노트북</a:t>
            </a:r>
            <a:endParaRPr lang="ko-KR" altLang="en-US" sz="1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327976" y="4071943"/>
            <a:ext cx="903510" cy="857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444323" y="3971725"/>
            <a:ext cx="774720" cy="1485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4" name="제목 1"/>
          <p:cNvSpPr txBox="1">
            <a:spLocks/>
          </p:cNvSpPr>
          <p:nvPr/>
        </p:nvSpPr>
        <p:spPr bwMode="white">
          <a:xfrm>
            <a:off x="2643174" y="227013"/>
            <a:ext cx="6500826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6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j-cs"/>
              </a:rPr>
              <a:t>2. Java</a:t>
            </a:r>
            <a:r>
              <a:rPr kumimoji="0" lang="ko-KR" altLang="en-US" sz="36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j-cs"/>
              </a:rPr>
              <a:t> 특징</a:t>
            </a:r>
            <a:endParaRPr kumimoji="0" lang="ko-KR" altLang="en-US" sz="36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612969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en-US" altLang="ko-KR" dirty="0" smtClean="0"/>
              <a:t>. JDK </a:t>
            </a:r>
            <a:r>
              <a:rPr lang="ko-KR" altLang="en-US" dirty="0" smtClean="0"/>
              <a:t>개발 플랫폼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atinLnBrk="0">
              <a:buFont typeface="Wingdings" pitchFamily="2" charset="2"/>
              <a:buChar char="v"/>
            </a:pPr>
            <a:r>
              <a:rPr lang="ko-KR" altLang="en-US" sz="1600" dirty="0" smtClean="0"/>
              <a:t>구성</a:t>
            </a:r>
          </a:p>
          <a:p>
            <a:pPr lvl="1" latinLnBrk="0">
              <a:buFont typeface="Wingdings" pitchFamily="2" charset="2"/>
              <a:buChar char="v"/>
            </a:pPr>
            <a:r>
              <a:rPr lang="ko-KR" altLang="en-US" sz="1400" dirty="0" smtClean="0"/>
              <a:t>자바 </a:t>
            </a:r>
            <a:r>
              <a:rPr lang="en-US" altLang="ko-KR" sz="1400" dirty="0" smtClean="0"/>
              <a:t>API(Application Programming Interface): </a:t>
            </a:r>
            <a:r>
              <a:rPr lang="ko-KR" altLang="en-US" sz="1400" dirty="0" smtClean="0"/>
              <a:t>자바에서 사용하는 클래스와 인터페이스들의 모임이며 패키지의 형태로 제공 </a:t>
            </a:r>
            <a:r>
              <a:rPr lang="en-US" altLang="ko-KR" sz="1400" dirty="0" smtClean="0"/>
              <a:t>– JDK</a:t>
            </a:r>
            <a:r>
              <a:rPr lang="ko-KR" altLang="en-US" sz="1400" dirty="0" smtClean="0"/>
              <a:t>라고도 함</a:t>
            </a:r>
            <a:endParaRPr lang="en-US" altLang="ko-KR" sz="1400" dirty="0" smtClean="0"/>
          </a:p>
          <a:p>
            <a:pPr lvl="1" latinLnBrk="0">
              <a:buFont typeface="Wingdings" pitchFamily="2" charset="2"/>
              <a:buChar char="v"/>
            </a:pPr>
            <a:r>
              <a:rPr lang="en-US" altLang="ko-KR" sz="1400" dirty="0" smtClean="0"/>
              <a:t>JVM(Java Virtual Machine): </a:t>
            </a:r>
            <a:r>
              <a:rPr lang="ko-KR" altLang="en-US" sz="1400" dirty="0" smtClean="0"/>
              <a:t>자바 </a:t>
            </a:r>
            <a:r>
              <a:rPr lang="ko-KR" altLang="en-US" sz="1400" dirty="0"/>
              <a:t>프로그램을 실행할 수 있도록 해주는 물리적인 하드웨어들을 추상화 한 것으로 명령어</a:t>
            </a:r>
            <a:r>
              <a:rPr lang="en-US" altLang="ko-KR" sz="1400" dirty="0"/>
              <a:t>, </a:t>
            </a:r>
            <a:r>
              <a:rPr lang="ko-KR" altLang="en-US" sz="1400" dirty="0"/>
              <a:t>레지스터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스택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힙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메서드</a:t>
            </a:r>
            <a:r>
              <a:rPr lang="ko-KR" altLang="en-US" sz="1400" dirty="0"/>
              <a:t> 영역 등으로 </a:t>
            </a:r>
            <a:r>
              <a:rPr lang="ko-KR" altLang="en-US" sz="1400" dirty="0" smtClean="0"/>
              <a:t>구성 </a:t>
            </a:r>
            <a:r>
              <a:rPr lang="en-US" altLang="ko-KR" sz="1400" dirty="0" smtClean="0"/>
              <a:t>- JRE</a:t>
            </a:r>
          </a:p>
          <a:p>
            <a:pPr latinLnBrk="0">
              <a:buFont typeface="Wingdings" pitchFamily="2" charset="2"/>
              <a:buChar char="v"/>
            </a:pPr>
            <a:r>
              <a:rPr lang="ko-KR" altLang="en-US" sz="1600" dirty="0" smtClean="0"/>
              <a:t>플랫폼의 종류</a:t>
            </a:r>
          </a:p>
          <a:p>
            <a:pPr lvl="1" latinLnBrk="0">
              <a:buFont typeface="Wingdings" pitchFamily="2" charset="2"/>
              <a:buChar char="v"/>
            </a:pPr>
            <a:r>
              <a:rPr lang="en-US" altLang="ko-KR" sz="1400" dirty="0" smtClean="0"/>
              <a:t>J2EE(Java2 Enterprise Edition)</a:t>
            </a:r>
          </a:p>
          <a:p>
            <a:pPr lvl="2" latinLnBrk="0">
              <a:buFont typeface="Wingdings" pitchFamily="2" charset="2"/>
              <a:buChar char="v"/>
            </a:pPr>
            <a:r>
              <a:rPr lang="ko-KR" altLang="en-US" sz="1400" dirty="0" smtClean="0"/>
              <a:t>기업환경에서 서버 측 프로그램을 개발할 때 사용하는 개발 도구</a:t>
            </a:r>
          </a:p>
          <a:p>
            <a:pPr lvl="2" latinLnBrk="0">
              <a:buFont typeface="Wingdings" pitchFamily="2" charset="2"/>
              <a:buChar char="v"/>
            </a:pPr>
            <a:r>
              <a:rPr lang="en-US" altLang="ko-KR" sz="1400" dirty="0" smtClean="0"/>
              <a:t>DB</a:t>
            </a:r>
            <a:r>
              <a:rPr lang="ko-KR" altLang="en-US" sz="1400" dirty="0" smtClean="0"/>
              <a:t>연동</a:t>
            </a:r>
            <a:r>
              <a:rPr lang="en-US" altLang="ko-KR" sz="1400" dirty="0" smtClean="0"/>
              <a:t>, JSP(</a:t>
            </a:r>
            <a:r>
              <a:rPr lang="ko-KR" altLang="en-US" sz="1400" dirty="0" smtClean="0"/>
              <a:t>서버 스크립트 언어</a:t>
            </a:r>
            <a:r>
              <a:rPr lang="en-US" altLang="ko-KR" sz="1400" dirty="0" smtClean="0"/>
              <a:t>), EJB(Enterprise Java Beans)</a:t>
            </a:r>
            <a:r>
              <a:rPr lang="ko-KR" altLang="en-US" sz="1400" dirty="0" smtClean="0"/>
              <a:t>를 쉽게 사용 가능</a:t>
            </a:r>
            <a:endParaRPr lang="en-US" altLang="ko-KR" sz="1400" dirty="0" smtClean="0"/>
          </a:p>
          <a:p>
            <a:pPr lvl="2" latinLnBrk="0">
              <a:buFont typeface="Wingdings" pitchFamily="2" charset="2"/>
              <a:buChar char="v"/>
            </a:pPr>
            <a:r>
              <a:rPr lang="en-US" altLang="ko-KR" sz="1400" dirty="0" smtClean="0"/>
              <a:t>JDK</a:t>
            </a:r>
            <a:r>
              <a:rPr lang="ko-KR" altLang="en-US" sz="1400" dirty="0" smtClean="0"/>
              <a:t>와 </a:t>
            </a:r>
            <a:r>
              <a:rPr lang="en-US" altLang="ko-KR" sz="1400" dirty="0" smtClean="0"/>
              <a:t>JRE</a:t>
            </a:r>
            <a:r>
              <a:rPr lang="ko-KR" altLang="en-US" sz="1400" dirty="0" smtClean="0"/>
              <a:t>를 별도로 설치</a:t>
            </a:r>
          </a:p>
          <a:p>
            <a:pPr lvl="1" latinLnBrk="0">
              <a:buFont typeface="Wingdings" pitchFamily="2" charset="2"/>
              <a:buChar char="v"/>
            </a:pPr>
            <a:r>
              <a:rPr lang="en-US" altLang="ko-KR" sz="1400" dirty="0" smtClean="0"/>
              <a:t>J2SE(Java2 Standard Edition)</a:t>
            </a:r>
          </a:p>
          <a:p>
            <a:pPr lvl="2" latinLnBrk="0">
              <a:buFont typeface="Wingdings" pitchFamily="2" charset="2"/>
              <a:buChar char="v"/>
            </a:pPr>
            <a:r>
              <a:rPr lang="ko-KR" altLang="en-US" sz="1400" dirty="0" smtClean="0"/>
              <a:t>표준 판 자바라고 일컬어지는 자바의 기본 개발 환경</a:t>
            </a:r>
            <a:endParaRPr lang="en-US" altLang="ko-KR" sz="1400" dirty="0" smtClean="0"/>
          </a:p>
          <a:p>
            <a:pPr lvl="2" latinLnBrk="0">
              <a:buFont typeface="Wingdings" pitchFamily="2" charset="2"/>
              <a:buChar char="v"/>
            </a:pPr>
            <a:r>
              <a:rPr lang="ko-KR" altLang="en-US" sz="1400" dirty="0" smtClean="0"/>
              <a:t>모든 운영체제에서 사용할 수 있고 그래픽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네트워크 등의 기능이 있음</a:t>
            </a:r>
            <a:endParaRPr lang="en-US" altLang="ko-KR" sz="1400" dirty="0" smtClean="0"/>
          </a:p>
          <a:p>
            <a:pPr lvl="2" latinLnBrk="0">
              <a:buFont typeface="Wingdings" pitchFamily="2" charset="2"/>
              <a:buChar char="v"/>
            </a:pPr>
            <a:r>
              <a:rPr lang="ko-KR" altLang="en-US" sz="1400" dirty="0" err="1" smtClean="0"/>
              <a:t>안드로이드가</a:t>
            </a:r>
            <a:r>
              <a:rPr lang="ko-KR" altLang="en-US" sz="1400" dirty="0" smtClean="0"/>
              <a:t> </a:t>
            </a:r>
            <a:r>
              <a:rPr lang="en-US" altLang="ko-KR" sz="1400" dirty="0" smtClean="0"/>
              <a:t>J2SE </a:t>
            </a:r>
            <a:r>
              <a:rPr lang="ko-KR" altLang="en-US" sz="1400" dirty="0" smtClean="0"/>
              <a:t>플랫폼을 이용</a:t>
            </a:r>
            <a:endParaRPr lang="en-US" altLang="ko-KR" sz="1400" dirty="0" smtClean="0"/>
          </a:p>
          <a:p>
            <a:pPr lvl="2" latinLnBrk="0">
              <a:buFont typeface="Wingdings" pitchFamily="2" charset="2"/>
              <a:buChar char="v"/>
            </a:pPr>
            <a:r>
              <a:rPr lang="en-US" altLang="ko-KR" sz="1400" dirty="0" smtClean="0"/>
              <a:t>JDK</a:t>
            </a:r>
            <a:r>
              <a:rPr lang="ko-KR" altLang="en-US" sz="1400" dirty="0" smtClean="0"/>
              <a:t>와 </a:t>
            </a:r>
            <a:r>
              <a:rPr lang="en-US" altLang="ko-KR" sz="1400" dirty="0" smtClean="0"/>
              <a:t>JRE</a:t>
            </a:r>
            <a:r>
              <a:rPr lang="ko-KR" altLang="en-US" sz="1400" dirty="0" smtClean="0"/>
              <a:t>가 같이 설치</a:t>
            </a:r>
          </a:p>
          <a:p>
            <a:pPr lvl="1" latinLnBrk="0">
              <a:buFont typeface="Wingdings" pitchFamily="2" charset="2"/>
              <a:buChar char="v"/>
            </a:pPr>
            <a:r>
              <a:rPr lang="en-US" altLang="ko-KR" sz="1400" dirty="0" smtClean="0"/>
              <a:t>J2ME(Java2 Micro Edition)</a:t>
            </a:r>
          </a:p>
          <a:p>
            <a:pPr lvl="2" latinLnBrk="0">
              <a:buFont typeface="Wingdings" pitchFamily="2" charset="2"/>
              <a:buChar char="v"/>
            </a:pPr>
            <a:r>
              <a:rPr lang="ko-KR" altLang="en-US" sz="1400" dirty="0" smtClean="0"/>
              <a:t>휴대폰이나 </a:t>
            </a:r>
            <a:r>
              <a:rPr lang="en-US" altLang="ko-KR" sz="1400" dirty="0" smtClean="0"/>
              <a:t>PDA</a:t>
            </a:r>
            <a:r>
              <a:rPr lang="ko-KR" altLang="en-US" sz="1400" dirty="0" smtClean="0"/>
              <a:t>와 같은 임베디드 와 관련된 프로그램을 개발할 때 사용</a:t>
            </a:r>
          </a:p>
          <a:p>
            <a:pPr lvl="2" latinLnBrk="0">
              <a:buFont typeface="Wingdings" pitchFamily="2" charset="2"/>
              <a:buChar char="v"/>
            </a:pPr>
            <a:r>
              <a:rPr lang="ko-KR" altLang="en-US" sz="1400" dirty="0" smtClean="0"/>
              <a:t>메모리 관리에는 최적화 되어 있지만 전원 처리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장치간의 입출력 기능 등은 제한적으로 제공</a:t>
            </a:r>
            <a:endParaRPr lang="en-US" altLang="ko-KR" sz="1400" dirty="0" smtClean="0"/>
          </a:p>
          <a:p>
            <a:pPr latinLnBrk="0">
              <a:buFont typeface="Wingdings" pitchFamily="2" charset="2"/>
              <a:buChar char="v"/>
            </a:pPr>
            <a:endParaRPr lang="en-US" altLang="ko-KR" sz="1400" dirty="0"/>
          </a:p>
          <a:p>
            <a:pPr>
              <a:buFont typeface="Wingdings" pitchFamily="2" charset="2"/>
              <a:buChar char="v"/>
            </a:pPr>
            <a:endParaRPr lang="ko-KR" altLang="en-US" sz="1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en-US" altLang="ko-KR" dirty="0" smtClean="0"/>
              <a:t>. JDK </a:t>
            </a:r>
            <a:r>
              <a:rPr lang="ko-KR" altLang="en-US" dirty="0" smtClean="0"/>
              <a:t>개발 플랫폼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atinLnBrk="0">
              <a:buFont typeface="Wingdings" pitchFamily="2" charset="2"/>
              <a:buChar char="v"/>
            </a:pPr>
            <a:r>
              <a:rPr lang="ko-KR" altLang="en-US" sz="1600" dirty="0" smtClean="0"/>
              <a:t>바이트 코드</a:t>
            </a:r>
          </a:p>
          <a:p>
            <a:pPr lvl="1" latinLnBrk="0">
              <a:buFont typeface="Wingdings" pitchFamily="2" charset="2"/>
              <a:buChar char="v"/>
            </a:pPr>
            <a:r>
              <a:rPr lang="ko-KR" altLang="en-US" sz="1400" dirty="0" smtClean="0"/>
              <a:t>자바 가상 기계에서 실행 가능한 바이너리 코드</a:t>
            </a:r>
          </a:p>
          <a:p>
            <a:pPr lvl="1" latinLnBrk="0">
              <a:buFont typeface="Wingdings" pitchFamily="2" charset="2"/>
              <a:buChar char="v"/>
            </a:pPr>
            <a:r>
              <a:rPr lang="ko-KR" altLang="en-US" sz="1400" dirty="0" smtClean="0"/>
              <a:t>바이트 코드는 컴퓨터 </a:t>
            </a:r>
            <a:r>
              <a:rPr lang="en-US" altLang="ko-KR" sz="1400" dirty="0" smtClean="0"/>
              <a:t>CPU</a:t>
            </a:r>
            <a:r>
              <a:rPr lang="ko-KR" altLang="en-US" sz="1400" dirty="0" smtClean="0"/>
              <a:t>에 의해 직접 실행되지 않음</a:t>
            </a:r>
          </a:p>
          <a:p>
            <a:pPr lvl="1" latinLnBrk="0">
              <a:buFont typeface="Wingdings" pitchFamily="2" charset="2"/>
              <a:buChar char="v"/>
            </a:pPr>
            <a:r>
              <a:rPr lang="ko-KR" altLang="en-US" sz="1400" dirty="0" smtClean="0"/>
              <a:t>자바 가상 기계가 작동 중인 플랫폼에서 실행</a:t>
            </a:r>
          </a:p>
          <a:p>
            <a:pPr lvl="1" latinLnBrk="0">
              <a:buFont typeface="Wingdings" pitchFamily="2" charset="2"/>
              <a:buChar char="v"/>
            </a:pPr>
            <a:r>
              <a:rPr lang="ko-KR" altLang="en-US" sz="1400" dirty="0" smtClean="0"/>
              <a:t>자바 가상 기계가 인터프리터 방식으로 바이트 코드 해석</a:t>
            </a:r>
          </a:p>
          <a:p>
            <a:pPr lvl="1" latinLnBrk="0">
              <a:buFont typeface="Wingdings" pitchFamily="2" charset="2"/>
              <a:buChar char="v"/>
            </a:pPr>
            <a:r>
              <a:rPr lang="ko-KR" altLang="en-US" sz="1400" dirty="0" smtClean="0"/>
              <a:t>클래스 파일</a:t>
            </a:r>
            <a:r>
              <a:rPr lang="en-US" altLang="ko-KR" sz="1400" dirty="0" smtClean="0"/>
              <a:t>(.class)</a:t>
            </a:r>
            <a:r>
              <a:rPr lang="ko-KR" altLang="en-US" sz="1400" dirty="0" smtClean="0"/>
              <a:t>에 저장</a:t>
            </a:r>
          </a:p>
          <a:p>
            <a:pPr latinLnBrk="0">
              <a:buFont typeface="Wingdings" pitchFamily="2" charset="2"/>
              <a:buChar char="v"/>
            </a:pPr>
            <a:endParaRPr lang="en-US" altLang="ko-KR" sz="1600" dirty="0" smtClean="0"/>
          </a:p>
          <a:p>
            <a:pPr latinLnBrk="0">
              <a:buFont typeface="Wingdings" pitchFamily="2" charset="2"/>
              <a:buChar char="v"/>
            </a:pPr>
            <a:r>
              <a:rPr lang="ko-KR" altLang="en-US" sz="1600" dirty="0" smtClean="0"/>
              <a:t>자바 가상 머신</a:t>
            </a:r>
            <a:r>
              <a:rPr lang="en-US" altLang="ko-KR" sz="1600" dirty="0" smtClean="0"/>
              <a:t>: JVM(Java Virtual Machine) – JRE(Java Runtime Environment)</a:t>
            </a:r>
          </a:p>
          <a:p>
            <a:pPr lvl="1" latinLnBrk="0">
              <a:buFont typeface="Wingdings" pitchFamily="2" charset="2"/>
              <a:buChar char="v"/>
            </a:pPr>
            <a:r>
              <a:rPr lang="ko-KR" altLang="en-US" sz="1400" dirty="0" smtClean="0"/>
              <a:t>자바 언어로 작성된 코드는 운영체제에서 직접 인식할 수 없으므로  </a:t>
            </a:r>
            <a:r>
              <a:rPr lang="en-US" altLang="ko-KR" sz="1400" dirty="0" smtClean="0"/>
              <a:t>JVM</a:t>
            </a:r>
            <a:r>
              <a:rPr lang="ko-KR" altLang="en-US" sz="1400" dirty="0" smtClean="0"/>
              <a:t>이 이해할 수 있는 중간 코드 형태인 바이트 코드를 생성</a:t>
            </a:r>
            <a:r>
              <a:rPr lang="en-US" altLang="ko-KR" sz="1400" dirty="0" smtClean="0"/>
              <a:t>(</a:t>
            </a:r>
            <a:r>
              <a:rPr lang="ko-KR" altLang="en-US" sz="1400" dirty="0" smtClean="0"/>
              <a:t>클래스 파일</a:t>
            </a:r>
            <a:r>
              <a:rPr lang="en-US" altLang="ko-KR" sz="1400" dirty="0" smtClean="0"/>
              <a:t>)</a:t>
            </a:r>
          </a:p>
          <a:p>
            <a:pPr lvl="1" latinLnBrk="0">
              <a:buFont typeface="Wingdings" pitchFamily="2" charset="2"/>
              <a:buChar char="v"/>
            </a:pPr>
            <a:r>
              <a:rPr lang="ko-KR" altLang="en-US" sz="1400" dirty="0" smtClean="0"/>
              <a:t>컴파일 명령으로 생성한 자바 바이트코드를 수행할 수 있는 가상의 운영체제 및 </a:t>
            </a:r>
            <a:r>
              <a:rPr lang="en-US" altLang="ko-KR" sz="1400" dirty="0" smtClean="0"/>
              <a:t>CPU</a:t>
            </a:r>
            <a:r>
              <a:rPr lang="ko-KR" altLang="en-US" sz="1400" dirty="0" smtClean="0"/>
              <a:t>가 </a:t>
            </a:r>
            <a:r>
              <a:rPr lang="en-US" altLang="ko-KR" sz="1400" dirty="0" smtClean="0"/>
              <a:t>JVM</a:t>
            </a:r>
          </a:p>
          <a:p>
            <a:pPr lvl="1" latinLnBrk="0">
              <a:buFont typeface="Wingdings" pitchFamily="2" charset="2"/>
              <a:buChar char="v"/>
            </a:pPr>
            <a:r>
              <a:rPr lang="ko-KR" altLang="en-US" sz="1400" dirty="0" smtClean="0"/>
              <a:t>자바 바이트코드는 주로 자바 소스코드를 </a:t>
            </a:r>
            <a:r>
              <a:rPr lang="ko-KR" altLang="en-US" sz="1400" dirty="0" err="1" smtClean="0"/>
              <a:t>컴파일하여</a:t>
            </a:r>
            <a:r>
              <a:rPr lang="ko-KR" altLang="en-US" sz="1400" dirty="0" smtClean="0"/>
              <a:t> 생성하지만 다른 언어의 컴파일러에서도 생성할 수 있습니다</a:t>
            </a:r>
            <a:r>
              <a:rPr lang="en-US" altLang="ko-KR" sz="1400" dirty="0" smtClean="0"/>
              <a:t>.</a:t>
            </a:r>
          </a:p>
          <a:p>
            <a:pPr lvl="1" latinLnBrk="0">
              <a:buFont typeface="Wingdings" pitchFamily="2" charset="2"/>
              <a:buChar char="v"/>
            </a:pPr>
            <a:r>
              <a:rPr lang="en-US" altLang="ko-KR" sz="1400" dirty="0" smtClean="0"/>
              <a:t>JVM</a:t>
            </a:r>
            <a:r>
              <a:rPr lang="ko-KR" altLang="en-US" sz="1400" dirty="0" smtClean="0"/>
              <a:t>은 마이크로소프트 윈도우즈</a:t>
            </a:r>
            <a:r>
              <a:rPr lang="en-US" altLang="ko-KR" sz="1400" dirty="0" smtClean="0"/>
              <a:t>, </a:t>
            </a:r>
            <a:r>
              <a:rPr lang="ko-KR" altLang="en-US" sz="1400" dirty="0" err="1" smtClean="0"/>
              <a:t>리눅스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유닉스</a:t>
            </a:r>
            <a:r>
              <a:rPr lang="en-US" altLang="ko-KR" sz="1400" dirty="0" smtClean="0"/>
              <a:t>, </a:t>
            </a:r>
            <a:r>
              <a:rPr lang="en-US" altLang="ko-KR" sz="1400" dirty="0" err="1" smtClean="0"/>
              <a:t>MacOS</a:t>
            </a:r>
            <a:r>
              <a:rPr lang="en-US" altLang="ko-KR" sz="1400" dirty="0" smtClean="0"/>
              <a:t> X</a:t>
            </a:r>
            <a:r>
              <a:rPr lang="ko-KR" altLang="en-US" sz="1400" dirty="0" smtClean="0"/>
              <a:t>등 대부분의 운영체제는 물론 핸드폰이나 가전기기에도 설치 가능</a:t>
            </a:r>
            <a:r>
              <a:rPr lang="en-US" altLang="ko-KR" sz="1400" dirty="0" smtClean="0"/>
              <a:t> </a:t>
            </a:r>
          </a:p>
          <a:p>
            <a:pPr lvl="1" latinLnBrk="0">
              <a:buFont typeface="Wingdings" pitchFamily="2" charset="2"/>
              <a:buChar char="v"/>
            </a:pPr>
            <a:r>
              <a:rPr lang="ko-KR" altLang="en-US" sz="1400" dirty="0" smtClean="0"/>
              <a:t>자바 플랫폼은 여러 플랫폼을 지원하여 </a:t>
            </a:r>
            <a:r>
              <a:rPr lang="ko-KR" altLang="en-US" sz="1400" dirty="0" err="1" smtClean="0"/>
              <a:t>미들웨어로서의</a:t>
            </a:r>
            <a:r>
              <a:rPr lang="ko-KR" altLang="en-US" sz="1400" dirty="0" smtClean="0"/>
              <a:t> 역할과 플랫폼 스스로의 역할을 동시에 수행할 수 있습니다</a:t>
            </a:r>
            <a:r>
              <a:rPr lang="en-US" altLang="ko-KR" sz="1400" dirty="0" smtClean="0"/>
              <a:t>.</a:t>
            </a:r>
          </a:p>
          <a:p>
            <a:pPr latinLnBrk="0">
              <a:buFont typeface="Wingdings" pitchFamily="2" charset="2"/>
              <a:buChar char="v"/>
            </a:pPr>
            <a:endParaRPr lang="en-US" altLang="ko-KR" sz="16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en-US" altLang="ko-KR" dirty="0" smtClean="0"/>
              <a:t>. JDK </a:t>
            </a:r>
            <a:r>
              <a:rPr lang="ko-KR" altLang="en-US" dirty="0" smtClean="0"/>
              <a:t>개발 플랫폼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949825"/>
          </a:xfrm>
        </p:spPr>
        <p:txBody>
          <a:bodyPr>
            <a:noAutofit/>
          </a:bodyPr>
          <a:lstStyle/>
          <a:p>
            <a:pPr latinLnBrk="0">
              <a:buFont typeface="Wingdings" pitchFamily="2" charset="2"/>
              <a:buChar char="v"/>
            </a:pPr>
            <a:r>
              <a:rPr lang="en-US" altLang="ko-KR" sz="1600" dirty="0" smtClean="0"/>
              <a:t>JVM</a:t>
            </a:r>
            <a:r>
              <a:rPr lang="ko-KR" altLang="en-US" sz="1600" dirty="0" smtClean="0"/>
              <a:t>의 구성</a:t>
            </a:r>
          </a:p>
          <a:p>
            <a:pPr lvl="1" latinLnBrk="0">
              <a:buFont typeface="Wingdings" pitchFamily="2" charset="2"/>
              <a:buChar char="v"/>
            </a:pPr>
            <a:r>
              <a:rPr lang="ko-KR" altLang="en-US" sz="1400" dirty="0" smtClean="0"/>
              <a:t>클래스 영역</a:t>
            </a:r>
          </a:p>
          <a:p>
            <a:pPr lvl="2" latinLnBrk="0">
              <a:buFont typeface="Wingdings" pitchFamily="2" charset="2"/>
              <a:buChar char="v"/>
            </a:pPr>
            <a:r>
              <a:rPr lang="ko-KR" altLang="en-US" sz="1400" dirty="0" smtClean="0"/>
              <a:t>실행에 필요한 클래스들이 </a:t>
            </a:r>
            <a:r>
              <a:rPr lang="en-US" altLang="ko-KR" sz="1400" dirty="0" smtClean="0"/>
              <a:t>Load</a:t>
            </a:r>
            <a:r>
              <a:rPr lang="ko-KR" altLang="en-US" sz="1400" dirty="0" smtClean="0"/>
              <a:t>되는 영역으로 멤버 </a:t>
            </a:r>
            <a:r>
              <a:rPr lang="ko-KR" altLang="en-US" sz="1400" dirty="0" err="1" smtClean="0"/>
              <a:t>메서드들은</a:t>
            </a:r>
            <a:r>
              <a:rPr lang="ko-KR" altLang="en-US" sz="1400" dirty="0" smtClean="0"/>
              <a:t> 다시 </a:t>
            </a:r>
            <a:r>
              <a:rPr lang="ko-KR" altLang="en-US" sz="1400" dirty="0" err="1" smtClean="0"/>
              <a:t>메서드</a:t>
            </a:r>
            <a:r>
              <a:rPr lang="ko-KR" altLang="en-US" sz="1400" dirty="0" smtClean="0"/>
              <a:t> 영역에 저장되고 상수 들은 상수 </a:t>
            </a:r>
            <a:r>
              <a:rPr lang="en-US" altLang="ko-KR" sz="1400" dirty="0" smtClean="0"/>
              <a:t>Pool</a:t>
            </a:r>
            <a:r>
              <a:rPr lang="ko-KR" altLang="en-US" sz="1400" dirty="0" smtClean="0"/>
              <a:t>에 저장됩니다</a:t>
            </a:r>
            <a:r>
              <a:rPr lang="en-US" altLang="ko-KR" sz="1400" dirty="0" smtClean="0"/>
              <a:t>.</a:t>
            </a:r>
          </a:p>
          <a:p>
            <a:pPr lvl="2" latinLnBrk="0">
              <a:buFont typeface="Wingdings" pitchFamily="2" charset="2"/>
              <a:buChar char="v"/>
            </a:pPr>
            <a:r>
              <a:rPr lang="ko-KR" altLang="en-US" sz="1400" dirty="0" smtClean="0"/>
              <a:t>여기에는 </a:t>
            </a:r>
            <a:r>
              <a:rPr lang="en-US" altLang="ko-KR" sz="1400" dirty="0" smtClean="0"/>
              <a:t>import </a:t>
            </a:r>
            <a:r>
              <a:rPr lang="ko-KR" altLang="en-US" sz="1400" dirty="0" smtClean="0"/>
              <a:t>구문에 작성된 패키지의 클래스들이 </a:t>
            </a:r>
            <a:r>
              <a:rPr lang="en-US" altLang="ko-KR" sz="1400" dirty="0" smtClean="0"/>
              <a:t>Load</a:t>
            </a:r>
            <a:r>
              <a:rPr lang="ko-KR" altLang="en-US" sz="1400" dirty="0" smtClean="0"/>
              <a:t>되고 사용자가 작성한 클래스도 </a:t>
            </a:r>
            <a:r>
              <a:rPr lang="en-US" altLang="ko-KR" sz="1400" dirty="0" smtClean="0"/>
              <a:t>Load</a:t>
            </a:r>
            <a:r>
              <a:rPr lang="ko-KR" altLang="en-US" sz="1400" dirty="0" smtClean="0"/>
              <a:t>됩니다</a:t>
            </a:r>
            <a:r>
              <a:rPr lang="en-US" altLang="ko-KR" sz="1400" dirty="0" smtClean="0"/>
              <a:t>.</a:t>
            </a:r>
          </a:p>
          <a:p>
            <a:pPr lvl="2" latinLnBrk="0">
              <a:buFont typeface="Wingdings" pitchFamily="2" charset="2"/>
              <a:buChar char="v"/>
            </a:pPr>
            <a:r>
              <a:rPr lang="ko-KR" altLang="en-US" sz="1400" dirty="0" smtClean="0"/>
              <a:t>한번 </a:t>
            </a:r>
            <a:r>
              <a:rPr lang="en-US" altLang="ko-KR" sz="1400" dirty="0" smtClean="0"/>
              <a:t>Load </a:t>
            </a:r>
            <a:r>
              <a:rPr lang="ko-KR" altLang="en-US" sz="1400" dirty="0" smtClean="0"/>
              <a:t>되면 프로그램이 종료될 때까지 내용이 소멸되지 않음</a:t>
            </a:r>
            <a:endParaRPr lang="en-US" altLang="ko-KR" sz="1400" dirty="0" smtClean="0"/>
          </a:p>
          <a:p>
            <a:pPr lvl="1" latinLnBrk="0">
              <a:buFont typeface="Wingdings" pitchFamily="2" charset="2"/>
              <a:buChar char="v"/>
            </a:pPr>
            <a:r>
              <a:rPr lang="ko-KR" altLang="en-US" sz="1400" dirty="0" smtClean="0"/>
              <a:t>자바 </a:t>
            </a:r>
            <a:r>
              <a:rPr lang="ko-KR" altLang="en-US" sz="1400" dirty="0" err="1" smtClean="0"/>
              <a:t>스택</a:t>
            </a:r>
            <a:endParaRPr lang="ko-KR" altLang="en-US" sz="1400" dirty="0" smtClean="0"/>
          </a:p>
          <a:p>
            <a:pPr lvl="2" latinLnBrk="0">
              <a:buFont typeface="Wingdings" pitchFamily="2" charset="2"/>
              <a:buChar char="v"/>
            </a:pPr>
            <a:r>
              <a:rPr lang="ko-KR" altLang="en-US" sz="1400" dirty="0" err="1" smtClean="0"/>
              <a:t>메서드를</a:t>
            </a:r>
            <a:r>
              <a:rPr lang="ko-KR" altLang="en-US" sz="1400" dirty="0" smtClean="0"/>
              <a:t> 호출하게 되면 </a:t>
            </a:r>
            <a:r>
              <a:rPr lang="ko-KR" altLang="en-US" sz="1400" dirty="0" err="1" smtClean="0"/>
              <a:t>메서드가</a:t>
            </a:r>
            <a:r>
              <a:rPr lang="ko-KR" altLang="en-US" sz="1400" dirty="0" smtClean="0"/>
              <a:t> 수행되는 데 필요한 것들이 저장되는 영역입니다</a:t>
            </a:r>
            <a:r>
              <a:rPr lang="en-US" altLang="ko-KR" sz="1400" dirty="0" smtClean="0"/>
              <a:t>.</a:t>
            </a:r>
          </a:p>
          <a:p>
            <a:pPr lvl="2" latinLnBrk="0">
              <a:buFont typeface="Wingdings" pitchFamily="2" charset="2"/>
              <a:buChar char="v"/>
            </a:pPr>
            <a:r>
              <a:rPr lang="ko-KR" altLang="en-US" sz="1400" dirty="0" smtClean="0"/>
              <a:t>가장 최근에 호출된 </a:t>
            </a:r>
            <a:r>
              <a:rPr lang="ko-KR" altLang="en-US" sz="1400" dirty="0" err="1" smtClean="0"/>
              <a:t>메서드의</a:t>
            </a:r>
            <a:r>
              <a:rPr lang="ko-KR" altLang="en-US" sz="1400" dirty="0" smtClean="0"/>
              <a:t> 프레임이 가장 위에 존재하고 이러한 프레임을 활성 </a:t>
            </a:r>
            <a:r>
              <a:rPr lang="ko-KR" altLang="en-US" sz="1400" dirty="0" err="1" smtClean="0"/>
              <a:t>스택</a:t>
            </a:r>
            <a:r>
              <a:rPr lang="ko-KR" altLang="en-US" sz="1400" dirty="0" smtClean="0"/>
              <a:t> 프레임이라고 합니다</a:t>
            </a:r>
            <a:r>
              <a:rPr lang="en-US" altLang="ko-KR" sz="1400" dirty="0" smtClean="0"/>
              <a:t>.</a:t>
            </a:r>
          </a:p>
          <a:p>
            <a:pPr lvl="2" latinLnBrk="0">
              <a:buFont typeface="Wingdings" pitchFamily="2" charset="2"/>
              <a:buChar char="v"/>
            </a:pPr>
            <a:r>
              <a:rPr lang="ko-KR" altLang="en-US" sz="1400" dirty="0" smtClean="0"/>
              <a:t>이 영역을 가리키는 레지스터를 </a:t>
            </a:r>
            <a:r>
              <a:rPr lang="en-US" altLang="ko-KR" sz="1400" dirty="0" smtClean="0"/>
              <a:t>Program Counter</a:t>
            </a:r>
            <a:r>
              <a:rPr lang="ko-KR" altLang="en-US" sz="1400" dirty="0" smtClean="0"/>
              <a:t>라고 합니다</a:t>
            </a:r>
            <a:r>
              <a:rPr lang="en-US" altLang="ko-KR" sz="1400" dirty="0" smtClean="0"/>
              <a:t>.</a:t>
            </a:r>
          </a:p>
          <a:p>
            <a:pPr lvl="2" latinLnBrk="0">
              <a:buFont typeface="Wingdings" pitchFamily="2" charset="2"/>
              <a:buChar char="v"/>
            </a:pPr>
            <a:r>
              <a:rPr lang="ko-KR" altLang="en-US" sz="1400" dirty="0" smtClean="0"/>
              <a:t>이 영역은 </a:t>
            </a:r>
            <a:r>
              <a:rPr lang="ko-KR" altLang="en-US" sz="1400" dirty="0" err="1" smtClean="0"/>
              <a:t>메서드의</a:t>
            </a:r>
            <a:r>
              <a:rPr lang="ko-KR" altLang="en-US" sz="1400" dirty="0" smtClean="0"/>
              <a:t> 수행이 종료되면 자동적으로 소멸</a:t>
            </a:r>
            <a:endParaRPr lang="en-US" altLang="ko-KR" sz="1400" dirty="0" smtClean="0"/>
          </a:p>
          <a:p>
            <a:pPr lvl="1" latinLnBrk="0">
              <a:buFont typeface="Wingdings" pitchFamily="2" charset="2"/>
              <a:buChar char="v"/>
            </a:pPr>
            <a:r>
              <a:rPr lang="en-US" altLang="ko-KR" sz="1400" dirty="0" smtClean="0"/>
              <a:t>Heap</a:t>
            </a:r>
          </a:p>
          <a:p>
            <a:pPr lvl="2" latinLnBrk="0">
              <a:buFont typeface="Wingdings" pitchFamily="2" charset="2"/>
              <a:buChar char="v"/>
            </a:pPr>
            <a:r>
              <a:rPr lang="en-US" altLang="ko-KR" sz="1400" dirty="0" smtClean="0"/>
              <a:t>new</a:t>
            </a:r>
            <a:r>
              <a:rPr lang="ko-KR" altLang="en-US" sz="1400" dirty="0" smtClean="0"/>
              <a:t>라는 예약어를 이용하여 객체가 동적으로 </a:t>
            </a:r>
            <a:r>
              <a:rPr lang="ko-KR" altLang="en-US" sz="1400" dirty="0" err="1" smtClean="0"/>
              <a:t>할당받는</a:t>
            </a:r>
            <a:r>
              <a:rPr lang="ko-KR" altLang="en-US" sz="1400" dirty="0" smtClean="0"/>
              <a:t> 영역으로 </a:t>
            </a:r>
            <a:r>
              <a:rPr lang="en-US" altLang="ko-KR" sz="1400" dirty="0" smtClean="0"/>
              <a:t>Garbage Collection</a:t>
            </a:r>
            <a:r>
              <a:rPr lang="ko-KR" altLang="en-US" sz="1400" dirty="0" smtClean="0"/>
              <a:t>이 관리하는 영역</a:t>
            </a:r>
            <a:endParaRPr lang="en-US" altLang="ko-KR" sz="1400" dirty="0" smtClean="0"/>
          </a:p>
          <a:p>
            <a:pPr lvl="2" latinLnBrk="0">
              <a:buFont typeface="Wingdings" pitchFamily="2" charset="2"/>
              <a:buChar char="v"/>
            </a:pPr>
            <a:r>
              <a:rPr lang="en-US" altLang="ko-KR" sz="1400" dirty="0" smtClean="0"/>
              <a:t>C</a:t>
            </a:r>
            <a:r>
              <a:rPr lang="ko-KR" altLang="en-US" sz="1400" dirty="0" smtClean="0"/>
              <a:t>언어에서는 사용자가 이 영역을 직접 제어</a:t>
            </a:r>
            <a:endParaRPr lang="en-US" altLang="ko-KR" sz="1400" dirty="0" smtClean="0"/>
          </a:p>
          <a:p>
            <a:pPr lvl="2" latinLnBrk="0">
              <a:buFont typeface="Wingdings" pitchFamily="2" charset="2"/>
              <a:buChar char="v"/>
            </a:pPr>
            <a:r>
              <a:rPr lang="en-US" altLang="ko-KR" sz="1400" dirty="0" smtClean="0"/>
              <a:t>Native Method Stacks</a:t>
            </a:r>
          </a:p>
          <a:p>
            <a:pPr lvl="3" latinLnBrk="0">
              <a:buFont typeface="Wingdings" pitchFamily="2" charset="2"/>
              <a:buChar char="v"/>
            </a:pPr>
            <a:r>
              <a:rPr lang="ko-KR" altLang="en-US" sz="1400" dirty="0" smtClean="0"/>
              <a:t>자바는 하드웨어를 직접 제어하지 못하므로 다른 언어의 기능을 빌려서 사용해야 하는 경우가 있는데 이 때 사용되는 것이 </a:t>
            </a:r>
            <a:r>
              <a:rPr lang="en-US" altLang="ko-KR" sz="1400" dirty="0" smtClean="0"/>
              <a:t>JNI(Java Native Interface)</a:t>
            </a:r>
            <a:r>
              <a:rPr lang="ko-KR" altLang="en-US" sz="1400" dirty="0" smtClean="0"/>
              <a:t>입니다</a:t>
            </a:r>
            <a:r>
              <a:rPr lang="en-US" altLang="ko-KR" sz="1400" dirty="0" smtClean="0"/>
              <a:t>.</a:t>
            </a:r>
          </a:p>
          <a:p>
            <a:pPr lvl="3" latinLnBrk="0">
              <a:buFont typeface="Wingdings" pitchFamily="2" charset="2"/>
              <a:buChar char="v"/>
            </a:pPr>
            <a:r>
              <a:rPr lang="ko-KR" altLang="en-US" sz="1400" dirty="0" smtClean="0"/>
              <a:t>이 때 다른 언어의 내용을 자바 바이트 코드로 변환하게 되는 데 이러한 코드가 기록되는 영역입니다</a:t>
            </a:r>
            <a:r>
              <a:rPr lang="en-US" altLang="ko-KR" sz="1400" dirty="0" smtClean="0"/>
              <a:t>.</a:t>
            </a:r>
            <a:endParaRPr lang="ko-KR" altLang="en-US" sz="14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4. JDK </a:t>
            </a:r>
            <a:r>
              <a:rPr lang="ko-KR" altLang="en-US" dirty="0" smtClean="0"/>
              <a:t>설치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atinLnBrk="0">
              <a:buFont typeface="Wingdings" pitchFamily="2" charset="2"/>
              <a:buChar char="v"/>
            </a:pPr>
            <a:r>
              <a:rPr lang="en-US" altLang="ko-KR" sz="1600" dirty="0" smtClean="0"/>
              <a:t>http://java.sun.com/javase/downloads/index.jsp </a:t>
            </a:r>
            <a:r>
              <a:rPr lang="ko-KR" altLang="en-US" sz="1600" dirty="0" smtClean="0"/>
              <a:t>에서 다운로드 받은 </a:t>
            </a:r>
            <a:r>
              <a:rPr lang="en-US" altLang="ko-KR" sz="1600" dirty="0" smtClean="0"/>
              <a:t>JDK</a:t>
            </a:r>
            <a:r>
              <a:rPr lang="ko-KR" altLang="en-US" sz="1600" dirty="0" smtClean="0"/>
              <a:t>를 설치</a:t>
            </a:r>
            <a:r>
              <a:rPr lang="en-US" altLang="ko-KR" sz="1600" dirty="0" smtClean="0"/>
              <a:t>(Mac OS X)</a:t>
            </a:r>
            <a:r>
              <a:rPr lang="ko-KR" altLang="en-US" sz="1600" dirty="0" smtClean="0"/>
              <a:t>에서는 별도의 설치 과정이 없습니다</a:t>
            </a:r>
            <a:r>
              <a:rPr lang="en-US" altLang="ko-KR" sz="1600" dirty="0" smtClean="0"/>
              <a:t>.</a:t>
            </a:r>
          </a:p>
          <a:p>
            <a:pPr latinLnBrk="0">
              <a:buFont typeface="Wingdings" pitchFamily="2" charset="2"/>
              <a:buChar char="v"/>
            </a:pPr>
            <a:endParaRPr lang="en-US" altLang="ko-KR" sz="1600" dirty="0" smtClean="0"/>
          </a:p>
          <a:p>
            <a:pPr latinLnBrk="0">
              <a:buFont typeface="Wingdings" pitchFamily="2" charset="2"/>
              <a:buChar char="v"/>
            </a:pPr>
            <a:r>
              <a:rPr lang="ko-KR" altLang="en-US" sz="1600" dirty="0" smtClean="0"/>
              <a:t>환경변수 설정</a:t>
            </a:r>
          </a:p>
          <a:p>
            <a:pPr lvl="1" latinLnBrk="0">
              <a:buFont typeface="Wingdings" pitchFamily="2" charset="2"/>
              <a:buChar char="v"/>
            </a:pPr>
            <a:r>
              <a:rPr lang="ko-KR" altLang="en-US" sz="1400" dirty="0" smtClean="0"/>
              <a:t>윈도우에서는 </a:t>
            </a:r>
            <a:r>
              <a:rPr lang="en-US" altLang="ko-KR" sz="1400" dirty="0" smtClean="0"/>
              <a:t>[</a:t>
            </a:r>
            <a:r>
              <a:rPr lang="ko-KR" altLang="en-US" sz="1400" dirty="0" smtClean="0"/>
              <a:t>내 컴퓨터</a:t>
            </a:r>
            <a:r>
              <a:rPr lang="en-US" altLang="ko-KR" sz="1400" dirty="0" smtClean="0"/>
              <a:t>]</a:t>
            </a:r>
            <a:r>
              <a:rPr lang="ko-KR" altLang="en-US" sz="1400" dirty="0" smtClean="0"/>
              <a:t>를 선택하고 마우스 오른쪽 클릭 후 </a:t>
            </a:r>
            <a:r>
              <a:rPr lang="en-US" altLang="ko-KR" sz="1400" dirty="0" smtClean="0"/>
              <a:t>[</a:t>
            </a:r>
            <a:r>
              <a:rPr lang="ko-KR" altLang="en-US" sz="1400" dirty="0" smtClean="0"/>
              <a:t>등록정보</a:t>
            </a:r>
            <a:r>
              <a:rPr lang="en-US" altLang="ko-KR" sz="1400" dirty="0" smtClean="0"/>
              <a:t>] </a:t>
            </a:r>
            <a:r>
              <a:rPr lang="ko-KR" altLang="en-US" sz="1400" dirty="0" smtClean="0"/>
              <a:t>또는 </a:t>
            </a:r>
            <a:r>
              <a:rPr lang="en-US" altLang="ko-KR" sz="1400" dirty="0" smtClean="0"/>
              <a:t>[</a:t>
            </a:r>
            <a:r>
              <a:rPr lang="ko-KR" altLang="en-US" sz="1400" dirty="0" smtClean="0"/>
              <a:t>속성</a:t>
            </a:r>
            <a:r>
              <a:rPr lang="en-US" altLang="ko-KR" sz="1400" dirty="0" smtClean="0"/>
              <a:t>] – [</a:t>
            </a:r>
            <a:r>
              <a:rPr lang="ko-KR" altLang="en-US" sz="1400" dirty="0" smtClean="0"/>
              <a:t>고급</a:t>
            </a:r>
            <a:r>
              <a:rPr lang="en-US" altLang="ko-KR" sz="1400" dirty="0" smtClean="0"/>
              <a:t>] – [</a:t>
            </a:r>
            <a:r>
              <a:rPr lang="ko-KR" altLang="en-US" sz="1400" dirty="0" smtClean="0"/>
              <a:t>환경변수</a:t>
            </a:r>
            <a:r>
              <a:rPr lang="en-US" altLang="ko-KR" sz="1400" dirty="0" smtClean="0"/>
              <a:t>] – </a:t>
            </a:r>
            <a:r>
              <a:rPr lang="ko-KR" altLang="en-US" sz="1400" dirty="0" smtClean="0"/>
              <a:t>시스템 변수에서 </a:t>
            </a:r>
            <a:r>
              <a:rPr lang="en-US" altLang="ko-KR" sz="1400" dirty="0" smtClean="0"/>
              <a:t>[path]</a:t>
            </a:r>
            <a:r>
              <a:rPr lang="ko-KR" altLang="en-US" sz="1400" dirty="0" smtClean="0"/>
              <a:t>를 선택하고 </a:t>
            </a:r>
            <a:r>
              <a:rPr lang="en-US" altLang="ko-KR" sz="1400" dirty="0" smtClean="0"/>
              <a:t>[</a:t>
            </a:r>
            <a:r>
              <a:rPr lang="ko-KR" altLang="en-US" sz="1400" dirty="0" smtClean="0"/>
              <a:t>편집</a:t>
            </a:r>
            <a:r>
              <a:rPr lang="en-US" altLang="ko-KR" sz="1400" dirty="0" smtClean="0"/>
              <a:t>] </a:t>
            </a:r>
          </a:p>
          <a:p>
            <a:pPr lvl="1" latinLnBrk="0">
              <a:buFont typeface="Wingdings" pitchFamily="2" charset="2"/>
              <a:buChar char="v"/>
            </a:pPr>
            <a:r>
              <a:rPr lang="ko-KR" altLang="en-US" sz="1400" dirty="0" smtClean="0"/>
              <a:t>변수 값</a:t>
            </a:r>
            <a:r>
              <a:rPr lang="en-US" altLang="ko-KR" sz="1400" dirty="0" smtClean="0"/>
              <a:t>: JDK</a:t>
            </a:r>
            <a:r>
              <a:rPr lang="ko-KR" altLang="en-US" sz="1400" dirty="0" smtClean="0"/>
              <a:t>가 설치된 경로의 </a:t>
            </a:r>
            <a:r>
              <a:rPr lang="en-US" altLang="ko-KR" sz="1400" dirty="0" smtClean="0"/>
              <a:t>bin </a:t>
            </a:r>
            <a:r>
              <a:rPr lang="ko-KR" altLang="en-US" sz="1400" dirty="0" smtClean="0"/>
              <a:t>폴더의 위치를 추가</a:t>
            </a:r>
            <a:endParaRPr lang="en-US" altLang="ko-KR" sz="1400" dirty="0" smtClean="0"/>
          </a:p>
          <a:p>
            <a:pPr lvl="1" latinLnBrk="0">
              <a:buFont typeface="Wingdings" pitchFamily="2" charset="2"/>
              <a:buChar char="v"/>
            </a:pPr>
            <a:r>
              <a:rPr lang="ko-KR" altLang="en-US" sz="1400" dirty="0" smtClean="0"/>
              <a:t>아무 곳에나 추가해도 되지만 </a:t>
            </a:r>
            <a:r>
              <a:rPr lang="ko-KR" altLang="en-US" sz="1400" dirty="0" err="1" smtClean="0"/>
              <a:t>오라클이</a:t>
            </a:r>
            <a:r>
              <a:rPr lang="ko-KR" altLang="en-US" sz="1400" dirty="0" smtClean="0"/>
              <a:t> 설치된 경우 맨 앞에 추가해야 합니다</a:t>
            </a:r>
            <a:r>
              <a:rPr lang="en-US" altLang="ko-KR" sz="1400" dirty="0" smtClean="0"/>
              <a:t>.</a:t>
            </a:r>
          </a:p>
          <a:p>
            <a:pPr lvl="1" latinLnBrk="0">
              <a:buFont typeface="Wingdings" pitchFamily="2" charset="2"/>
              <a:buChar char="v"/>
            </a:pPr>
            <a:r>
              <a:rPr lang="ko-KR" altLang="en-US" sz="1400" dirty="0" smtClean="0"/>
              <a:t>설치 확인은 </a:t>
            </a:r>
            <a:r>
              <a:rPr lang="en-US" altLang="ko-KR" sz="1400" dirty="0" smtClean="0"/>
              <a:t>[</a:t>
            </a:r>
            <a:r>
              <a:rPr lang="ko-KR" altLang="en-US" sz="1400" dirty="0" smtClean="0"/>
              <a:t>시작</a:t>
            </a:r>
            <a:r>
              <a:rPr lang="en-US" altLang="ko-KR" sz="1400" dirty="0" smtClean="0"/>
              <a:t>] – [</a:t>
            </a:r>
            <a:r>
              <a:rPr lang="ko-KR" altLang="en-US" sz="1400" dirty="0" smtClean="0"/>
              <a:t>실행</a:t>
            </a:r>
            <a:r>
              <a:rPr lang="en-US" altLang="ko-KR" sz="1400" dirty="0" smtClean="0"/>
              <a:t>] – [</a:t>
            </a:r>
            <a:r>
              <a:rPr lang="en-US" altLang="ko-KR" sz="1400" dirty="0" err="1" smtClean="0"/>
              <a:t>cmd</a:t>
            </a:r>
            <a:r>
              <a:rPr lang="en-US" altLang="ko-KR" sz="1400" dirty="0" smtClean="0"/>
              <a:t>]</a:t>
            </a:r>
            <a:r>
              <a:rPr lang="ko-KR" altLang="en-US" sz="1400" dirty="0" smtClean="0"/>
              <a:t>를 입력하고 </a:t>
            </a:r>
            <a:r>
              <a:rPr lang="en-US" altLang="ko-KR" sz="1400" dirty="0" smtClean="0"/>
              <a:t>Enter</a:t>
            </a:r>
          </a:p>
          <a:p>
            <a:pPr lvl="1" latinLnBrk="0">
              <a:buFont typeface="Wingdings" pitchFamily="2" charset="2"/>
              <a:buChar char="v"/>
            </a:pPr>
            <a:r>
              <a:rPr lang="en-US" altLang="ko-KR" sz="1400" dirty="0" smtClean="0"/>
              <a:t>c:..&gt;java –version </a:t>
            </a:r>
            <a:r>
              <a:rPr lang="ko-KR" altLang="en-US" sz="1400" dirty="0" smtClean="0"/>
              <a:t>라고 치면 화면에 자바버전이 나온다</a:t>
            </a:r>
            <a:r>
              <a:rPr lang="en-US" altLang="ko-KR" sz="1400" dirty="0" smtClean="0"/>
              <a:t>.</a:t>
            </a:r>
          </a:p>
          <a:p>
            <a:pPr lvl="1" latinLnBrk="0">
              <a:buFont typeface="Wingdings" pitchFamily="2" charset="2"/>
              <a:buChar char="v"/>
            </a:pPr>
            <a:r>
              <a:rPr lang="ko-KR" altLang="en-US" sz="1400" dirty="0" smtClean="0"/>
              <a:t>화면에 자바버전이 자신이 다운로드 받은 것과 일치하면 잘 설치 된 것입니다</a:t>
            </a:r>
            <a:r>
              <a:rPr lang="en-US" altLang="ko-KR" sz="1400" dirty="0" smtClean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10</a:t>
            </a:fld>
            <a:endParaRPr lang="ko-KR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 b="53125"/>
          <a:stretch>
            <a:fillRect/>
          </a:stretch>
        </p:blipFill>
        <p:spPr bwMode="auto">
          <a:xfrm>
            <a:off x="971600" y="4365104"/>
            <a:ext cx="4968552" cy="22322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51961" y="2015013"/>
            <a:ext cx="2010457" cy="3771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691680" y="1268760"/>
            <a:ext cx="5904656" cy="762000"/>
          </a:xfrm>
        </p:spPr>
        <p:txBody>
          <a:bodyPr/>
          <a:lstStyle/>
          <a:p>
            <a:r>
              <a:rPr lang="en-US" altLang="ko-KR" dirty="0" smtClean="0">
                <a:solidFill>
                  <a:srgbClr val="FF0000"/>
                </a:solidFill>
              </a:rPr>
              <a:t>JDK </a:t>
            </a:r>
            <a:r>
              <a:rPr lang="ko-KR" altLang="en-US" dirty="0" smtClean="0">
                <a:solidFill>
                  <a:srgbClr val="FF0000"/>
                </a:solidFill>
              </a:rPr>
              <a:t>설치 후 디렉터리 구조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33" name="슬라이드 번호 개체 틀 3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A6BD2C2-3D3B-4E94-BD92-61B02C5F4DEE}" type="slidenum">
              <a:rPr lang="ko-KR" altLang="en-US" smtClean="0"/>
              <a:pPr/>
              <a:t>11</a:t>
            </a:fld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3254297" y="2274733"/>
            <a:ext cx="2874505" cy="272415"/>
          </a:xfrm>
          <a:prstGeom prst="wedgeRoundRectCallout">
            <a:avLst>
              <a:gd name="adj1" fmla="val -100009"/>
              <a:gd name="adj2" fmla="val 134185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 smtClean="0"/>
              <a:t>자바 개발</a:t>
            </a:r>
            <a:r>
              <a:rPr lang="en-US" altLang="ko-KR" sz="1000" dirty="0" smtClean="0"/>
              <a:t>, </a:t>
            </a:r>
            <a:r>
              <a:rPr lang="ko-KR" altLang="en-US" sz="1000" dirty="0" smtClean="0"/>
              <a:t>실행하는데 필요한 도구와 유틸리티</a:t>
            </a:r>
            <a:endParaRPr lang="ko-KR" altLang="en-US" sz="1000" dirty="0"/>
          </a:p>
        </p:txBody>
      </p:sp>
      <p:sp>
        <p:nvSpPr>
          <p:cNvPr id="17" name="TextBox 16"/>
          <p:cNvSpPr txBox="1"/>
          <p:nvPr/>
        </p:nvSpPr>
        <p:spPr>
          <a:xfrm>
            <a:off x="3266219" y="4176378"/>
            <a:ext cx="3969356" cy="272415"/>
          </a:xfrm>
          <a:prstGeom prst="wedgeRoundRectCallout">
            <a:avLst>
              <a:gd name="adj1" fmla="val -74007"/>
              <a:gd name="adj2" fmla="val 10623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 smtClean="0"/>
              <a:t>자바 런타임 환경</a:t>
            </a:r>
            <a:r>
              <a:rPr lang="en-US" altLang="ko-KR" sz="1000" dirty="0" smtClean="0"/>
              <a:t>. JVM, </a:t>
            </a:r>
            <a:r>
              <a:rPr lang="ko-KR" altLang="en-US" sz="1000" dirty="0" smtClean="0"/>
              <a:t>클래스 라이브러리</a:t>
            </a:r>
            <a:r>
              <a:rPr lang="en-US" altLang="ko-KR" sz="1000" dirty="0" smtClean="0"/>
              <a:t> </a:t>
            </a:r>
            <a:r>
              <a:rPr lang="ko-KR" altLang="en-US" sz="1000" dirty="0" smtClean="0"/>
              <a:t>등 실행에 필요한 파일</a:t>
            </a:r>
            <a:endParaRPr lang="ko-KR" altLang="en-US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3257899" y="4741891"/>
            <a:ext cx="5330555" cy="271285"/>
          </a:xfrm>
          <a:prstGeom prst="wedgeRoundRectCallout">
            <a:avLst>
              <a:gd name="adj1" fmla="val -77506"/>
              <a:gd name="adj2" fmla="val 4586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JDK</a:t>
            </a:r>
            <a:r>
              <a:rPr lang="ko-KR" altLang="en-US" sz="1000" dirty="0" smtClean="0"/>
              <a:t>의</a:t>
            </a:r>
            <a:r>
              <a:rPr lang="en-US" altLang="ko-KR" sz="1000" dirty="0"/>
              <a:t> </a:t>
            </a:r>
            <a:r>
              <a:rPr lang="ko-KR" altLang="en-US" sz="1000" dirty="0" smtClean="0"/>
              <a:t>기본</a:t>
            </a:r>
            <a:r>
              <a:rPr lang="en-US" altLang="ko-KR" sz="1000" dirty="0"/>
              <a:t> </a:t>
            </a:r>
            <a:r>
              <a:rPr lang="ko-KR" altLang="en-US" sz="1000" dirty="0" smtClean="0"/>
              <a:t>라이브러리</a:t>
            </a:r>
            <a:r>
              <a:rPr lang="en-US" altLang="ko-KR" sz="1000" dirty="0"/>
              <a:t> </a:t>
            </a:r>
            <a:r>
              <a:rPr lang="ko-KR" altLang="en-US" sz="1000" dirty="0" smtClean="0"/>
              <a:t>외</a:t>
            </a:r>
            <a:r>
              <a:rPr lang="en-US" altLang="ko-KR" sz="1000" dirty="0"/>
              <a:t> </a:t>
            </a:r>
            <a:r>
              <a:rPr lang="ko-KR" altLang="en-US" sz="1000" dirty="0" smtClean="0"/>
              <a:t>추가</a:t>
            </a:r>
            <a:r>
              <a:rPr lang="en-US" altLang="ko-KR" sz="1000" dirty="0"/>
              <a:t> </a:t>
            </a:r>
            <a:r>
              <a:rPr lang="ko-KR" altLang="en-US" sz="1000" dirty="0" smtClean="0"/>
              <a:t>클래스</a:t>
            </a:r>
            <a:r>
              <a:rPr lang="en-US" altLang="ko-KR" sz="1000" dirty="0"/>
              <a:t> </a:t>
            </a:r>
            <a:r>
              <a:rPr lang="ko-KR" altLang="en-US" sz="1000" dirty="0" smtClean="0"/>
              <a:t>라이브러리와</a:t>
            </a:r>
            <a:r>
              <a:rPr lang="en-US" altLang="ko-KR" sz="1000" dirty="0"/>
              <a:t> </a:t>
            </a:r>
            <a:r>
              <a:rPr lang="ko-KR" altLang="en-US" sz="1000" dirty="0" smtClean="0"/>
              <a:t>개발</a:t>
            </a:r>
            <a:r>
              <a:rPr lang="en-US" altLang="ko-KR" sz="1000" dirty="0"/>
              <a:t> </a:t>
            </a:r>
            <a:r>
              <a:rPr lang="ko-KR" altLang="en-US" sz="1000" dirty="0" smtClean="0"/>
              <a:t>도구에서</a:t>
            </a:r>
            <a:r>
              <a:rPr lang="ko-KR" altLang="en-US" sz="1000" dirty="0"/>
              <a:t> </a:t>
            </a:r>
            <a:r>
              <a:rPr lang="ko-KR" altLang="en-US" sz="1000" dirty="0" smtClean="0"/>
              <a:t>필요로</a:t>
            </a:r>
            <a:r>
              <a:rPr lang="en-US" altLang="ko-KR" sz="1000" dirty="0" smtClean="0"/>
              <a:t> </a:t>
            </a:r>
            <a:r>
              <a:rPr lang="ko-KR" altLang="en-US" sz="1000" dirty="0" smtClean="0"/>
              <a:t>하는</a:t>
            </a:r>
            <a:r>
              <a:rPr lang="en-US" altLang="ko-KR" sz="1000" dirty="0"/>
              <a:t> </a:t>
            </a:r>
            <a:r>
              <a:rPr lang="ko-KR" altLang="en-US" sz="1000" dirty="0" smtClean="0"/>
              <a:t>여러</a:t>
            </a:r>
            <a:r>
              <a:rPr lang="en-US" altLang="ko-KR" sz="1000" dirty="0"/>
              <a:t> </a:t>
            </a:r>
            <a:r>
              <a:rPr lang="ko-KR" altLang="en-US" sz="1000" dirty="0" smtClean="0"/>
              <a:t>파일</a:t>
            </a:r>
            <a:endParaRPr lang="ko-KR" altLang="en-US" sz="1000" dirty="0"/>
          </a:p>
        </p:txBody>
      </p:sp>
      <p:sp>
        <p:nvSpPr>
          <p:cNvPr id="27" name="TextBox 26"/>
          <p:cNvSpPr txBox="1"/>
          <p:nvPr/>
        </p:nvSpPr>
        <p:spPr>
          <a:xfrm>
            <a:off x="3234905" y="3168369"/>
            <a:ext cx="2180451" cy="272415"/>
          </a:xfrm>
          <a:prstGeom prst="wedgeRoundRectCallout">
            <a:avLst>
              <a:gd name="adj1" fmla="val -113361"/>
              <a:gd name="adj2" fmla="val 28464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 smtClean="0"/>
              <a:t>자바 프로그래밍 예제와 소스 코드</a:t>
            </a:r>
            <a:endParaRPr lang="ko-KR" altLang="en-US" sz="1000" dirty="0"/>
          </a:p>
        </p:txBody>
      </p:sp>
      <p:sp>
        <p:nvSpPr>
          <p:cNvPr id="31" name="TextBox 30"/>
          <p:cNvSpPr txBox="1"/>
          <p:nvPr/>
        </p:nvSpPr>
        <p:spPr>
          <a:xfrm>
            <a:off x="3257899" y="5229200"/>
            <a:ext cx="1921490" cy="272415"/>
          </a:xfrm>
          <a:prstGeom prst="wedgeRoundRectCallout">
            <a:avLst>
              <a:gd name="adj1" fmla="val -113523"/>
              <a:gd name="adj2" fmla="val -30492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 smtClean="0"/>
              <a:t>자바 프로그램 샘플 소스 코드</a:t>
            </a:r>
            <a:endParaRPr lang="ko-KR" altLang="en-US" sz="1000" dirty="0"/>
          </a:p>
        </p:txBody>
      </p:sp>
      <p:sp>
        <p:nvSpPr>
          <p:cNvPr id="43" name="TextBox 42"/>
          <p:cNvSpPr txBox="1"/>
          <p:nvPr/>
        </p:nvSpPr>
        <p:spPr>
          <a:xfrm>
            <a:off x="3234905" y="5786454"/>
            <a:ext cx="2292129" cy="272415"/>
          </a:xfrm>
          <a:prstGeom prst="wedgeRoundRectCallout">
            <a:avLst>
              <a:gd name="adj1" fmla="val -117403"/>
              <a:gd name="adj2" fmla="val -93888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 smtClean="0"/>
              <a:t>자바 </a:t>
            </a:r>
            <a:r>
              <a:rPr lang="en-US" altLang="ko-KR" sz="1000" dirty="0" smtClean="0"/>
              <a:t>API </a:t>
            </a:r>
            <a:r>
              <a:rPr lang="ko-KR" altLang="en-US" sz="1000" dirty="0" smtClean="0"/>
              <a:t>클래스들에 대한 자바 소스</a:t>
            </a:r>
            <a:endParaRPr lang="ko-KR" altLang="en-US" sz="1000" dirty="0"/>
          </a:p>
        </p:txBody>
      </p:sp>
      <p:sp>
        <p:nvSpPr>
          <p:cNvPr id="49" name="TextBox 48"/>
          <p:cNvSpPr txBox="1"/>
          <p:nvPr/>
        </p:nvSpPr>
        <p:spPr>
          <a:xfrm>
            <a:off x="3246345" y="3713446"/>
            <a:ext cx="2845651" cy="272415"/>
          </a:xfrm>
          <a:prstGeom prst="wedgeRoundRectCallout">
            <a:avLst>
              <a:gd name="adj1" fmla="val -95117"/>
              <a:gd name="adj2" fmla="val -38199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 err="1" smtClean="0"/>
              <a:t>네이티브</a:t>
            </a:r>
            <a:r>
              <a:rPr lang="ko-KR" altLang="en-US" sz="1000" dirty="0" smtClean="0"/>
              <a:t> 코드 프로그래밍에 필요한 헤더 파일</a:t>
            </a:r>
            <a:endParaRPr lang="ko-KR" altLang="en-US" sz="1000" dirty="0"/>
          </a:p>
        </p:txBody>
      </p:sp>
      <p:sp>
        <p:nvSpPr>
          <p:cNvPr id="18" name="직사각형 17"/>
          <p:cNvSpPr/>
          <p:nvPr/>
        </p:nvSpPr>
        <p:spPr>
          <a:xfrm>
            <a:off x="863588" y="3900732"/>
            <a:ext cx="1116124" cy="925865"/>
          </a:xfrm>
          <a:prstGeom prst="rect">
            <a:avLst/>
          </a:prstGeom>
          <a:noFill/>
          <a:ln>
            <a:solidFill>
              <a:srgbClr val="CC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연결선 13"/>
          <p:cNvCxnSpPr/>
          <p:nvPr/>
        </p:nvCxnSpPr>
        <p:spPr>
          <a:xfrm>
            <a:off x="539552" y="1916832"/>
            <a:ext cx="0" cy="2160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/>
        </p:nvCxnSpPr>
        <p:spPr>
          <a:xfrm>
            <a:off x="539552" y="2132856"/>
            <a:ext cx="873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/>
          <p:cNvCxnSpPr/>
          <p:nvPr/>
        </p:nvCxnSpPr>
        <p:spPr>
          <a:xfrm>
            <a:off x="583251" y="2547148"/>
            <a:ext cx="2363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/>
          <p:cNvCxnSpPr/>
          <p:nvPr/>
        </p:nvCxnSpPr>
        <p:spPr>
          <a:xfrm>
            <a:off x="583251" y="2132856"/>
            <a:ext cx="0" cy="34563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/>
          <p:cNvCxnSpPr/>
          <p:nvPr/>
        </p:nvCxnSpPr>
        <p:spPr>
          <a:xfrm>
            <a:off x="581319" y="2928364"/>
            <a:ext cx="2363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/>
          <p:cNvCxnSpPr/>
          <p:nvPr/>
        </p:nvCxnSpPr>
        <p:spPr>
          <a:xfrm>
            <a:off x="583251" y="3283647"/>
            <a:ext cx="2363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/>
          <p:cNvCxnSpPr/>
          <p:nvPr/>
        </p:nvCxnSpPr>
        <p:spPr>
          <a:xfrm>
            <a:off x="591225" y="3714183"/>
            <a:ext cx="2363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/>
          <p:cNvCxnSpPr/>
          <p:nvPr/>
        </p:nvCxnSpPr>
        <p:spPr>
          <a:xfrm>
            <a:off x="581318" y="4857169"/>
            <a:ext cx="2363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/>
          <p:cNvCxnSpPr/>
          <p:nvPr/>
        </p:nvCxnSpPr>
        <p:spPr>
          <a:xfrm>
            <a:off x="591225" y="5229200"/>
            <a:ext cx="2363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/>
          <p:cNvCxnSpPr/>
          <p:nvPr/>
        </p:nvCxnSpPr>
        <p:spPr>
          <a:xfrm>
            <a:off x="591225" y="5589240"/>
            <a:ext cx="2363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/>
          <p:cNvCxnSpPr/>
          <p:nvPr/>
        </p:nvCxnSpPr>
        <p:spPr>
          <a:xfrm>
            <a:off x="755576" y="3714183"/>
            <a:ext cx="0" cy="7229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/>
          <p:cNvCxnSpPr/>
          <p:nvPr/>
        </p:nvCxnSpPr>
        <p:spPr>
          <a:xfrm>
            <a:off x="755576" y="4057042"/>
            <a:ext cx="2160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/>
          <p:cNvCxnSpPr/>
          <p:nvPr/>
        </p:nvCxnSpPr>
        <p:spPr>
          <a:xfrm>
            <a:off x="755576" y="4437112"/>
            <a:ext cx="2160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266219" y="2770332"/>
            <a:ext cx="3140603" cy="272415"/>
          </a:xfrm>
          <a:prstGeom prst="wedgeRoundRectCallout">
            <a:avLst>
              <a:gd name="adj1" fmla="val -94891"/>
              <a:gd name="adj2" fmla="val 64378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 smtClean="0"/>
              <a:t>자바로 </a:t>
            </a:r>
            <a:r>
              <a:rPr lang="en-US" altLang="ko-KR" sz="1000" dirty="0" smtClean="0"/>
              <a:t>DB </a:t>
            </a:r>
            <a:r>
              <a:rPr lang="ko-KR" altLang="en-US" sz="1000" dirty="0" smtClean="0"/>
              <a:t>응용프로그램을 개발하는데 필요한 도구</a:t>
            </a:r>
            <a:endParaRPr lang="ko-KR" altLang="en-US" sz="1000" dirty="0"/>
          </a:p>
        </p:txBody>
      </p:sp>
      <p:sp>
        <p:nvSpPr>
          <p:cNvPr id="28" name="제목 1"/>
          <p:cNvSpPr txBox="1">
            <a:spLocks/>
          </p:cNvSpPr>
          <p:nvPr/>
        </p:nvSpPr>
        <p:spPr bwMode="white">
          <a:xfrm>
            <a:off x="2643174" y="227013"/>
            <a:ext cx="6500826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600" b="1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j-cs"/>
              </a:rPr>
              <a:t>4. JDK </a:t>
            </a:r>
            <a:r>
              <a:rPr kumimoji="0" lang="ko-KR" altLang="en-US" sz="3600" b="1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j-cs"/>
              </a:rPr>
              <a:t>설치</a:t>
            </a:r>
            <a:endParaRPr kumimoji="0" lang="ko-KR" altLang="en-US" sz="36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008802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195736" y="227013"/>
            <a:ext cx="6948264" cy="762000"/>
          </a:xfrm>
        </p:spPr>
        <p:txBody>
          <a:bodyPr>
            <a:noAutofit/>
          </a:bodyPr>
          <a:lstStyle/>
          <a:p>
            <a:r>
              <a:rPr lang="en-US" altLang="ko-KR" sz="2800" dirty="0" smtClean="0"/>
              <a:t>5. Java </a:t>
            </a:r>
            <a:r>
              <a:rPr lang="ko-KR" altLang="en-US" sz="2800" dirty="0" smtClean="0"/>
              <a:t>프로그램 작성 및 컴파일 및 실행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atinLnBrk="0">
              <a:buFont typeface="Wingdings" pitchFamily="2" charset="2"/>
              <a:buChar char="v"/>
            </a:pPr>
            <a:r>
              <a:rPr lang="en-US" altLang="ko-KR" sz="1800" dirty="0" smtClean="0"/>
              <a:t>source file</a:t>
            </a:r>
            <a:r>
              <a:rPr lang="ko-KR" altLang="en-US" sz="1800" dirty="0" smtClean="0"/>
              <a:t>작성</a:t>
            </a:r>
            <a:r>
              <a:rPr lang="en-US" altLang="ko-KR" sz="1800" dirty="0" smtClean="0"/>
              <a:t>(</a:t>
            </a:r>
            <a:r>
              <a:rPr lang="ko-KR" altLang="en-US" sz="1800" dirty="0" err="1" smtClean="0"/>
              <a:t>확장자는</a:t>
            </a:r>
            <a:r>
              <a:rPr lang="ko-KR" altLang="en-US" sz="1800" dirty="0" smtClean="0"/>
              <a:t> </a:t>
            </a:r>
            <a:r>
              <a:rPr lang="en-US" altLang="ko-KR" sz="1800" dirty="0" smtClean="0"/>
              <a:t>java)</a:t>
            </a:r>
          </a:p>
          <a:p>
            <a:pPr lvl="1" latinLnBrk="0">
              <a:buFont typeface="Wingdings" pitchFamily="2" charset="2"/>
              <a:buChar char="v"/>
            </a:pPr>
            <a:r>
              <a:rPr lang="ko-KR" altLang="en-US" sz="1400" dirty="0" smtClean="0"/>
              <a:t>메모장과 같은 편집기에서 소스코드 작성</a:t>
            </a:r>
          </a:p>
          <a:p>
            <a:pPr lvl="1" latinLnBrk="0">
              <a:buFont typeface="Wingdings" pitchFamily="2" charset="2"/>
              <a:buChar char="v"/>
            </a:pPr>
            <a:r>
              <a:rPr lang="en-US" altLang="ko-KR" sz="1400" dirty="0" smtClean="0"/>
              <a:t>java</a:t>
            </a:r>
            <a:r>
              <a:rPr lang="ko-KR" altLang="en-US" sz="1400" dirty="0" smtClean="0"/>
              <a:t>는 파일명이 클래스이름과 동일해야 합니다</a:t>
            </a:r>
            <a:r>
              <a:rPr lang="en-US" altLang="ko-KR" sz="1400" dirty="0" smtClean="0"/>
              <a:t>.</a:t>
            </a:r>
          </a:p>
          <a:p>
            <a:pPr lvl="1" latinLnBrk="0">
              <a:buFont typeface="Wingdings" pitchFamily="2" charset="2"/>
              <a:buChar char="v"/>
            </a:pPr>
            <a:r>
              <a:rPr lang="ko-KR" altLang="en-US" sz="1400" dirty="0" smtClean="0"/>
              <a:t>따라서 자신이 만든 클래스이름과 파일명이 같은지 확인해야 합니다</a:t>
            </a:r>
            <a:r>
              <a:rPr lang="en-US" altLang="ko-KR" sz="1400" dirty="0" smtClean="0"/>
              <a:t>.</a:t>
            </a:r>
          </a:p>
          <a:p>
            <a:pPr lvl="1" latinLnBrk="0">
              <a:buFont typeface="Wingdings" pitchFamily="2" charset="2"/>
              <a:buChar char="v"/>
            </a:pPr>
            <a:endParaRPr lang="en-US" altLang="ko-KR" sz="1400" dirty="0" smtClean="0"/>
          </a:p>
          <a:p>
            <a:pPr latinLnBrk="0">
              <a:buFont typeface="Wingdings" pitchFamily="2" charset="2"/>
              <a:buChar char="v"/>
            </a:pPr>
            <a:r>
              <a:rPr lang="ko-KR" altLang="en-US" sz="1800" dirty="0" smtClean="0"/>
              <a:t>컴파일</a:t>
            </a:r>
            <a:r>
              <a:rPr lang="en-US" altLang="ko-KR" sz="1800" dirty="0" smtClean="0"/>
              <a:t>(</a:t>
            </a:r>
            <a:r>
              <a:rPr lang="ko-KR" altLang="en-US" sz="1800" dirty="0" smtClean="0"/>
              <a:t>사람 </a:t>
            </a:r>
            <a:r>
              <a:rPr lang="en-US" altLang="ko-KR" sz="1800" dirty="0" smtClean="0"/>
              <a:t>-&gt; </a:t>
            </a:r>
            <a:r>
              <a:rPr lang="ko-KR" altLang="en-US" sz="1800" dirty="0" smtClean="0"/>
              <a:t>기계가 알아볼 수 있는 언어로 변환</a:t>
            </a:r>
            <a:r>
              <a:rPr lang="en-US" altLang="ko-KR" sz="1800" dirty="0" smtClean="0"/>
              <a:t>) </a:t>
            </a:r>
          </a:p>
          <a:p>
            <a:pPr lvl="1" latinLnBrk="0">
              <a:buFont typeface="Wingdings" pitchFamily="2" charset="2"/>
              <a:buChar char="v"/>
            </a:pPr>
            <a:r>
              <a:rPr lang="en-US" altLang="ko-KR" sz="1400" dirty="0" smtClean="0"/>
              <a:t>[</a:t>
            </a:r>
            <a:r>
              <a:rPr lang="ko-KR" altLang="en-US" sz="1400" dirty="0" smtClean="0"/>
              <a:t>시작</a:t>
            </a:r>
            <a:r>
              <a:rPr lang="en-US" altLang="ko-KR" sz="1400" dirty="0" smtClean="0"/>
              <a:t>] – [</a:t>
            </a:r>
            <a:r>
              <a:rPr lang="ko-KR" altLang="en-US" sz="1400" dirty="0" smtClean="0"/>
              <a:t>실행</a:t>
            </a:r>
            <a:r>
              <a:rPr lang="en-US" altLang="ko-KR" sz="1400" dirty="0" smtClean="0"/>
              <a:t>] – [</a:t>
            </a:r>
            <a:r>
              <a:rPr lang="en-US" altLang="ko-KR" sz="1400" dirty="0" err="1" smtClean="0"/>
              <a:t>cmd</a:t>
            </a:r>
            <a:r>
              <a:rPr lang="en-US" altLang="ko-KR" sz="1400" dirty="0" smtClean="0"/>
              <a:t>]</a:t>
            </a:r>
            <a:r>
              <a:rPr lang="ko-KR" altLang="en-US" sz="1400" dirty="0" smtClean="0"/>
              <a:t>를 입력하고 확인</a:t>
            </a:r>
          </a:p>
          <a:p>
            <a:pPr lvl="1" latinLnBrk="0">
              <a:buFont typeface="Wingdings" pitchFamily="2" charset="2"/>
              <a:buChar char="v"/>
            </a:pPr>
            <a:r>
              <a:rPr lang="ko-KR" altLang="en-US" sz="1400" dirty="0" smtClean="0"/>
              <a:t>파일을 저장한 위치로 이동</a:t>
            </a:r>
          </a:p>
          <a:p>
            <a:pPr lvl="1" latinLnBrk="0">
              <a:buFont typeface="Wingdings" pitchFamily="2" charset="2"/>
              <a:buChar char="v"/>
            </a:pPr>
            <a:r>
              <a:rPr lang="en-US" altLang="ko-KR" sz="1400" dirty="0" smtClean="0"/>
              <a:t>(</a:t>
            </a:r>
            <a:r>
              <a:rPr lang="en-US" altLang="ko-KR" sz="1400" dirty="0" err="1" smtClean="0"/>
              <a:t>cd</a:t>
            </a:r>
            <a:r>
              <a:rPr lang="en-US" altLang="ko-KR" sz="1400" dirty="0" smtClean="0"/>
              <a:t>..</a:t>
            </a:r>
            <a:r>
              <a:rPr lang="ko-KR" altLang="en-US" sz="1400" dirty="0" smtClean="0"/>
              <a:t>을 입력하면 상위 디렉토리로 이동</a:t>
            </a:r>
            <a:r>
              <a:rPr lang="en-US" altLang="ko-KR" sz="1400" dirty="0" smtClean="0"/>
              <a:t>, </a:t>
            </a:r>
            <a:r>
              <a:rPr lang="en-US" altLang="ko-KR" sz="1400" dirty="0" err="1" smtClean="0"/>
              <a:t>cd</a:t>
            </a:r>
            <a:r>
              <a:rPr lang="en-US" altLang="ko-KR" sz="1400" dirty="0" smtClean="0"/>
              <a:t> </a:t>
            </a:r>
            <a:r>
              <a:rPr lang="ko-KR" altLang="en-US" sz="1400" dirty="0" err="1" smtClean="0"/>
              <a:t>디렉토리를</a:t>
            </a:r>
            <a:r>
              <a:rPr lang="ko-KR" altLang="en-US" sz="1400" dirty="0" smtClean="0"/>
              <a:t> 입력하면 </a:t>
            </a:r>
            <a:r>
              <a:rPr lang="ko-KR" altLang="en-US" sz="1400" dirty="0" err="1" smtClean="0"/>
              <a:t>디렉토리로</a:t>
            </a:r>
            <a:r>
              <a:rPr lang="ko-KR" altLang="en-US" sz="1400" dirty="0" smtClean="0"/>
              <a:t> 이동</a:t>
            </a:r>
            <a:r>
              <a:rPr lang="en-US" altLang="ko-KR" sz="1400" dirty="0" smtClean="0"/>
              <a:t>)</a:t>
            </a:r>
          </a:p>
          <a:p>
            <a:pPr lvl="1" latinLnBrk="0">
              <a:buFont typeface="Wingdings" pitchFamily="2" charset="2"/>
              <a:buChar char="v"/>
            </a:pPr>
            <a:r>
              <a:rPr lang="en-US" altLang="ko-KR" sz="1400" dirty="0" err="1" smtClean="0"/>
              <a:t>javac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파일명</a:t>
            </a:r>
            <a:r>
              <a:rPr lang="en-US" altLang="ko-KR" sz="1400" dirty="0" smtClean="0"/>
              <a:t>.java </a:t>
            </a:r>
            <a:r>
              <a:rPr lang="ko-KR" altLang="en-US" sz="1400" dirty="0" smtClean="0"/>
              <a:t>라고 입력하고 </a:t>
            </a:r>
            <a:r>
              <a:rPr lang="en-US" altLang="ko-KR" sz="1400" dirty="0" smtClean="0"/>
              <a:t>Enter</a:t>
            </a:r>
          </a:p>
          <a:p>
            <a:pPr latinLnBrk="0">
              <a:buFont typeface="Wingdings" pitchFamily="2" charset="2"/>
              <a:buChar char="v"/>
            </a:pPr>
            <a:endParaRPr lang="en-US" altLang="ko-KR" sz="1800" dirty="0" smtClean="0"/>
          </a:p>
          <a:p>
            <a:pPr latinLnBrk="0">
              <a:buFont typeface="Wingdings" pitchFamily="2" charset="2"/>
              <a:buChar char="v"/>
            </a:pPr>
            <a:r>
              <a:rPr lang="ko-KR" altLang="en-US" sz="1800" dirty="0" smtClean="0"/>
              <a:t>실행 </a:t>
            </a:r>
            <a:r>
              <a:rPr lang="en-US" altLang="ko-KR" sz="1800" dirty="0" smtClean="0"/>
              <a:t>- </a:t>
            </a:r>
            <a:r>
              <a:rPr lang="ko-KR" altLang="en-US" sz="1800" dirty="0" smtClean="0"/>
              <a:t>기계어를 가지고 실행</a:t>
            </a:r>
          </a:p>
          <a:p>
            <a:pPr lvl="1" latinLnBrk="0">
              <a:buFont typeface="Wingdings" pitchFamily="2" charset="2"/>
              <a:buChar char="v"/>
            </a:pPr>
            <a:r>
              <a:rPr lang="en-US" altLang="ko-KR" sz="1400" dirty="0" smtClean="0"/>
              <a:t>java </a:t>
            </a:r>
            <a:r>
              <a:rPr lang="ko-KR" altLang="en-US" sz="1400" dirty="0" err="1" smtClean="0"/>
              <a:t>클래스명</a:t>
            </a:r>
            <a:endParaRPr lang="en-US" altLang="ko-KR" sz="1400" dirty="0" smtClean="0"/>
          </a:p>
          <a:p>
            <a:pPr lvl="1" latinLnBrk="0">
              <a:buFont typeface="Wingdings" pitchFamily="2" charset="2"/>
              <a:buChar char="v"/>
            </a:pPr>
            <a:endParaRPr lang="en-US" altLang="ko-KR" sz="14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실</a:t>
            </a:r>
            <a:r>
              <a:rPr lang="ko-KR" altLang="en-US" dirty="0"/>
              <a:t>습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atinLnBrk="0">
              <a:buFont typeface="Wingdings" pitchFamily="2" charset="2"/>
              <a:buChar char="v"/>
            </a:pPr>
            <a:r>
              <a:rPr lang="ko-KR" altLang="en-US" sz="1600" dirty="0" smtClean="0"/>
              <a:t>소스코드 작성</a:t>
            </a:r>
            <a:endParaRPr lang="en-US" altLang="ko-KR" sz="1600" dirty="0" smtClean="0"/>
          </a:p>
          <a:p>
            <a:pPr lvl="1" latinLnBrk="0">
              <a:buNone/>
            </a:pPr>
            <a:r>
              <a:rPr lang="en-US" altLang="ko-KR" sz="1400" dirty="0" smtClean="0"/>
              <a:t>public class First</a:t>
            </a:r>
          </a:p>
          <a:p>
            <a:pPr lvl="1" latinLnBrk="0">
              <a:buNone/>
            </a:pPr>
            <a:r>
              <a:rPr lang="en-US" altLang="ko-KR" sz="1400" dirty="0" smtClean="0"/>
              <a:t>{                               </a:t>
            </a:r>
          </a:p>
          <a:p>
            <a:pPr lvl="1" latinLnBrk="0">
              <a:buNone/>
            </a:pPr>
            <a:r>
              <a:rPr lang="en-US" altLang="ko-KR" sz="1400" dirty="0" smtClean="0"/>
              <a:t>	public static void main(String </a:t>
            </a:r>
            <a:r>
              <a:rPr lang="en-US" altLang="ko-KR" sz="1400" dirty="0" err="1" smtClean="0"/>
              <a:t>args</a:t>
            </a:r>
            <a:r>
              <a:rPr lang="en-US" altLang="ko-KR" sz="1400" dirty="0" smtClean="0"/>
              <a:t>[])</a:t>
            </a:r>
          </a:p>
          <a:p>
            <a:pPr lvl="1" latinLnBrk="0">
              <a:buNone/>
            </a:pPr>
            <a:r>
              <a:rPr lang="en-US" altLang="ko-KR" sz="1400" dirty="0" smtClean="0"/>
              <a:t>	{     </a:t>
            </a:r>
          </a:p>
          <a:p>
            <a:pPr lvl="1" latinLnBrk="0"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("Hello JAVA");       </a:t>
            </a:r>
          </a:p>
          <a:p>
            <a:pPr lvl="1" latinLnBrk="0">
              <a:buNone/>
            </a:pPr>
            <a:r>
              <a:rPr lang="en-US" altLang="ko-KR" sz="1400" dirty="0" smtClean="0"/>
              <a:t>      }				       </a:t>
            </a:r>
          </a:p>
          <a:p>
            <a:pPr lvl="1" latinLnBrk="0">
              <a:buNone/>
            </a:pPr>
            <a:r>
              <a:rPr lang="en-US" altLang="ko-KR" sz="1400" dirty="0" smtClean="0"/>
              <a:t>}</a:t>
            </a:r>
          </a:p>
          <a:p>
            <a:pPr latinLnBrk="0"/>
            <a:endParaRPr lang="en-US" altLang="ko-KR" sz="1600" dirty="0" smtClean="0"/>
          </a:p>
          <a:p>
            <a:pPr latinLnBrk="0">
              <a:buFont typeface="Wingdings" pitchFamily="2" charset="2"/>
              <a:buChar char="v"/>
            </a:pPr>
            <a:r>
              <a:rPr lang="ko-KR" altLang="en-US" sz="1600" dirty="0" smtClean="0"/>
              <a:t>저장</a:t>
            </a:r>
            <a:r>
              <a:rPr lang="en-US" altLang="ko-KR" sz="1600" dirty="0" smtClean="0"/>
              <a:t>(First.java)</a:t>
            </a:r>
          </a:p>
          <a:p>
            <a:pPr lvl="1" latinLnBrk="0">
              <a:buFont typeface="Wingdings" pitchFamily="2" charset="2"/>
              <a:buChar char="v"/>
            </a:pPr>
            <a:r>
              <a:rPr lang="ko-KR" altLang="en-US" sz="1600" dirty="0" smtClean="0"/>
              <a:t>파일의 이름은 클래스가 </a:t>
            </a:r>
            <a:r>
              <a:rPr lang="en-US" altLang="ko-KR" sz="1600" dirty="0" smtClean="0"/>
              <a:t>1</a:t>
            </a:r>
            <a:r>
              <a:rPr lang="ko-KR" altLang="en-US" sz="1600" dirty="0" smtClean="0"/>
              <a:t>개만 있는 경우에는 </a:t>
            </a:r>
            <a:r>
              <a:rPr lang="en-US" altLang="ko-KR" sz="1600" dirty="0" smtClean="0"/>
              <a:t>class</a:t>
            </a:r>
            <a:r>
              <a:rPr lang="ko-KR" altLang="en-US" sz="1600" dirty="0" smtClean="0"/>
              <a:t>의 이름과 동일해야 합니다</a:t>
            </a:r>
            <a:r>
              <a:rPr lang="en-US" altLang="ko-KR" sz="1600" dirty="0" smtClean="0"/>
              <a:t>.</a:t>
            </a:r>
          </a:p>
          <a:p>
            <a:pPr lvl="1" latinLnBrk="0">
              <a:buFont typeface="Wingdings" pitchFamily="2" charset="2"/>
              <a:buChar char="v"/>
            </a:pPr>
            <a:r>
              <a:rPr lang="ko-KR" altLang="en-US" sz="1600" dirty="0" smtClean="0"/>
              <a:t>하나의 파일에 </a:t>
            </a:r>
            <a:r>
              <a:rPr lang="en-US" altLang="ko-KR" sz="1600" dirty="0" smtClean="0"/>
              <a:t>2</a:t>
            </a:r>
            <a:r>
              <a:rPr lang="ko-KR" altLang="en-US" sz="1600" dirty="0" smtClean="0"/>
              <a:t>개 이상의 클래스가 있는 경우 </a:t>
            </a:r>
            <a:r>
              <a:rPr lang="en-US" altLang="ko-KR" sz="1600" dirty="0" smtClean="0"/>
              <a:t>public </a:t>
            </a:r>
            <a:r>
              <a:rPr lang="ko-KR" altLang="en-US" sz="1600" dirty="0" smtClean="0"/>
              <a:t>클래스의 이름으로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파일명이 만들어져야 하며 </a:t>
            </a:r>
            <a:r>
              <a:rPr lang="en-US" altLang="ko-KR" sz="1600" dirty="0" smtClean="0"/>
              <a:t>public </a:t>
            </a:r>
            <a:r>
              <a:rPr lang="ko-KR" altLang="en-US" sz="1600" dirty="0" smtClean="0"/>
              <a:t>클래스가 없는 경우 아무 클래스 이름이나 파일명이 될 수 있지만 </a:t>
            </a:r>
            <a:r>
              <a:rPr lang="en-US" altLang="ko-KR" sz="1600" dirty="0" smtClean="0"/>
              <a:t>main </a:t>
            </a:r>
            <a:r>
              <a:rPr lang="ko-KR" altLang="en-US" sz="1600" dirty="0" err="1" smtClean="0"/>
              <a:t>메서드를</a:t>
            </a:r>
            <a:r>
              <a:rPr lang="ko-KR" altLang="en-US" sz="1600" dirty="0" smtClean="0"/>
              <a:t> 소유한 클래스 이름으로 파일명을 만들어야 실행할 수 있습니다</a:t>
            </a:r>
            <a:r>
              <a:rPr lang="en-US" altLang="ko-KR" sz="1600" dirty="0" smtClean="0"/>
              <a:t>.</a:t>
            </a:r>
          </a:p>
          <a:p>
            <a:pPr lvl="1" latinLnBrk="0">
              <a:buFont typeface="Wingdings" pitchFamily="2" charset="2"/>
              <a:buChar char="v"/>
            </a:pPr>
            <a:r>
              <a:rPr lang="en-US" altLang="ko-KR" sz="1600" dirty="0" smtClean="0"/>
              <a:t>main </a:t>
            </a:r>
            <a:r>
              <a:rPr lang="ko-KR" altLang="en-US" sz="1600" dirty="0" err="1" smtClean="0"/>
              <a:t>메서드를</a:t>
            </a:r>
            <a:r>
              <a:rPr lang="ko-KR" altLang="en-US" sz="1600" dirty="0" smtClean="0"/>
              <a:t> 소유한 클래스가 있다면 </a:t>
            </a:r>
            <a:r>
              <a:rPr lang="en-US" altLang="ko-KR" sz="1600" dirty="0" smtClean="0"/>
              <a:t>public </a:t>
            </a:r>
            <a:r>
              <a:rPr lang="ko-KR" altLang="en-US" sz="1600" dirty="0" smtClean="0"/>
              <a:t>클래스로 지정해서 클래스를 생성하고 파일명을 그 클래스이름으로 만들어야 하며 </a:t>
            </a:r>
            <a:r>
              <a:rPr lang="en-US" altLang="ko-KR" sz="1600" dirty="0" smtClean="0"/>
              <a:t>public </a:t>
            </a:r>
            <a:r>
              <a:rPr lang="ko-KR" altLang="en-US" sz="1600" dirty="0" smtClean="0"/>
              <a:t>클래스는 하나의 파일에 </a:t>
            </a:r>
            <a:r>
              <a:rPr lang="en-US" altLang="ko-KR" sz="1600" dirty="0" smtClean="0"/>
              <a:t>1</a:t>
            </a:r>
            <a:r>
              <a:rPr lang="ko-KR" altLang="en-US" sz="1600" dirty="0" smtClean="0"/>
              <a:t>개만 존재해야 합니다</a:t>
            </a:r>
            <a:r>
              <a:rPr lang="en-US" altLang="ko-KR" sz="1600" dirty="0" smtClean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13</a:t>
            </a:fld>
            <a:endParaRPr lang="ko-KR" alt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60032" y="1196752"/>
            <a:ext cx="4020192" cy="259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195736" y="227013"/>
            <a:ext cx="6948264" cy="762000"/>
          </a:xfrm>
        </p:spPr>
        <p:txBody>
          <a:bodyPr>
            <a:noAutofit/>
          </a:bodyPr>
          <a:lstStyle/>
          <a:p>
            <a:r>
              <a:rPr lang="en-US" altLang="ko-KR" sz="2800" dirty="0" smtClean="0"/>
              <a:t>5. Java </a:t>
            </a:r>
            <a:r>
              <a:rPr lang="ko-KR" altLang="en-US" sz="2800" dirty="0" smtClean="0"/>
              <a:t>프로그램 작성 및 컴파일 및 실행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atinLnBrk="0">
              <a:buFont typeface="Wingdings" pitchFamily="2" charset="2"/>
              <a:buChar char="v"/>
            </a:pPr>
            <a:r>
              <a:rPr lang="en-US" altLang="ko-KR" sz="1800" smtClean="0"/>
              <a:t>java </a:t>
            </a:r>
            <a:r>
              <a:rPr lang="ko-KR" altLang="en-US" sz="1800" smtClean="0"/>
              <a:t>파일의 구조</a:t>
            </a:r>
            <a:endParaRPr lang="en-US" altLang="ko-KR" sz="1800" smtClean="0"/>
          </a:p>
          <a:p>
            <a:pPr latinLnBrk="0">
              <a:buNone/>
            </a:pPr>
            <a:endParaRPr lang="en-US" altLang="ko-KR" sz="1800" smtClean="0"/>
          </a:p>
          <a:p>
            <a:pPr latinLnBrk="0">
              <a:buNone/>
            </a:pPr>
            <a:r>
              <a:rPr lang="en-US" altLang="ko-KR" sz="1600" smtClean="0"/>
              <a:t>package </a:t>
            </a:r>
            <a:r>
              <a:rPr lang="ko-KR" altLang="en-US" sz="1600" smtClean="0"/>
              <a:t>패키지이름</a:t>
            </a:r>
            <a:r>
              <a:rPr lang="en-US" altLang="ko-KR" sz="1600" smtClean="0"/>
              <a:t>;</a:t>
            </a:r>
          </a:p>
          <a:p>
            <a:pPr latinLnBrk="0">
              <a:buFont typeface="Wingdings" pitchFamily="2" charset="2"/>
              <a:buChar char="v"/>
            </a:pPr>
            <a:endParaRPr lang="en-US" altLang="ko-KR" sz="1600" smtClean="0"/>
          </a:p>
          <a:p>
            <a:pPr latinLnBrk="0">
              <a:buNone/>
            </a:pPr>
            <a:r>
              <a:rPr lang="en-US" altLang="ko-KR" sz="1600" smtClean="0"/>
              <a:t>import …</a:t>
            </a:r>
          </a:p>
          <a:p>
            <a:pPr latinLnBrk="0">
              <a:buNone/>
            </a:pPr>
            <a:r>
              <a:rPr lang="en-US" altLang="ko-KR" sz="1600" smtClean="0"/>
              <a:t>i</a:t>
            </a:r>
            <a:r>
              <a:rPr lang="en-US" altLang="ko-KR" sz="1600" smtClean="0"/>
              <a:t>mport </a:t>
            </a:r>
            <a:r>
              <a:rPr lang="en-US" altLang="ko-KR" sz="1600" smtClean="0"/>
              <a:t>static</a:t>
            </a:r>
            <a:r>
              <a:rPr lang="en-US" altLang="ko-KR" sz="1600" smtClean="0"/>
              <a:t> </a:t>
            </a:r>
            <a:r>
              <a:rPr lang="en-US" altLang="ko-KR" sz="1600" smtClean="0"/>
              <a:t>…</a:t>
            </a:r>
          </a:p>
          <a:p>
            <a:pPr latinLnBrk="0">
              <a:buNone/>
            </a:pPr>
            <a:endParaRPr lang="en-US" altLang="ko-KR" sz="1600" smtClean="0"/>
          </a:p>
          <a:p>
            <a:pPr latinLnBrk="0">
              <a:buNone/>
            </a:pPr>
            <a:r>
              <a:rPr lang="en-US" altLang="ko-KR" sz="1600" smtClean="0"/>
              <a:t>class …</a:t>
            </a:r>
          </a:p>
          <a:p>
            <a:pPr latinLnBrk="0">
              <a:buNone/>
            </a:pPr>
            <a:endParaRPr lang="en-US" altLang="ko-KR" sz="1400" smtClean="0"/>
          </a:p>
          <a:p>
            <a:pPr latinLnBrk="0">
              <a:buFont typeface="Wingdings" pitchFamily="2" charset="2"/>
              <a:buChar char="v"/>
            </a:pPr>
            <a:r>
              <a:rPr lang="en-US" altLang="ko-KR" sz="1400" smtClean="0"/>
              <a:t>package</a:t>
            </a:r>
            <a:r>
              <a:rPr lang="ko-KR" altLang="en-US" sz="1400" smtClean="0"/>
              <a:t>는 자신의 소속을 설정하는 것으로 </a:t>
            </a:r>
            <a:r>
              <a:rPr lang="en-US" altLang="ko-KR" sz="1400" smtClean="0"/>
              <a:t>1</a:t>
            </a:r>
            <a:r>
              <a:rPr lang="ko-KR" altLang="en-US" sz="1400" smtClean="0"/>
              <a:t>번만 나와야 하며 생략 가능</a:t>
            </a:r>
            <a:endParaRPr lang="en-US" altLang="ko-KR" sz="1400" smtClean="0"/>
          </a:p>
          <a:p>
            <a:pPr latinLnBrk="0">
              <a:buFont typeface="Wingdings" pitchFamily="2" charset="2"/>
              <a:buChar char="v"/>
            </a:pPr>
            <a:r>
              <a:rPr lang="en-US" altLang="ko-KR" sz="1600" smtClean="0"/>
              <a:t>import</a:t>
            </a:r>
            <a:r>
              <a:rPr lang="ko-KR" altLang="en-US" sz="1600" smtClean="0"/>
              <a:t>는 클래스의 위치를 생략하기 위한 구문으로 여러 번 나와도 되며 없는 경우도 있을 수 있습니다</a:t>
            </a:r>
            <a:r>
              <a:rPr lang="en-US" altLang="ko-KR" sz="1600" smtClean="0"/>
              <a:t>.</a:t>
            </a:r>
          </a:p>
          <a:p>
            <a:pPr latinLnBrk="0">
              <a:buFont typeface="Wingdings" pitchFamily="2" charset="2"/>
              <a:buChar char="v"/>
            </a:pPr>
            <a:r>
              <a:rPr lang="en-US" altLang="ko-KR" sz="1600" smtClean="0"/>
              <a:t>class</a:t>
            </a:r>
            <a:r>
              <a:rPr lang="ko-KR" altLang="en-US" sz="1600" smtClean="0"/>
              <a:t>는 클래스를 선언하기 위한 구문으로 하나의 파일에 반드시 </a:t>
            </a:r>
            <a:r>
              <a:rPr lang="en-US" altLang="ko-KR" sz="1600" smtClean="0"/>
              <a:t>1</a:t>
            </a:r>
            <a:r>
              <a:rPr lang="ko-KR" altLang="en-US" sz="1600" smtClean="0"/>
              <a:t>번 이상 나와야 하며 여러 번 사용할 수 있습니다</a:t>
            </a:r>
            <a:r>
              <a:rPr lang="en-US" altLang="ko-KR" sz="1600" smtClean="0"/>
              <a:t>.</a:t>
            </a:r>
          </a:p>
          <a:p>
            <a:pPr latinLnBrk="0">
              <a:buFont typeface="Wingdings" pitchFamily="2" charset="2"/>
              <a:buChar char="v"/>
            </a:pPr>
            <a:r>
              <a:rPr lang="ko-KR" altLang="en-US" sz="1600" smtClean="0"/>
              <a:t>순서는 반드시 </a:t>
            </a:r>
            <a:r>
              <a:rPr lang="en-US" altLang="ko-KR" sz="1600" smtClean="0"/>
              <a:t>package =&gt; import =&gt; class</a:t>
            </a:r>
          </a:p>
          <a:p>
            <a:pPr latinLnBrk="0">
              <a:buNone/>
            </a:pPr>
            <a:endParaRPr lang="en-US" altLang="ko-KR" sz="14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실</a:t>
            </a:r>
            <a:r>
              <a:rPr lang="ko-KR" altLang="en-US" dirty="0"/>
              <a:t>습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atinLnBrk="0">
              <a:buFont typeface="Wingdings" pitchFamily="2" charset="2"/>
              <a:buChar char="v"/>
            </a:pPr>
            <a:r>
              <a:rPr lang="ko-KR" altLang="en-US" sz="1600" dirty="0" smtClean="0"/>
              <a:t>컴파일 </a:t>
            </a:r>
            <a:r>
              <a:rPr lang="en-US" altLang="ko-KR" sz="1600" dirty="0" smtClean="0"/>
              <a:t>(</a:t>
            </a:r>
            <a:r>
              <a:rPr lang="en-US" altLang="ko-KR" sz="1600" dirty="0" err="1" smtClean="0"/>
              <a:t>javac</a:t>
            </a:r>
            <a:r>
              <a:rPr lang="en-US" altLang="ko-KR" sz="1600" dirty="0" smtClean="0"/>
              <a:t>)</a:t>
            </a:r>
          </a:p>
          <a:p>
            <a:pPr lvl="1" latinLnBrk="0">
              <a:buFont typeface="Wingdings" pitchFamily="2" charset="2"/>
              <a:buChar char="v"/>
            </a:pPr>
            <a:r>
              <a:rPr lang="en-US" altLang="ko-KR" sz="1600" dirty="0" smtClean="0"/>
              <a:t>Console </a:t>
            </a:r>
            <a:r>
              <a:rPr lang="ko-KR" altLang="en-US" sz="1600" dirty="0" smtClean="0"/>
              <a:t>프롬프트에서 파일이 저장된 폴더로 이동한 후 아래와 같이 입력하고 </a:t>
            </a:r>
            <a:r>
              <a:rPr lang="en-US" altLang="ko-KR" sz="1600" dirty="0" smtClean="0"/>
              <a:t>Enter</a:t>
            </a:r>
            <a:r>
              <a:rPr lang="ko-KR" altLang="en-US" sz="1600" dirty="0" smtClean="0"/>
              <a:t>를 누릅니다</a:t>
            </a:r>
            <a:r>
              <a:rPr lang="en-US" altLang="ko-KR" sz="1600" dirty="0" smtClean="0"/>
              <a:t>.</a:t>
            </a:r>
          </a:p>
          <a:p>
            <a:pPr lvl="1" latinLnBrk="0">
              <a:buFont typeface="Wingdings" pitchFamily="2" charset="2"/>
              <a:buChar char="v"/>
            </a:pPr>
            <a:r>
              <a:rPr lang="en-US" altLang="ko-KR" sz="1600" b="1" dirty="0" err="1" smtClean="0">
                <a:solidFill>
                  <a:srgbClr val="FF0000"/>
                </a:solidFill>
              </a:rPr>
              <a:t>javac</a:t>
            </a:r>
            <a:r>
              <a:rPr lang="en-US" altLang="ko-KR" sz="1600" b="1" dirty="0" smtClean="0">
                <a:solidFill>
                  <a:srgbClr val="FF0000"/>
                </a:solidFill>
              </a:rPr>
              <a:t> First.java</a:t>
            </a:r>
          </a:p>
          <a:p>
            <a:pPr lvl="1" latinLnBrk="0">
              <a:buFont typeface="Wingdings" pitchFamily="2" charset="2"/>
              <a:buChar char="v"/>
            </a:pPr>
            <a:r>
              <a:rPr lang="ko-KR" altLang="en-US" sz="1600" dirty="0" smtClean="0"/>
              <a:t>성공하면 아무런 메시지 없이 명령 프롬프트가 보입니다</a:t>
            </a:r>
            <a:r>
              <a:rPr lang="en-US" altLang="ko-KR" sz="1600" dirty="0" smtClean="0"/>
              <a:t>.</a:t>
            </a:r>
          </a:p>
          <a:p>
            <a:pPr lvl="1" latinLnBrk="0">
              <a:buFont typeface="Wingdings" pitchFamily="2" charset="2"/>
              <a:buChar char="v"/>
            </a:pPr>
            <a:r>
              <a:rPr lang="ko-KR" altLang="en-US" sz="1600" dirty="0" smtClean="0"/>
              <a:t>파일이 저장된 폴더에 가보면 </a:t>
            </a:r>
            <a:r>
              <a:rPr lang="en-US" altLang="ko-KR" sz="1600" dirty="0" err="1" smtClean="0"/>
              <a:t>First.class</a:t>
            </a:r>
            <a:r>
              <a:rPr lang="ko-KR" altLang="en-US" sz="1600" dirty="0" smtClean="0"/>
              <a:t>가 만들어져 있습니다</a:t>
            </a:r>
            <a:r>
              <a:rPr lang="en-US" altLang="ko-KR" sz="1600" dirty="0" smtClean="0"/>
              <a:t>. </a:t>
            </a:r>
          </a:p>
          <a:p>
            <a:pPr lvl="1" latinLnBrk="0">
              <a:buFont typeface="Wingdings" pitchFamily="2" charset="2"/>
              <a:buChar char="v"/>
            </a:pPr>
            <a:r>
              <a:rPr lang="ko-KR" altLang="en-US" sz="1600" dirty="0" smtClean="0"/>
              <a:t>파일명은 대소문자 구별을 하지 않습니다</a:t>
            </a:r>
            <a:r>
              <a:rPr lang="en-US" altLang="ko-KR" sz="1600" dirty="0" smtClean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15</a:t>
            </a:fld>
            <a:endParaRPr lang="ko-KR" alt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3501008"/>
            <a:ext cx="4626273" cy="30288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실</a:t>
            </a:r>
            <a:r>
              <a:rPr lang="ko-KR" altLang="en-US" dirty="0"/>
              <a:t>습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atinLnBrk="0">
              <a:buFont typeface="Wingdings" pitchFamily="2" charset="2"/>
              <a:buChar char="v"/>
            </a:pPr>
            <a:r>
              <a:rPr lang="ko-KR" altLang="en-US" sz="1600" dirty="0" smtClean="0"/>
              <a:t>실행</a:t>
            </a:r>
          </a:p>
          <a:p>
            <a:pPr lvl="1" latinLnBrk="0">
              <a:buFont typeface="Wingdings" pitchFamily="2" charset="2"/>
              <a:buChar char="v"/>
            </a:pPr>
            <a:r>
              <a:rPr lang="en-US" altLang="ko-KR" sz="1600" b="1" dirty="0" smtClean="0">
                <a:solidFill>
                  <a:srgbClr val="FF0000"/>
                </a:solidFill>
              </a:rPr>
              <a:t>java First  </a:t>
            </a:r>
            <a:r>
              <a:rPr lang="en-US" altLang="ko-KR" sz="1600" dirty="0" smtClean="0"/>
              <a:t>==&gt; </a:t>
            </a:r>
            <a:r>
              <a:rPr lang="ko-KR" altLang="en-US" sz="1600" dirty="0" err="1" smtClean="0"/>
              <a:t>확장자는</a:t>
            </a:r>
            <a:r>
              <a:rPr lang="ko-KR" altLang="en-US" sz="1600" dirty="0" smtClean="0"/>
              <a:t> 입력하지 않습니다</a:t>
            </a:r>
            <a:r>
              <a:rPr lang="en-US" altLang="ko-KR" sz="1600" dirty="0" smtClean="0"/>
              <a:t>.</a:t>
            </a:r>
          </a:p>
          <a:p>
            <a:pPr lvl="1" latinLnBrk="0">
              <a:buFont typeface="Wingdings" pitchFamily="2" charset="2"/>
              <a:buChar char="v"/>
            </a:pPr>
            <a:r>
              <a:rPr lang="ko-KR" altLang="en-US" sz="1600" dirty="0" smtClean="0"/>
              <a:t>실행 시 입력하는 클래스 이름은 대소문자 구별을 합니다</a:t>
            </a:r>
            <a:r>
              <a:rPr lang="en-US" altLang="ko-KR" sz="1600" dirty="0" smtClean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16</a:t>
            </a:fld>
            <a:endParaRPr lang="ko-KR" alt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2420888"/>
            <a:ext cx="4949317" cy="3240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실</a:t>
            </a:r>
            <a:r>
              <a:rPr lang="ko-KR" altLang="en-US" dirty="0"/>
              <a:t>습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atinLnBrk="0">
              <a:buFont typeface="Wingdings" pitchFamily="2" charset="2"/>
              <a:buChar char="v"/>
            </a:pPr>
            <a:r>
              <a:rPr lang="ko-KR" altLang="en-US" sz="1600" dirty="0" smtClean="0"/>
              <a:t>소스의 내용</a:t>
            </a:r>
          </a:p>
          <a:p>
            <a:pPr lvl="1" latinLnBrk="0">
              <a:buFont typeface="Wingdings" pitchFamily="2" charset="2"/>
              <a:buChar char="v"/>
            </a:pPr>
            <a:r>
              <a:rPr lang="en-US" altLang="ko-KR" sz="1400" dirty="0" smtClean="0"/>
              <a:t>1</a:t>
            </a:r>
            <a:r>
              <a:rPr lang="ko-KR" altLang="en-US" sz="1400" dirty="0" smtClean="0"/>
              <a:t>행</a:t>
            </a:r>
            <a:r>
              <a:rPr lang="en-US" altLang="ko-KR" sz="1400" dirty="0" smtClean="0"/>
              <a:t>: </a:t>
            </a:r>
            <a:r>
              <a:rPr lang="ko-KR" altLang="en-US" sz="1400" dirty="0" smtClean="0"/>
              <a:t>클래스 선언</a:t>
            </a:r>
          </a:p>
          <a:p>
            <a:pPr lvl="1" latinLnBrk="0">
              <a:buFont typeface="Wingdings" pitchFamily="2" charset="2"/>
              <a:buChar char="v"/>
            </a:pPr>
            <a:r>
              <a:rPr lang="en-US" altLang="ko-KR" sz="1400" dirty="0" smtClean="0"/>
              <a:t>3</a:t>
            </a:r>
            <a:r>
              <a:rPr lang="ko-KR" altLang="en-US" sz="1400" dirty="0" smtClean="0"/>
              <a:t>행</a:t>
            </a:r>
            <a:r>
              <a:rPr lang="en-US" altLang="ko-KR" sz="1400" dirty="0" smtClean="0"/>
              <a:t>: main() </a:t>
            </a:r>
            <a:r>
              <a:rPr lang="ko-KR" altLang="en-US" sz="1400" dirty="0" err="1" smtClean="0"/>
              <a:t>메소드로</a:t>
            </a:r>
            <a:r>
              <a:rPr lang="ko-KR" altLang="en-US" sz="1400" dirty="0" smtClean="0"/>
              <a:t> </a:t>
            </a:r>
            <a:r>
              <a:rPr lang="en-US" altLang="ko-KR" sz="1400" dirty="0" smtClean="0"/>
              <a:t>String</a:t>
            </a:r>
            <a:r>
              <a:rPr lang="ko-KR" altLang="en-US" sz="1400" dirty="0" smtClean="0"/>
              <a:t>은 문자열 자료 형이고 </a:t>
            </a:r>
            <a:r>
              <a:rPr lang="en-US" altLang="ko-KR" sz="1400" dirty="0" err="1" smtClean="0"/>
              <a:t>args</a:t>
            </a:r>
            <a:r>
              <a:rPr lang="en-US" altLang="ko-KR" sz="1400" dirty="0" smtClean="0"/>
              <a:t>[]</a:t>
            </a:r>
            <a:r>
              <a:rPr lang="ko-KR" altLang="en-US" sz="1400" dirty="0" smtClean="0"/>
              <a:t>는 </a:t>
            </a:r>
            <a:r>
              <a:rPr lang="en-US" altLang="ko-KR" sz="1400" dirty="0" smtClean="0"/>
              <a:t>argument </a:t>
            </a:r>
            <a:r>
              <a:rPr lang="ko-KR" altLang="en-US" sz="1400" dirty="0" smtClean="0"/>
              <a:t>배열을 나타냅니다</a:t>
            </a:r>
            <a:r>
              <a:rPr lang="en-US" altLang="ko-KR" sz="1400" dirty="0" smtClean="0"/>
              <a:t>.</a:t>
            </a:r>
          </a:p>
          <a:p>
            <a:pPr lvl="1" latinLnBrk="0">
              <a:buFont typeface="Wingdings" pitchFamily="2" charset="2"/>
              <a:buChar char="v"/>
            </a:pPr>
            <a:r>
              <a:rPr lang="en-US" altLang="ko-KR" sz="1400" dirty="0" smtClean="0"/>
              <a:t>5</a:t>
            </a:r>
            <a:r>
              <a:rPr lang="ko-KR" altLang="en-US" sz="1400" dirty="0" smtClean="0"/>
              <a:t>행</a:t>
            </a:r>
            <a:r>
              <a:rPr lang="en-US" altLang="ko-KR" sz="1400" dirty="0" smtClean="0"/>
              <a:t>: </a:t>
            </a:r>
            <a:r>
              <a:rPr lang="ko-KR" altLang="en-US" sz="1400" dirty="0" err="1" smtClean="0"/>
              <a:t>출력문으로</a:t>
            </a:r>
            <a:r>
              <a:rPr lang="ko-KR" altLang="en-US" sz="1400" dirty="0" smtClean="0"/>
              <a:t> 괄호 안의 내용을 출력하고 커서를 다음 줄로 이동시키는 </a:t>
            </a:r>
            <a:r>
              <a:rPr lang="ko-KR" altLang="en-US" sz="1400" dirty="0" err="1" smtClean="0"/>
              <a:t>메소드입니다</a:t>
            </a:r>
            <a:r>
              <a:rPr lang="en-US" altLang="ko-KR" sz="1400" dirty="0" smtClean="0"/>
              <a:t>.</a:t>
            </a:r>
          </a:p>
          <a:p>
            <a:pPr latinLnBrk="0">
              <a:buFont typeface="Wingdings" pitchFamily="2" charset="2"/>
              <a:buChar char="v"/>
            </a:pPr>
            <a:endParaRPr lang="en-US" altLang="ko-KR" sz="1800" dirty="0" smtClean="0"/>
          </a:p>
          <a:p>
            <a:pPr latinLnBrk="0">
              <a:buFont typeface="Wingdings" pitchFamily="2" charset="2"/>
              <a:buChar char="v"/>
            </a:pPr>
            <a:r>
              <a:rPr lang="ko-KR" altLang="en-US" sz="1600" dirty="0" smtClean="0"/>
              <a:t>소스 파일 작성 시 주의 사항</a:t>
            </a:r>
          </a:p>
          <a:p>
            <a:pPr lvl="1" latinLnBrk="0">
              <a:buFont typeface="Wingdings" pitchFamily="2" charset="2"/>
              <a:buChar char="v"/>
            </a:pPr>
            <a:r>
              <a:rPr lang="ko-KR" altLang="en-US" sz="1400" dirty="0" smtClean="0"/>
              <a:t>대소문자 구별을 해야 합니다</a:t>
            </a:r>
            <a:r>
              <a:rPr lang="en-US" altLang="ko-KR" sz="1400" dirty="0" smtClean="0"/>
              <a:t>.</a:t>
            </a:r>
          </a:p>
          <a:p>
            <a:pPr lvl="1" latinLnBrk="0">
              <a:buFont typeface="Wingdings" pitchFamily="2" charset="2"/>
              <a:buChar char="v"/>
            </a:pPr>
            <a:r>
              <a:rPr lang="ko-KR" altLang="en-US" sz="1400" dirty="0" smtClean="0"/>
              <a:t>수행 문장의 끝은 </a:t>
            </a:r>
            <a:r>
              <a:rPr lang="en-US" altLang="ko-KR" sz="1400" dirty="0" smtClean="0"/>
              <a:t>; </a:t>
            </a:r>
            <a:r>
              <a:rPr lang="ko-KR" altLang="en-US" sz="1400" dirty="0" smtClean="0"/>
              <a:t>입니다</a:t>
            </a:r>
            <a:r>
              <a:rPr lang="en-US" altLang="ko-KR" sz="1400" dirty="0" smtClean="0"/>
              <a:t>.</a:t>
            </a:r>
          </a:p>
          <a:p>
            <a:pPr lvl="1" latinLnBrk="0">
              <a:buFont typeface="Wingdings" pitchFamily="2" charset="2"/>
              <a:buChar char="v"/>
            </a:pPr>
            <a:r>
              <a:rPr lang="ko-KR" altLang="en-US" sz="1400" dirty="0" smtClean="0"/>
              <a:t>행의 개념이 없습니다</a:t>
            </a:r>
            <a:r>
              <a:rPr lang="en-US" altLang="ko-KR" sz="1400" dirty="0" smtClean="0"/>
              <a:t>.</a:t>
            </a:r>
          </a:p>
          <a:p>
            <a:pPr lvl="1" latinLnBrk="0">
              <a:buFont typeface="Wingdings" pitchFamily="2" charset="2"/>
              <a:buChar char="v"/>
            </a:pPr>
            <a:r>
              <a:rPr lang="ko-KR" altLang="en-US" sz="1400" dirty="0" smtClean="0"/>
              <a:t>자바에서 </a:t>
            </a:r>
            <a:r>
              <a:rPr lang="ko-KR" altLang="en-US" sz="1400" dirty="0" err="1" smtClean="0"/>
              <a:t>주석문은</a:t>
            </a:r>
            <a:r>
              <a:rPr lang="ko-KR" altLang="en-US" sz="1400" dirty="0" smtClean="0"/>
              <a:t> </a:t>
            </a:r>
            <a:r>
              <a:rPr lang="en-US" altLang="ko-KR" sz="1400" dirty="0" smtClean="0"/>
              <a:t>// </a:t>
            </a:r>
            <a:r>
              <a:rPr lang="ko-KR" altLang="en-US" sz="1400" dirty="0" smtClean="0"/>
              <a:t>또는 </a:t>
            </a:r>
            <a:r>
              <a:rPr lang="en-US" altLang="ko-KR" sz="1400" dirty="0" smtClean="0"/>
              <a:t>/*</a:t>
            </a:r>
            <a:r>
              <a:rPr lang="ko-KR" altLang="en-US" sz="1400" dirty="0" smtClean="0"/>
              <a:t>와 *</a:t>
            </a:r>
            <a:r>
              <a:rPr lang="en-US" altLang="ko-KR" sz="1400" dirty="0" smtClean="0"/>
              <a:t>/</a:t>
            </a:r>
            <a:r>
              <a:rPr lang="ko-KR" altLang="en-US" sz="1400" dirty="0" smtClean="0"/>
              <a:t>안에 기술</a:t>
            </a:r>
            <a:endParaRPr lang="en-US" altLang="ko-KR" sz="1400" dirty="0" smtClean="0"/>
          </a:p>
          <a:p>
            <a:pPr lvl="1" latinLnBrk="0">
              <a:buFont typeface="Wingdings" pitchFamily="2" charset="2"/>
              <a:buChar char="v"/>
            </a:pPr>
            <a:r>
              <a:rPr lang="ko-KR" altLang="en-US" sz="1400" dirty="0" smtClean="0"/>
              <a:t>클래스 및 </a:t>
            </a:r>
            <a:r>
              <a:rPr lang="ko-KR" altLang="en-US" sz="1400" dirty="0" err="1" smtClean="0"/>
              <a:t>메소드는</a:t>
            </a:r>
            <a:r>
              <a:rPr lang="ko-KR" altLang="en-US" sz="1400" dirty="0" smtClean="0"/>
              <a:t> </a:t>
            </a:r>
            <a:r>
              <a:rPr lang="en-US" altLang="ko-KR" sz="1400" dirty="0" smtClean="0"/>
              <a:t>{</a:t>
            </a:r>
            <a:r>
              <a:rPr lang="ko-KR" altLang="en-US" sz="1400" dirty="0" smtClean="0"/>
              <a:t>로 시작해서 </a:t>
            </a:r>
            <a:r>
              <a:rPr lang="en-US" altLang="ko-KR" sz="1400" dirty="0" smtClean="0"/>
              <a:t>}</a:t>
            </a:r>
            <a:r>
              <a:rPr lang="ko-KR" altLang="en-US" sz="1400" dirty="0" smtClean="0"/>
              <a:t>로 끝</a:t>
            </a:r>
            <a:endParaRPr lang="en-US" altLang="ko-KR" sz="1400" dirty="0" smtClean="0"/>
          </a:p>
          <a:p>
            <a:pPr lvl="1" latinLnBrk="0">
              <a:buFont typeface="Wingdings" pitchFamily="2" charset="2"/>
              <a:buChar char="v"/>
            </a:pPr>
            <a:r>
              <a:rPr lang="ko-KR" altLang="en-US" sz="1400" dirty="0" smtClean="0"/>
              <a:t>클래스 이름과 파일명이 반드시 같아야 합니다</a:t>
            </a:r>
            <a:r>
              <a:rPr lang="en-US" altLang="ko-KR" sz="1400" dirty="0" smtClean="0"/>
              <a:t>.</a:t>
            </a:r>
          </a:p>
          <a:p>
            <a:pPr lvl="1" latinLnBrk="0">
              <a:buFont typeface="Wingdings" pitchFamily="2" charset="2"/>
              <a:buChar char="v"/>
            </a:pPr>
            <a:endParaRPr lang="en-US" altLang="ko-KR" sz="1400" dirty="0" smtClean="0"/>
          </a:p>
          <a:p>
            <a:pPr lvl="1" latinLnBrk="0">
              <a:buFont typeface="Wingdings" pitchFamily="2" charset="2"/>
              <a:buChar char="v"/>
            </a:pPr>
            <a:endParaRPr lang="en-US" altLang="ko-KR" sz="1400" dirty="0" smtClean="0"/>
          </a:p>
          <a:p>
            <a:pPr lvl="1" latinLnBrk="0">
              <a:buFont typeface="Wingdings" pitchFamily="2" charset="2"/>
              <a:buChar char="v"/>
            </a:pPr>
            <a:endParaRPr lang="en-US" altLang="ko-KR" sz="14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07704" y="1052736"/>
            <a:ext cx="5472608" cy="762000"/>
          </a:xfrm>
        </p:spPr>
        <p:txBody>
          <a:bodyPr/>
          <a:lstStyle/>
          <a:p>
            <a:r>
              <a:rPr lang="ko-KR" altLang="en-US" sz="2800" dirty="0" smtClean="0">
                <a:solidFill>
                  <a:srgbClr val="FF0000"/>
                </a:solidFill>
              </a:rPr>
              <a:t>자바와 </a:t>
            </a:r>
            <a:r>
              <a:rPr lang="en-US" altLang="ko-KR" sz="2800" dirty="0" smtClean="0">
                <a:solidFill>
                  <a:srgbClr val="FF0000"/>
                </a:solidFill>
              </a:rPr>
              <a:t>C/C++</a:t>
            </a:r>
            <a:r>
              <a:rPr lang="ko-KR" altLang="en-US" sz="2800" dirty="0" smtClean="0">
                <a:solidFill>
                  <a:srgbClr val="FF0000"/>
                </a:solidFill>
              </a:rPr>
              <a:t>의 실행 환경 차이</a:t>
            </a:r>
            <a:endParaRPr lang="ko-KR" altLang="en-US" sz="2800" dirty="0">
              <a:solidFill>
                <a:srgbClr val="FF0000"/>
              </a:solidFill>
            </a:endParaRPr>
          </a:p>
        </p:txBody>
      </p:sp>
      <p:sp>
        <p:nvSpPr>
          <p:cNvPr id="32" name="슬라이드 번호 개체 틀 3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A6BD2C2-3D3B-4E94-BD92-61B02C5F4DEE}" type="slidenum">
              <a:rPr lang="ko-KR" altLang="en-US" smtClean="0"/>
              <a:pPr/>
              <a:t>18</a:t>
            </a:fld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 smtClean="0"/>
              <a:t>자바</a:t>
            </a:r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 smtClean="0"/>
              <a:t>C/C++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51520" y="1940944"/>
            <a:ext cx="2135542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600" dirty="0" smtClean="0"/>
              <a:t>if (</a:t>
            </a:r>
            <a:r>
              <a:rPr lang="en-US" altLang="ko-KR" sz="1600" dirty="0" err="1" smtClean="0"/>
              <a:t>i</a:t>
            </a:r>
            <a:r>
              <a:rPr lang="en-US" altLang="ko-KR" sz="1600" dirty="0" smtClean="0"/>
              <a:t>&gt;0) {</a:t>
            </a:r>
          </a:p>
          <a:p>
            <a:pPr lvl="1"/>
            <a:r>
              <a:rPr lang="en-US" altLang="ko-KR" sz="1600" dirty="0" err="1" smtClean="0"/>
              <a:t>i</a:t>
            </a:r>
            <a:r>
              <a:rPr lang="en-US" altLang="ko-KR" sz="1600" dirty="0" smtClean="0"/>
              <a:t> = </a:t>
            </a:r>
            <a:r>
              <a:rPr lang="en-US" altLang="ko-KR" sz="1600" dirty="0" err="1" smtClean="0"/>
              <a:t>i</a:t>
            </a:r>
            <a:r>
              <a:rPr lang="en-US" altLang="ko-KR" sz="1600" dirty="0" smtClean="0"/>
              <a:t>*10;</a:t>
            </a:r>
          </a:p>
          <a:p>
            <a:r>
              <a:rPr lang="en-US" altLang="ko-KR" sz="1600" dirty="0" smtClean="0"/>
              <a:t>}</a:t>
            </a:r>
          </a:p>
          <a:p>
            <a:r>
              <a:rPr lang="en-US" altLang="ko-KR" sz="1600" dirty="0" err="1" smtClean="0"/>
              <a:t>i</a:t>
            </a:r>
            <a:r>
              <a:rPr lang="en-US" altLang="ko-KR" sz="1600" dirty="0" smtClean="0"/>
              <a:t> = </a:t>
            </a:r>
            <a:r>
              <a:rPr lang="en-US" altLang="ko-KR" sz="1600" dirty="0" err="1" smtClean="0"/>
              <a:t>i</a:t>
            </a:r>
            <a:r>
              <a:rPr lang="en-US" altLang="ko-KR" sz="1600" dirty="0" smtClean="0"/>
              <a:t> – j;</a:t>
            </a:r>
          </a:p>
          <a:p>
            <a:r>
              <a:rPr lang="en-US" altLang="ko-KR" sz="1600" dirty="0" err="1" smtClean="0"/>
              <a:t>System.out.println</a:t>
            </a:r>
            <a:r>
              <a:rPr lang="en-US" altLang="ko-KR" sz="1600" dirty="0" smtClean="0"/>
              <a:t>(</a:t>
            </a:r>
            <a:r>
              <a:rPr lang="en-US" altLang="ko-KR" sz="1600" dirty="0" err="1" smtClean="0"/>
              <a:t>i</a:t>
            </a:r>
            <a:r>
              <a:rPr lang="en-US" altLang="ko-KR" sz="1600" dirty="0" smtClean="0"/>
              <a:t>);</a:t>
            </a:r>
          </a:p>
        </p:txBody>
      </p:sp>
      <p:sp>
        <p:nvSpPr>
          <p:cNvPr id="6" name="오른쪽 화살표 5"/>
          <p:cNvSpPr/>
          <p:nvPr/>
        </p:nvSpPr>
        <p:spPr>
          <a:xfrm>
            <a:off x="2387062" y="2453152"/>
            <a:ext cx="285752" cy="19003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7" name="TextBox 6"/>
          <p:cNvSpPr txBox="1"/>
          <p:nvPr/>
        </p:nvSpPr>
        <p:spPr>
          <a:xfrm>
            <a:off x="4387326" y="1904518"/>
            <a:ext cx="1785950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600" dirty="0" smtClean="0"/>
              <a:t>0101000001000101010011110101101010100101110101010101000010001110000000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5926" y="3286124"/>
            <a:ext cx="24468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/>
              <a:t>자바 소스 파일</a:t>
            </a:r>
            <a:r>
              <a:rPr lang="en-US" altLang="ko-KR" sz="1600" dirty="0" smtClean="0"/>
              <a:t>(Test.java)</a:t>
            </a:r>
            <a:endParaRPr lang="ko-KR" altLang="en-US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3953530" y="3207092"/>
            <a:ext cx="25131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smtClean="0"/>
              <a:t>바이트 코드</a:t>
            </a:r>
            <a:r>
              <a:rPr lang="en-US" altLang="ko-KR" sz="1600" dirty="0" smtClean="0"/>
              <a:t>(</a:t>
            </a:r>
            <a:r>
              <a:rPr lang="en-US" altLang="ko-KR" sz="1600" dirty="0" err="1" smtClean="0"/>
              <a:t>Test.class</a:t>
            </a:r>
            <a:r>
              <a:rPr lang="en-US" altLang="ko-KR" sz="1600" dirty="0" smtClean="0"/>
              <a:t>)</a:t>
            </a:r>
            <a:endParaRPr lang="ko-KR" altLang="en-US" sz="1600" dirty="0"/>
          </a:p>
        </p:txBody>
      </p:sp>
      <p:sp>
        <p:nvSpPr>
          <p:cNvPr id="17" name="오른쪽 화살표 16"/>
          <p:cNvSpPr/>
          <p:nvPr/>
        </p:nvSpPr>
        <p:spPr>
          <a:xfrm>
            <a:off x="4101574" y="2453152"/>
            <a:ext cx="285752" cy="19003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18" name="TextBox 17"/>
          <p:cNvSpPr txBox="1"/>
          <p:nvPr/>
        </p:nvSpPr>
        <p:spPr>
          <a:xfrm>
            <a:off x="6459028" y="3400719"/>
            <a:ext cx="1785950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 smtClean="0"/>
              <a:t>하드웨어</a:t>
            </a:r>
            <a:endParaRPr lang="ko-KR" altLang="en-US" sz="1600" dirty="0"/>
          </a:p>
        </p:txBody>
      </p:sp>
      <p:sp>
        <p:nvSpPr>
          <p:cNvPr id="19" name="TextBox 18"/>
          <p:cNvSpPr txBox="1"/>
          <p:nvPr/>
        </p:nvSpPr>
        <p:spPr>
          <a:xfrm>
            <a:off x="6459028" y="3059668"/>
            <a:ext cx="1785950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 smtClean="0"/>
              <a:t>운영체제</a:t>
            </a:r>
            <a:endParaRPr lang="ko-KR" altLang="en-US" sz="1600" dirty="0"/>
          </a:p>
        </p:txBody>
      </p:sp>
      <p:sp>
        <p:nvSpPr>
          <p:cNvPr id="20" name="TextBox 19"/>
          <p:cNvSpPr txBox="1"/>
          <p:nvPr/>
        </p:nvSpPr>
        <p:spPr>
          <a:xfrm>
            <a:off x="6459028" y="2711905"/>
            <a:ext cx="1785950" cy="338554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 smtClean="0"/>
              <a:t>자바 가상 기계</a:t>
            </a:r>
            <a:endParaRPr lang="ko-KR" altLang="en-US" sz="1600" dirty="0"/>
          </a:p>
        </p:txBody>
      </p:sp>
      <p:sp>
        <p:nvSpPr>
          <p:cNvPr id="21" name="오른쪽 화살표 20"/>
          <p:cNvSpPr/>
          <p:nvPr/>
        </p:nvSpPr>
        <p:spPr>
          <a:xfrm>
            <a:off x="6188201" y="2084790"/>
            <a:ext cx="470216" cy="182464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22" name="타원 21"/>
          <p:cNvSpPr/>
          <p:nvPr/>
        </p:nvSpPr>
        <p:spPr>
          <a:xfrm>
            <a:off x="6673342" y="1785926"/>
            <a:ext cx="1500198" cy="857256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/>
              <a:t>자바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프로그램</a:t>
            </a:r>
            <a:r>
              <a:rPr lang="en-US" altLang="ko-KR" sz="1400" dirty="0" smtClean="0"/>
              <a:t>(</a:t>
            </a:r>
            <a:r>
              <a:rPr lang="en-US" altLang="ko-KR" sz="1400" dirty="0" err="1" smtClean="0"/>
              <a:t>Test.class</a:t>
            </a:r>
            <a:r>
              <a:rPr lang="en-US" altLang="ko-KR" sz="1400" dirty="0" smtClean="0"/>
              <a:t>)</a:t>
            </a:r>
            <a:endParaRPr lang="ko-KR" altLang="en-US" sz="1400" dirty="0"/>
          </a:p>
        </p:txBody>
      </p:sp>
      <p:sp>
        <p:nvSpPr>
          <p:cNvPr id="23" name="TextBox 22"/>
          <p:cNvSpPr txBox="1"/>
          <p:nvPr/>
        </p:nvSpPr>
        <p:spPr>
          <a:xfrm>
            <a:off x="323528" y="4667730"/>
            <a:ext cx="2063534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600" dirty="0" smtClean="0"/>
              <a:t>if (</a:t>
            </a:r>
            <a:r>
              <a:rPr lang="en-US" altLang="ko-KR" sz="1600" dirty="0" err="1" smtClean="0"/>
              <a:t>i</a:t>
            </a:r>
            <a:r>
              <a:rPr lang="en-US" altLang="ko-KR" sz="1600" dirty="0" smtClean="0"/>
              <a:t>&gt;0) {</a:t>
            </a:r>
          </a:p>
          <a:p>
            <a:pPr lvl="1"/>
            <a:r>
              <a:rPr lang="en-US" altLang="ko-KR" sz="1600" dirty="0" err="1" smtClean="0"/>
              <a:t>i</a:t>
            </a:r>
            <a:r>
              <a:rPr lang="en-US" altLang="ko-KR" sz="1600" dirty="0" smtClean="0"/>
              <a:t> = </a:t>
            </a:r>
            <a:r>
              <a:rPr lang="en-US" altLang="ko-KR" sz="1600" dirty="0" err="1" smtClean="0"/>
              <a:t>i</a:t>
            </a:r>
            <a:r>
              <a:rPr lang="en-US" altLang="ko-KR" sz="1600" dirty="0" smtClean="0"/>
              <a:t>*10;</a:t>
            </a:r>
          </a:p>
          <a:p>
            <a:r>
              <a:rPr lang="en-US" altLang="ko-KR" sz="1600" dirty="0" smtClean="0"/>
              <a:t>}</a:t>
            </a:r>
          </a:p>
          <a:p>
            <a:r>
              <a:rPr lang="en-US" altLang="ko-KR" sz="1600" dirty="0" err="1" smtClean="0"/>
              <a:t>i</a:t>
            </a:r>
            <a:r>
              <a:rPr lang="en-US" altLang="ko-KR" sz="1600" dirty="0" smtClean="0"/>
              <a:t> = </a:t>
            </a:r>
            <a:r>
              <a:rPr lang="en-US" altLang="ko-KR" sz="1600" dirty="0" err="1" smtClean="0"/>
              <a:t>i</a:t>
            </a:r>
            <a:r>
              <a:rPr lang="en-US" altLang="ko-KR" sz="1600" dirty="0" smtClean="0"/>
              <a:t> – j;</a:t>
            </a:r>
          </a:p>
          <a:p>
            <a:r>
              <a:rPr lang="en-US" altLang="ko-KR" sz="1600" dirty="0" err="1" smtClean="0"/>
              <a:t>cout</a:t>
            </a:r>
            <a:r>
              <a:rPr lang="en-US" altLang="ko-KR" sz="1600" dirty="0" smtClean="0"/>
              <a:t> &lt;&lt; </a:t>
            </a:r>
            <a:r>
              <a:rPr lang="en-US" altLang="ko-KR" sz="1600" dirty="0" err="1" smtClean="0"/>
              <a:t>i</a:t>
            </a:r>
            <a:r>
              <a:rPr lang="en-US" altLang="ko-KR" sz="1600" dirty="0" smtClean="0"/>
              <a:t>;</a:t>
            </a:r>
          </a:p>
        </p:txBody>
      </p:sp>
      <p:sp>
        <p:nvSpPr>
          <p:cNvPr id="24" name="타원 23"/>
          <p:cNvSpPr/>
          <p:nvPr/>
        </p:nvSpPr>
        <p:spPr>
          <a:xfrm>
            <a:off x="2672814" y="4869902"/>
            <a:ext cx="1428760" cy="750806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smtClean="0">
                <a:solidFill>
                  <a:schemeClr val="tx1"/>
                </a:solidFill>
              </a:rPr>
              <a:t>컴파일러</a:t>
            </a:r>
            <a:r>
              <a:rPr lang="en-US" altLang="ko-KR" sz="1600" dirty="0" smtClean="0">
                <a:solidFill>
                  <a:schemeClr val="tx1"/>
                </a:solidFill>
              </a:rPr>
              <a:t>/</a:t>
            </a:r>
            <a:r>
              <a:rPr lang="ko-KR" altLang="en-US" sz="1600" dirty="0" err="1" smtClean="0">
                <a:solidFill>
                  <a:schemeClr val="tx1"/>
                </a:solidFill>
              </a:rPr>
              <a:t>링커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25" name="오른쪽 화살표 24"/>
          <p:cNvSpPr/>
          <p:nvPr/>
        </p:nvSpPr>
        <p:spPr>
          <a:xfrm>
            <a:off x="2387062" y="5179938"/>
            <a:ext cx="285752" cy="19003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26" name="TextBox 25"/>
          <p:cNvSpPr txBox="1"/>
          <p:nvPr/>
        </p:nvSpPr>
        <p:spPr>
          <a:xfrm>
            <a:off x="4387326" y="4584150"/>
            <a:ext cx="1785950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600" dirty="0" smtClean="0"/>
              <a:t>0101000001000101011011110101101010100101111101010101001010101110001100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1503" y="5977898"/>
            <a:ext cx="19475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/>
              <a:t>소스 파일</a:t>
            </a:r>
            <a:r>
              <a:rPr lang="en-US" altLang="ko-KR" sz="1600" dirty="0" smtClean="0"/>
              <a:t>(Test.cpp)</a:t>
            </a:r>
            <a:endParaRPr lang="ko-KR" altLang="en-US" sz="1600" dirty="0"/>
          </a:p>
        </p:txBody>
      </p:sp>
      <p:sp>
        <p:nvSpPr>
          <p:cNvPr id="28" name="TextBox 27"/>
          <p:cNvSpPr txBox="1"/>
          <p:nvPr/>
        </p:nvSpPr>
        <p:spPr>
          <a:xfrm>
            <a:off x="3920040" y="5906460"/>
            <a:ext cx="28114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/>
              <a:t>바이너리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실행 파일</a:t>
            </a:r>
            <a:r>
              <a:rPr lang="en-US" altLang="ko-KR" sz="1600" dirty="0" smtClean="0"/>
              <a:t>(Test.exe)</a:t>
            </a:r>
            <a:endParaRPr lang="ko-KR" altLang="en-US" sz="1600" dirty="0"/>
          </a:p>
        </p:txBody>
      </p:sp>
      <p:sp>
        <p:nvSpPr>
          <p:cNvPr id="29" name="오른쪽 화살표 28"/>
          <p:cNvSpPr/>
          <p:nvPr/>
        </p:nvSpPr>
        <p:spPr>
          <a:xfrm>
            <a:off x="4101574" y="5144926"/>
            <a:ext cx="285752" cy="19003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30" name="TextBox 29"/>
          <p:cNvSpPr txBox="1"/>
          <p:nvPr/>
        </p:nvSpPr>
        <p:spPr>
          <a:xfrm>
            <a:off x="6530466" y="5615297"/>
            <a:ext cx="1785950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 smtClean="0"/>
              <a:t>하드웨어</a:t>
            </a:r>
            <a:endParaRPr lang="ko-KR" altLang="en-US" sz="1600" dirty="0"/>
          </a:p>
        </p:txBody>
      </p:sp>
      <p:sp>
        <p:nvSpPr>
          <p:cNvPr id="31" name="TextBox 30"/>
          <p:cNvSpPr txBox="1"/>
          <p:nvPr/>
        </p:nvSpPr>
        <p:spPr>
          <a:xfrm>
            <a:off x="6530466" y="5274246"/>
            <a:ext cx="1785950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smtClean="0"/>
              <a:t>운영체제</a:t>
            </a:r>
            <a:endParaRPr lang="ko-KR" altLang="en-US" sz="1600" dirty="0"/>
          </a:p>
        </p:txBody>
      </p:sp>
      <p:sp>
        <p:nvSpPr>
          <p:cNvPr id="34" name="타원 33"/>
          <p:cNvSpPr/>
          <p:nvPr/>
        </p:nvSpPr>
        <p:spPr>
          <a:xfrm>
            <a:off x="6673342" y="4406262"/>
            <a:ext cx="1500198" cy="857256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C++ </a:t>
            </a:r>
            <a:r>
              <a:rPr lang="ko-KR" altLang="en-US" sz="1400" dirty="0" smtClean="0"/>
              <a:t>프로그램</a:t>
            </a:r>
            <a:r>
              <a:rPr lang="en-US" altLang="ko-KR" sz="1400" dirty="0" smtClean="0"/>
              <a:t>(Test.exe)</a:t>
            </a:r>
            <a:endParaRPr lang="ko-KR" altLang="en-US" sz="1400" dirty="0"/>
          </a:p>
        </p:txBody>
      </p:sp>
      <p:sp>
        <p:nvSpPr>
          <p:cNvPr id="39" name="타원 38"/>
          <p:cNvSpPr/>
          <p:nvPr/>
        </p:nvSpPr>
        <p:spPr>
          <a:xfrm>
            <a:off x="2672814" y="2178128"/>
            <a:ext cx="1428760" cy="750806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smtClean="0">
                <a:solidFill>
                  <a:schemeClr val="tx1"/>
                </a:solidFill>
              </a:rPr>
              <a:t>컴파일러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35" name="오른쪽 화살표 34"/>
          <p:cNvSpPr/>
          <p:nvPr/>
        </p:nvSpPr>
        <p:spPr>
          <a:xfrm>
            <a:off x="6173276" y="4763452"/>
            <a:ext cx="470216" cy="182464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33" name="제목 1"/>
          <p:cNvSpPr txBox="1">
            <a:spLocks/>
          </p:cNvSpPr>
          <p:nvPr/>
        </p:nvSpPr>
        <p:spPr bwMode="white">
          <a:xfrm>
            <a:off x="2195736" y="227013"/>
            <a:ext cx="6948264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j-cs"/>
              </a:rPr>
              <a:t>5. Java </a:t>
            </a:r>
            <a:r>
              <a:rPr kumimoji="0" lang="ko-KR" altLang="en-US" sz="2800" b="1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j-cs"/>
              </a:rPr>
              <a:t>프로그램 작성 및 컴파일 및 실행</a:t>
            </a:r>
            <a:endParaRPr kumimoji="0" lang="ko-KR" altLang="en-US" sz="28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8754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A6BD2C2-3D3B-4E94-BD92-61B02C5F4DEE}" type="slidenum">
              <a:rPr lang="ko-KR" altLang="en-US" smtClean="0"/>
              <a:pPr/>
              <a:t>19</a:t>
            </a:fld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ko-KR" altLang="en-US" sz="1600" dirty="0" smtClean="0"/>
              <a:t>자바</a:t>
            </a:r>
            <a:endParaRPr lang="en-US" altLang="ko-KR" sz="1600" dirty="0" smtClean="0"/>
          </a:p>
          <a:p>
            <a:pPr lvl="1">
              <a:buFont typeface="Wingdings" pitchFamily="2" charset="2"/>
              <a:buChar char="Ø"/>
            </a:pPr>
            <a:r>
              <a:rPr lang="ko-KR" altLang="en-US" sz="1400" dirty="0" smtClean="0"/>
              <a:t>자바는 링크 과정 없이 컴파일러가 바로 바이트 코드 생성</a:t>
            </a:r>
            <a:endParaRPr lang="en-US" altLang="ko-KR" sz="1400" dirty="0" smtClean="0"/>
          </a:p>
          <a:p>
            <a:pPr lvl="1">
              <a:buFont typeface="Wingdings" pitchFamily="2" charset="2"/>
              <a:buChar char="Ø"/>
            </a:pPr>
            <a:r>
              <a:rPr lang="ko-KR" altLang="en-US" sz="1400" dirty="0" smtClean="0"/>
              <a:t>바이트 코드는 </a:t>
            </a:r>
            <a:r>
              <a:rPr lang="en-US" altLang="ko-KR" sz="1400" dirty="0" smtClean="0"/>
              <a:t>JVM</a:t>
            </a:r>
            <a:r>
              <a:rPr lang="ko-KR" altLang="en-US" sz="1400" dirty="0" smtClean="0"/>
              <a:t>에서</a:t>
            </a:r>
            <a:r>
              <a:rPr lang="ko-KR" altLang="en-US" sz="1400" dirty="0"/>
              <a:t>만</a:t>
            </a:r>
            <a:r>
              <a:rPr lang="ko-KR" altLang="en-US" sz="1400" dirty="0" smtClean="0"/>
              <a:t> 실행 가능</a:t>
            </a:r>
            <a:endParaRPr lang="en-US" altLang="ko-KR" sz="1400" dirty="0" smtClean="0"/>
          </a:p>
          <a:p>
            <a:pPr lvl="1">
              <a:buFont typeface="Wingdings" pitchFamily="2" charset="2"/>
              <a:buChar char="Ø"/>
            </a:pPr>
            <a:r>
              <a:rPr lang="ko-KR" altLang="en-US" sz="1400" dirty="0" smtClean="0"/>
              <a:t>자바는 필요한 클래스들을 </a:t>
            </a:r>
            <a:r>
              <a:rPr lang="ko-KR" altLang="en-US" sz="1400" dirty="0"/>
              <a:t>프로그램 실행 중에 동적으로 </a:t>
            </a:r>
            <a:r>
              <a:rPr lang="ko-KR" altLang="en-US" sz="1400" dirty="0" smtClean="0"/>
              <a:t>로딩</a:t>
            </a:r>
            <a:endParaRPr lang="en-US" altLang="ko-KR" sz="1400" dirty="0" smtClean="0"/>
          </a:p>
          <a:p>
            <a:pPr lvl="2">
              <a:buFont typeface="Wingdings" pitchFamily="2" charset="2"/>
              <a:buChar char="u"/>
            </a:pPr>
            <a:r>
              <a:rPr lang="ko-KR" altLang="en-US" sz="1400" dirty="0" smtClean="0"/>
              <a:t>동적 로딩은 </a:t>
            </a:r>
            <a:r>
              <a:rPr lang="en-US" altLang="ko-KR" sz="1400" dirty="0" smtClean="0"/>
              <a:t>JVM</a:t>
            </a:r>
            <a:r>
              <a:rPr lang="ko-KR" altLang="en-US" sz="1400" dirty="0"/>
              <a:t>에 포함된 클래스 </a:t>
            </a:r>
            <a:r>
              <a:rPr lang="ko-KR" altLang="en-US" sz="1400" dirty="0" err="1" smtClean="0"/>
              <a:t>로더에</a:t>
            </a:r>
            <a:r>
              <a:rPr lang="ko-KR" altLang="en-US" sz="1400" dirty="0" smtClean="0"/>
              <a:t> 의해 이루어짐</a:t>
            </a:r>
            <a:endParaRPr lang="en-US" altLang="ko-KR" sz="1400" dirty="0" smtClean="0"/>
          </a:p>
          <a:p>
            <a:pPr lvl="2">
              <a:buFont typeface="Wingdings" pitchFamily="2" charset="2"/>
              <a:buChar char="u"/>
            </a:pPr>
            <a:r>
              <a:rPr lang="en-US" altLang="ko-KR" sz="1400" dirty="0" err="1" smtClean="0"/>
              <a:t>ClassLoader</a:t>
            </a:r>
            <a:r>
              <a:rPr lang="en-US" altLang="ko-KR" sz="1400" dirty="0" smtClean="0"/>
              <a:t>  </a:t>
            </a:r>
            <a:r>
              <a:rPr lang="ko-KR" altLang="en-US" sz="1400" dirty="0" smtClean="0"/>
              <a:t>클래스를 이용하여 개발자가 직접 클래스 로딩가능</a:t>
            </a:r>
            <a:endParaRPr lang="en-US" altLang="ko-KR" sz="1400" dirty="0" smtClean="0"/>
          </a:p>
          <a:p>
            <a:pPr>
              <a:buFont typeface="Wingdings" pitchFamily="2" charset="2"/>
              <a:buChar char="v"/>
            </a:pPr>
            <a:r>
              <a:rPr lang="en-US" altLang="ko-KR" sz="1600" dirty="0" smtClean="0"/>
              <a:t>C/C++</a:t>
            </a:r>
          </a:p>
          <a:p>
            <a:pPr lvl="1">
              <a:buFont typeface="Wingdings" pitchFamily="2" charset="2"/>
              <a:buChar char="Ø"/>
            </a:pPr>
            <a:r>
              <a:rPr lang="ko-KR" altLang="en-US" sz="1600" dirty="0" smtClean="0"/>
              <a:t>컴파일</a:t>
            </a:r>
            <a:endParaRPr lang="en-US" altLang="ko-KR" sz="1600" dirty="0" smtClean="0"/>
          </a:p>
          <a:p>
            <a:pPr lvl="2">
              <a:buFont typeface="Wingdings" pitchFamily="2" charset="2"/>
              <a:buChar char="u"/>
            </a:pPr>
            <a:r>
              <a:rPr lang="en-US" altLang="ko-KR" sz="1600" dirty="0" smtClean="0"/>
              <a:t>C/C++</a:t>
            </a:r>
            <a:r>
              <a:rPr lang="ko-KR" altLang="en-US" sz="1600" dirty="0" smtClean="0"/>
              <a:t>에서는 컴파일러가 중간 단계인 목적 코드를 생성</a:t>
            </a:r>
            <a:endParaRPr lang="en-US" altLang="ko-KR" sz="1600" dirty="0" smtClean="0"/>
          </a:p>
          <a:p>
            <a:pPr lvl="1">
              <a:buFont typeface="Wingdings" pitchFamily="2" charset="2"/>
              <a:buChar char="Ø"/>
            </a:pPr>
            <a:r>
              <a:rPr lang="ko-KR" altLang="en-US" sz="1600" dirty="0" smtClean="0"/>
              <a:t>링크</a:t>
            </a:r>
            <a:endParaRPr lang="en-US" altLang="ko-KR" sz="1600" dirty="0" smtClean="0"/>
          </a:p>
          <a:p>
            <a:pPr lvl="2">
              <a:buFont typeface="Wingdings" pitchFamily="2" charset="2"/>
              <a:buChar char="u"/>
            </a:pPr>
            <a:r>
              <a:rPr lang="ko-KR" altLang="en-US" sz="1600" dirty="0" err="1" smtClean="0"/>
              <a:t>링커가</a:t>
            </a:r>
            <a:r>
              <a:rPr lang="ko-KR" altLang="en-US" sz="1600" dirty="0" smtClean="0"/>
              <a:t> 목적 코드와 라이브러리 연결</a:t>
            </a:r>
            <a:r>
              <a:rPr lang="en-US" altLang="ko-KR" sz="1600" dirty="0" smtClean="0"/>
              <a:t>,</a:t>
            </a:r>
            <a:r>
              <a:rPr lang="ko-KR" altLang="en-US" sz="1600" dirty="0" smtClean="0"/>
              <a:t> 실행 가능한 </a:t>
            </a:r>
            <a:r>
              <a:rPr lang="ko-KR" altLang="en-US" sz="1600" dirty="0"/>
              <a:t>최종 실행 </a:t>
            </a:r>
            <a:r>
              <a:rPr lang="ko-KR" altLang="en-US" sz="1600" dirty="0" smtClean="0"/>
              <a:t>파일 생성</a:t>
            </a:r>
            <a:endParaRPr lang="en-US" altLang="ko-KR" sz="1600" dirty="0" smtClean="0"/>
          </a:p>
          <a:p>
            <a:pPr lvl="1">
              <a:buFont typeface="Wingdings" pitchFamily="2" charset="2"/>
              <a:buChar char="Ø"/>
            </a:pPr>
            <a:r>
              <a:rPr lang="ko-KR" altLang="en-US" sz="1600" dirty="0" smtClean="0"/>
              <a:t>정적 라이브러리는 실행 파일에 포함</a:t>
            </a:r>
            <a:endParaRPr lang="en-US" altLang="ko-KR" sz="1600" dirty="0" smtClean="0"/>
          </a:p>
          <a:p>
            <a:pPr lvl="2">
              <a:buFont typeface="Wingdings" pitchFamily="2" charset="2"/>
              <a:buChar char="u"/>
            </a:pPr>
            <a:r>
              <a:rPr lang="ko-KR" altLang="en-US" sz="1600" dirty="0" smtClean="0"/>
              <a:t>실행 파일 크기가 커짐</a:t>
            </a:r>
            <a:endParaRPr lang="en-US" altLang="ko-KR" sz="1600" dirty="0" smtClean="0"/>
          </a:p>
          <a:p>
            <a:pPr lvl="1">
              <a:buFont typeface="Wingdings" pitchFamily="2" charset="2"/>
              <a:buChar char="Ø"/>
            </a:pPr>
            <a:r>
              <a:rPr lang="ko-KR" altLang="en-US" sz="1600" dirty="0" smtClean="0"/>
              <a:t>동적 라이브러리의 경우는 </a:t>
            </a:r>
            <a:r>
              <a:rPr lang="ko-KR" altLang="en-US" sz="1600" dirty="0" err="1" smtClean="0"/>
              <a:t>실행중에</a:t>
            </a:r>
            <a:r>
              <a:rPr lang="ko-KR" altLang="en-US" sz="1600" dirty="0" smtClean="0"/>
              <a:t> 동적 링크</a:t>
            </a:r>
            <a:endParaRPr lang="en-US" altLang="ko-KR" sz="1600" dirty="0" smtClean="0"/>
          </a:p>
          <a:p>
            <a:pPr lvl="1">
              <a:buFont typeface="Wingdings" pitchFamily="2" charset="2"/>
              <a:buChar char="Ø"/>
            </a:pPr>
            <a:r>
              <a:rPr lang="ko-KR" altLang="en-US" sz="1600" dirty="0" smtClean="0"/>
              <a:t>목적 코드 및 실행 파일은 플랫폼에 따라 다름</a:t>
            </a:r>
            <a:endParaRPr lang="en-US" altLang="ko-KR" sz="1600" dirty="0" smtClean="0"/>
          </a:p>
          <a:p>
            <a:pPr lvl="2">
              <a:buFont typeface="Wingdings" pitchFamily="2" charset="2"/>
              <a:buChar char="u"/>
            </a:pPr>
            <a:r>
              <a:rPr lang="ko-KR" altLang="en-US" sz="1600" dirty="0" smtClean="0"/>
              <a:t>플랫폼이 바뀌면 다시 컴파일 및 링크</a:t>
            </a:r>
            <a:endParaRPr lang="en-US" altLang="ko-KR" sz="1600" dirty="0" smtClean="0"/>
          </a:p>
          <a:p>
            <a:pPr lvl="1">
              <a:buFont typeface="Wingdings" pitchFamily="2" charset="2"/>
              <a:buChar char="v"/>
            </a:pPr>
            <a:endParaRPr lang="ko-KR" altLang="en-US" sz="1600" dirty="0"/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2195736" y="227013"/>
            <a:ext cx="6948264" cy="762000"/>
          </a:xfrm>
        </p:spPr>
        <p:txBody>
          <a:bodyPr>
            <a:noAutofit/>
          </a:bodyPr>
          <a:lstStyle/>
          <a:p>
            <a:r>
              <a:rPr lang="en-US" altLang="ko-KR" sz="2800" dirty="0" smtClean="0"/>
              <a:t>5. Java </a:t>
            </a:r>
            <a:r>
              <a:rPr lang="ko-KR" altLang="en-US" sz="2800" dirty="0" smtClean="0"/>
              <a:t>프로그램 작성 및 컴파일 및 실행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xmlns="" val="273993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0CCE1-37E2-4C1A-8509-92DFD1074F36}" type="slidenum">
              <a:rPr lang="ko-KR" altLang="en-US"/>
              <a:pPr/>
              <a:t>20</a:t>
            </a:fld>
            <a:endParaRPr lang="ko-KR" altLang="en-US"/>
          </a:p>
        </p:txBody>
      </p:sp>
      <p:sp>
        <p:nvSpPr>
          <p:cNvPr id="213008" name="Text Box 16"/>
          <p:cNvSpPr txBox="1">
            <a:spLocks noChangeArrowheads="1"/>
          </p:cNvSpPr>
          <p:nvPr/>
        </p:nvSpPr>
        <p:spPr bwMode="auto">
          <a:xfrm>
            <a:off x="381000" y="5408613"/>
            <a:ext cx="8458200" cy="106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l">
              <a:spcBef>
                <a:spcPct val="0"/>
              </a:spcBef>
              <a:buSzPct val="90000"/>
              <a:buFont typeface="Wingdings" pitchFamily="2" charset="2"/>
              <a:buChar char=""/>
            </a:pPr>
            <a:r>
              <a:rPr lang="ko-KR" altLang="en-US" sz="16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그림에서 </a:t>
            </a:r>
            <a:r>
              <a:rPr lang="ko-KR" altLang="en-US" sz="160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처럼</a:t>
            </a:r>
            <a:r>
              <a:rPr lang="ko-KR" altLang="en-US" sz="16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자바 해석기를 포함한 시스템을 자바가상기계라 </a:t>
            </a:r>
            <a:r>
              <a:rPr lang="ko-KR" altLang="en-US" sz="16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하며 </a:t>
            </a:r>
            <a:r>
              <a:rPr lang="ko-KR" altLang="en-US" sz="16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바이트코드(확장자명 </a:t>
            </a:r>
            <a:r>
              <a:rPr lang="en-US" altLang="ko-KR" sz="16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class)</a:t>
            </a:r>
            <a:r>
              <a:rPr lang="ko-KR" altLang="en-US" sz="16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는 시스템의 운영체제 및 하드웨어에 관계없이 자바 해석기를 포함한 어떤 시스템에서도 실행 가능하다.</a:t>
            </a:r>
          </a:p>
          <a:p>
            <a:pPr algn="l">
              <a:spcBef>
                <a:spcPct val="0"/>
              </a:spcBef>
              <a:buSzPct val="90000"/>
              <a:buFont typeface="Wingdings" pitchFamily="2" charset="2"/>
              <a:buChar char=""/>
            </a:pPr>
            <a:r>
              <a:rPr lang="ko-KR" altLang="en-US" sz="16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자바 프로그램은 </a:t>
            </a:r>
            <a:r>
              <a:rPr lang="en-US" altLang="ko-KR" sz="16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main() </a:t>
            </a:r>
            <a:r>
              <a:rPr lang="ko-KR" altLang="en-US" sz="160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메소드의</a:t>
            </a:r>
            <a:r>
              <a:rPr lang="ko-KR" altLang="en-US" sz="16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첫 번째 명령어부터 차례로 실행된다.</a:t>
            </a:r>
            <a:endParaRPr lang="ko-KR" altLang="en-US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13009" name="Picture 17" descr="D:\datastore\USER\강의자료\자바\자바교재\그림파일\1-4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1752600"/>
            <a:ext cx="6400800" cy="3352800"/>
          </a:xfrm>
          <a:prstGeom prst="rect">
            <a:avLst/>
          </a:prstGeom>
          <a:noFill/>
        </p:spPr>
      </p:pic>
      <p:sp>
        <p:nvSpPr>
          <p:cNvPr id="9" name="제목 1"/>
          <p:cNvSpPr txBox="1">
            <a:spLocks/>
          </p:cNvSpPr>
          <p:nvPr/>
        </p:nvSpPr>
        <p:spPr>
          <a:xfrm>
            <a:off x="2195736" y="404664"/>
            <a:ext cx="6948264" cy="7620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j-cs"/>
              </a:rPr>
              <a:t>5. Java </a:t>
            </a:r>
            <a:r>
              <a:rPr kumimoji="0" lang="ko-KR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j-cs"/>
              </a:rPr>
              <a:t>프로그램 작성 및 컴파일 및 실행</a:t>
            </a:r>
            <a:endParaRPr kumimoji="0" lang="ko-KR" altLang="en-US" sz="28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j-c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6. </a:t>
            </a:r>
            <a:r>
              <a:rPr lang="en-US" altLang="ko-KR" dirty="0" err="1" smtClean="0"/>
              <a:t>System.out.print</a:t>
            </a:r>
            <a:r>
              <a:rPr lang="en-US" altLang="ko-KR" dirty="0" smtClean="0"/>
              <a:t> </a:t>
            </a:r>
            <a:r>
              <a:rPr lang="ko-KR" altLang="en-US" dirty="0" smtClean="0"/>
              <a:t>와 </a:t>
            </a:r>
            <a:r>
              <a:rPr lang="en-US" altLang="ko-KR" dirty="0" err="1" smtClean="0"/>
              <a:t>println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atinLnBrk="0">
              <a:buFont typeface="Wingdings" pitchFamily="2" charset="2"/>
              <a:buChar char="v"/>
            </a:pPr>
            <a:r>
              <a:rPr lang="en-US" altLang="ko-KR" sz="1600" dirty="0" smtClean="0"/>
              <a:t>print</a:t>
            </a:r>
            <a:r>
              <a:rPr lang="ko-KR" altLang="en-US" sz="1600" dirty="0" smtClean="0"/>
              <a:t>는 내용을 출력하고 줄 바꿈을 하지 않으며 </a:t>
            </a:r>
            <a:r>
              <a:rPr lang="en-US" altLang="ko-KR" sz="1600" dirty="0" err="1" smtClean="0"/>
              <a:t>println</a:t>
            </a:r>
            <a:r>
              <a:rPr lang="ko-KR" altLang="en-US" sz="1600" dirty="0" smtClean="0"/>
              <a:t>은 줄 바꿈을 합니다</a:t>
            </a:r>
            <a:r>
              <a:rPr lang="en-US" altLang="ko-KR" sz="1600" dirty="0" smtClean="0"/>
              <a:t>.</a:t>
            </a:r>
          </a:p>
          <a:p>
            <a:pPr latinLnBrk="0">
              <a:buFont typeface="Wingdings" pitchFamily="2" charset="2"/>
              <a:buChar char="v"/>
            </a:pPr>
            <a:r>
              <a:rPr lang="ko-KR" altLang="en-US" sz="1600" dirty="0" smtClean="0"/>
              <a:t>형식 </a:t>
            </a:r>
          </a:p>
          <a:p>
            <a:pPr lvl="1" latinLnBrk="0">
              <a:buFont typeface="Wingdings" pitchFamily="2" charset="2"/>
              <a:buChar char="v"/>
            </a:pPr>
            <a:r>
              <a:rPr lang="en-US" altLang="ko-KR" sz="1400" dirty="0" smtClean="0"/>
              <a:t>"</a:t>
            </a:r>
            <a:r>
              <a:rPr lang="ko-KR" altLang="en-US" sz="1400" dirty="0" smtClean="0"/>
              <a:t>메시지</a:t>
            </a:r>
            <a:r>
              <a:rPr lang="en-US" altLang="ko-KR" sz="1400" dirty="0" smtClean="0"/>
              <a:t>": “ “</a:t>
            </a:r>
            <a:r>
              <a:rPr lang="ko-KR" altLang="en-US" sz="1400" dirty="0" smtClean="0"/>
              <a:t>안에 출력할 문자열을 입력합니다</a:t>
            </a:r>
            <a:r>
              <a:rPr lang="en-US" altLang="ko-KR" sz="1400" dirty="0" smtClean="0"/>
              <a:t>.</a:t>
            </a:r>
          </a:p>
          <a:p>
            <a:pPr lvl="1" latinLnBrk="0">
              <a:buFont typeface="Wingdings" pitchFamily="2" charset="2"/>
              <a:buChar char="v"/>
            </a:pPr>
            <a:r>
              <a:rPr lang="ko-KR" altLang="en-US" sz="1400" dirty="0" smtClean="0"/>
              <a:t>상수</a:t>
            </a:r>
            <a:r>
              <a:rPr lang="en-US" altLang="ko-KR" sz="1400" dirty="0" smtClean="0"/>
              <a:t>(</a:t>
            </a:r>
            <a:r>
              <a:rPr lang="ko-KR" altLang="en-US" sz="1400" dirty="0" smtClean="0"/>
              <a:t>정수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문자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문자열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실수</a:t>
            </a:r>
            <a:r>
              <a:rPr lang="en-US" altLang="ko-KR" sz="1400" dirty="0" smtClean="0"/>
              <a:t>): </a:t>
            </a:r>
            <a:r>
              <a:rPr lang="ko-KR" altLang="en-US" sz="1400" dirty="0" smtClean="0"/>
              <a:t>상수는 직접 사용이 가능하며 문자는 ‘’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문자열은 “”안 에 표기합니다</a:t>
            </a:r>
            <a:r>
              <a:rPr lang="en-US" altLang="ko-KR" sz="1400" dirty="0" smtClean="0"/>
              <a:t>.</a:t>
            </a:r>
          </a:p>
          <a:p>
            <a:pPr lvl="1" latinLnBrk="0">
              <a:buFont typeface="Wingdings" pitchFamily="2" charset="2"/>
              <a:buChar char="v"/>
            </a:pPr>
            <a:r>
              <a:rPr lang="en-US" altLang="ko-KR" sz="1400" dirty="0" smtClean="0"/>
              <a:t>"</a:t>
            </a:r>
            <a:r>
              <a:rPr lang="ko-KR" altLang="en-US" sz="1400" dirty="0" smtClean="0"/>
              <a:t>메시지</a:t>
            </a:r>
            <a:r>
              <a:rPr lang="en-US" altLang="ko-KR" sz="1400" dirty="0" smtClean="0"/>
              <a:t>" + </a:t>
            </a:r>
            <a:r>
              <a:rPr lang="ko-KR" altLang="en-US" sz="1400" dirty="0" smtClean="0"/>
              <a:t>상수</a:t>
            </a:r>
          </a:p>
          <a:p>
            <a:pPr lvl="1" latinLnBrk="0">
              <a:buFont typeface="Wingdings" pitchFamily="2" charset="2"/>
              <a:buChar char="v"/>
            </a:pPr>
            <a:r>
              <a:rPr lang="ko-KR" altLang="en-US" sz="1400" dirty="0" smtClean="0"/>
              <a:t>변수</a:t>
            </a:r>
          </a:p>
          <a:p>
            <a:pPr lvl="1" latinLnBrk="0">
              <a:buFont typeface="Wingdings" pitchFamily="2" charset="2"/>
              <a:buChar char="v"/>
            </a:pPr>
            <a:r>
              <a:rPr lang="en-US" altLang="ko-KR" sz="1400" dirty="0" smtClean="0"/>
              <a:t>"</a:t>
            </a:r>
            <a:r>
              <a:rPr lang="ko-KR" altLang="en-US" sz="1400" dirty="0" smtClean="0"/>
              <a:t>메시지</a:t>
            </a:r>
            <a:r>
              <a:rPr lang="en-US" altLang="ko-KR" sz="1400" dirty="0" smtClean="0"/>
              <a:t>" + </a:t>
            </a:r>
            <a:r>
              <a:rPr lang="ko-KR" altLang="en-US" sz="1400" dirty="0" smtClean="0"/>
              <a:t>변수</a:t>
            </a:r>
          </a:p>
          <a:p>
            <a:pPr lvl="1" latinLnBrk="0">
              <a:buFont typeface="Wingdings" pitchFamily="2" charset="2"/>
              <a:buChar char="v"/>
            </a:pPr>
            <a:r>
              <a:rPr lang="en-US" altLang="ko-KR" sz="1400" dirty="0" smtClean="0"/>
              <a:t>"</a:t>
            </a:r>
            <a:r>
              <a:rPr lang="ko-KR" altLang="en-US" sz="1400" dirty="0" smtClean="0"/>
              <a:t>메시지</a:t>
            </a:r>
            <a:r>
              <a:rPr lang="en-US" altLang="ko-KR" sz="1400" dirty="0" smtClean="0"/>
              <a:t>" + </a:t>
            </a:r>
            <a:r>
              <a:rPr lang="ko-KR" altLang="en-US" sz="1400" dirty="0" smtClean="0"/>
              <a:t>계산식   </a:t>
            </a:r>
          </a:p>
          <a:p>
            <a:pPr lvl="1" latinLnBrk="0">
              <a:buFont typeface="Wingdings" pitchFamily="2" charset="2"/>
              <a:buChar char="v"/>
            </a:pPr>
            <a:r>
              <a:rPr lang="en-US" altLang="ko-KR" sz="1400" dirty="0" smtClean="0"/>
              <a:t>"</a:t>
            </a:r>
            <a:r>
              <a:rPr lang="ko-KR" altLang="en-US" sz="1400" dirty="0" smtClean="0"/>
              <a:t>메시지</a:t>
            </a:r>
            <a:r>
              <a:rPr lang="en-US" altLang="ko-KR" sz="1400" dirty="0" smtClean="0"/>
              <a:t>" + </a:t>
            </a:r>
            <a:r>
              <a:rPr lang="ko-KR" altLang="en-US" sz="1400" dirty="0" smtClean="0"/>
              <a:t>상수 </a:t>
            </a:r>
            <a:r>
              <a:rPr lang="en-US" altLang="ko-KR" sz="1400" dirty="0" smtClean="0"/>
              <a:t>+ "</a:t>
            </a:r>
            <a:r>
              <a:rPr lang="ko-KR" altLang="en-US" sz="1400" dirty="0" smtClean="0"/>
              <a:t>메시지</a:t>
            </a:r>
            <a:r>
              <a:rPr lang="en-US" altLang="ko-KR" sz="1400" dirty="0" smtClean="0"/>
              <a:t>" + </a:t>
            </a:r>
            <a:r>
              <a:rPr lang="ko-KR" altLang="en-US" sz="1400" dirty="0" smtClean="0"/>
              <a:t>변수 </a:t>
            </a:r>
            <a:r>
              <a:rPr lang="en-US" altLang="ko-KR" sz="1400" dirty="0" smtClean="0"/>
              <a:t>+ "</a:t>
            </a:r>
            <a:r>
              <a:rPr lang="ko-KR" altLang="en-US" sz="1400" dirty="0" smtClean="0"/>
              <a:t>메시지</a:t>
            </a:r>
            <a:r>
              <a:rPr lang="en-US" altLang="ko-KR" sz="1400" dirty="0" smtClean="0"/>
              <a:t>" + </a:t>
            </a:r>
            <a:r>
              <a:rPr lang="ko-KR" altLang="en-US" sz="1400" dirty="0" smtClean="0"/>
              <a:t>계산식</a:t>
            </a:r>
          </a:p>
          <a:p>
            <a:pPr lvl="1" latinLnBrk="0">
              <a:buFont typeface="Wingdings" pitchFamily="2" charset="2"/>
              <a:buChar char="v"/>
            </a:pPr>
            <a:r>
              <a:rPr lang="ko-KR" altLang="en-US" sz="1400" dirty="0" err="1" smtClean="0"/>
              <a:t>메서드</a:t>
            </a:r>
            <a:endParaRPr lang="en-US" altLang="ko-KR" sz="1400" dirty="0" smtClean="0"/>
          </a:p>
          <a:p>
            <a:pPr lvl="1" latinLnBrk="0">
              <a:buFont typeface="Wingdings" pitchFamily="2" charset="2"/>
              <a:buChar char="v"/>
            </a:pPr>
            <a:r>
              <a:rPr lang="ko-KR" altLang="en-US" sz="1400" dirty="0" smtClean="0"/>
              <a:t>숫자와 문자열이 </a:t>
            </a:r>
            <a:r>
              <a:rPr lang="en-US" altLang="ko-KR" sz="1400" dirty="0" smtClean="0"/>
              <a:t>+</a:t>
            </a:r>
            <a:r>
              <a:rPr lang="ko-KR" altLang="en-US" sz="1400" dirty="0" smtClean="0"/>
              <a:t>를 만나면 결합을 해서 문자열로 결과를 리턴</a:t>
            </a:r>
            <a:endParaRPr lang="en-US" altLang="ko-KR" sz="1400" dirty="0" smtClean="0"/>
          </a:p>
          <a:p>
            <a:pPr lvl="1" latinLnBrk="0">
              <a:buFont typeface="Wingdings" pitchFamily="2" charset="2"/>
              <a:buChar char="v"/>
            </a:pPr>
            <a:endParaRPr lang="en-US" altLang="ko-KR" sz="1400" dirty="0" smtClean="0"/>
          </a:p>
          <a:p>
            <a:pPr latinLnBrk="0">
              <a:buFont typeface="Wingdings" pitchFamily="2" charset="2"/>
              <a:buChar char="v"/>
            </a:pPr>
            <a:r>
              <a:rPr lang="en-US" altLang="ko-KR" sz="1600" dirty="0" err="1" smtClean="0"/>
              <a:t>printf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사용 가능 </a:t>
            </a:r>
            <a:r>
              <a:rPr lang="en-US" altLang="ko-KR" sz="1600" dirty="0" smtClean="0"/>
              <a:t>– </a:t>
            </a:r>
            <a:r>
              <a:rPr lang="ko-KR" altLang="en-US" sz="1600" dirty="0" smtClean="0"/>
              <a:t>사용법은 </a:t>
            </a:r>
            <a:r>
              <a:rPr lang="en-US" altLang="ko-KR" sz="1600" dirty="0" smtClean="0"/>
              <a:t>c</a:t>
            </a:r>
            <a:r>
              <a:rPr lang="ko-KR" altLang="en-US" sz="1600" dirty="0" smtClean="0"/>
              <a:t>언어 에서와 거의 동일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21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실</a:t>
            </a:r>
            <a:r>
              <a:rPr lang="ko-KR" altLang="en-US" dirty="0"/>
              <a:t>습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atinLnBrk="0">
              <a:buFont typeface="Wingdings" pitchFamily="2" charset="2"/>
              <a:buChar char="v"/>
            </a:pPr>
            <a:r>
              <a:rPr lang="ko-KR" altLang="en-US" sz="1600" dirty="0" smtClean="0"/>
              <a:t>소스코드 작성</a:t>
            </a:r>
            <a:endParaRPr lang="en-US" altLang="ko-KR" sz="1600" dirty="0" smtClean="0"/>
          </a:p>
          <a:p>
            <a:pPr lvl="1" latinLnBrk="0">
              <a:buNone/>
            </a:pPr>
            <a:r>
              <a:rPr lang="en-US" altLang="ko-KR" sz="1400" dirty="0" smtClean="0"/>
              <a:t>public class Second</a:t>
            </a:r>
          </a:p>
          <a:p>
            <a:pPr lvl="1" latinLnBrk="0">
              <a:buNone/>
            </a:pPr>
            <a:r>
              <a:rPr lang="en-US" altLang="ko-KR" sz="1400" dirty="0" smtClean="0"/>
              <a:t>{</a:t>
            </a:r>
          </a:p>
          <a:p>
            <a:pPr lvl="1" latinLnBrk="0">
              <a:buNone/>
            </a:pPr>
            <a:r>
              <a:rPr lang="en-US" altLang="ko-KR" sz="1400" dirty="0" smtClean="0"/>
              <a:t>	public static void main(String </a:t>
            </a:r>
            <a:r>
              <a:rPr lang="en-US" altLang="ko-KR" sz="1400" dirty="0" err="1" smtClean="0"/>
              <a:t>args</a:t>
            </a:r>
            <a:r>
              <a:rPr lang="en-US" altLang="ko-KR" sz="1400" dirty="0" smtClean="0"/>
              <a:t>[])</a:t>
            </a:r>
          </a:p>
          <a:p>
            <a:pPr lvl="1" latinLnBrk="0">
              <a:buNone/>
            </a:pPr>
            <a:r>
              <a:rPr lang="en-US" altLang="ko-KR" sz="1400" dirty="0" smtClean="0"/>
              <a:t>	{</a:t>
            </a:r>
          </a:p>
          <a:p>
            <a:pPr lvl="1" latinLnBrk="0">
              <a:buNone/>
            </a:pPr>
            <a:r>
              <a:rPr lang="en-US" altLang="ko-KR" sz="1400" dirty="0" smtClean="0"/>
              <a:t>	    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("</a:t>
            </a:r>
            <a:r>
              <a:rPr lang="ko-KR" altLang="en-US" sz="1400" dirty="0" smtClean="0"/>
              <a:t>안녕하세요</a:t>
            </a:r>
            <a:r>
              <a:rPr lang="en-US" altLang="ko-KR" sz="1400" dirty="0" smtClean="0"/>
              <a:t>");</a:t>
            </a:r>
          </a:p>
          <a:p>
            <a:pPr lvl="1" latinLnBrk="0">
              <a:buNone/>
            </a:pPr>
            <a:r>
              <a:rPr lang="en-US" altLang="ko-KR" sz="1400" dirty="0" smtClean="0"/>
              <a:t>	    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("</a:t>
            </a:r>
            <a:r>
              <a:rPr lang="ko-KR" altLang="en-US" sz="1400" dirty="0" smtClean="0"/>
              <a:t>박문석입니다</a:t>
            </a:r>
            <a:r>
              <a:rPr lang="en-US" altLang="ko-KR" sz="1400" dirty="0" smtClean="0"/>
              <a:t>.");	</a:t>
            </a:r>
          </a:p>
          <a:p>
            <a:pPr lvl="1" latinLnBrk="0">
              <a:buNone/>
            </a:pPr>
            <a:r>
              <a:rPr lang="en-US" altLang="ko-KR" sz="1400" dirty="0" smtClean="0"/>
              <a:t>	    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("</a:t>
            </a:r>
            <a:r>
              <a:rPr lang="ko-KR" altLang="en-US" sz="1400" dirty="0" smtClean="0"/>
              <a:t>오늘은 </a:t>
            </a:r>
            <a:r>
              <a:rPr lang="en-US" altLang="ko-KR" sz="1400" dirty="0" smtClean="0"/>
              <a:t>" + 1 + "</a:t>
            </a:r>
            <a:r>
              <a:rPr lang="ko-KR" altLang="en-US" sz="1400" dirty="0" smtClean="0"/>
              <a:t>일차</a:t>
            </a:r>
            <a:r>
              <a:rPr lang="en-US" altLang="ko-KR" sz="1400" dirty="0" smtClean="0"/>
              <a:t>" + " </a:t>
            </a:r>
            <a:r>
              <a:rPr lang="ko-KR" altLang="en-US" sz="1400" dirty="0" smtClean="0"/>
              <a:t>수업입니다</a:t>
            </a:r>
            <a:r>
              <a:rPr lang="en-US" altLang="ko-KR" sz="1400" dirty="0" smtClean="0"/>
              <a:t>");</a:t>
            </a:r>
          </a:p>
          <a:p>
            <a:pPr lvl="1" latinLnBrk="0">
              <a:buNone/>
            </a:pPr>
            <a:r>
              <a:rPr lang="en-US" altLang="ko-KR" sz="1400" dirty="0" smtClean="0"/>
              <a:t>	    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("3 + 4 = " + 3 + 4);</a:t>
            </a:r>
          </a:p>
          <a:p>
            <a:pPr lvl="1" latinLnBrk="0">
              <a:buNone/>
            </a:pPr>
            <a:r>
              <a:rPr lang="en-US" altLang="ko-KR" sz="1400" dirty="0" smtClean="0"/>
              <a:t>	    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("3 + 4 = " + (3 + 4));</a:t>
            </a:r>
          </a:p>
          <a:p>
            <a:pPr lvl="1" latinLnBrk="0">
              <a:buNone/>
            </a:pPr>
            <a:r>
              <a:rPr lang="en-US" altLang="ko-KR" sz="1400" dirty="0" smtClean="0"/>
              <a:t>	    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("3 * 4 = " + 3 * 4);</a:t>
            </a:r>
          </a:p>
          <a:p>
            <a:pPr lvl="1" latinLnBrk="0">
              <a:buNone/>
            </a:pPr>
            <a:r>
              <a:rPr lang="en-US" altLang="ko-KR" sz="1400" dirty="0" smtClean="0"/>
              <a:t>        }</a:t>
            </a:r>
          </a:p>
          <a:p>
            <a:pPr lvl="1" latinLnBrk="0">
              <a:buNone/>
            </a:pPr>
            <a:r>
              <a:rPr lang="en-US" altLang="ko-KR" sz="1400" dirty="0" smtClean="0"/>
              <a:t>}</a:t>
            </a:r>
          </a:p>
          <a:p>
            <a:pPr latinLnBrk="0">
              <a:buFont typeface="Wingdings" pitchFamily="2" charset="2"/>
              <a:buChar char="v"/>
            </a:pPr>
            <a:r>
              <a:rPr lang="ko-KR" altLang="en-US" sz="1600" dirty="0" smtClean="0"/>
              <a:t>결</a:t>
            </a:r>
            <a:r>
              <a:rPr lang="ko-KR" altLang="en-US" sz="1600" dirty="0"/>
              <a:t>과</a:t>
            </a:r>
            <a:endParaRPr lang="ko-KR" altLang="en-US" sz="1600" dirty="0" smtClean="0"/>
          </a:p>
          <a:p>
            <a:pPr lvl="1" latinLnBrk="0">
              <a:buNone/>
            </a:pPr>
            <a:r>
              <a:rPr lang="ko-KR" altLang="en-US" sz="1400" dirty="0" smtClean="0"/>
              <a:t>안녕하세요</a:t>
            </a:r>
          </a:p>
          <a:p>
            <a:pPr lvl="1" latinLnBrk="0">
              <a:buNone/>
            </a:pPr>
            <a:r>
              <a:rPr lang="ko-KR" altLang="en-US" sz="1400" dirty="0" smtClean="0"/>
              <a:t>박문석입니다</a:t>
            </a:r>
            <a:r>
              <a:rPr lang="en-US" altLang="ko-KR" sz="1400" dirty="0" smtClean="0"/>
              <a:t>.</a:t>
            </a:r>
          </a:p>
          <a:p>
            <a:pPr lvl="1" latinLnBrk="0">
              <a:buNone/>
            </a:pPr>
            <a:r>
              <a:rPr lang="ko-KR" altLang="en-US" sz="1400" dirty="0" smtClean="0"/>
              <a:t>오늘은 </a:t>
            </a:r>
            <a:r>
              <a:rPr lang="en-US" altLang="ko-KR" sz="1400" dirty="0" smtClean="0"/>
              <a:t>1</a:t>
            </a:r>
            <a:r>
              <a:rPr lang="ko-KR" altLang="en-US" sz="1400" dirty="0" smtClean="0"/>
              <a:t>일차 수업입니다</a:t>
            </a:r>
          </a:p>
          <a:p>
            <a:pPr lvl="1" latinLnBrk="0">
              <a:buNone/>
            </a:pPr>
            <a:r>
              <a:rPr lang="en-US" altLang="ko-KR" sz="1400" dirty="0" smtClean="0"/>
              <a:t>3 + 4 = 34</a:t>
            </a:r>
          </a:p>
          <a:p>
            <a:pPr lvl="1" latinLnBrk="0">
              <a:buNone/>
            </a:pPr>
            <a:r>
              <a:rPr lang="en-US" altLang="ko-KR" sz="1400" dirty="0" smtClean="0"/>
              <a:t>3 + 4 = 7</a:t>
            </a:r>
          </a:p>
          <a:p>
            <a:pPr lvl="1" latinLnBrk="0">
              <a:buNone/>
            </a:pPr>
            <a:r>
              <a:rPr lang="en-US" altLang="ko-KR" sz="1400" dirty="0" smtClean="0"/>
              <a:t>3 * 4 = 12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22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7. </a:t>
            </a:r>
            <a:r>
              <a:rPr lang="ko-KR" altLang="en-US" dirty="0" smtClean="0"/>
              <a:t>매개변수를 활용한 실행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atinLnBrk="0">
              <a:buNone/>
            </a:pPr>
            <a:r>
              <a:rPr lang="en-US" altLang="ko-KR" sz="1600" dirty="0" smtClean="0"/>
              <a:t>public static void main(String </a:t>
            </a:r>
            <a:r>
              <a:rPr lang="en-US" altLang="ko-KR" sz="1600" dirty="0" err="1" smtClean="0"/>
              <a:t>args</a:t>
            </a:r>
            <a:r>
              <a:rPr lang="en-US" altLang="ko-KR" sz="1600" dirty="0" smtClean="0"/>
              <a:t>[])</a:t>
            </a:r>
          </a:p>
          <a:p>
            <a:pPr latinLnBrk="0">
              <a:buNone/>
            </a:pPr>
            <a:r>
              <a:rPr lang="ko-KR" altLang="en-US" sz="1600" dirty="0" smtClean="0"/>
              <a:t>실행을 위해서는 </a:t>
            </a:r>
            <a:r>
              <a:rPr lang="en-US" altLang="ko-KR" sz="1600" dirty="0" smtClean="0"/>
              <a:t>main()</a:t>
            </a:r>
            <a:r>
              <a:rPr lang="ko-KR" altLang="en-US" sz="1600" dirty="0" smtClean="0"/>
              <a:t>이 반드시 하나는 존재해야 합니다</a:t>
            </a:r>
            <a:r>
              <a:rPr lang="en-US" altLang="ko-KR" sz="1600" dirty="0" smtClean="0"/>
              <a:t>.</a:t>
            </a:r>
          </a:p>
          <a:p>
            <a:pPr latinLnBrk="0">
              <a:buNone/>
            </a:pPr>
            <a:r>
              <a:rPr lang="ko-KR" altLang="en-US" sz="1600" dirty="0" smtClean="0"/>
              <a:t>괄호 안의 내용은 </a:t>
            </a:r>
            <a:r>
              <a:rPr lang="en-US" altLang="ko-KR" sz="1600" dirty="0" smtClean="0"/>
              <a:t>argument(</a:t>
            </a:r>
            <a:r>
              <a:rPr lang="ko-KR" altLang="en-US" sz="1600" dirty="0" smtClean="0"/>
              <a:t>매개변수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인자</a:t>
            </a:r>
            <a:r>
              <a:rPr lang="en-US" altLang="ko-KR" sz="1600" dirty="0" smtClean="0"/>
              <a:t>)</a:t>
            </a:r>
            <a:r>
              <a:rPr lang="ko-KR" altLang="en-US" sz="1600" dirty="0" smtClean="0"/>
              <a:t>로 실행 시 주는 옵션입니다</a:t>
            </a:r>
            <a:r>
              <a:rPr lang="en-US" altLang="ko-KR" sz="1600" dirty="0" smtClean="0"/>
              <a:t>.</a:t>
            </a:r>
          </a:p>
          <a:p>
            <a:pPr latinLnBrk="0">
              <a:buNone/>
            </a:pPr>
            <a:r>
              <a:rPr lang="en-US" altLang="ko-KR" sz="1600" b="1" dirty="0" smtClean="0">
                <a:solidFill>
                  <a:srgbClr val="FF0000"/>
                </a:solidFill>
              </a:rPr>
              <a:t>java </a:t>
            </a:r>
            <a:r>
              <a:rPr lang="ko-KR" altLang="en-US" sz="1600" b="1" dirty="0" err="1" smtClean="0">
                <a:solidFill>
                  <a:srgbClr val="FF0000"/>
                </a:solidFill>
              </a:rPr>
              <a:t>실행클래스명</a:t>
            </a:r>
            <a:r>
              <a:rPr lang="ko-KR" altLang="en-US" sz="1600" b="1" dirty="0" smtClean="0">
                <a:solidFill>
                  <a:srgbClr val="FF0000"/>
                </a:solidFill>
              </a:rPr>
              <a:t> </a:t>
            </a:r>
            <a:r>
              <a:rPr lang="en-US" altLang="ko-KR" sz="1600" b="1" dirty="0" smtClean="0">
                <a:solidFill>
                  <a:srgbClr val="FF0000"/>
                </a:solidFill>
              </a:rPr>
              <a:t>argument </a:t>
            </a:r>
          </a:p>
          <a:p>
            <a:pPr latinLnBrk="0">
              <a:buNone/>
            </a:pPr>
            <a:r>
              <a:rPr lang="en-US" altLang="ko-KR" sz="1600" dirty="0" err="1" smtClean="0"/>
              <a:t>args</a:t>
            </a:r>
            <a:r>
              <a:rPr lang="en-US" altLang="ko-KR" sz="1600" dirty="0" smtClean="0"/>
              <a:t>[0]</a:t>
            </a:r>
            <a:r>
              <a:rPr lang="ko-KR" altLang="en-US" sz="1600" dirty="0" smtClean="0"/>
              <a:t>부터 차례대로 문자열로 대입됩니다</a:t>
            </a:r>
            <a:r>
              <a:rPr lang="en-US" altLang="ko-KR" sz="1600" dirty="0" smtClean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23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실</a:t>
            </a:r>
            <a:r>
              <a:rPr lang="ko-KR" altLang="en-US" dirty="0"/>
              <a:t>습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atinLnBrk="0">
              <a:buFont typeface="Wingdings" pitchFamily="2" charset="2"/>
              <a:buChar char="v"/>
            </a:pPr>
            <a:r>
              <a:rPr lang="ko-KR" altLang="en-US" sz="1800" dirty="0" smtClean="0"/>
              <a:t>소스코드 작성</a:t>
            </a:r>
            <a:endParaRPr lang="en-US" altLang="ko-KR" sz="1800" dirty="0" smtClean="0"/>
          </a:p>
          <a:p>
            <a:pPr lvl="1" latinLnBrk="0">
              <a:buNone/>
            </a:pPr>
            <a:r>
              <a:rPr lang="en-US" altLang="ko-KR" sz="1400" dirty="0" smtClean="0"/>
              <a:t>public class Third</a:t>
            </a:r>
          </a:p>
          <a:p>
            <a:pPr lvl="1" latinLnBrk="0">
              <a:buNone/>
            </a:pPr>
            <a:r>
              <a:rPr lang="en-US" altLang="ko-KR" sz="1400" dirty="0" smtClean="0"/>
              <a:t>{</a:t>
            </a:r>
          </a:p>
          <a:p>
            <a:pPr lvl="1" latinLnBrk="0">
              <a:buNone/>
            </a:pPr>
            <a:r>
              <a:rPr lang="en-US" altLang="ko-KR" sz="1400" dirty="0" smtClean="0"/>
              <a:t>	public static void main(String </a:t>
            </a:r>
            <a:r>
              <a:rPr lang="en-US" altLang="ko-KR" sz="1400" dirty="0" err="1" smtClean="0"/>
              <a:t>args</a:t>
            </a:r>
            <a:r>
              <a:rPr lang="en-US" altLang="ko-KR" sz="1400" dirty="0" smtClean="0"/>
              <a:t>[])</a:t>
            </a:r>
          </a:p>
          <a:p>
            <a:pPr lvl="1" latinLnBrk="0">
              <a:buNone/>
            </a:pPr>
            <a:r>
              <a:rPr lang="en-US" altLang="ko-KR" sz="1400" dirty="0" smtClean="0"/>
              <a:t>	{</a:t>
            </a:r>
          </a:p>
          <a:p>
            <a:pPr lvl="1" latinLnBrk="0"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</a:t>
            </a:r>
            <a:r>
              <a:rPr lang="en-US" altLang="ko-KR" sz="1400" dirty="0" err="1" smtClean="0"/>
              <a:t>args</a:t>
            </a:r>
            <a:r>
              <a:rPr lang="en-US" altLang="ko-KR" sz="1400" dirty="0" smtClean="0"/>
              <a:t>[0]);</a:t>
            </a:r>
          </a:p>
          <a:p>
            <a:pPr lvl="1" latinLnBrk="0">
              <a:buNone/>
            </a:pPr>
            <a:r>
              <a:rPr lang="en-US" altLang="ko-KR" sz="1400" dirty="0" smtClean="0"/>
              <a:t>	   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</a:t>
            </a:r>
            <a:r>
              <a:rPr lang="en-US" altLang="ko-KR" sz="1400" dirty="0" err="1" smtClean="0"/>
              <a:t>args</a:t>
            </a:r>
            <a:r>
              <a:rPr lang="en-US" altLang="ko-KR" sz="1400" dirty="0" smtClean="0"/>
              <a:t>[1]);</a:t>
            </a:r>
          </a:p>
          <a:p>
            <a:pPr lvl="1" latinLnBrk="0"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</a:t>
            </a:r>
            <a:r>
              <a:rPr lang="en-US" altLang="ko-KR" sz="1400" dirty="0" err="1" smtClean="0"/>
              <a:t>args</a:t>
            </a:r>
            <a:r>
              <a:rPr lang="en-US" altLang="ko-KR" sz="1400" dirty="0" smtClean="0"/>
              <a:t>[2]);</a:t>
            </a:r>
          </a:p>
          <a:p>
            <a:pPr lvl="1" latinLnBrk="0">
              <a:buNone/>
            </a:pPr>
            <a:r>
              <a:rPr lang="en-US" altLang="ko-KR" sz="1400" dirty="0" smtClean="0"/>
              <a:t>    }</a:t>
            </a:r>
          </a:p>
          <a:p>
            <a:pPr lvl="1" latinLnBrk="0">
              <a:buNone/>
            </a:pPr>
            <a:r>
              <a:rPr lang="en-US" altLang="ko-KR" sz="1400" dirty="0" smtClean="0"/>
              <a:t>}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24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실</a:t>
            </a:r>
            <a:r>
              <a:rPr lang="ko-KR" altLang="en-US" dirty="0"/>
              <a:t>습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atinLnBrk="0">
              <a:buFont typeface="Wingdings" pitchFamily="2" charset="2"/>
              <a:buChar char="v"/>
            </a:pPr>
            <a:r>
              <a:rPr lang="ko-KR" altLang="en-US" sz="1600" dirty="0" smtClean="0"/>
              <a:t>결과</a:t>
            </a:r>
          </a:p>
          <a:p>
            <a:pPr lvl="1" latinLnBrk="0">
              <a:buNone/>
            </a:pPr>
            <a:r>
              <a:rPr lang="ko-KR" altLang="en-US" sz="1400" dirty="0" smtClean="0"/>
              <a:t>위와 같이 작성하고 컴파일 한 후</a:t>
            </a:r>
          </a:p>
          <a:p>
            <a:pPr lvl="1" latinLnBrk="0">
              <a:buNone/>
            </a:pPr>
            <a:r>
              <a:rPr lang="en-US" altLang="ko-KR" sz="1400" b="1" dirty="0" smtClean="0">
                <a:solidFill>
                  <a:srgbClr val="FF0000"/>
                </a:solidFill>
              </a:rPr>
              <a:t>java Third </a:t>
            </a:r>
            <a:r>
              <a:rPr lang="ko-KR" altLang="en-US" sz="1400" b="1" dirty="0" smtClean="0">
                <a:solidFill>
                  <a:srgbClr val="FF0000"/>
                </a:solidFill>
              </a:rPr>
              <a:t>우리나라 대한민국 </a:t>
            </a:r>
            <a:r>
              <a:rPr lang="en-US" altLang="ko-KR" sz="1400" b="1" dirty="0" smtClean="0">
                <a:solidFill>
                  <a:srgbClr val="FF0000"/>
                </a:solidFill>
              </a:rPr>
              <a:t>Korea</a:t>
            </a:r>
          </a:p>
          <a:p>
            <a:pPr lvl="1" latinLnBrk="0">
              <a:buNone/>
            </a:pPr>
            <a:r>
              <a:rPr lang="ko-KR" altLang="en-US" sz="1400" dirty="0" smtClean="0"/>
              <a:t>라고 </a:t>
            </a:r>
            <a:r>
              <a:rPr lang="en-US" altLang="ko-KR" sz="1400" dirty="0" smtClean="0"/>
              <a:t>console </a:t>
            </a:r>
            <a:r>
              <a:rPr lang="ko-KR" altLang="en-US" sz="1400" dirty="0" smtClean="0"/>
              <a:t>창에 입력하면 </a:t>
            </a:r>
          </a:p>
          <a:p>
            <a:pPr lvl="1" latinLnBrk="0">
              <a:buNone/>
            </a:pPr>
            <a:r>
              <a:rPr lang="ko-KR" altLang="en-US" sz="1400" b="1" dirty="0" smtClean="0">
                <a:solidFill>
                  <a:srgbClr val="FF0000"/>
                </a:solidFill>
              </a:rPr>
              <a:t>우리나라 </a:t>
            </a:r>
          </a:p>
          <a:p>
            <a:pPr lvl="1" latinLnBrk="0">
              <a:buNone/>
            </a:pPr>
            <a:r>
              <a:rPr lang="ko-KR" altLang="en-US" sz="1400" b="1" dirty="0" smtClean="0">
                <a:solidFill>
                  <a:srgbClr val="FF0000"/>
                </a:solidFill>
              </a:rPr>
              <a:t>대한민국 </a:t>
            </a:r>
          </a:p>
          <a:p>
            <a:pPr lvl="1" latinLnBrk="0">
              <a:buNone/>
            </a:pPr>
            <a:r>
              <a:rPr lang="en-US" altLang="ko-KR" sz="1400" b="1" dirty="0" smtClean="0">
                <a:solidFill>
                  <a:srgbClr val="FF0000"/>
                </a:solidFill>
              </a:rPr>
              <a:t>Korea </a:t>
            </a:r>
          </a:p>
          <a:p>
            <a:pPr lvl="1" latinLnBrk="0">
              <a:buNone/>
            </a:pPr>
            <a:r>
              <a:rPr lang="ko-KR" altLang="en-US" sz="1400" dirty="0" smtClean="0"/>
              <a:t>라고 화면에 출력될 것 입니다</a:t>
            </a:r>
            <a:r>
              <a:rPr lang="en-US" altLang="ko-KR" sz="1400" dirty="0" smtClean="0"/>
              <a:t>.</a:t>
            </a:r>
          </a:p>
          <a:p>
            <a:pPr lvl="1" latinLnBrk="0">
              <a:buNone/>
            </a:pPr>
            <a:r>
              <a:rPr lang="ko-KR" altLang="en-US" sz="1400" dirty="0" smtClean="0"/>
              <a:t>소스파일을 여러 번 작성해보고 기본적인 자바프로그램의 구조를 익히도록 합시다</a:t>
            </a:r>
            <a:r>
              <a:rPr lang="en-US" altLang="ko-KR" sz="1400" dirty="0" smtClean="0"/>
              <a:t>.</a:t>
            </a:r>
          </a:p>
          <a:p>
            <a:pPr lvl="1" latinLnBrk="0">
              <a:buNone/>
            </a:pPr>
            <a:r>
              <a:rPr lang="en-US" altLang="ko-KR" sz="1400" dirty="0" smtClean="0"/>
              <a:t>String </a:t>
            </a:r>
            <a:r>
              <a:rPr lang="en-US" altLang="ko-KR" sz="1400" dirty="0" err="1" smtClean="0"/>
              <a:t>args</a:t>
            </a:r>
            <a:r>
              <a:rPr lang="en-US" altLang="ko-KR" sz="1400" dirty="0" smtClean="0"/>
              <a:t>[]</a:t>
            </a:r>
            <a:r>
              <a:rPr lang="ko-KR" altLang="en-US" sz="1400" dirty="0" smtClean="0"/>
              <a:t>를 </a:t>
            </a:r>
            <a:r>
              <a:rPr lang="en-US" altLang="ko-KR" sz="1400" dirty="0" smtClean="0"/>
              <a:t>C</a:t>
            </a:r>
            <a:r>
              <a:rPr lang="ko-KR" altLang="en-US" sz="1400" dirty="0" smtClean="0"/>
              <a:t>나 </a:t>
            </a:r>
            <a:r>
              <a:rPr lang="en-US" altLang="ko-KR" sz="1400" dirty="0" smtClean="0"/>
              <a:t>C++</a:t>
            </a:r>
            <a:r>
              <a:rPr lang="ko-KR" altLang="en-US" sz="1400" dirty="0" smtClean="0"/>
              <a:t>에서는 </a:t>
            </a:r>
            <a:r>
              <a:rPr lang="en-US" altLang="ko-KR" sz="1400" dirty="0" smtClean="0"/>
              <a:t>argument</a:t>
            </a:r>
            <a:r>
              <a:rPr lang="ko-KR" altLang="en-US" sz="1400" dirty="0" smtClean="0"/>
              <a:t>가 없으면 생략해도 되지만 </a:t>
            </a:r>
            <a:endParaRPr lang="en-US" altLang="ko-KR" sz="1400" dirty="0" smtClean="0"/>
          </a:p>
          <a:p>
            <a:pPr lvl="1" latinLnBrk="0">
              <a:buNone/>
            </a:pPr>
            <a:r>
              <a:rPr lang="en-US" altLang="ko-KR" sz="1400" dirty="0" smtClean="0"/>
              <a:t>java</a:t>
            </a:r>
            <a:r>
              <a:rPr lang="ko-KR" altLang="en-US" sz="1400" dirty="0" smtClean="0"/>
              <a:t>에서는 생략하면 컴파일 시 에러는 없지만 실행이 되지 않을 것 입니다</a:t>
            </a:r>
            <a:r>
              <a:rPr lang="en-US" altLang="ko-KR" sz="1400" dirty="0" smtClean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25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8. </a:t>
            </a:r>
            <a:r>
              <a:rPr lang="ko-KR" altLang="en-US" dirty="0" smtClean="0"/>
              <a:t>자바 프로그램의 작성 규칙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atinLnBrk="0">
              <a:buFont typeface="Wingdings" pitchFamily="2" charset="2"/>
              <a:buChar char="v"/>
            </a:pPr>
            <a:r>
              <a:rPr lang="ko-KR" altLang="en-US" sz="1600" dirty="0" smtClean="0"/>
              <a:t>자바 프로그램은 반드시 하나 이상의 클래스로 구성되어야 합니다</a:t>
            </a:r>
            <a:r>
              <a:rPr lang="en-US" altLang="ko-KR" sz="1600" dirty="0" smtClean="0"/>
              <a:t>.</a:t>
            </a:r>
          </a:p>
          <a:p>
            <a:pPr latinLnBrk="0">
              <a:buFont typeface="Wingdings" pitchFamily="2" charset="2"/>
              <a:buChar char="v"/>
            </a:pPr>
            <a:r>
              <a:rPr lang="ko-KR" altLang="en-US" sz="1600" dirty="0" smtClean="0"/>
              <a:t>하나의 파일에 클래스의 개수는 제한이 없으며 일반적으로 클래스이름과 파일명이 같아야 하며 </a:t>
            </a:r>
            <a:r>
              <a:rPr lang="en-US" altLang="ko-KR" sz="1600" dirty="0" smtClean="0"/>
              <a:t>public </a:t>
            </a:r>
            <a:r>
              <a:rPr lang="ko-KR" altLang="en-US" sz="1600" dirty="0" smtClean="0"/>
              <a:t>클래스가 존재한다면 </a:t>
            </a:r>
            <a:r>
              <a:rPr lang="ko-KR" altLang="en-US" sz="1600" smtClean="0"/>
              <a:t>반드시 </a:t>
            </a:r>
            <a:r>
              <a:rPr lang="en-US" altLang="ko-KR" sz="1600" smtClean="0"/>
              <a:t>public</a:t>
            </a:r>
            <a:r>
              <a:rPr lang="ko-KR" altLang="en-US" sz="1600" smtClean="0"/>
              <a:t> </a:t>
            </a:r>
            <a:r>
              <a:rPr lang="ko-KR" altLang="en-US" sz="1600" dirty="0" smtClean="0"/>
              <a:t>클래스의 이름이 </a:t>
            </a:r>
            <a:r>
              <a:rPr lang="ko-KR" altLang="en-US" sz="1600" smtClean="0"/>
              <a:t>파일명이 </a:t>
            </a:r>
            <a:r>
              <a:rPr lang="ko-KR" altLang="en-US" sz="1600" smtClean="0"/>
              <a:t>되어</a:t>
            </a:r>
            <a:r>
              <a:rPr lang="ko-KR" altLang="en-US" sz="1600" smtClean="0"/>
              <a:t>야 </a:t>
            </a:r>
            <a:r>
              <a:rPr lang="ko-KR" altLang="en-US" sz="1600" smtClean="0"/>
              <a:t>하고 </a:t>
            </a:r>
            <a:r>
              <a:rPr lang="en-US" altLang="ko-KR" sz="1600" smtClean="0"/>
              <a:t>public </a:t>
            </a:r>
            <a:r>
              <a:rPr lang="ko-KR" altLang="en-US" sz="1600" smtClean="0"/>
              <a:t>클래스는 </a:t>
            </a:r>
            <a:r>
              <a:rPr lang="en-US" altLang="ko-KR" sz="1600" smtClean="0"/>
              <a:t>1</a:t>
            </a:r>
            <a:r>
              <a:rPr lang="ko-KR" altLang="en-US" sz="1600" smtClean="0"/>
              <a:t>개의 파일에 </a:t>
            </a:r>
            <a:r>
              <a:rPr lang="en-US" altLang="ko-KR" sz="1600" smtClean="0"/>
              <a:t>1</a:t>
            </a:r>
            <a:r>
              <a:rPr lang="ko-KR" altLang="en-US" sz="1600" smtClean="0"/>
              <a:t>개만 존재해야</a:t>
            </a:r>
            <a:r>
              <a:rPr lang="ko-KR" altLang="en-US" sz="1600" smtClean="0"/>
              <a:t> </a:t>
            </a:r>
            <a:r>
              <a:rPr lang="ko-KR" altLang="en-US" sz="1600" dirty="0" smtClean="0"/>
              <a:t>합니다</a:t>
            </a:r>
            <a:r>
              <a:rPr lang="en-US" altLang="ko-KR" sz="1600" dirty="0" smtClean="0"/>
              <a:t>.</a:t>
            </a:r>
          </a:p>
          <a:p>
            <a:pPr latinLnBrk="0">
              <a:buFont typeface="Wingdings" pitchFamily="2" charset="2"/>
              <a:buChar char="v"/>
            </a:pPr>
            <a:r>
              <a:rPr lang="ko-KR" altLang="en-US" sz="1600" dirty="0" smtClean="0"/>
              <a:t>소스 파일의 </a:t>
            </a:r>
            <a:r>
              <a:rPr lang="ko-KR" altLang="en-US" sz="1600" dirty="0" err="1" smtClean="0"/>
              <a:t>확장자는</a:t>
            </a:r>
            <a:r>
              <a:rPr lang="ko-KR" altLang="en-US" sz="1600" dirty="0" smtClean="0"/>
              <a:t> 반드시 </a:t>
            </a:r>
            <a:r>
              <a:rPr lang="en-US" altLang="ko-KR" sz="1600" dirty="0" smtClean="0"/>
              <a:t>.java </a:t>
            </a:r>
            <a:r>
              <a:rPr lang="ko-KR" altLang="en-US" sz="1600" dirty="0" smtClean="0"/>
              <a:t>이어야 합니다</a:t>
            </a:r>
            <a:r>
              <a:rPr lang="en-US" altLang="ko-KR" sz="1600" dirty="0" smtClean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26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9. Java </a:t>
            </a:r>
            <a:r>
              <a:rPr lang="ko-KR" altLang="en-US" dirty="0" smtClean="0"/>
              <a:t>프로그램구성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atinLnBrk="0">
              <a:buFont typeface="Wingdings" pitchFamily="2" charset="2"/>
              <a:buChar char="v"/>
            </a:pPr>
            <a:r>
              <a:rPr lang="ko-KR" altLang="en-US" sz="1600" dirty="0" err="1" smtClean="0"/>
              <a:t>예약어</a:t>
            </a:r>
            <a:r>
              <a:rPr lang="en-US" altLang="ko-KR" sz="1600" dirty="0" smtClean="0"/>
              <a:t>(Keyword)</a:t>
            </a:r>
          </a:p>
          <a:p>
            <a:pPr lvl="1" latinLnBrk="0">
              <a:buFont typeface="Wingdings" pitchFamily="2" charset="2"/>
              <a:buChar char="v"/>
            </a:pPr>
            <a:r>
              <a:rPr lang="ko-KR" altLang="en-US" sz="1400" dirty="0" smtClean="0"/>
              <a:t>자바 언어 자체가 사용하기 위해서 예약해 놓은 </a:t>
            </a:r>
            <a:r>
              <a:rPr lang="ko-KR" altLang="en-US" sz="1400" dirty="0" err="1" smtClean="0"/>
              <a:t>식별자</a:t>
            </a:r>
            <a:endParaRPr lang="ko-KR" altLang="en-US" sz="1400" dirty="0" smtClean="0"/>
          </a:p>
          <a:p>
            <a:pPr lvl="1" latinLnBrk="0">
              <a:buFont typeface="Wingdings" pitchFamily="2" charset="2"/>
              <a:buChar char="v"/>
            </a:pPr>
            <a:r>
              <a:rPr lang="en-US" altLang="ko-KR" sz="1400" dirty="0" smtClean="0"/>
              <a:t>ex) class, new, </a:t>
            </a:r>
            <a:r>
              <a:rPr lang="en-US" altLang="ko-KR" sz="1400" dirty="0" err="1" smtClean="0"/>
              <a:t>boolean</a:t>
            </a:r>
            <a:r>
              <a:rPr lang="en-US" altLang="ko-KR" sz="1400" dirty="0" smtClean="0"/>
              <a:t>, char, catch, if, else, for </a:t>
            </a:r>
            <a:r>
              <a:rPr lang="ko-KR" altLang="en-US" sz="1400" dirty="0" smtClean="0"/>
              <a:t>등</a:t>
            </a:r>
            <a:r>
              <a:rPr lang="en-US" altLang="ko-KR" sz="1400" dirty="0" smtClean="0"/>
              <a:t>(</a:t>
            </a:r>
            <a:r>
              <a:rPr lang="ko-KR" altLang="en-US" sz="1400" dirty="0" smtClean="0"/>
              <a:t>소문자로 시작함</a:t>
            </a:r>
            <a:r>
              <a:rPr lang="en-US" altLang="ko-KR" sz="1400" dirty="0" smtClean="0"/>
              <a:t>)</a:t>
            </a:r>
          </a:p>
          <a:p>
            <a:pPr lvl="1" latinLnBrk="0">
              <a:buFont typeface="Wingdings" pitchFamily="2" charset="2"/>
              <a:buChar char="v"/>
            </a:pPr>
            <a:r>
              <a:rPr lang="ko-KR" altLang="en-US" sz="1400" dirty="0" smtClean="0"/>
              <a:t>상수 </a:t>
            </a:r>
            <a:r>
              <a:rPr lang="ko-KR" altLang="en-US" sz="1400" dirty="0" err="1" smtClean="0"/>
              <a:t>예약어</a:t>
            </a:r>
            <a:r>
              <a:rPr lang="en-US" altLang="ko-KR" sz="1400" dirty="0" smtClean="0"/>
              <a:t>(false, true, null)</a:t>
            </a:r>
          </a:p>
          <a:p>
            <a:pPr latinLnBrk="0">
              <a:buFont typeface="Wingdings" pitchFamily="2" charset="2"/>
              <a:buChar char="v"/>
            </a:pPr>
            <a:r>
              <a:rPr lang="ko-KR" altLang="en-US" sz="1600" dirty="0" err="1" smtClean="0"/>
              <a:t>식별자</a:t>
            </a:r>
            <a:r>
              <a:rPr lang="en-US" altLang="ko-KR" sz="1600" dirty="0" smtClean="0"/>
              <a:t>(Identifier) </a:t>
            </a:r>
          </a:p>
          <a:p>
            <a:pPr lvl="1" latinLnBrk="0">
              <a:buFont typeface="Wingdings" pitchFamily="2" charset="2"/>
              <a:buChar char="v"/>
            </a:pPr>
            <a:r>
              <a:rPr lang="ko-KR" altLang="en-US" sz="1400" dirty="0" smtClean="0"/>
              <a:t>코드 내에서 프로그래머가 지정한 이름</a:t>
            </a:r>
          </a:p>
          <a:p>
            <a:pPr lvl="1" latinLnBrk="0">
              <a:buFont typeface="Wingdings" pitchFamily="2" charset="2"/>
              <a:buChar char="v"/>
            </a:pPr>
            <a:r>
              <a:rPr lang="ko-KR" altLang="en-US" sz="1400" dirty="0" smtClean="0"/>
              <a:t>*규칙</a:t>
            </a:r>
          </a:p>
          <a:p>
            <a:pPr lvl="1" latinLnBrk="0">
              <a:buFont typeface="Wingdings" pitchFamily="2" charset="2"/>
              <a:buChar char="v"/>
            </a:pPr>
            <a:r>
              <a:rPr lang="en-US" altLang="ko-KR" sz="1400" dirty="0" smtClean="0"/>
              <a:t>=&gt; </a:t>
            </a:r>
            <a:r>
              <a:rPr lang="ko-KR" altLang="en-US" sz="1400" dirty="0" smtClean="0"/>
              <a:t>식별자의 첫 번째는 반드시 문자이어야 합니다</a:t>
            </a:r>
          </a:p>
          <a:p>
            <a:pPr lvl="1" latinLnBrk="0">
              <a:buNone/>
            </a:pPr>
            <a:r>
              <a:rPr lang="en-US" altLang="ko-KR" sz="1400" dirty="0" smtClean="0"/>
              <a:t>(</a:t>
            </a:r>
            <a:r>
              <a:rPr lang="ko-KR" altLang="en-US" sz="1400" dirty="0" smtClean="0"/>
              <a:t>그 다음부터 숫자와 문자</a:t>
            </a:r>
            <a:r>
              <a:rPr lang="en-US" altLang="ko-KR" sz="1400" dirty="0" smtClean="0"/>
              <a:t>(</a:t>
            </a:r>
            <a:r>
              <a:rPr lang="ko-KR" altLang="en-US" sz="1400" dirty="0" smtClean="0"/>
              <a:t>한글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영문</a:t>
            </a:r>
            <a:r>
              <a:rPr lang="en-US" altLang="ko-KR" sz="1400" dirty="0" smtClean="0"/>
              <a:t>) </a:t>
            </a:r>
            <a:r>
              <a:rPr lang="ko-KR" altLang="en-US" sz="1400" dirty="0" smtClean="0"/>
              <a:t>혼합가능</a:t>
            </a:r>
            <a:r>
              <a:rPr lang="en-US" altLang="ko-KR" sz="1400" dirty="0" smtClean="0"/>
              <a:t>)</a:t>
            </a:r>
          </a:p>
          <a:p>
            <a:pPr lvl="1" latinLnBrk="0">
              <a:buFont typeface="Wingdings" pitchFamily="2" charset="2"/>
              <a:buChar char="v"/>
            </a:pPr>
            <a:r>
              <a:rPr lang="en-US" altLang="ko-KR" sz="1400" dirty="0" smtClean="0"/>
              <a:t>=&gt; _(</a:t>
            </a:r>
            <a:r>
              <a:rPr lang="ko-KR" altLang="en-US" sz="1400" dirty="0" err="1" smtClean="0"/>
              <a:t>언더스코어</a:t>
            </a:r>
            <a:r>
              <a:rPr lang="en-US" altLang="ko-KR" sz="1400" dirty="0" smtClean="0"/>
              <a:t>),$,? </a:t>
            </a:r>
            <a:r>
              <a:rPr lang="ko-KR" altLang="en-US" sz="1400" dirty="0" smtClean="0"/>
              <a:t>만은 예외적으로 식별자로 사용가능</a:t>
            </a:r>
          </a:p>
          <a:p>
            <a:pPr lvl="1" latinLnBrk="0">
              <a:buFont typeface="Wingdings" pitchFamily="2" charset="2"/>
              <a:buChar char="v"/>
            </a:pPr>
            <a:r>
              <a:rPr lang="en-US" altLang="ko-KR" sz="1400" dirty="0" smtClean="0"/>
              <a:t>=&gt; </a:t>
            </a:r>
            <a:r>
              <a:rPr lang="ko-KR" altLang="en-US" sz="1400" dirty="0" err="1" smtClean="0"/>
              <a:t>예약어</a:t>
            </a:r>
            <a:r>
              <a:rPr lang="en-US" altLang="ko-KR" sz="1400" dirty="0" smtClean="0"/>
              <a:t>(char, </a:t>
            </a:r>
            <a:r>
              <a:rPr lang="en-US" altLang="ko-KR" sz="1400" dirty="0" err="1" smtClean="0"/>
              <a:t>int</a:t>
            </a:r>
            <a:r>
              <a:rPr lang="en-US" altLang="ko-KR" sz="1400" dirty="0" smtClean="0"/>
              <a:t>, class </a:t>
            </a:r>
            <a:r>
              <a:rPr lang="ko-KR" altLang="en-US" sz="1400" dirty="0" smtClean="0"/>
              <a:t>등</a:t>
            </a:r>
            <a:r>
              <a:rPr lang="en-US" altLang="ko-KR" sz="1400" dirty="0" smtClean="0"/>
              <a:t>)</a:t>
            </a:r>
            <a:r>
              <a:rPr lang="ko-KR" altLang="en-US" sz="1400" dirty="0" smtClean="0"/>
              <a:t>는 </a:t>
            </a:r>
            <a:r>
              <a:rPr lang="ko-KR" altLang="en-US" sz="1400" smtClean="0"/>
              <a:t>식별자로 </a:t>
            </a:r>
            <a:r>
              <a:rPr lang="ko-KR" altLang="en-US" sz="1400" smtClean="0"/>
              <a:t>불가능</a:t>
            </a:r>
            <a:endParaRPr lang="en-US" altLang="ko-KR" sz="1400" smtClean="0"/>
          </a:p>
          <a:p>
            <a:pPr lvl="1" latinLnBrk="0">
              <a:buFont typeface="Wingdings" pitchFamily="2" charset="2"/>
              <a:buChar char="v"/>
            </a:pPr>
            <a:r>
              <a:rPr lang="ko-KR" altLang="en-US" sz="1400" smtClean="0"/>
              <a:t>클래</a:t>
            </a:r>
            <a:r>
              <a:rPr lang="ko-KR" altLang="en-US" sz="1400" smtClean="0"/>
              <a:t>스 </a:t>
            </a:r>
            <a:r>
              <a:rPr lang="ko-KR" altLang="en-US" sz="1400" smtClean="0"/>
              <a:t>이름은 대문자로 시작</a:t>
            </a:r>
            <a:endParaRPr lang="en-US" altLang="ko-KR" sz="1400" smtClean="0"/>
          </a:p>
          <a:p>
            <a:pPr lvl="1" latinLnBrk="0">
              <a:buFont typeface="Wingdings" pitchFamily="2" charset="2"/>
              <a:buChar char="v"/>
            </a:pPr>
            <a:r>
              <a:rPr lang="ko-KR" altLang="en-US" sz="1400" smtClean="0"/>
              <a:t>메소</a:t>
            </a:r>
            <a:r>
              <a:rPr lang="ko-KR" altLang="en-US" sz="1400" smtClean="0"/>
              <a:t>드 </a:t>
            </a:r>
            <a:r>
              <a:rPr lang="ko-KR" altLang="en-US" sz="1400" smtClean="0"/>
              <a:t>이름은 소문자로 작성하되 두번째 단어부터는 대문자로 시작</a:t>
            </a:r>
            <a:endParaRPr lang="en-US" altLang="ko-KR" sz="1400" smtClean="0"/>
          </a:p>
          <a:p>
            <a:pPr lvl="1" latinLnBrk="0">
              <a:buFont typeface="Wingdings" pitchFamily="2" charset="2"/>
              <a:buChar char="v"/>
            </a:pPr>
            <a:r>
              <a:rPr lang="ko-KR" altLang="en-US" sz="1400" smtClean="0"/>
              <a:t>변수</a:t>
            </a:r>
            <a:r>
              <a:rPr lang="ko-KR" altLang="en-US" sz="1400" smtClean="0"/>
              <a:t>의 </a:t>
            </a:r>
            <a:r>
              <a:rPr lang="ko-KR" altLang="en-US" sz="1400" smtClean="0"/>
              <a:t>이름은 소문자로 작성하되 두번째 단어부터는 대문자로 시작하고 </a:t>
            </a:r>
            <a:r>
              <a:rPr lang="en-US" altLang="ko-KR" sz="1400" smtClean="0"/>
              <a:t>static final</a:t>
            </a:r>
            <a:r>
              <a:rPr lang="ko-KR" altLang="en-US" sz="1400" smtClean="0"/>
              <a:t>은 모두 대문자</a:t>
            </a:r>
            <a:endParaRPr lang="ko-KR" altLang="en-US" sz="14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27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9. Java </a:t>
            </a:r>
            <a:r>
              <a:rPr lang="ko-KR" altLang="en-US" dirty="0" smtClean="0"/>
              <a:t>프로그램구성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atinLnBrk="0">
              <a:buFont typeface="Wingdings" pitchFamily="2" charset="2"/>
              <a:buChar char="v"/>
            </a:pPr>
            <a:r>
              <a:rPr lang="ko-KR" altLang="en-US" sz="1600" smtClean="0"/>
              <a:t>상수</a:t>
            </a:r>
            <a:endParaRPr lang="ko-KR" altLang="en-US" sz="1600" dirty="0" smtClean="0"/>
          </a:p>
          <a:p>
            <a:pPr lvl="1" latinLnBrk="0">
              <a:buFont typeface="Wingdings" pitchFamily="2" charset="2"/>
              <a:buChar char="v"/>
            </a:pPr>
            <a:r>
              <a:rPr lang="ko-KR" altLang="en-US" sz="1400" dirty="0" smtClean="0"/>
              <a:t>변하지 않는 값</a:t>
            </a:r>
          </a:p>
          <a:p>
            <a:pPr lvl="1" latinLnBrk="0">
              <a:buFont typeface="Wingdings" pitchFamily="2" charset="2"/>
              <a:buChar char="v"/>
            </a:pPr>
            <a:r>
              <a:rPr lang="ko-KR" altLang="en-US" sz="1400" dirty="0" smtClean="0"/>
              <a:t>논리형 상수  </a:t>
            </a:r>
            <a:r>
              <a:rPr lang="en-US" altLang="ko-KR" sz="1400" dirty="0" smtClean="0"/>
              <a:t>-true, false</a:t>
            </a:r>
          </a:p>
          <a:p>
            <a:pPr lvl="1" latinLnBrk="0">
              <a:buFont typeface="Wingdings" pitchFamily="2" charset="2"/>
              <a:buChar char="v"/>
            </a:pPr>
            <a:r>
              <a:rPr lang="ko-KR" altLang="en-US" sz="1400" dirty="0" smtClean="0"/>
              <a:t>문자형 상수 </a:t>
            </a:r>
            <a:r>
              <a:rPr lang="en-US" altLang="ko-KR" sz="1400" dirty="0" smtClean="0"/>
              <a:t>–“”.’’</a:t>
            </a:r>
          </a:p>
          <a:p>
            <a:pPr lvl="1" latinLnBrk="0">
              <a:buFont typeface="Wingdings" pitchFamily="2" charset="2"/>
              <a:buChar char="v"/>
            </a:pPr>
            <a:r>
              <a:rPr lang="ko-KR" altLang="en-US" sz="1400" dirty="0" smtClean="0"/>
              <a:t>정수형 상수 </a:t>
            </a:r>
            <a:r>
              <a:rPr lang="en-US" altLang="ko-KR" sz="1400" dirty="0" smtClean="0"/>
              <a:t>–</a:t>
            </a:r>
            <a:r>
              <a:rPr lang="ko-KR" altLang="en-US" sz="1400" dirty="0" smtClean="0"/>
              <a:t>일반적으로 </a:t>
            </a:r>
            <a:r>
              <a:rPr lang="en-US" altLang="ko-KR" sz="1400" dirty="0" smtClean="0"/>
              <a:t>10</a:t>
            </a:r>
            <a:r>
              <a:rPr lang="ko-KR" altLang="en-US" sz="1400" dirty="0" smtClean="0"/>
              <a:t>진정수</a:t>
            </a:r>
            <a:r>
              <a:rPr lang="en-US" altLang="ko-KR" sz="1400" dirty="0" smtClean="0"/>
              <a:t>, 16</a:t>
            </a:r>
            <a:r>
              <a:rPr lang="ko-KR" altLang="en-US" sz="1400" dirty="0" smtClean="0"/>
              <a:t>진수</a:t>
            </a:r>
            <a:r>
              <a:rPr lang="en-US" altLang="ko-KR" sz="1400" dirty="0" smtClean="0"/>
              <a:t>(0xa4), 8</a:t>
            </a:r>
            <a:r>
              <a:rPr lang="ko-KR" altLang="en-US" sz="1400" dirty="0" smtClean="0"/>
              <a:t>진수</a:t>
            </a:r>
            <a:r>
              <a:rPr lang="en-US" altLang="ko-KR" sz="1400" dirty="0" smtClean="0"/>
              <a:t>(030)</a:t>
            </a:r>
            <a:r>
              <a:rPr lang="ko-KR" altLang="en-US" sz="1400" dirty="0" smtClean="0"/>
              <a:t>으로 지정가능</a:t>
            </a:r>
          </a:p>
          <a:p>
            <a:pPr lvl="1" latinLnBrk="0">
              <a:buFont typeface="Wingdings" pitchFamily="2" charset="2"/>
              <a:buChar char="v"/>
            </a:pPr>
            <a:r>
              <a:rPr lang="ko-KR" altLang="en-US" sz="1400" dirty="0" err="1" smtClean="0"/>
              <a:t>실수형</a:t>
            </a:r>
            <a:r>
              <a:rPr lang="ko-KR" altLang="en-US" sz="1400" dirty="0" smtClean="0"/>
              <a:t> 상수</a:t>
            </a:r>
            <a:r>
              <a:rPr lang="en-US" altLang="ko-KR" sz="1400" dirty="0" smtClean="0"/>
              <a:t>- </a:t>
            </a:r>
          </a:p>
          <a:p>
            <a:pPr lvl="1" latinLnBrk="0">
              <a:buFont typeface="Wingdings" pitchFamily="2" charset="2"/>
              <a:buChar char="v"/>
            </a:pPr>
            <a:r>
              <a:rPr lang="ko-KR" altLang="en-US" sz="1400" dirty="0" err="1" smtClean="0"/>
              <a:t>레퍼런스</a:t>
            </a:r>
            <a:r>
              <a:rPr lang="ko-KR" altLang="en-US" sz="1400" dirty="0" smtClean="0"/>
              <a:t> 상수 </a:t>
            </a:r>
            <a:r>
              <a:rPr lang="en-US" altLang="ko-KR" sz="1400" dirty="0" smtClean="0"/>
              <a:t>- null</a:t>
            </a:r>
            <a:r>
              <a:rPr lang="ko-KR" altLang="en-US" sz="1400" dirty="0" smtClean="0"/>
              <a:t>이 있음</a:t>
            </a:r>
            <a:r>
              <a:rPr lang="en-US" altLang="ko-KR" sz="1400" dirty="0" smtClean="0"/>
              <a:t>(</a:t>
            </a:r>
            <a:r>
              <a:rPr lang="ko-KR" altLang="en-US" sz="1400" dirty="0" smtClean="0"/>
              <a:t>숫자로 </a:t>
            </a:r>
            <a:r>
              <a:rPr lang="en-US" altLang="ko-KR" sz="1400" dirty="0" smtClean="0"/>
              <a:t>0</a:t>
            </a:r>
            <a:r>
              <a:rPr lang="ko-KR" altLang="en-US" sz="1400" dirty="0" smtClean="0"/>
              <a:t>이 해당</a:t>
            </a:r>
            <a:r>
              <a:rPr lang="en-US" altLang="ko-KR" sz="1400" dirty="0" smtClean="0"/>
              <a:t>, </a:t>
            </a:r>
            <a:r>
              <a:rPr lang="ko-KR" altLang="en-US" sz="1400" dirty="0" err="1" smtClean="0"/>
              <a:t>레퍼런스</a:t>
            </a:r>
            <a:r>
              <a:rPr lang="ko-KR" altLang="en-US" sz="1400" dirty="0" smtClean="0"/>
              <a:t> 변수는 현재 아무것도 </a:t>
            </a:r>
            <a:r>
              <a:rPr lang="ko-KR" altLang="en-US" sz="1400" dirty="0" err="1" smtClean="0"/>
              <a:t>가르키고</a:t>
            </a:r>
            <a:r>
              <a:rPr lang="ko-KR" altLang="en-US" sz="1400" dirty="0" smtClean="0"/>
              <a:t> 있지 않는다는 </a:t>
            </a:r>
            <a:r>
              <a:rPr lang="ko-KR" altLang="en-US" sz="1400" smtClean="0"/>
              <a:t>의미</a:t>
            </a:r>
            <a:r>
              <a:rPr lang="en-US" altLang="ko-KR" sz="1400" smtClean="0"/>
              <a:t>)</a:t>
            </a:r>
          </a:p>
          <a:p>
            <a:pPr latinLnBrk="0">
              <a:buFont typeface="Wingdings" pitchFamily="2" charset="2"/>
              <a:buChar char="v"/>
            </a:pPr>
            <a:r>
              <a:rPr lang="ko-KR" altLang="en-US" sz="1600" smtClean="0"/>
              <a:t>변수</a:t>
            </a:r>
            <a:r>
              <a:rPr lang="en-US" altLang="ko-KR" sz="1600" smtClean="0"/>
              <a:t>(Variable)</a:t>
            </a:r>
          </a:p>
          <a:p>
            <a:pPr lvl="1" latinLnBrk="0">
              <a:buFont typeface="Wingdings" pitchFamily="2" charset="2"/>
              <a:buChar char="v"/>
            </a:pPr>
            <a:r>
              <a:rPr lang="ko-KR" altLang="en-US" sz="1400" smtClean="0"/>
              <a:t>상수 또는 값</a:t>
            </a:r>
            <a:r>
              <a:rPr lang="en-US" altLang="ko-KR" sz="1400" smtClean="0"/>
              <a:t>(</a:t>
            </a:r>
            <a:r>
              <a:rPr lang="ko-KR" altLang="en-US" sz="1400" smtClean="0"/>
              <a:t>정수</a:t>
            </a:r>
            <a:r>
              <a:rPr lang="en-US" altLang="ko-KR" sz="1400" smtClean="0"/>
              <a:t>, </a:t>
            </a:r>
            <a:r>
              <a:rPr lang="ko-KR" altLang="en-US" sz="1400" smtClean="0"/>
              <a:t>실수</a:t>
            </a:r>
            <a:r>
              <a:rPr lang="en-US" altLang="ko-KR" sz="1400" smtClean="0"/>
              <a:t>, </a:t>
            </a:r>
            <a:r>
              <a:rPr lang="ko-KR" altLang="en-US" sz="1400" smtClean="0"/>
              <a:t>문자</a:t>
            </a:r>
            <a:r>
              <a:rPr lang="en-US" altLang="ko-KR" sz="1400" smtClean="0"/>
              <a:t>, </a:t>
            </a:r>
            <a:r>
              <a:rPr lang="ko-KR" altLang="en-US" sz="1400" smtClean="0"/>
              <a:t>문자열</a:t>
            </a:r>
            <a:r>
              <a:rPr lang="en-US" altLang="ko-KR" sz="1400" smtClean="0"/>
              <a:t>)</a:t>
            </a:r>
            <a:r>
              <a:rPr lang="ko-KR" altLang="en-US" sz="1400" smtClean="0"/>
              <a:t>를 담아 놓을 때 사용하는 메모리 상의 이름으로 변수는 항상 선언된 후에 사용을 해야 합니다</a:t>
            </a:r>
            <a:r>
              <a:rPr lang="en-US" altLang="ko-KR" sz="1400" smtClean="0"/>
              <a:t>.</a:t>
            </a:r>
          </a:p>
          <a:p>
            <a:pPr lvl="1" latinLnBrk="0">
              <a:buFont typeface="Wingdings" pitchFamily="2" charset="2"/>
              <a:buChar char="v"/>
            </a:pPr>
            <a:endParaRPr lang="en-US" altLang="ko-KR" sz="1400" smtClean="0"/>
          </a:p>
          <a:p>
            <a:pPr marL="342900" lvl="1" indent="-342900" latinLnBrk="0">
              <a:buFont typeface="Wingdings" pitchFamily="2" charset="2"/>
              <a:buChar char="v"/>
            </a:pPr>
            <a:r>
              <a:rPr lang="ko-KR" altLang="en-US" sz="1600" smtClean="0"/>
              <a:t>연산자</a:t>
            </a:r>
            <a:r>
              <a:rPr lang="en-US" altLang="ko-KR" sz="1600" smtClean="0"/>
              <a:t>(Operator)</a:t>
            </a:r>
            <a:r>
              <a:rPr lang="ko-KR" altLang="en-US" sz="1600" smtClean="0"/>
              <a:t> 산술</a:t>
            </a:r>
            <a:r>
              <a:rPr lang="en-US" altLang="ko-KR" sz="1600" smtClean="0"/>
              <a:t>, </a:t>
            </a:r>
            <a:r>
              <a:rPr lang="ko-KR" altLang="en-US" sz="1600" smtClean="0"/>
              <a:t>논리 연산을 수행하게 하는 부호 또는 명령어 </a:t>
            </a:r>
            <a:endParaRPr lang="en-US" altLang="ko-KR" sz="1600" smtClean="0"/>
          </a:p>
          <a:p>
            <a:pPr marL="342900" lvl="1" indent="-342900" latinLnBrk="0">
              <a:buFont typeface="Wingdings" pitchFamily="2" charset="2"/>
              <a:buChar char="v"/>
            </a:pPr>
            <a:endParaRPr lang="ko-KR" altLang="en-US" sz="1600" smtClean="0"/>
          </a:p>
          <a:p>
            <a:pPr latinLnBrk="0">
              <a:buFont typeface="Wingdings" pitchFamily="2" charset="2"/>
              <a:buChar char="v"/>
            </a:pPr>
            <a:r>
              <a:rPr lang="ko-KR" altLang="en-US" sz="1600" smtClean="0"/>
              <a:t>주석</a:t>
            </a:r>
            <a:r>
              <a:rPr lang="en-US" altLang="ko-KR" sz="1600" smtClean="0"/>
              <a:t>(comment): </a:t>
            </a:r>
            <a:r>
              <a:rPr lang="ko-KR" altLang="en-US" sz="1600" smtClean="0"/>
              <a:t>보충설명</a:t>
            </a:r>
            <a:r>
              <a:rPr lang="en-US" altLang="ko-KR" sz="1600" smtClean="0"/>
              <a:t>, // </a:t>
            </a:r>
            <a:r>
              <a:rPr lang="ko-KR" altLang="en-US" sz="1600" smtClean="0"/>
              <a:t>한 줄 주석</a:t>
            </a:r>
            <a:r>
              <a:rPr lang="en-US" altLang="ko-KR" sz="1600" smtClean="0"/>
              <a:t>, /*  */ </a:t>
            </a:r>
            <a:r>
              <a:rPr lang="ko-KR" altLang="en-US" sz="1600" smtClean="0"/>
              <a:t>여러 </a:t>
            </a:r>
            <a:r>
              <a:rPr lang="ko-KR" altLang="en-US" sz="1600" smtClean="0"/>
              <a:t>줄 </a:t>
            </a:r>
            <a:r>
              <a:rPr lang="ko-KR" altLang="en-US" sz="1600" smtClean="0"/>
              <a:t>주석을 작성할 때 사용하며 </a:t>
            </a:r>
            <a:endParaRPr lang="en-US" altLang="ko-KR" sz="1600" smtClean="0"/>
          </a:p>
          <a:p>
            <a:pPr latinLnBrk="0">
              <a:buNone/>
            </a:pPr>
            <a:r>
              <a:rPr lang="en-US" altLang="ko-KR" sz="1600" smtClean="0"/>
              <a:t>/** ~ */ </a:t>
            </a:r>
            <a:r>
              <a:rPr lang="ko-KR" altLang="en-US" sz="1600" smtClean="0"/>
              <a:t>사용자의 </a:t>
            </a:r>
            <a:r>
              <a:rPr lang="en-US" altLang="ko-KR" sz="1600" smtClean="0"/>
              <a:t>Document</a:t>
            </a:r>
            <a:r>
              <a:rPr lang="ko-KR" altLang="en-US" sz="1600" smtClean="0"/>
              <a:t>를 만들 때 입력되는 주석</a:t>
            </a:r>
            <a:endParaRPr lang="ko-KR" altLang="en-US" sz="1600" smtClean="0"/>
          </a:p>
          <a:p>
            <a:pPr latinLnBrk="0">
              <a:buFont typeface="Wingdings" pitchFamily="2" charset="2"/>
              <a:buChar char="v"/>
            </a:pPr>
            <a:endParaRPr lang="en-US" altLang="ko-KR" sz="1600" smtClean="0"/>
          </a:p>
          <a:p>
            <a:pPr lvl="1" latinLnBrk="0">
              <a:buFont typeface="Wingdings" pitchFamily="2" charset="2"/>
              <a:buChar char="v"/>
            </a:pPr>
            <a:endParaRPr lang="en-US" altLang="ko-KR" sz="14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28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10. </a:t>
            </a:r>
            <a:r>
              <a:rPr lang="ko-KR" altLang="en-US" dirty="0" smtClean="0"/>
              <a:t>자바 개발 도구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atinLnBrk="0"/>
            <a:r>
              <a:rPr lang="en-US" altLang="ko-KR" sz="1900" dirty="0" smtClean="0"/>
              <a:t>javac.exe : </a:t>
            </a:r>
            <a:r>
              <a:rPr lang="ko-KR" altLang="en-US" sz="1900" dirty="0" smtClean="0"/>
              <a:t>컴파일</a:t>
            </a:r>
          </a:p>
          <a:p>
            <a:pPr latinLnBrk="0"/>
            <a:endParaRPr lang="ko-KR" altLang="en-US" sz="1900" dirty="0" smtClean="0"/>
          </a:p>
          <a:p>
            <a:pPr latinLnBrk="0"/>
            <a:r>
              <a:rPr lang="en-US" altLang="ko-KR" sz="1900" dirty="0" smtClean="0"/>
              <a:t>java.exe: </a:t>
            </a:r>
            <a:r>
              <a:rPr lang="ko-KR" altLang="en-US" sz="1900" dirty="0" smtClean="0"/>
              <a:t>실행</a:t>
            </a:r>
          </a:p>
          <a:p>
            <a:pPr latinLnBrk="0"/>
            <a:endParaRPr lang="ko-KR" altLang="en-US" sz="1900" dirty="0" smtClean="0"/>
          </a:p>
          <a:p>
            <a:pPr latinLnBrk="0"/>
            <a:r>
              <a:rPr lang="en-US" altLang="ko-KR" sz="1900" dirty="0" smtClean="0"/>
              <a:t>javap.exe : </a:t>
            </a:r>
            <a:r>
              <a:rPr lang="ko-KR" altLang="en-US" sz="1900" dirty="0" err="1" smtClean="0"/>
              <a:t>역어셈블러</a:t>
            </a:r>
            <a:r>
              <a:rPr lang="en-US" altLang="ko-KR" sz="1900" dirty="0" smtClean="0"/>
              <a:t>(</a:t>
            </a:r>
            <a:r>
              <a:rPr lang="ko-KR" altLang="en-US" sz="1900" dirty="0" smtClean="0"/>
              <a:t>컴파일 된 클래스 파일을 원래의 소스로 변환</a:t>
            </a:r>
            <a:r>
              <a:rPr lang="en-US" altLang="ko-KR" sz="1900" dirty="0" smtClean="0"/>
              <a:t>)</a:t>
            </a:r>
          </a:p>
          <a:p>
            <a:pPr lvl="1" latinLnBrk="0"/>
            <a:r>
              <a:rPr lang="en-US" altLang="ko-KR" sz="1500" dirty="0" err="1" smtClean="0"/>
              <a:t>javap</a:t>
            </a:r>
            <a:r>
              <a:rPr lang="en-US" altLang="ko-KR" sz="1500" dirty="0" smtClean="0"/>
              <a:t> </a:t>
            </a:r>
            <a:r>
              <a:rPr lang="ko-KR" altLang="en-US" sz="1500" dirty="0" smtClean="0"/>
              <a:t>클래스이름 </a:t>
            </a:r>
            <a:r>
              <a:rPr lang="en-US" altLang="ko-KR" sz="1500" dirty="0" smtClean="0"/>
              <a:t>&gt; </a:t>
            </a:r>
            <a:r>
              <a:rPr lang="ko-KR" altLang="en-US" sz="1500" dirty="0" smtClean="0"/>
              <a:t>소스파일명</a:t>
            </a:r>
          </a:p>
          <a:p>
            <a:pPr latinLnBrk="0"/>
            <a:endParaRPr lang="ko-KR" altLang="en-US" sz="1900" dirty="0" smtClean="0"/>
          </a:p>
          <a:p>
            <a:pPr latinLnBrk="0"/>
            <a:r>
              <a:rPr lang="en-US" altLang="ko-KR" sz="1900" dirty="0" smtClean="0"/>
              <a:t>javadoc.exe : java </a:t>
            </a:r>
            <a:r>
              <a:rPr lang="en-US" altLang="ko-KR" sz="1900" dirty="0" err="1" smtClean="0"/>
              <a:t>api</a:t>
            </a:r>
            <a:r>
              <a:rPr lang="en-US" altLang="ko-KR" sz="1900" dirty="0" smtClean="0"/>
              <a:t> </a:t>
            </a:r>
            <a:r>
              <a:rPr lang="ko-KR" altLang="en-US" sz="1900" dirty="0" smtClean="0"/>
              <a:t>문서와 같은 형식의 문서를 생성</a:t>
            </a:r>
            <a:r>
              <a:rPr lang="en-US" altLang="ko-KR" sz="1900" dirty="0" smtClean="0"/>
              <a:t>(public class </a:t>
            </a:r>
            <a:r>
              <a:rPr lang="ko-KR" altLang="en-US" sz="1900" dirty="0" smtClean="0"/>
              <a:t>만 가능</a:t>
            </a:r>
            <a:r>
              <a:rPr lang="en-US" altLang="ko-KR" sz="1900" dirty="0" smtClean="0"/>
              <a:t>)</a:t>
            </a:r>
            <a:endParaRPr lang="ko-KR" altLang="en-US" sz="1900" dirty="0" smtClean="0"/>
          </a:p>
          <a:p>
            <a:pPr lvl="1" latinLnBrk="0"/>
            <a:r>
              <a:rPr lang="en-US" altLang="ko-KR" sz="1500" dirty="0" err="1" smtClean="0"/>
              <a:t>javadoc</a:t>
            </a:r>
            <a:r>
              <a:rPr lang="en-US" altLang="ko-KR" sz="1500" dirty="0" smtClean="0"/>
              <a:t> </a:t>
            </a:r>
            <a:r>
              <a:rPr lang="ko-KR" altLang="en-US" sz="1500" dirty="0" smtClean="0"/>
              <a:t>소스파일명</a:t>
            </a:r>
          </a:p>
          <a:p>
            <a:pPr latinLnBrk="0"/>
            <a:endParaRPr lang="ko-KR" altLang="en-US" sz="1900" dirty="0" smtClean="0"/>
          </a:p>
          <a:p>
            <a:pPr latinLnBrk="0"/>
            <a:r>
              <a:rPr lang="en-US" altLang="ko-KR" sz="1900" dirty="0" smtClean="0"/>
              <a:t>jar.exe : </a:t>
            </a:r>
            <a:r>
              <a:rPr lang="ko-KR" altLang="en-US" sz="1900" dirty="0" smtClean="0"/>
              <a:t>압축을 하거나 압축을 해제할 때 사용</a:t>
            </a:r>
          </a:p>
          <a:p>
            <a:pPr lvl="1" latinLnBrk="0"/>
            <a:r>
              <a:rPr lang="en-US" altLang="ko-KR" sz="1500" dirty="0" smtClean="0"/>
              <a:t>jar </a:t>
            </a:r>
            <a:r>
              <a:rPr lang="en-US" altLang="ko-KR" sz="1500" dirty="0" err="1" smtClean="0"/>
              <a:t>cvf</a:t>
            </a:r>
            <a:r>
              <a:rPr lang="en-US" altLang="ko-KR" sz="1500" dirty="0" smtClean="0"/>
              <a:t> </a:t>
            </a:r>
            <a:r>
              <a:rPr lang="ko-KR" altLang="en-US" sz="1500" dirty="0" smtClean="0"/>
              <a:t>압축 파일명 압축파일 리스트</a:t>
            </a:r>
          </a:p>
          <a:p>
            <a:pPr lvl="1" latinLnBrk="0"/>
            <a:r>
              <a:rPr lang="en-US" altLang="ko-KR" sz="1500" dirty="0" smtClean="0"/>
              <a:t>jar </a:t>
            </a:r>
            <a:r>
              <a:rPr lang="en-US" altLang="ko-KR" sz="1500" dirty="0" err="1" smtClean="0"/>
              <a:t>xvf</a:t>
            </a:r>
            <a:r>
              <a:rPr lang="en-US" altLang="ko-KR" sz="1500" dirty="0" smtClean="0"/>
              <a:t> </a:t>
            </a:r>
            <a:r>
              <a:rPr lang="ko-KR" altLang="en-US" sz="1500" dirty="0" smtClean="0"/>
              <a:t>압축 파일명</a:t>
            </a:r>
          </a:p>
          <a:p>
            <a:pPr latinLnBrk="0"/>
            <a:endParaRPr lang="en-US" altLang="ko-KR" sz="18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29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228C8-B77E-4944-8746-E58B81B36BF0}" type="slidenum">
              <a:rPr lang="ko-KR" altLang="en-US"/>
              <a:pPr/>
              <a:t>30</a:t>
            </a:fld>
            <a:endParaRPr lang="ko-KR" altLang="en-US"/>
          </a:p>
        </p:txBody>
      </p:sp>
      <p:sp>
        <p:nvSpPr>
          <p:cNvPr id="211970" name="Text Box 2"/>
          <p:cNvSpPr txBox="1">
            <a:spLocks noChangeArrowheads="1"/>
          </p:cNvSpPr>
          <p:nvPr/>
        </p:nvSpPr>
        <p:spPr bwMode="auto">
          <a:xfrm>
            <a:off x="755576" y="1844824"/>
            <a:ext cx="73914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eaLnBrk="1" latinLnBrk="1" hangingPunct="1">
              <a:buSzPct val="50000"/>
              <a:buFont typeface="Wingdings" pitchFamily="2" charset="2"/>
              <a:buChar char="l"/>
            </a:pPr>
            <a:r>
              <a:rPr lang="ko-KR" altLang="en-US" sz="16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자바에서 </a:t>
            </a:r>
            <a:r>
              <a:rPr lang="en-US" altLang="ko-KR" sz="16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jar.exe</a:t>
            </a:r>
            <a:r>
              <a:rPr lang="ko-KR" altLang="en-US" sz="16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는 파일을 압축 또는 푸는 </a:t>
            </a:r>
            <a:r>
              <a:rPr lang="ko-KR" altLang="en-US" sz="16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도구</a:t>
            </a:r>
            <a:endParaRPr lang="en-US" altLang="ko-KR" sz="16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l" eaLnBrk="1" latinLnBrk="1" hangingPunct="1">
              <a:buSzPct val="50000"/>
              <a:buFont typeface="Wingdings" pitchFamily="2" charset="2"/>
              <a:buChar char="l"/>
            </a:pPr>
            <a:r>
              <a:rPr lang="ko-KR" altLang="en-US" sz="16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사용형식</a:t>
            </a:r>
            <a:endParaRPr lang="ko-KR" altLang="en-US" sz="16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1972" name="AutoShape 4"/>
          <p:cNvSpPr>
            <a:spLocks noChangeArrowheads="1"/>
          </p:cNvSpPr>
          <p:nvPr/>
        </p:nvSpPr>
        <p:spPr bwMode="auto">
          <a:xfrm>
            <a:off x="395536" y="1268760"/>
            <a:ext cx="8305800" cy="533400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FF996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l" eaLnBrk="1" latinLnBrk="1" hangingPunct="1">
              <a:lnSpc>
                <a:spcPct val="120000"/>
              </a:lnSpc>
              <a:buSzPct val="50000"/>
              <a:buFont typeface="Wingdings" pitchFamily="2" charset="2"/>
              <a:buChar char="l"/>
            </a:pPr>
            <a:r>
              <a:rPr kumimoji="1" lang="ko-KR" altLang="ko-KR" sz="2400" b="1" dirty="0">
                <a:solidFill>
                  <a:srgbClr val="FF0000"/>
                </a:solidFill>
                <a:latin typeface="굴림체" pitchFamily="49" charset="-127"/>
                <a:ea typeface="굴림체" pitchFamily="49" charset="-127"/>
              </a:rPr>
              <a:t> </a:t>
            </a:r>
            <a:r>
              <a:rPr lang="ko-KR" altLang="en-US" sz="2400" b="1" dirty="0">
                <a:solidFill>
                  <a:srgbClr val="FF0000"/>
                </a:solidFill>
                <a:latin typeface="신명조" charset="-127"/>
                <a:ea typeface="신명조" charset="-127"/>
              </a:rPr>
              <a:t>자바 압축도구 : </a:t>
            </a:r>
            <a:r>
              <a:rPr lang="en-US" altLang="ko-KR" sz="2400" b="1" dirty="0">
                <a:solidFill>
                  <a:srgbClr val="FF0000"/>
                </a:solidFill>
                <a:latin typeface="신명조" charset="-127"/>
                <a:ea typeface="신명조" charset="-127"/>
              </a:rPr>
              <a:t>jar.exe</a:t>
            </a:r>
            <a:endParaRPr lang="ko-KR" altLang="en-US" sz="2400" b="1" dirty="0">
              <a:solidFill>
                <a:srgbClr val="FF0000"/>
              </a:solidFill>
              <a:latin typeface="신명조" charset="-127"/>
              <a:ea typeface="신명조" charset="-127"/>
            </a:endParaRPr>
          </a:p>
        </p:txBody>
      </p:sp>
      <p:sp>
        <p:nvSpPr>
          <p:cNvPr id="211980" name="Text Box 12"/>
          <p:cNvSpPr txBox="1">
            <a:spLocks noChangeArrowheads="1"/>
          </p:cNvSpPr>
          <p:nvPr/>
        </p:nvSpPr>
        <p:spPr bwMode="auto">
          <a:xfrm>
            <a:off x="467544" y="2420888"/>
            <a:ext cx="79248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eaLnBrk="1" latinLnBrk="1" hangingPunct="1"/>
            <a:r>
              <a:rPr lang="en-US" altLang="ko-KR" sz="2000" b="1" dirty="0">
                <a:solidFill>
                  <a:srgbClr val="000000"/>
                </a:solidFill>
                <a:latin typeface="#헤드라인B"/>
              </a:rPr>
              <a:t>jar [options] [manifest] destination [input-files], [directories]</a:t>
            </a:r>
            <a:endParaRPr lang="ko-KR" altLang="en-US" sz="2000" b="1" dirty="0">
              <a:solidFill>
                <a:srgbClr val="000000"/>
              </a:solidFill>
              <a:latin typeface="#헤드라인B"/>
            </a:endParaRPr>
          </a:p>
        </p:txBody>
      </p:sp>
      <p:sp>
        <p:nvSpPr>
          <p:cNvPr id="211981" name="Text Box 13"/>
          <p:cNvSpPr txBox="1">
            <a:spLocks noChangeArrowheads="1"/>
          </p:cNvSpPr>
          <p:nvPr/>
        </p:nvSpPr>
        <p:spPr bwMode="auto">
          <a:xfrm>
            <a:off x="838200" y="2849563"/>
            <a:ext cx="7543800" cy="314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just">
              <a:spcBef>
                <a:spcPct val="0"/>
              </a:spcBef>
              <a:buSzPct val="90000"/>
              <a:buFont typeface="Wingdings" pitchFamily="2" charset="2"/>
              <a:buChar char=""/>
            </a:pPr>
            <a:r>
              <a:rPr lang="ko-KR" altLang="ko-KR" sz="16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6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options</a:t>
            </a:r>
          </a:p>
          <a:p>
            <a:pPr algn="just">
              <a:spcBef>
                <a:spcPct val="0"/>
              </a:spcBef>
            </a:pPr>
            <a:r>
              <a:rPr lang="en-US" altLang="ko-KR" sz="16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c : </a:t>
            </a:r>
            <a:r>
              <a:rPr lang="ko-KR" altLang="en-US" sz="16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기본 출력장치에 압축파일을 생성한다.</a:t>
            </a:r>
          </a:p>
          <a:p>
            <a:pPr algn="just">
              <a:spcBef>
                <a:spcPct val="0"/>
              </a:spcBef>
            </a:pPr>
            <a:r>
              <a:rPr lang="ko-KR" altLang="ko-KR" sz="16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</a:t>
            </a:r>
            <a:r>
              <a:rPr lang="en-US" altLang="ko-KR" sz="16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t : </a:t>
            </a:r>
            <a:r>
              <a:rPr lang="ko-KR" altLang="en-US" sz="16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압축파일의 내용을 출력한다.</a:t>
            </a:r>
          </a:p>
          <a:p>
            <a:pPr algn="just">
              <a:spcBef>
                <a:spcPct val="0"/>
              </a:spcBef>
            </a:pPr>
            <a:r>
              <a:rPr lang="ko-KR" altLang="ko-KR" sz="16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</a:t>
            </a:r>
            <a:r>
              <a:rPr lang="en-US" altLang="ko-KR" sz="16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x : </a:t>
            </a:r>
            <a:r>
              <a:rPr lang="ko-KR" altLang="en-US" sz="16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압축을 푼다.</a:t>
            </a:r>
          </a:p>
          <a:p>
            <a:pPr algn="just">
              <a:spcBef>
                <a:spcPct val="0"/>
              </a:spcBef>
            </a:pPr>
            <a:r>
              <a:rPr lang="ko-KR" altLang="ko-KR" sz="16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</a:t>
            </a:r>
            <a:r>
              <a:rPr lang="en-US" altLang="ko-KR" sz="16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f : </a:t>
            </a:r>
            <a:r>
              <a:rPr lang="ko-KR" altLang="en-US" sz="16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처리될 압축파일을 지정한다.</a:t>
            </a:r>
          </a:p>
          <a:p>
            <a:pPr algn="just">
              <a:spcBef>
                <a:spcPct val="0"/>
              </a:spcBef>
            </a:pPr>
            <a:r>
              <a:rPr lang="ko-KR" altLang="ko-KR" sz="16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</a:t>
            </a:r>
            <a:r>
              <a:rPr lang="en-US" altLang="ko-KR" sz="16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v : </a:t>
            </a:r>
            <a:r>
              <a:rPr lang="ko-KR" altLang="en-US" sz="16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파일크기 및 최종적으로 수정된 </a:t>
            </a:r>
            <a:r>
              <a:rPr lang="ko-KR" altLang="en-US" sz="16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날짜 등을 </a:t>
            </a:r>
            <a:r>
              <a:rPr lang="ko-KR" altLang="en-US" sz="16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나타낸다</a:t>
            </a:r>
            <a:r>
              <a:rPr lang="ko-KR" altLang="en-US" sz="24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algn="just">
              <a:spcBef>
                <a:spcPct val="0"/>
              </a:spcBef>
              <a:buSzPct val="90000"/>
              <a:buFont typeface="Wingdings" pitchFamily="2" charset="2"/>
              <a:buChar char=""/>
            </a:pPr>
            <a:r>
              <a:rPr lang="ko-KR" altLang="en-US" sz="16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6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destinations</a:t>
            </a:r>
          </a:p>
          <a:p>
            <a:pPr algn="just">
              <a:spcBef>
                <a:spcPct val="0"/>
              </a:spcBef>
            </a:pPr>
            <a:r>
              <a:rPr lang="en-US" altLang="ko-KR" sz="16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</a:t>
            </a:r>
            <a:r>
              <a:rPr lang="ko-KR" altLang="en-US" sz="16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압축파일 이름</a:t>
            </a:r>
          </a:p>
          <a:p>
            <a:pPr algn="just">
              <a:spcBef>
                <a:spcPct val="0"/>
              </a:spcBef>
              <a:buSzPct val="90000"/>
              <a:buFont typeface="Wingdings" pitchFamily="2" charset="2"/>
              <a:buChar char=""/>
            </a:pPr>
            <a:r>
              <a:rPr lang="ko-KR" altLang="en-US" sz="16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6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input-files</a:t>
            </a:r>
          </a:p>
          <a:p>
            <a:pPr algn="just">
              <a:spcBef>
                <a:spcPct val="0"/>
              </a:spcBef>
            </a:pPr>
            <a:r>
              <a:rPr lang="en-US" altLang="ko-KR" sz="16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</a:t>
            </a:r>
            <a:r>
              <a:rPr lang="ko-KR" altLang="en-US" sz="16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압축하려는 소스 파일들</a:t>
            </a:r>
          </a:p>
          <a:p>
            <a:pPr algn="just">
              <a:spcBef>
                <a:spcPct val="0"/>
              </a:spcBef>
              <a:buSzPct val="90000"/>
              <a:buFont typeface="Wingdings" pitchFamily="2" charset="2"/>
              <a:buChar char=""/>
            </a:pPr>
            <a:r>
              <a:rPr lang="ko-KR" altLang="en-US" sz="16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6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directories</a:t>
            </a:r>
          </a:p>
          <a:p>
            <a:pPr algn="just">
              <a:spcBef>
                <a:spcPct val="0"/>
              </a:spcBef>
            </a:pPr>
            <a:r>
              <a:rPr lang="en-US" altLang="ko-KR" sz="16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</a:t>
            </a:r>
            <a:r>
              <a:rPr lang="ko-KR" altLang="en-US" sz="16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압축하려는 소스 </a:t>
            </a:r>
            <a:r>
              <a:rPr lang="ko-KR" altLang="en-US" sz="160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디렉토리들</a:t>
            </a:r>
            <a:r>
              <a:rPr lang="ko-KR" altLang="en-US" sz="16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60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디렉토리의</a:t>
            </a:r>
            <a:r>
              <a:rPr lang="ko-KR" altLang="en-US" sz="16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모든 파일이 압축된다.)</a:t>
            </a:r>
            <a:endParaRPr lang="ko-KR" altLang="en-US" sz="24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제목 1"/>
          <p:cNvSpPr txBox="1">
            <a:spLocks/>
          </p:cNvSpPr>
          <p:nvPr/>
        </p:nvSpPr>
        <p:spPr>
          <a:xfrm>
            <a:off x="2643174" y="227013"/>
            <a:ext cx="6500826" cy="762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j-cs"/>
              </a:rPr>
              <a:t>10. </a:t>
            </a:r>
            <a:r>
              <a:rPr kumimoji="0" lang="ko-KR" altLang="en-US" sz="40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j-cs"/>
              </a:rPr>
              <a:t>자바 개발 도구</a:t>
            </a:r>
            <a:endParaRPr kumimoji="0" lang="ko-KR" altLang="en-US" sz="4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j-c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553200" y="7072957"/>
            <a:ext cx="2133600" cy="244475"/>
          </a:xfrm>
        </p:spPr>
        <p:txBody>
          <a:bodyPr/>
          <a:lstStyle/>
          <a:p>
            <a:fld id="{B1D77281-F49C-4860-9DC1-137F96896C07}" type="slidenum">
              <a:rPr lang="ko-KR" altLang="en-US"/>
              <a:pPr/>
              <a:t>31</a:t>
            </a:fld>
            <a:endParaRPr lang="ko-KR" altLang="en-US"/>
          </a:p>
        </p:txBody>
      </p:sp>
      <p:sp>
        <p:nvSpPr>
          <p:cNvPr id="185346" name="Text Box 2"/>
          <p:cNvSpPr txBox="1">
            <a:spLocks noChangeArrowheads="1"/>
          </p:cNvSpPr>
          <p:nvPr/>
        </p:nvSpPr>
        <p:spPr bwMode="auto">
          <a:xfrm>
            <a:off x="762000" y="2272357"/>
            <a:ext cx="7315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eaLnBrk="1" latinLnBrk="1" hangingPunct="1">
              <a:buSzPct val="50000"/>
              <a:buFont typeface="Wingdings" pitchFamily="2" charset="2"/>
              <a:buChar char="l"/>
            </a:pPr>
            <a:r>
              <a:rPr lang="ko-KR" altLang="en-US" sz="16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파일 및 </a:t>
            </a:r>
            <a:r>
              <a:rPr lang="ko-KR" altLang="en-US" sz="160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디렉토리를</a:t>
            </a:r>
            <a:r>
              <a:rPr lang="ko-KR" altLang="en-US" sz="16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압축하는 </a:t>
            </a:r>
            <a:r>
              <a:rPr lang="ko-KR" altLang="en-US" sz="16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형식</a:t>
            </a:r>
            <a:endParaRPr lang="ko-KR" altLang="en-US" sz="16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5347" name="AutoShape 3"/>
          <p:cNvSpPr>
            <a:spLocks noChangeArrowheads="1"/>
          </p:cNvSpPr>
          <p:nvPr/>
        </p:nvSpPr>
        <p:spPr bwMode="auto">
          <a:xfrm>
            <a:off x="381000" y="1510357"/>
            <a:ext cx="8305800" cy="533400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FF996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l" eaLnBrk="1" latinLnBrk="1" hangingPunct="1">
              <a:lnSpc>
                <a:spcPct val="120000"/>
              </a:lnSpc>
              <a:buSzPct val="50000"/>
              <a:buFont typeface="Wingdings" pitchFamily="2" charset="2"/>
              <a:buChar char="l"/>
            </a:pPr>
            <a:r>
              <a:rPr kumimoji="1" lang="ko-KR" altLang="ko-KR" sz="24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압축파일의 생성</a:t>
            </a:r>
            <a:endParaRPr lang="ko-KR" altLang="ko-KR" sz="24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5348" name="Text Box 4"/>
          <p:cNvSpPr txBox="1">
            <a:spLocks noChangeArrowheads="1"/>
          </p:cNvSpPr>
          <p:nvPr/>
        </p:nvSpPr>
        <p:spPr bwMode="auto">
          <a:xfrm>
            <a:off x="533400" y="3678882"/>
            <a:ext cx="8305800" cy="8794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just">
              <a:lnSpc>
                <a:spcPct val="120000"/>
              </a:lnSpc>
              <a:spcBef>
                <a:spcPct val="0"/>
              </a:spcBef>
            </a:pPr>
            <a:endParaRPr lang="ko-KR" altLang="ko-KR" sz="16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just">
              <a:spcBef>
                <a:spcPct val="0"/>
              </a:spcBef>
            </a:pPr>
            <a:r>
              <a:rPr lang="en-US" altLang="ko-KR" sz="24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jar </a:t>
            </a:r>
            <a:r>
              <a:rPr lang="en-US" altLang="ko-KR" sz="240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cvf</a:t>
            </a:r>
            <a:r>
              <a:rPr lang="en-US" altLang="ko-KR" sz="24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</a:t>
            </a:r>
            <a:r>
              <a:rPr lang="en-US" altLang="ko-KR" sz="24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a.jar  </a:t>
            </a:r>
            <a:r>
              <a:rPr lang="en-US" altLang="ko-KR" sz="24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a.class</a:t>
            </a:r>
            <a:r>
              <a:rPr lang="en-US" altLang="ko-KR" sz="24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</a:t>
            </a:r>
            <a:r>
              <a:rPr lang="en-US" altLang="ko-KR" sz="24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audio  images</a:t>
            </a:r>
            <a:endParaRPr lang="ko-KR" altLang="en-US" sz="24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5353" name="Text Box 9"/>
          <p:cNvSpPr txBox="1">
            <a:spLocks noChangeArrowheads="1"/>
          </p:cNvSpPr>
          <p:nvPr/>
        </p:nvSpPr>
        <p:spPr bwMode="auto">
          <a:xfrm>
            <a:off x="609600" y="2727325"/>
            <a:ext cx="6172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eaLnBrk="1" latinLnBrk="1" hangingPunct="1"/>
            <a:r>
              <a:rPr lang="en-US" altLang="ko-KR" sz="24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jar cvf jar-filename input-files, directories</a:t>
            </a:r>
            <a:endParaRPr lang="ko-KR" altLang="en-US" sz="240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5356" name="Text Box 12"/>
          <p:cNvSpPr txBox="1">
            <a:spLocks noChangeArrowheads="1"/>
          </p:cNvSpPr>
          <p:nvPr/>
        </p:nvSpPr>
        <p:spPr bwMode="auto">
          <a:xfrm>
            <a:off x="381000" y="5142060"/>
            <a:ext cx="8534400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l" eaLnBrk="1" latinLnBrk="1" hangingPunct="1"/>
            <a:r>
              <a:rPr lang="ko-KR" altLang="en-US" sz="18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예제 설명:</a:t>
            </a:r>
            <a:r>
              <a:rPr lang="ko-KR" altLang="en-US" sz="1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현재의 </a:t>
            </a:r>
            <a:r>
              <a:rPr lang="ko-KR" altLang="en-US" sz="180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디렉토리가</a:t>
            </a:r>
            <a:r>
              <a:rPr lang="ko-KR" altLang="en-US" sz="1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c</a:t>
            </a:r>
            <a:r>
              <a:rPr lang="en-US" altLang="ko-KR" sz="1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:\</a:t>
            </a:r>
            <a:r>
              <a:rPr lang="en-US" altLang="ko-KR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java </a:t>
            </a:r>
            <a:r>
              <a:rPr lang="ko-KR" altLang="en-US" sz="18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일때</a:t>
            </a:r>
            <a:r>
              <a:rPr lang="ko-KR" altLang="en-US" sz="1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</a:p>
          <a:p>
            <a:pPr algn="l" eaLnBrk="1" latinLnBrk="1" hangingPunct="1"/>
            <a:r>
              <a:rPr lang="en-US" altLang="ko-KR" sz="1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c\java </a:t>
            </a:r>
            <a:r>
              <a:rPr lang="ko-KR" altLang="en-US" sz="180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디렉토리에</a:t>
            </a:r>
            <a:r>
              <a:rPr lang="ko-KR" altLang="en-US" sz="1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존재하는  </a:t>
            </a:r>
            <a:r>
              <a:rPr lang="en-US" altLang="ko-KR" sz="18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a.class</a:t>
            </a:r>
            <a:r>
              <a:rPr lang="en-US" altLang="ko-KR" sz="1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파일 및 </a:t>
            </a:r>
            <a:r>
              <a:rPr lang="en-US" altLang="ko-KR" sz="1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audio </a:t>
            </a:r>
            <a:r>
              <a:rPr lang="ko-KR" altLang="en-US" sz="1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및 </a:t>
            </a:r>
            <a:r>
              <a:rPr lang="en-US" altLang="ko-KR" sz="1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images </a:t>
            </a:r>
            <a:r>
              <a:rPr lang="ko-KR" altLang="en-US" sz="1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서브 </a:t>
            </a:r>
            <a:r>
              <a:rPr lang="ko-KR" altLang="en-US" sz="180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디렉토리에</a:t>
            </a:r>
            <a:r>
              <a:rPr lang="ko-KR" altLang="en-US" sz="1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존재하는 모든 파일들을 </a:t>
            </a:r>
            <a:r>
              <a:rPr lang="en-US" altLang="ko-KR" sz="1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a.jar</a:t>
            </a:r>
            <a:r>
              <a:rPr lang="ko-KR" altLang="en-US" sz="1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라는 압축파일로 압축한다.</a:t>
            </a:r>
            <a:endParaRPr lang="ko-KR" altLang="en-US" sz="16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제목 1"/>
          <p:cNvSpPr txBox="1">
            <a:spLocks/>
          </p:cNvSpPr>
          <p:nvPr/>
        </p:nvSpPr>
        <p:spPr>
          <a:xfrm>
            <a:off x="2643174" y="227013"/>
            <a:ext cx="6500826" cy="762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j-cs"/>
              </a:rPr>
              <a:t>10. </a:t>
            </a:r>
            <a:r>
              <a:rPr kumimoji="0" lang="ko-KR" altLang="en-US" sz="40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j-cs"/>
              </a:rPr>
              <a:t>자바 개발 도구</a:t>
            </a:r>
            <a:endParaRPr kumimoji="0" lang="ko-KR" altLang="en-US" sz="4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j-c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553200" y="7000949"/>
            <a:ext cx="2133600" cy="244475"/>
          </a:xfrm>
        </p:spPr>
        <p:txBody>
          <a:bodyPr/>
          <a:lstStyle/>
          <a:p>
            <a:fld id="{A5CE5824-0412-4B84-92D7-1E683F07F657}" type="slidenum">
              <a:rPr lang="ko-KR" altLang="en-US"/>
              <a:pPr/>
              <a:t>32</a:t>
            </a:fld>
            <a:endParaRPr lang="ko-KR" altLang="en-US"/>
          </a:p>
        </p:txBody>
      </p:sp>
      <p:sp>
        <p:nvSpPr>
          <p:cNvPr id="215042" name="Text Box 2"/>
          <p:cNvSpPr txBox="1">
            <a:spLocks noChangeArrowheads="1"/>
          </p:cNvSpPr>
          <p:nvPr/>
        </p:nvSpPr>
        <p:spPr bwMode="auto">
          <a:xfrm>
            <a:off x="762000" y="2200349"/>
            <a:ext cx="7315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eaLnBrk="1" latinLnBrk="1" hangingPunct="1">
              <a:buSzPct val="50000"/>
              <a:buFont typeface="Wingdings" pitchFamily="2" charset="2"/>
              <a:buChar char="l"/>
            </a:pPr>
            <a:r>
              <a:rPr lang="ko-KR" altLang="en-US" sz="16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압축파일의 내용을 보는 형식은 다음과 같다.</a:t>
            </a:r>
          </a:p>
        </p:txBody>
      </p:sp>
      <p:sp>
        <p:nvSpPr>
          <p:cNvPr id="215043" name="AutoShape 3"/>
          <p:cNvSpPr>
            <a:spLocks noChangeArrowheads="1"/>
          </p:cNvSpPr>
          <p:nvPr/>
        </p:nvSpPr>
        <p:spPr bwMode="auto">
          <a:xfrm>
            <a:off x="381000" y="1438349"/>
            <a:ext cx="8305800" cy="533400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FF996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l" eaLnBrk="1" latinLnBrk="1" hangingPunct="1">
              <a:lnSpc>
                <a:spcPct val="120000"/>
              </a:lnSpc>
              <a:buSzPct val="50000"/>
              <a:buFont typeface="Wingdings" pitchFamily="2" charset="2"/>
              <a:buChar char="l"/>
            </a:pPr>
            <a:r>
              <a:rPr kumimoji="1" lang="ko-KR" altLang="ko-KR" sz="24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압축파일의 내용보기</a:t>
            </a:r>
            <a:endParaRPr lang="ko-KR" altLang="ko-KR" sz="240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5045" name="Text Box 5"/>
          <p:cNvSpPr txBox="1">
            <a:spLocks noChangeArrowheads="1"/>
          </p:cNvSpPr>
          <p:nvPr/>
        </p:nvSpPr>
        <p:spPr bwMode="auto">
          <a:xfrm>
            <a:off x="152400" y="3606874"/>
            <a:ext cx="8763000" cy="8794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just">
              <a:lnSpc>
                <a:spcPct val="120000"/>
              </a:lnSpc>
              <a:spcBef>
                <a:spcPct val="0"/>
              </a:spcBef>
            </a:pPr>
            <a:endParaRPr lang="ko-KR" altLang="ko-KR" sz="16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just">
              <a:spcBef>
                <a:spcPct val="0"/>
              </a:spcBef>
            </a:pPr>
            <a:r>
              <a:rPr lang="ko-KR" altLang="ko-KR" sz="24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</a:t>
            </a:r>
            <a:r>
              <a:rPr lang="en-US" altLang="ko-KR" sz="24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c</a:t>
            </a:r>
            <a:r>
              <a:rPr lang="en-US" altLang="ko-KR" sz="24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:\java\jar </a:t>
            </a:r>
            <a:r>
              <a:rPr lang="en-US" altLang="ko-KR" sz="240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tvf</a:t>
            </a:r>
            <a:r>
              <a:rPr lang="en-US" altLang="ko-KR" sz="24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</a:t>
            </a:r>
            <a:r>
              <a:rPr lang="en-US" altLang="ko-KR" sz="24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a.jar</a:t>
            </a:r>
            <a:endParaRPr lang="ko-KR" altLang="en-US" sz="24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5049" name="Text Box 9"/>
          <p:cNvSpPr txBox="1">
            <a:spLocks noChangeArrowheads="1"/>
          </p:cNvSpPr>
          <p:nvPr/>
        </p:nvSpPr>
        <p:spPr bwMode="auto">
          <a:xfrm>
            <a:off x="533400" y="2657549"/>
            <a:ext cx="3581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eaLnBrk="1" latinLnBrk="1" hangingPunct="1"/>
            <a:r>
              <a:rPr lang="en-US" altLang="ko-KR" sz="24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jar tvf jar-filename</a:t>
            </a:r>
            <a:endParaRPr lang="ko-KR" altLang="en-US" sz="240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5050" name="Text Box 10"/>
          <p:cNvSpPr txBox="1">
            <a:spLocks noChangeArrowheads="1"/>
          </p:cNvSpPr>
          <p:nvPr/>
        </p:nvSpPr>
        <p:spPr bwMode="auto">
          <a:xfrm>
            <a:off x="685800" y="5210249"/>
            <a:ext cx="80010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l" eaLnBrk="1" latinLnBrk="1" hangingPunct="1"/>
            <a:r>
              <a:rPr lang="ko-KR" altLang="en-US" sz="18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예제 설명 :</a:t>
            </a:r>
            <a:r>
              <a:rPr lang="ko-KR" altLang="en-US" sz="1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앞에서 압축한 </a:t>
            </a:r>
            <a:r>
              <a:rPr lang="en-US" altLang="ko-KR" sz="1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a.jar </a:t>
            </a:r>
            <a:r>
              <a:rPr lang="ko-KR" altLang="en-US" sz="1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압축 파일에 포함된 파일들의 내용을 보여준다.</a:t>
            </a:r>
          </a:p>
        </p:txBody>
      </p:sp>
      <p:sp>
        <p:nvSpPr>
          <p:cNvPr id="12" name="제목 1"/>
          <p:cNvSpPr txBox="1">
            <a:spLocks/>
          </p:cNvSpPr>
          <p:nvPr/>
        </p:nvSpPr>
        <p:spPr>
          <a:xfrm>
            <a:off x="2643174" y="260648"/>
            <a:ext cx="6500826" cy="762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j-cs"/>
              </a:rPr>
              <a:t>10. </a:t>
            </a:r>
            <a:r>
              <a:rPr kumimoji="0" lang="ko-KR" altLang="en-US" sz="40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j-cs"/>
              </a:rPr>
              <a:t>자바 개발 도구</a:t>
            </a:r>
            <a:endParaRPr kumimoji="0" lang="ko-KR" altLang="en-US" sz="4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j-c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553200" y="7000949"/>
            <a:ext cx="2133600" cy="244475"/>
          </a:xfrm>
        </p:spPr>
        <p:txBody>
          <a:bodyPr/>
          <a:lstStyle/>
          <a:p>
            <a:fld id="{E2D242B9-B933-4092-9334-71B9EBCB2C63}" type="slidenum">
              <a:rPr lang="ko-KR" altLang="en-US"/>
              <a:pPr/>
              <a:t>33</a:t>
            </a:fld>
            <a:endParaRPr lang="ko-KR" altLang="en-US"/>
          </a:p>
        </p:txBody>
      </p:sp>
      <p:sp>
        <p:nvSpPr>
          <p:cNvPr id="216066" name="Text Box 2"/>
          <p:cNvSpPr txBox="1">
            <a:spLocks noChangeArrowheads="1"/>
          </p:cNvSpPr>
          <p:nvPr/>
        </p:nvSpPr>
        <p:spPr bwMode="auto">
          <a:xfrm>
            <a:off x="762000" y="2200349"/>
            <a:ext cx="7315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eaLnBrk="1" latinLnBrk="1" hangingPunct="1">
              <a:buSzPct val="50000"/>
              <a:buFont typeface="Wingdings" pitchFamily="2" charset="2"/>
              <a:buChar char="l"/>
            </a:pPr>
            <a:r>
              <a:rPr lang="ko-KR" altLang="en-US" sz="16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압축파일을 푸는 </a:t>
            </a:r>
            <a:r>
              <a:rPr lang="ko-KR" altLang="en-US" sz="16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형식</a:t>
            </a:r>
            <a:endParaRPr lang="ko-KR" altLang="en-US" sz="16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6067" name="AutoShape 3"/>
          <p:cNvSpPr>
            <a:spLocks noChangeArrowheads="1"/>
          </p:cNvSpPr>
          <p:nvPr/>
        </p:nvSpPr>
        <p:spPr bwMode="auto">
          <a:xfrm>
            <a:off x="381000" y="1438349"/>
            <a:ext cx="8305800" cy="533400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FF996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l" eaLnBrk="1" latinLnBrk="1" hangingPunct="1">
              <a:lnSpc>
                <a:spcPct val="120000"/>
              </a:lnSpc>
              <a:buSzPct val="50000"/>
              <a:buFont typeface="Wingdings" pitchFamily="2" charset="2"/>
              <a:buChar char="l"/>
            </a:pPr>
            <a:r>
              <a:rPr kumimoji="1" lang="ko-KR" altLang="ko-KR" sz="24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압축파일을 풀기</a:t>
            </a:r>
            <a:endParaRPr lang="ko-KR" altLang="ko-KR" sz="24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28600" y="3346524"/>
            <a:ext cx="8686800" cy="1139825"/>
            <a:chOff x="864" y="2018"/>
            <a:chExt cx="4272" cy="718"/>
          </a:xfrm>
        </p:grpSpPr>
        <p:sp>
          <p:nvSpPr>
            <p:cNvPr id="216069" name="Text Box 5"/>
            <p:cNvSpPr txBox="1">
              <a:spLocks noChangeArrowheads="1"/>
            </p:cNvSpPr>
            <p:nvPr/>
          </p:nvSpPr>
          <p:spPr bwMode="auto">
            <a:xfrm>
              <a:off x="864" y="2182"/>
              <a:ext cx="4272" cy="55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pPr algn="just">
                <a:lnSpc>
                  <a:spcPct val="120000"/>
                </a:lnSpc>
                <a:spcBef>
                  <a:spcPct val="0"/>
                </a:spcBef>
              </a:pPr>
              <a:endParaRPr lang="ko-KR" altLang="ko-KR" sz="16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algn="just">
                <a:spcBef>
                  <a:spcPct val="0"/>
                </a:spcBef>
              </a:pPr>
              <a:r>
                <a:rPr lang="ko-KR" altLang="ko-KR" sz="24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 </a:t>
              </a:r>
              <a:r>
                <a:rPr lang="en-US" altLang="ko-KR" sz="24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c</a:t>
              </a:r>
              <a:r>
                <a:rPr lang="en-US" altLang="ko-KR" sz="24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:\java\jar </a:t>
              </a:r>
              <a:r>
                <a:rPr lang="en-US" altLang="ko-KR" sz="24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xvf</a:t>
              </a:r>
              <a:r>
                <a:rPr lang="en-US" altLang="ko-KR" sz="24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 </a:t>
              </a:r>
              <a:r>
                <a:rPr lang="en-US" altLang="ko-KR" sz="24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a.jar</a:t>
              </a:r>
              <a:endParaRPr lang="ko-KR" altLang="en-US" sz="24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16070" name="Rectangle 6"/>
            <p:cNvSpPr>
              <a:spLocks noChangeArrowheads="1"/>
            </p:cNvSpPr>
            <p:nvPr/>
          </p:nvSpPr>
          <p:spPr bwMode="auto">
            <a:xfrm>
              <a:off x="2745" y="2018"/>
              <a:ext cx="529" cy="23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 anchorCtr="1">
              <a:spAutoFit/>
            </a:bodyPr>
            <a:lstStyle/>
            <a:p>
              <a:pPr eaLnBrk="1" latinLnBrk="1" hangingPunct="1">
                <a:spcBef>
                  <a:spcPct val="0"/>
                </a:spcBef>
              </a:pPr>
              <a:r>
                <a:rPr lang="ko-KR" altLang="en-US" sz="180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예제 1-9</a:t>
              </a:r>
            </a:p>
          </p:txBody>
        </p:sp>
      </p:grpSp>
      <p:sp>
        <p:nvSpPr>
          <p:cNvPr id="216073" name="Text Box 9"/>
          <p:cNvSpPr txBox="1">
            <a:spLocks noChangeArrowheads="1"/>
          </p:cNvSpPr>
          <p:nvPr/>
        </p:nvSpPr>
        <p:spPr bwMode="auto">
          <a:xfrm>
            <a:off x="533400" y="2657549"/>
            <a:ext cx="3581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eaLnBrk="1" latinLnBrk="1" hangingPunct="1"/>
            <a:r>
              <a:rPr lang="en-US" altLang="ko-KR" sz="24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jar </a:t>
            </a:r>
            <a:r>
              <a:rPr lang="en-US" altLang="ko-KR" sz="240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xvf</a:t>
            </a:r>
            <a:r>
              <a:rPr lang="en-US" altLang="ko-KR" sz="24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jar-filename</a:t>
            </a:r>
            <a:endParaRPr lang="ko-KR" altLang="en-US" sz="24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6074" name="Text Box 10"/>
          <p:cNvSpPr txBox="1">
            <a:spLocks noChangeArrowheads="1"/>
          </p:cNvSpPr>
          <p:nvPr/>
        </p:nvSpPr>
        <p:spPr bwMode="auto">
          <a:xfrm>
            <a:off x="457200" y="5073724"/>
            <a:ext cx="8305800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l" eaLnBrk="1" latinLnBrk="1" hangingPunct="1"/>
            <a:r>
              <a:rPr lang="ko-KR" altLang="en-US" sz="18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예제 설명 :</a:t>
            </a:r>
            <a:r>
              <a:rPr lang="ko-KR" altLang="en-US" sz="1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앞에서 압축한 </a:t>
            </a:r>
            <a:r>
              <a:rPr lang="en-US" altLang="ko-KR" sz="1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a.jar </a:t>
            </a:r>
            <a:r>
              <a:rPr lang="ko-KR" altLang="en-US" sz="1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압축 파일에 포함된 파일들을  푼다.이때, 압축된 </a:t>
            </a:r>
            <a:r>
              <a:rPr lang="ko-KR" altLang="en-US" sz="180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디렉토리는</a:t>
            </a:r>
            <a:r>
              <a:rPr lang="ko-KR" altLang="en-US" sz="1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자동으로 </a:t>
            </a:r>
            <a:r>
              <a:rPr lang="ko-KR" altLang="en-US" sz="180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디렉토리가</a:t>
            </a:r>
            <a:r>
              <a:rPr lang="ko-KR" altLang="en-US" sz="1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생성되고, 그 </a:t>
            </a:r>
            <a:r>
              <a:rPr lang="ko-KR" altLang="en-US" sz="180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디렉토리에</a:t>
            </a:r>
            <a:r>
              <a:rPr lang="ko-KR" altLang="en-US" sz="18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풀린 파일들을 </a:t>
            </a:r>
            <a:r>
              <a:rPr lang="ko-KR" altLang="en-US" sz="18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저장</a:t>
            </a:r>
            <a:endParaRPr lang="ko-KR" altLang="en-US" sz="18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제목 1"/>
          <p:cNvSpPr txBox="1">
            <a:spLocks/>
          </p:cNvSpPr>
          <p:nvPr/>
        </p:nvSpPr>
        <p:spPr>
          <a:xfrm>
            <a:off x="2643174" y="260648"/>
            <a:ext cx="6500826" cy="762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j-cs"/>
              </a:rPr>
              <a:t>10. </a:t>
            </a:r>
            <a:r>
              <a:rPr kumimoji="0" lang="ko-KR" altLang="en-US" sz="40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j-cs"/>
              </a:rPr>
              <a:t>자바 개발 도구</a:t>
            </a:r>
            <a:endParaRPr kumimoji="0" lang="ko-KR" altLang="en-US" sz="4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j-c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슬라이드 번호 개체 틀 10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A6BD2C2-3D3B-4E94-BD92-61B02C5F4DEE}" type="slidenum">
              <a:rPr lang="ko-KR" altLang="en-US" smtClean="0"/>
              <a:pPr/>
              <a:t>34</a:t>
            </a:fld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12648" y="1285860"/>
            <a:ext cx="8153400" cy="1000132"/>
          </a:xfrm>
        </p:spPr>
        <p:txBody>
          <a:bodyPr>
            <a:normAutofit fontScale="55000" lnSpcReduction="20000"/>
          </a:bodyPr>
          <a:lstStyle/>
          <a:p>
            <a:r>
              <a:rPr lang="ko-KR" altLang="en-US" dirty="0" err="1" smtClean="0"/>
              <a:t>디어셈블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클래스 파일에 들어 있는 바이트 코드를 텍스트로 볼 수 있게 변환하는 작업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JDK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javap.exe </a:t>
            </a:r>
            <a:r>
              <a:rPr lang="ko-KR" altLang="en-US" dirty="0" smtClean="0"/>
              <a:t>이용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179512" y="2285992"/>
            <a:ext cx="3528392" cy="440120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 smtClean="0"/>
              <a:t>public class Hello {</a:t>
            </a:r>
          </a:p>
          <a:p>
            <a:pPr defTabSz="180000"/>
            <a:r>
              <a:rPr lang="en-US" altLang="ko-KR" sz="1400" dirty="0" smtClean="0"/>
              <a:t>	public static </a:t>
            </a:r>
            <a:r>
              <a:rPr lang="en-US" altLang="ko-KR" sz="1400" dirty="0" err="1" smtClean="0"/>
              <a:t>int</a:t>
            </a:r>
            <a:r>
              <a:rPr lang="en-US" altLang="ko-KR" sz="1400" dirty="0" smtClean="0"/>
              <a:t> sum(</a:t>
            </a:r>
            <a:r>
              <a:rPr lang="en-US" altLang="ko-KR" sz="1400" dirty="0" err="1" smtClean="0"/>
              <a:t>int</a:t>
            </a:r>
            <a:r>
              <a:rPr lang="en-US" altLang="ko-KR" sz="1400" dirty="0" smtClean="0"/>
              <a:t> </a:t>
            </a:r>
            <a:r>
              <a:rPr lang="en-US" altLang="ko-KR" sz="1400" dirty="0" err="1" smtClean="0"/>
              <a:t>i</a:t>
            </a:r>
            <a:r>
              <a:rPr lang="en-US" altLang="ko-KR" sz="1400" dirty="0" smtClean="0"/>
              <a:t>, </a:t>
            </a:r>
            <a:r>
              <a:rPr lang="en-US" altLang="ko-KR" sz="1400" dirty="0" err="1" smtClean="0"/>
              <a:t>int</a:t>
            </a:r>
            <a:r>
              <a:rPr lang="en-US" altLang="ko-KR" sz="1400" dirty="0" smtClean="0"/>
              <a:t> j) {</a:t>
            </a:r>
          </a:p>
          <a:p>
            <a:pPr defTabSz="180000"/>
            <a:r>
              <a:rPr lang="en-US" altLang="ko-KR" sz="1400" dirty="0" smtClean="0"/>
              <a:t>		return </a:t>
            </a:r>
            <a:r>
              <a:rPr lang="en-US" altLang="ko-KR" sz="1400" dirty="0" err="1" smtClean="0"/>
              <a:t>i</a:t>
            </a:r>
            <a:r>
              <a:rPr lang="en-US" altLang="ko-KR" sz="1400" dirty="0" smtClean="0"/>
              <a:t> + j;// </a:t>
            </a:r>
            <a:r>
              <a:rPr lang="en-US" altLang="ko-KR" sz="1400" dirty="0" err="1" smtClean="0"/>
              <a:t>i</a:t>
            </a:r>
            <a:r>
              <a:rPr lang="ko-KR" altLang="en-US" sz="1400" dirty="0" smtClean="0"/>
              <a:t>와 </a:t>
            </a:r>
            <a:r>
              <a:rPr lang="en-US" altLang="ko-KR" sz="1400" dirty="0" smtClean="0"/>
              <a:t>j</a:t>
            </a:r>
            <a:r>
              <a:rPr lang="ko-KR" altLang="en-US" sz="1400" dirty="0" smtClean="0"/>
              <a:t>의 합을 리턴 </a:t>
            </a:r>
          </a:p>
          <a:p>
            <a:pPr defTabSz="180000"/>
            <a:r>
              <a:rPr lang="en-US" altLang="ko-KR" sz="1400" dirty="0" smtClean="0"/>
              <a:t>	}</a:t>
            </a:r>
          </a:p>
          <a:p>
            <a:pPr defTabSz="180000"/>
            <a:r>
              <a:rPr lang="en-US" altLang="ko-KR" sz="1400" dirty="0" smtClean="0"/>
              <a:t>	public static void main(String[] </a:t>
            </a:r>
            <a:r>
              <a:rPr lang="en-US" altLang="ko-KR" sz="1400" dirty="0" err="1" smtClean="0"/>
              <a:t>args</a:t>
            </a:r>
            <a:r>
              <a:rPr lang="en-US" altLang="ko-KR" sz="1400" dirty="0" smtClean="0"/>
              <a:t>) {</a:t>
            </a:r>
          </a:p>
          <a:p>
            <a:pPr defTabSz="180000"/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int</a:t>
            </a:r>
            <a:r>
              <a:rPr lang="en-US" altLang="ko-KR" sz="1400" dirty="0" smtClean="0"/>
              <a:t> </a:t>
            </a:r>
            <a:r>
              <a:rPr lang="en-US" altLang="ko-KR" sz="1400" dirty="0" err="1" smtClean="0"/>
              <a:t>i</a:t>
            </a:r>
            <a:r>
              <a:rPr lang="en-US" altLang="ko-KR" sz="1400" dirty="0" smtClean="0"/>
              <a:t>;</a:t>
            </a:r>
          </a:p>
          <a:p>
            <a:pPr defTabSz="180000"/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int</a:t>
            </a:r>
            <a:r>
              <a:rPr lang="en-US" altLang="ko-KR" sz="1400" dirty="0" smtClean="0"/>
              <a:t> j;</a:t>
            </a:r>
          </a:p>
          <a:p>
            <a:pPr defTabSz="180000"/>
            <a:r>
              <a:rPr lang="en-US" altLang="ko-KR" sz="1400" dirty="0" smtClean="0"/>
              <a:t>		char a;</a:t>
            </a:r>
          </a:p>
          <a:p>
            <a:pPr defTabSz="180000"/>
            <a:r>
              <a:rPr lang="en-US" altLang="ko-KR" sz="1400" dirty="0" smtClean="0"/>
              <a:t>		String b;</a:t>
            </a:r>
          </a:p>
          <a:p>
            <a:pPr defTabSz="180000"/>
            <a:r>
              <a:rPr lang="en-US" altLang="ko-KR" sz="1400" dirty="0" smtClean="0"/>
              <a:t>		final </a:t>
            </a:r>
            <a:r>
              <a:rPr lang="en-US" altLang="ko-KR" sz="1400" dirty="0" err="1" smtClean="0"/>
              <a:t>int</a:t>
            </a:r>
            <a:r>
              <a:rPr lang="en-US" altLang="ko-KR" sz="1400" dirty="0" smtClean="0"/>
              <a:t> TEN = 10;</a:t>
            </a:r>
          </a:p>
          <a:p>
            <a:pPr defTabSz="180000"/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i</a:t>
            </a:r>
            <a:r>
              <a:rPr lang="en-US" altLang="ko-KR" sz="1400" dirty="0" smtClean="0"/>
              <a:t> = 1;</a:t>
            </a:r>
          </a:p>
          <a:p>
            <a:pPr defTabSz="180000"/>
            <a:r>
              <a:rPr lang="en-US" altLang="ko-KR" sz="1400" dirty="0" smtClean="0"/>
              <a:t>		j = sum(</a:t>
            </a:r>
            <a:r>
              <a:rPr lang="en-US" altLang="ko-KR" sz="1400" dirty="0" err="1" smtClean="0"/>
              <a:t>i</a:t>
            </a:r>
            <a:r>
              <a:rPr lang="en-US" altLang="ko-KR" sz="1400" dirty="0" smtClean="0"/>
              <a:t>, TEN);</a:t>
            </a:r>
          </a:p>
          <a:p>
            <a:pPr defTabSz="180000"/>
            <a:r>
              <a:rPr lang="en-US" altLang="ko-KR" sz="1400" dirty="0" smtClean="0"/>
              <a:t>		a = '?';</a:t>
            </a:r>
          </a:p>
          <a:p>
            <a:pPr defTabSz="180000"/>
            <a:r>
              <a:rPr lang="en-US" altLang="ko-KR" sz="1400" dirty="0" smtClean="0"/>
              <a:t>		b = "Hello";</a:t>
            </a:r>
          </a:p>
          <a:p>
            <a:pPr defTabSz="180000"/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java.lang.System.out.println</a:t>
            </a:r>
            <a:r>
              <a:rPr lang="en-US" altLang="ko-KR" sz="1400" dirty="0" smtClean="0"/>
              <a:t>(a);</a:t>
            </a:r>
          </a:p>
          <a:p>
            <a:pPr defTabSz="180000"/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(b);</a:t>
            </a:r>
          </a:p>
          <a:p>
            <a:pPr defTabSz="180000"/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(TEN);</a:t>
            </a:r>
          </a:p>
          <a:p>
            <a:pPr defTabSz="180000"/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(j);</a:t>
            </a:r>
          </a:p>
          <a:p>
            <a:pPr defTabSz="180000"/>
            <a:r>
              <a:rPr lang="en-US" altLang="ko-KR" sz="1400" dirty="0" smtClean="0"/>
              <a:t>	}</a:t>
            </a:r>
          </a:p>
          <a:p>
            <a:pPr defTabSz="180000"/>
            <a:r>
              <a:rPr lang="en-US" altLang="ko-KR" sz="1400" dirty="0" smtClean="0"/>
              <a:t>}</a:t>
            </a:r>
            <a:endParaRPr lang="en-US" altLang="ko-KR" sz="1400" dirty="0"/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851920" y="2456681"/>
            <a:ext cx="3019425" cy="1476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자유형 8"/>
          <p:cNvSpPr/>
          <p:nvPr/>
        </p:nvSpPr>
        <p:spPr>
          <a:xfrm>
            <a:off x="5857512" y="2991576"/>
            <a:ext cx="1569057" cy="1445536"/>
          </a:xfrm>
          <a:custGeom>
            <a:avLst/>
            <a:gdLst>
              <a:gd name="connsiteX0" fmla="*/ 0 w 1570892"/>
              <a:gd name="connsiteY0" fmla="*/ 0 h 1617784"/>
              <a:gd name="connsiteX1" fmla="*/ 1397977 w 1570892"/>
              <a:gd name="connsiteY1" fmla="*/ 483577 h 1617784"/>
              <a:gd name="connsiteX2" fmla="*/ 1037492 w 1570892"/>
              <a:gd name="connsiteY2" fmla="*/ 1617784 h 1617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70892" h="1617784">
                <a:moveTo>
                  <a:pt x="0" y="0"/>
                </a:moveTo>
                <a:cubicBezTo>
                  <a:pt x="612531" y="106973"/>
                  <a:pt x="1225062" y="213946"/>
                  <a:pt x="1397977" y="483577"/>
                </a:cubicBezTo>
                <a:cubicBezTo>
                  <a:pt x="1570892" y="753208"/>
                  <a:pt x="1304192" y="1185496"/>
                  <a:pt x="1037492" y="1617784"/>
                </a:cubicBezTo>
              </a:path>
            </a:pathLst>
          </a:custGeom>
          <a:ln>
            <a:solidFill>
              <a:schemeClr val="accent1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6372200" y="4437112"/>
            <a:ext cx="26787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altLang="ko-KR" sz="1400" dirty="0" smtClean="0"/>
              <a:t> Hello.java</a:t>
            </a:r>
            <a:r>
              <a:rPr lang="ko-KR" altLang="en-US" sz="1400" dirty="0" smtClean="0"/>
              <a:t>를 </a:t>
            </a:r>
            <a:r>
              <a:rPr lang="ko-KR" altLang="en-US" sz="1400" dirty="0" err="1" smtClean="0"/>
              <a:t>컴파일하는</a:t>
            </a:r>
            <a:r>
              <a:rPr lang="ko-KR" altLang="en-US" sz="1400" dirty="0" smtClean="0"/>
              <a:t> 명령</a:t>
            </a:r>
            <a:endParaRPr lang="en-US" altLang="ko-KR" sz="1400" dirty="0" smtClean="0"/>
          </a:p>
          <a:p>
            <a:pPr>
              <a:buFont typeface="Arial" pitchFamily="34" charset="0"/>
              <a:buChar char="•"/>
            </a:pPr>
            <a:r>
              <a:rPr lang="ko-KR" altLang="en-US" sz="1400" dirty="0" smtClean="0"/>
              <a:t> </a:t>
            </a:r>
            <a:r>
              <a:rPr lang="ko-KR" altLang="en-US" sz="1400" dirty="0" err="1" smtClean="0"/>
              <a:t>컴파일되면</a:t>
            </a:r>
            <a:r>
              <a:rPr lang="ko-KR" altLang="en-US" sz="1400" dirty="0" smtClean="0"/>
              <a:t> </a:t>
            </a:r>
            <a:r>
              <a:rPr lang="en-US" altLang="ko-KR" sz="1400" dirty="0" err="1" smtClean="0"/>
              <a:t>Hello.class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생성</a:t>
            </a:r>
            <a:endParaRPr lang="ko-KR" altLang="en-US" sz="1400" dirty="0"/>
          </a:p>
        </p:txBody>
      </p:sp>
      <p:sp>
        <p:nvSpPr>
          <p:cNvPr id="12" name="자유형 11"/>
          <p:cNvSpPr/>
          <p:nvPr/>
        </p:nvSpPr>
        <p:spPr>
          <a:xfrm>
            <a:off x="5429256" y="3357562"/>
            <a:ext cx="856512" cy="1928826"/>
          </a:xfrm>
          <a:custGeom>
            <a:avLst/>
            <a:gdLst>
              <a:gd name="connsiteX0" fmla="*/ 0 w 1570892"/>
              <a:gd name="connsiteY0" fmla="*/ 0 h 1617784"/>
              <a:gd name="connsiteX1" fmla="*/ 1397977 w 1570892"/>
              <a:gd name="connsiteY1" fmla="*/ 483577 h 1617784"/>
              <a:gd name="connsiteX2" fmla="*/ 1037492 w 1570892"/>
              <a:gd name="connsiteY2" fmla="*/ 1617784 h 1617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70892" h="1617784">
                <a:moveTo>
                  <a:pt x="0" y="0"/>
                </a:moveTo>
                <a:cubicBezTo>
                  <a:pt x="612531" y="106973"/>
                  <a:pt x="1225062" y="213946"/>
                  <a:pt x="1397977" y="483577"/>
                </a:cubicBezTo>
                <a:cubicBezTo>
                  <a:pt x="1570892" y="753208"/>
                  <a:pt x="1304192" y="1185496"/>
                  <a:pt x="1037492" y="1617784"/>
                </a:cubicBezTo>
              </a:path>
            </a:pathLst>
          </a:custGeom>
          <a:ln>
            <a:solidFill>
              <a:schemeClr val="accent1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4129320" y="5237731"/>
            <a:ext cx="34563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ko-KR" altLang="en-US" sz="1400" dirty="0" smtClean="0"/>
              <a:t> </a:t>
            </a:r>
            <a:r>
              <a:rPr lang="en-US" altLang="ko-KR" sz="1400" dirty="0" err="1" smtClean="0"/>
              <a:t>Hello.class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파일을 </a:t>
            </a:r>
            <a:r>
              <a:rPr lang="ko-KR" altLang="en-US" sz="1400" dirty="0" err="1" smtClean="0"/>
              <a:t>디어셈블하는</a:t>
            </a:r>
            <a:r>
              <a:rPr lang="ko-KR" altLang="en-US" sz="1400" dirty="0" smtClean="0"/>
              <a:t> 명령</a:t>
            </a:r>
            <a:endParaRPr lang="en-US" altLang="ko-KR" sz="1400" dirty="0" smtClean="0"/>
          </a:p>
          <a:p>
            <a:pPr>
              <a:buFont typeface="Arial" pitchFamily="34" charset="0"/>
              <a:buChar char="•"/>
            </a:pPr>
            <a:r>
              <a:rPr lang="en-US" altLang="ko-KR" sz="1400" dirty="0" smtClean="0"/>
              <a:t> </a:t>
            </a:r>
            <a:r>
              <a:rPr lang="ko-KR" altLang="en-US" sz="1400" dirty="0" err="1" smtClean="0"/>
              <a:t>디어셈블된</a:t>
            </a:r>
            <a:r>
              <a:rPr lang="ko-KR" altLang="en-US" sz="1400" dirty="0" smtClean="0"/>
              <a:t> 결과 </a:t>
            </a:r>
            <a:r>
              <a:rPr lang="en-US" altLang="ko-KR" sz="1400" dirty="0" err="1" smtClean="0"/>
              <a:t>Hello.bc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파일 생성</a:t>
            </a:r>
            <a:endParaRPr lang="ko-KR" altLang="en-US" sz="1400" dirty="0"/>
          </a:p>
        </p:txBody>
      </p:sp>
      <p:sp>
        <p:nvSpPr>
          <p:cNvPr id="15" name="제목 1"/>
          <p:cNvSpPr txBox="1">
            <a:spLocks/>
          </p:cNvSpPr>
          <p:nvPr/>
        </p:nvSpPr>
        <p:spPr>
          <a:xfrm>
            <a:off x="2895710" y="260648"/>
            <a:ext cx="6500826" cy="762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j-cs"/>
              </a:rPr>
              <a:t>10. </a:t>
            </a:r>
            <a:r>
              <a:rPr kumimoji="0" lang="ko-KR" altLang="en-US" sz="40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j-cs"/>
              </a:rPr>
              <a:t>자바 개발 도구</a:t>
            </a:r>
            <a:endParaRPr kumimoji="0" lang="ko-KR" altLang="en-US" sz="4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01351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A6BD2C2-3D3B-4E94-BD92-61B02C5F4DEE}" type="slidenum">
              <a:rPr lang="ko-KR" altLang="en-US" smtClean="0"/>
              <a:pPr/>
              <a:t>35</a:t>
            </a:fld>
            <a:endParaRPr lang="ko-KR" altLang="en-US"/>
          </a:p>
        </p:txBody>
      </p:sp>
      <p:grpSp>
        <p:nvGrpSpPr>
          <p:cNvPr id="3" name="그룹 2"/>
          <p:cNvGrpSpPr/>
          <p:nvPr/>
        </p:nvGrpSpPr>
        <p:grpSpPr>
          <a:xfrm>
            <a:off x="1691680" y="1844824"/>
            <a:ext cx="5688632" cy="4616549"/>
            <a:chOff x="2085990" y="764704"/>
            <a:chExt cx="6153150" cy="6029325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85990" y="764704"/>
              <a:ext cx="6153150" cy="60293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직사각형 3"/>
            <p:cNvSpPr/>
            <p:nvPr/>
          </p:nvSpPr>
          <p:spPr>
            <a:xfrm>
              <a:off x="2714612" y="2428868"/>
              <a:ext cx="714380" cy="640092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4143372" y="2428868"/>
              <a:ext cx="2786082" cy="612934"/>
            </a:xfrm>
            <a:prstGeom prst="wedgeRoundRectCallout">
              <a:avLst>
                <a:gd name="adj1" fmla="val -75646"/>
                <a:gd name="adj2" fmla="val 5595"/>
                <a:gd name="adj3" fmla="val 16667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000" dirty="0" smtClean="0"/>
                <a:t>sum() </a:t>
              </a:r>
              <a:r>
                <a:rPr lang="ko-KR" altLang="en-US" sz="1000" dirty="0" err="1" smtClean="0"/>
                <a:t>메소드를</a:t>
              </a:r>
              <a:r>
                <a:rPr lang="ko-KR" altLang="en-US" sz="1000" dirty="0" smtClean="0"/>
                <a:t> </a:t>
              </a:r>
              <a:r>
                <a:rPr lang="ko-KR" altLang="en-US" sz="1000" dirty="0" err="1" smtClean="0"/>
                <a:t>컴파일한</a:t>
              </a:r>
              <a:r>
                <a:rPr lang="ko-KR" altLang="en-US" sz="1000" dirty="0" smtClean="0"/>
                <a:t> 바이트 코드를 </a:t>
              </a:r>
              <a:r>
                <a:rPr lang="ko-KR" altLang="en-US" sz="1000" dirty="0" err="1" smtClean="0"/>
                <a:t>디어셈블한</a:t>
              </a:r>
              <a:r>
                <a:rPr lang="ko-KR" altLang="en-US" sz="1000" dirty="0" smtClean="0"/>
                <a:t> 결과 </a:t>
              </a:r>
              <a:r>
                <a:rPr lang="en-US" altLang="ko-KR" sz="1000" dirty="0" smtClean="0"/>
                <a:t>(</a:t>
              </a:r>
              <a:r>
                <a:rPr lang="ko-KR" altLang="en-US" sz="1000" dirty="0" smtClean="0"/>
                <a:t>자바의 어셈블리 코드로 출력</a:t>
              </a:r>
              <a:r>
                <a:rPr lang="en-US" altLang="ko-KR" sz="1000" dirty="0" smtClean="0"/>
                <a:t>)</a:t>
              </a:r>
              <a:endParaRPr lang="ko-KR" altLang="en-US" sz="1000" dirty="0"/>
            </a:p>
          </p:txBody>
        </p:sp>
      </p:grpSp>
      <p:sp>
        <p:nvSpPr>
          <p:cNvPr id="9" name="제목 1"/>
          <p:cNvSpPr txBox="1">
            <a:spLocks/>
          </p:cNvSpPr>
          <p:nvPr/>
        </p:nvSpPr>
        <p:spPr>
          <a:xfrm>
            <a:off x="2895710" y="260648"/>
            <a:ext cx="6500826" cy="762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j-cs"/>
              </a:rPr>
              <a:t>10. </a:t>
            </a:r>
            <a:r>
              <a:rPr kumimoji="0" lang="ko-KR" altLang="en-US" sz="40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j-cs"/>
              </a:rPr>
              <a:t>자바 개발 도구</a:t>
            </a:r>
            <a:endParaRPr kumimoji="0" lang="ko-KR" altLang="en-US" sz="4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623546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실</a:t>
            </a:r>
            <a:r>
              <a:rPr lang="ko-KR" altLang="en-US" dirty="0"/>
              <a:t>습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atinLnBrk="0">
              <a:buFont typeface="Wingdings" pitchFamily="2" charset="2"/>
              <a:buChar char="v"/>
            </a:pPr>
            <a:r>
              <a:rPr lang="ko-KR" altLang="en-US" sz="1600" dirty="0" smtClean="0"/>
              <a:t>소스코드 작성</a:t>
            </a:r>
            <a:endParaRPr lang="en-US" altLang="ko-KR" sz="1600" dirty="0" smtClean="0"/>
          </a:p>
          <a:p>
            <a:pPr lvl="1" latinLnBrk="0">
              <a:buNone/>
            </a:pPr>
            <a:r>
              <a:rPr lang="en-US" altLang="ko-KR" sz="1400" dirty="0" smtClean="0"/>
              <a:t>public class Third</a:t>
            </a:r>
          </a:p>
          <a:p>
            <a:pPr lvl="1" latinLnBrk="0">
              <a:buNone/>
            </a:pPr>
            <a:r>
              <a:rPr lang="en-US" altLang="ko-KR" sz="1400" dirty="0" smtClean="0"/>
              <a:t>{</a:t>
            </a:r>
          </a:p>
          <a:p>
            <a:pPr lvl="1" latinLnBrk="0">
              <a:buNone/>
            </a:pPr>
            <a:r>
              <a:rPr lang="en-US" altLang="ko-KR" sz="1400" dirty="0" smtClean="0"/>
              <a:t>	/**</a:t>
            </a:r>
          </a:p>
          <a:p>
            <a:pPr lvl="1" latinLnBrk="0">
              <a:buNone/>
            </a:pPr>
            <a:r>
              <a:rPr lang="en-US" altLang="ko-KR" sz="1400" dirty="0" smtClean="0"/>
              <a:t>	</a:t>
            </a:r>
            <a:r>
              <a:rPr lang="ko-KR" altLang="en-US" sz="1400" dirty="0" smtClean="0"/>
              <a:t>프로그램을 만든 사람</a:t>
            </a:r>
            <a:r>
              <a:rPr lang="en-US" altLang="ko-KR" sz="1400" dirty="0" smtClean="0"/>
              <a:t>: </a:t>
            </a:r>
            <a:r>
              <a:rPr lang="ko-KR" altLang="en-US" sz="1400" dirty="0" smtClean="0"/>
              <a:t>박문석</a:t>
            </a:r>
          </a:p>
          <a:p>
            <a:pPr lvl="1" latinLnBrk="0">
              <a:buNone/>
            </a:pPr>
            <a:r>
              <a:rPr lang="ko-KR" altLang="en-US" sz="1400" dirty="0" smtClean="0"/>
              <a:t>	프로그램을 만든 장소</a:t>
            </a:r>
            <a:r>
              <a:rPr lang="en-US" altLang="ko-KR" sz="1400" dirty="0" smtClean="0"/>
              <a:t>: </a:t>
            </a:r>
            <a:r>
              <a:rPr lang="ko-KR" altLang="en-US" sz="1400" dirty="0" smtClean="0"/>
              <a:t>회사</a:t>
            </a:r>
          </a:p>
          <a:p>
            <a:pPr lvl="1" latinLnBrk="0">
              <a:buNone/>
            </a:pPr>
            <a:r>
              <a:rPr lang="ko-KR" altLang="en-US" sz="1400" dirty="0" smtClean="0"/>
              <a:t>	*</a:t>
            </a:r>
            <a:r>
              <a:rPr lang="en-US" altLang="ko-KR" sz="1400" dirty="0" smtClean="0"/>
              <a:t>/</a:t>
            </a:r>
          </a:p>
          <a:p>
            <a:pPr lvl="1" latinLnBrk="0">
              <a:buNone/>
            </a:pPr>
            <a:endParaRPr lang="en-US" altLang="ko-KR" sz="1400" dirty="0" smtClean="0"/>
          </a:p>
          <a:p>
            <a:pPr lvl="1" latinLnBrk="0">
              <a:buNone/>
            </a:pPr>
            <a:r>
              <a:rPr lang="en-US" altLang="ko-KR" sz="1400" dirty="0" smtClean="0"/>
              <a:t>	public static void main(String </a:t>
            </a:r>
            <a:r>
              <a:rPr lang="en-US" altLang="ko-KR" sz="1400" dirty="0" err="1" smtClean="0"/>
              <a:t>args</a:t>
            </a:r>
            <a:r>
              <a:rPr lang="en-US" altLang="ko-KR" sz="1400" dirty="0" smtClean="0"/>
              <a:t>[])</a:t>
            </a:r>
          </a:p>
          <a:p>
            <a:pPr lvl="1" latinLnBrk="0">
              <a:buNone/>
            </a:pPr>
            <a:r>
              <a:rPr lang="en-US" altLang="ko-KR" sz="1400" dirty="0" smtClean="0"/>
              <a:t>	{</a:t>
            </a:r>
          </a:p>
          <a:p>
            <a:pPr lvl="1" latinLnBrk="0">
              <a:buNone/>
            </a:pPr>
            <a:r>
              <a:rPr lang="en-US" altLang="ko-KR" sz="1400" dirty="0" smtClean="0"/>
              <a:t>	    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</a:t>
            </a:r>
            <a:r>
              <a:rPr lang="en-US" altLang="ko-KR" sz="1400" dirty="0" err="1" smtClean="0"/>
              <a:t>args</a:t>
            </a:r>
            <a:r>
              <a:rPr lang="en-US" altLang="ko-KR" sz="1400" dirty="0" smtClean="0"/>
              <a:t>[0]);</a:t>
            </a:r>
          </a:p>
          <a:p>
            <a:pPr lvl="1" latinLnBrk="0">
              <a:buNone/>
            </a:pPr>
            <a:r>
              <a:rPr lang="en-US" altLang="ko-KR" sz="1400" dirty="0" smtClean="0"/>
              <a:t>	    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</a:t>
            </a:r>
            <a:r>
              <a:rPr lang="en-US" altLang="ko-KR" sz="1400" dirty="0" err="1" smtClean="0"/>
              <a:t>args</a:t>
            </a:r>
            <a:r>
              <a:rPr lang="en-US" altLang="ko-KR" sz="1400" dirty="0" smtClean="0"/>
              <a:t>[1]);</a:t>
            </a:r>
          </a:p>
          <a:p>
            <a:pPr lvl="1" latinLnBrk="0">
              <a:buNone/>
            </a:pPr>
            <a:r>
              <a:rPr lang="en-US" altLang="ko-KR" sz="1400" dirty="0" smtClean="0"/>
              <a:t>	    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</a:t>
            </a:r>
            <a:r>
              <a:rPr lang="en-US" altLang="ko-KR" sz="1400" dirty="0" err="1" smtClean="0"/>
              <a:t>args</a:t>
            </a:r>
            <a:r>
              <a:rPr lang="en-US" altLang="ko-KR" sz="1400" dirty="0" smtClean="0"/>
              <a:t>[2]);</a:t>
            </a:r>
          </a:p>
          <a:p>
            <a:pPr lvl="1" latinLnBrk="0">
              <a:buNone/>
            </a:pPr>
            <a:r>
              <a:rPr lang="en-US" altLang="ko-KR" sz="1400" dirty="0" smtClean="0"/>
              <a:t>    }</a:t>
            </a:r>
          </a:p>
          <a:p>
            <a:pPr lvl="1" latinLnBrk="0">
              <a:buNone/>
            </a:pPr>
            <a:r>
              <a:rPr lang="en-US" altLang="ko-KR" sz="1400" dirty="0" smtClean="0"/>
              <a:t>}</a:t>
            </a:r>
          </a:p>
          <a:p>
            <a:pPr latinLnBrk="0"/>
            <a:endParaRPr lang="en-US" altLang="ko-KR" sz="1800" dirty="0" smtClean="0"/>
          </a:p>
          <a:p>
            <a:pPr latinLnBrk="0">
              <a:buFont typeface="Wingdings" pitchFamily="2" charset="2"/>
              <a:buChar char="v"/>
            </a:pPr>
            <a:r>
              <a:rPr lang="ko-KR" altLang="en-US" sz="1600" dirty="0" smtClean="0"/>
              <a:t>결과</a:t>
            </a:r>
          </a:p>
          <a:p>
            <a:pPr lvl="1" latinLnBrk="0">
              <a:buNone/>
            </a:pPr>
            <a:r>
              <a:rPr lang="ko-KR" altLang="en-US" sz="1400" dirty="0" smtClean="0"/>
              <a:t>도스 창에서 </a:t>
            </a:r>
            <a:r>
              <a:rPr lang="en-US" altLang="ko-KR" sz="1400" dirty="0" smtClean="0"/>
              <a:t>javadoc.exe Third.java</a:t>
            </a:r>
            <a:r>
              <a:rPr lang="ko-KR" altLang="en-US" sz="1400" dirty="0" smtClean="0"/>
              <a:t>라고 입력해서 컴파일하고 파일이 저장된 폴더에 가서</a:t>
            </a:r>
            <a:endParaRPr lang="en-US" altLang="ko-KR" sz="1400" dirty="0" smtClean="0"/>
          </a:p>
          <a:p>
            <a:pPr lvl="1" latinLnBrk="0">
              <a:buNone/>
            </a:pPr>
            <a:r>
              <a:rPr lang="ko-KR" altLang="en-US" sz="1400" dirty="0" smtClean="0"/>
              <a:t>확인하면 됩니다</a:t>
            </a:r>
            <a:r>
              <a:rPr lang="en-US" altLang="ko-KR" sz="1400" dirty="0" smtClean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36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11.</a:t>
            </a:r>
            <a:r>
              <a:rPr lang="ko-KR" altLang="en-US" dirty="0" smtClean="0"/>
              <a:t>자주 발생하는 에러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atinLnBrk="0">
              <a:buFont typeface="Wingdings" pitchFamily="2" charset="2"/>
              <a:buChar char="v"/>
            </a:pPr>
            <a:r>
              <a:rPr lang="en-US" altLang="ko-KR" sz="1700" dirty="0" smtClean="0"/>
              <a:t>cannot find symbol, cannot resolve symbol</a:t>
            </a:r>
          </a:p>
          <a:p>
            <a:pPr lvl="1" latinLnBrk="0">
              <a:buFont typeface="Wingdings" pitchFamily="2" charset="2"/>
              <a:buChar char="v"/>
            </a:pPr>
            <a:r>
              <a:rPr lang="ko-KR" altLang="en-US" sz="1500" dirty="0" smtClean="0"/>
              <a:t>변수나 </a:t>
            </a:r>
            <a:r>
              <a:rPr lang="ko-KR" altLang="en-US" sz="1500" dirty="0" err="1" smtClean="0"/>
              <a:t>메서드를</a:t>
            </a:r>
            <a:r>
              <a:rPr lang="ko-KR" altLang="en-US" sz="1500" dirty="0" smtClean="0"/>
              <a:t> 찾을 수 없는 경우</a:t>
            </a:r>
            <a:endParaRPr lang="en-US" altLang="ko-KR" sz="1500" dirty="0" smtClean="0"/>
          </a:p>
          <a:p>
            <a:pPr latinLnBrk="0">
              <a:buFont typeface="Wingdings" pitchFamily="2" charset="2"/>
              <a:buChar char="v"/>
            </a:pPr>
            <a:endParaRPr lang="ko-KR" altLang="en-US" sz="1900" dirty="0" smtClean="0"/>
          </a:p>
          <a:p>
            <a:pPr latinLnBrk="0">
              <a:buFont typeface="Wingdings" pitchFamily="2" charset="2"/>
              <a:buChar char="v"/>
            </a:pPr>
            <a:r>
              <a:rPr lang="en-US" altLang="ko-KR" sz="1700" dirty="0" smtClean="0"/>
              <a:t>‘;’ expected</a:t>
            </a:r>
          </a:p>
          <a:p>
            <a:pPr lvl="1" latinLnBrk="0">
              <a:buFont typeface="Wingdings" pitchFamily="2" charset="2"/>
              <a:buChar char="v"/>
            </a:pPr>
            <a:r>
              <a:rPr lang="en-US" altLang="ko-KR" sz="1500" dirty="0" smtClean="0"/>
              <a:t>;</a:t>
            </a:r>
            <a:r>
              <a:rPr lang="ko-KR" altLang="en-US" sz="1500" dirty="0" smtClean="0"/>
              <a:t>이 빠진 경우</a:t>
            </a:r>
            <a:endParaRPr lang="en-US" altLang="ko-KR" sz="1500" dirty="0" smtClean="0"/>
          </a:p>
          <a:p>
            <a:pPr latinLnBrk="0">
              <a:buFont typeface="Wingdings" pitchFamily="2" charset="2"/>
              <a:buChar char="v"/>
            </a:pPr>
            <a:endParaRPr lang="ko-KR" altLang="en-US" sz="1900" dirty="0" smtClean="0"/>
          </a:p>
          <a:p>
            <a:pPr latinLnBrk="0">
              <a:buFont typeface="Wingdings" pitchFamily="2" charset="2"/>
              <a:buChar char="v"/>
            </a:pPr>
            <a:r>
              <a:rPr lang="en-US" altLang="ko-KR" sz="1700" dirty="0" smtClean="0"/>
              <a:t>exception in thread main </a:t>
            </a:r>
            <a:r>
              <a:rPr lang="en-US" altLang="ko-KR" sz="1700" dirty="0" err="1" smtClean="0"/>
              <a:t>java.lang.NoSuchMethodError</a:t>
            </a:r>
            <a:r>
              <a:rPr lang="en-US" altLang="ko-KR" sz="1700" dirty="0" smtClean="0"/>
              <a:t>: main</a:t>
            </a:r>
          </a:p>
          <a:p>
            <a:pPr lvl="1" latinLnBrk="0">
              <a:buFont typeface="Wingdings" pitchFamily="2" charset="2"/>
              <a:buChar char="v"/>
            </a:pPr>
            <a:r>
              <a:rPr lang="en-US" altLang="ko-KR" sz="1500" dirty="0" smtClean="0"/>
              <a:t>main </a:t>
            </a:r>
            <a:r>
              <a:rPr lang="ko-KR" altLang="en-US" sz="1500" dirty="0" err="1" smtClean="0"/>
              <a:t>메서드를</a:t>
            </a:r>
            <a:r>
              <a:rPr lang="ko-KR" altLang="en-US" sz="1500" dirty="0" smtClean="0"/>
              <a:t> 찾지 못하는 경우</a:t>
            </a:r>
          </a:p>
          <a:p>
            <a:pPr latinLnBrk="0">
              <a:buFont typeface="Wingdings" pitchFamily="2" charset="2"/>
              <a:buChar char="v"/>
            </a:pPr>
            <a:endParaRPr lang="ko-KR" altLang="en-US" sz="1900" dirty="0" smtClean="0"/>
          </a:p>
          <a:p>
            <a:pPr latinLnBrk="0">
              <a:buFont typeface="Wingdings" pitchFamily="2" charset="2"/>
              <a:buChar char="v"/>
            </a:pPr>
            <a:r>
              <a:rPr lang="en-US" altLang="ko-KR" sz="1700" dirty="0" smtClean="0"/>
              <a:t>exception in thread main </a:t>
            </a:r>
            <a:r>
              <a:rPr lang="en-US" altLang="ko-KR" sz="1700" dirty="0" err="1" smtClean="0"/>
              <a:t>java.lang.NoClssDefFoundError</a:t>
            </a:r>
            <a:r>
              <a:rPr lang="en-US" altLang="ko-KR" sz="1700" dirty="0" smtClean="0"/>
              <a:t> : </a:t>
            </a:r>
            <a:r>
              <a:rPr lang="ko-KR" altLang="en-US" sz="1700" dirty="0" err="1" smtClean="0"/>
              <a:t>클래스명</a:t>
            </a:r>
            <a:endParaRPr lang="ko-KR" altLang="en-US" sz="1700" dirty="0" smtClean="0"/>
          </a:p>
          <a:p>
            <a:pPr lvl="1" latinLnBrk="0">
              <a:buFont typeface="Wingdings" pitchFamily="2" charset="2"/>
              <a:buChar char="v"/>
            </a:pPr>
            <a:r>
              <a:rPr lang="ko-KR" altLang="en-US" sz="1500" dirty="0" smtClean="0"/>
              <a:t>클래스를 찾을 수 없는 경우</a:t>
            </a:r>
          </a:p>
          <a:p>
            <a:pPr latinLnBrk="0">
              <a:buFont typeface="Wingdings" pitchFamily="2" charset="2"/>
              <a:buChar char="v"/>
            </a:pPr>
            <a:endParaRPr lang="ko-KR" altLang="en-US" sz="1900" dirty="0" smtClean="0"/>
          </a:p>
          <a:p>
            <a:pPr latinLnBrk="0">
              <a:buFont typeface="Wingdings" pitchFamily="2" charset="2"/>
              <a:buChar char="v"/>
            </a:pPr>
            <a:r>
              <a:rPr lang="en-US" altLang="ko-KR" sz="1700" dirty="0" smtClean="0"/>
              <a:t>illegal start of expression</a:t>
            </a:r>
          </a:p>
          <a:p>
            <a:pPr lvl="1" latinLnBrk="0">
              <a:buFont typeface="Wingdings" pitchFamily="2" charset="2"/>
              <a:buChar char="v"/>
            </a:pPr>
            <a:r>
              <a:rPr lang="ko-KR" altLang="en-US" sz="1500" dirty="0" smtClean="0"/>
              <a:t>문법적 오류</a:t>
            </a:r>
            <a:r>
              <a:rPr lang="en-US" altLang="ko-KR" sz="1500" dirty="0" smtClean="0"/>
              <a:t>(</a:t>
            </a:r>
            <a:r>
              <a:rPr lang="ko-KR" altLang="en-US" sz="1500" dirty="0" smtClean="0"/>
              <a:t>여는 괄호와 닫는 괄호의 불일치 등</a:t>
            </a:r>
            <a:r>
              <a:rPr lang="en-US" altLang="ko-KR" sz="1500" dirty="0" smtClean="0"/>
              <a:t>)</a:t>
            </a:r>
          </a:p>
          <a:p>
            <a:pPr latinLnBrk="0">
              <a:buFont typeface="Wingdings" pitchFamily="2" charset="2"/>
              <a:buChar char="v"/>
            </a:pPr>
            <a:endParaRPr lang="en-US" altLang="ko-KR" sz="1900" dirty="0" smtClean="0"/>
          </a:p>
          <a:p>
            <a:pPr latinLnBrk="0">
              <a:buFont typeface="Wingdings" pitchFamily="2" charset="2"/>
              <a:buChar char="v"/>
            </a:pPr>
            <a:r>
              <a:rPr lang="en-US" altLang="ko-KR" sz="1700" dirty="0" smtClean="0"/>
              <a:t>class, interface, or </a:t>
            </a:r>
            <a:r>
              <a:rPr lang="en-US" altLang="ko-KR" sz="1700" dirty="0" err="1" smtClean="0"/>
              <a:t>enum</a:t>
            </a:r>
            <a:r>
              <a:rPr lang="en-US" altLang="ko-KR" sz="1700" dirty="0" smtClean="0"/>
              <a:t> expected</a:t>
            </a:r>
          </a:p>
          <a:p>
            <a:pPr lvl="1" latinLnBrk="0">
              <a:buFont typeface="Wingdings" pitchFamily="2" charset="2"/>
              <a:buChar char="v"/>
            </a:pPr>
            <a:r>
              <a:rPr lang="ko-KR" altLang="en-US" sz="1500" dirty="0" smtClean="0"/>
              <a:t>키워드가 생략된 경우</a:t>
            </a:r>
          </a:p>
          <a:p>
            <a:pPr latinLnBrk="0">
              <a:buFont typeface="Wingdings" pitchFamily="2" charset="2"/>
              <a:buChar char="v"/>
            </a:pPr>
            <a:endParaRPr lang="en-US" altLang="ko-KR" sz="18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37</a:t>
            </a:fld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12.Eclipse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altLang="ko-KR" sz="1600" b="1" dirty="0" smtClean="0"/>
              <a:t>IBM, Borland </a:t>
            </a:r>
            <a:r>
              <a:rPr lang="ko-KR" altLang="en-US" sz="1600" b="1" dirty="0" smtClean="0"/>
              <a:t>등의 업체를 중심으로 오픈 소스로 개발되고 있는 통합개발도구</a:t>
            </a:r>
            <a:r>
              <a:rPr lang="en-US" altLang="ko-KR" sz="1600" b="1" dirty="0" smtClean="0"/>
              <a:t>(IDE)</a:t>
            </a:r>
          </a:p>
          <a:p>
            <a:pPr>
              <a:buFont typeface="Wingdings" pitchFamily="2" charset="2"/>
              <a:buChar char="v"/>
            </a:pPr>
            <a:r>
              <a:rPr lang="ko-KR" altLang="en-US" sz="1600" b="1" dirty="0" smtClean="0"/>
              <a:t>다른 개발 환경에 비해 사용하기 편리하고 프로그램 개발에 필요한 각종 기능을 플러그 인 형태로 제공</a:t>
            </a:r>
            <a:endParaRPr lang="en-US" altLang="ko-KR" sz="1600" b="1" dirty="0" smtClean="0"/>
          </a:p>
          <a:p>
            <a:pPr>
              <a:buFont typeface="Wingdings" pitchFamily="2" charset="2"/>
              <a:buChar char="v"/>
            </a:pPr>
            <a:r>
              <a:rPr lang="ko-KR" altLang="en-US" sz="1600" b="1" dirty="0" smtClean="0"/>
              <a:t>다운로드 사이트</a:t>
            </a:r>
            <a:r>
              <a:rPr lang="en-US" altLang="ko-KR" sz="1600" b="1" dirty="0" smtClean="0"/>
              <a:t>: </a:t>
            </a:r>
            <a:r>
              <a:rPr lang="en-US" altLang="ko-KR" sz="1600" b="1" dirty="0" smtClean="0">
                <a:hlinkClick r:id="rId2"/>
              </a:rPr>
              <a:t>http://www.eclipse.org/downloads/</a:t>
            </a:r>
            <a:endParaRPr lang="en-US" altLang="ko-KR" sz="1600" b="1" dirty="0" smtClean="0"/>
          </a:p>
          <a:p>
            <a:pPr>
              <a:buFont typeface="Wingdings" pitchFamily="2" charset="2"/>
              <a:buChar char="v"/>
            </a:pPr>
            <a:r>
              <a:rPr lang="ko-KR" altLang="en-US" sz="1600" b="1" dirty="0" smtClean="0"/>
              <a:t>다운로드 받은 파일을 받아서 압축을 해제한 후 폴더에 가보면 </a:t>
            </a:r>
            <a:r>
              <a:rPr lang="en-US" altLang="ko-KR" sz="1600" b="1" dirty="0" smtClean="0"/>
              <a:t>eclipse.exe </a:t>
            </a:r>
            <a:r>
              <a:rPr lang="ko-KR" altLang="en-US" sz="1600" b="1" dirty="0" smtClean="0"/>
              <a:t>파일이 있으며 그 파일을 실행하면 됩니다</a:t>
            </a:r>
            <a:r>
              <a:rPr lang="en-US" altLang="ko-KR" sz="1600" b="1" dirty="0" smtClean="0"/>
              <a:t>.</a:t>
            </a:r>
          </a:p>
          <a:p>
            <a:pPr>
              <a:buFont typeface="Wingdings" pitchFamily="2" charset="2"/>
              <a:buChar char="v"/>
            </a:pPr>
            <a:r>
              <a:rPr lang="ko-KR" altLang="en-US" sz="1600" b="1" dirty="0" err="1" smtClean="0"/>
              <a:t>이클립스에서는</a:t>
            </a:r>
            <a:r>
              <a:rPr lang="ko-KR" altLang="en-US" sz="1600" b="1" dirty="0" smtClean="0"/>
              <a:t> 프로젝트</a:t>
            </a:r>
            <a:r>
              <a:rPr lang="en-US" altLang="ko-KR" sz="1600" b="1" dirty="0" smtClean="0"/>
              <a:t>(</a:t>
            </a:r>
            <a:r>
              <a:rPr lang="ko-KR" altLang="en-US" sz="1600" b="1" dirty="0" smtClean="0"/>
              <a:t>폴더</a:t>
            </a:r>
            <a:r>
              <a:rPr lang="en-US" altLang="ko-KR" sz="1600" b="1" dirty="0" smtClean="0"/>
              <a:t>)</a:t>
            </a:r>
            <a:r>
              <a:rPr lang="ko-KR" altLang="en-US" sz="1600" b="1" dirty="0" smtClean="0"/>
              <a:t>를 기본 단위로 해서 여러 개의 자바 파일을 포함하고 있습니다</a:t>
            </a:r>
            <a:r>
              <a:rPr lang="en-US" altLang="ko-KR" sz="1600" b="1" dirty="0" smtClean="0"/>
              <a:t>.</a:t>
            </a:r>
            <a:endParaRPr lang="ko-KR" altLang="en-US" sz="1600" b="1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38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12.Eclipse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A6BD2C2-3D3B-4E94-BD92-61B02C5F4DEE}" type="slidenum">
              <a:rPr lang="ko-KR" altLang="en-US" smtClean="0"/>
              <a:pPr/>
              <a:t>39</a:t>
            </a:fld>
            <a:endParaRPr lang="ko-KR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6140" y="1340768"/>
            <a:ext cx="3125433" cy="2088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372200" y="2163547"/>
            <a:ext cx="1512168" cy="272415"/>
          </a:xfrm>
          <a:prstGeom prst="wedgeRoundRectCallout">
            <a:avLst>
              <a:gd name="adj1" fmla="val -84672"/>
              <a:gd name="adj2" fmla="val 30025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00" err="1" smtClean="0"/>
              <a:t>이클립스</a:t>
            </a:r>
            <a:r>
              <a:rPr lang="ko-KR" altLang="en-US" sz="1000" dirty="0" smtClean="0"/>
              <a:t> </a:t>
            </a:r>
            <a:r>
              <a:rPr lang="en-US" altLang="ko-KR" sz="1000" dirty="0" smtClean="0"/>
              <a:t>Juno </a:t>
            </a:r>
            <a:r>
              <a:rPr lang="ko-KR" altLang="en-US" sz="1000" dirty="0" err="1" smtClean="0"/>
              <a:t>배포판</a:t>
            </a:r>
            <a:endParaRPr lang="ko-KR" altLang="en-US" sz="1000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0393" y="3704803"/>
            <a:ext cx="5876925" cy="267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2674789" y="5115072"/>
            <a:ext cx="1814066" cy="272415"/>
          </a:xfrm>
          <a:prstGeom prst="wedgeRoundRectCallout">
            <a:avLst>
              <a:gd name="adj1" fmla="val -48976"/>
              <a:gd name="adj2" fmla="val -126767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00" dirty="0" smtClean="0"/>
              <a:t>작업 공간 폴더 지정</a:t>
            </a:r>
            <a:endParaRPr lang="ko-KR" altLang="en-US" sz="1000" dirty="0"/>
          </a:p>
        </p:txBody>
      </p:sp>
    </p:spTree>
    <p:extLst>
      <p:ext uri="{BB962C8B-B14F-4D97-AF65-F5344CB8AC3E}">
        <p14:creationId xmlns="" xmlns:p14="http://schemas.microsoft.com/office/powerpoint/2010/main" val="114820969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12.Eclipse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A6BD2C2-3D3B-4E94-BD92-61B02C5F4DEE}" type="slidenum">
              <a:rPr lang="ko-KR" altLang="en-US" smtClean="0"/>
              <a:pPr/>
              <a:t>40</a:t>
            </a:fld>
            <a:endParaRPr lang="ko-KR" altLang="en-US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412776"/>
            <a:ext cx="5952342" cy="5184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192651183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12.Eclipse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A6BD2C2-3D3B-4E94-BD92-61B02C5F4DEE}" type="slidenum">
              <a:rPr lang="ko-KR" altLang="en-US" smtClean="0"/>
              <a:pPr/>
              <a:t>41</a:t>
            </a:fld>
            <a:endParaRPr lang="ko-KR" alt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3" y="2188953"/>
            <a:ext cx="5590381" cy="44804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5580112" y="3243609"/>
            <a:ext cx="808819" cy="442674"/>
          </a:xfrm>
          <a:prstGeom prst="wedgeRoundRectCallout">
            <a:avLst>
              <a:gd name="adj1" fmla="val -84672"/>
              <a:gd name="adj2" fmla="val 12989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Project</a:t>
            </a:r>
          </a:p>
          <a:p>
            <a:r>
              <a:rPr lang="ko-KR" altLang="en-US" sz="1000" dirty="0" smtClean="0"/>
              <a:t>메뉴 선택</a:t>
            </a:r>
            <a:endParaRPr lang="ko-KR" altLang="en-US" sz="1000" dirty="0"/>
          </a:p>
        </p:txBody>
      </p:sp>
      <p:sp>
        <p:nvSpPr>
          <p:cNvPr id="6" name="제목 6"/>
          <p:cNvSpPr txBox="1">
            <a:spLocks/>
          </p:cNvSpPr>
          <p:nvPr/>
        </p:nvSpPr>
        <p:spPr bwMode="white">
          <a:xfrm>
            <a:off x="2195736" y="1154832"/>
            <a:ext cx="63246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j-cs"/>
              </a:rPr>
              <a:t>프로젝트 생성</a:t>
            </a:r>
            <a:endParaRPr kumimoji="0" lang="ko-KR" altLang="en-US" sz="36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j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88404273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A6BD2C2-3D3B-4E94-BD92-61B02C5F4DEE}" type="slidenum">
              <a:rPr lang="ko-KR" altLang="en-US" smtClean="0"/>
              <a:pPr/>
              <a:t>42</a:t>
            </a:fld>
            <a:endParaRPr lang="ko-KR" altLang="en-US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916832"/>
            <a:ext cx="4000500" cy="430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243658" y="2853154"/>
            <a:ext cx="1296144" cy="272415"/>
          </a:xfrm>
          <a:prstGeom prst="wedgeRoundRectCallout">
            <a:avLst>
              <a:gd name="adj1" fmla="val -37397"/>
              <a:gd name="adj2" fmla="val 159127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Java Project </a:t>
            </a:r>
            <a:r>
              <a:rPr lang="ko-KR" altLang="en-US" sz="1000" dirty="0" smtClean="0"/>
              <a:t>선택</a:t>
            </a:r>
            <a:endParaRPr lang="ko-KR" altLang="en-US" sz="1000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1843252"/>
            <a:ext cx="3511569" cy="4682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6156176" y="2348880"/>
            <a:ext cx="1368152" cy="272415"/>
          </a:xfrm>
          <a:prstGeom prst="wedgeRoundRectCallout">
            <a:avLst>
              <a:gd name="adj1" fmla="val -42488"/>
              <a:gd name="adj2" fmla="val 82997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00" dirty="0" smtClean="0"/>
              <a:t>프로젝트 이름 지정</a:t>
            </a:r>
            <a:endParaRPr lang="ko-KR" altLang="en-US" sz="1000" dirty="0"/>
          </a:p>
        </p:txBody>
      </p:sp>
      <p:sp>
        <p:nvSpPr>
          <p:cNvPr id="9" name="TextBox 8"/>
          <p:cNvSpPr txBox="1"/>
          <p:nvPr/>
        </p:nvSpPr>
        <p:spPr>
          <a:xfrm>
            <a:off x="7380312" y="2996952"/>
            <a:ext cx="1440160" cy="442674"/>
          </a:xfrm>
          <a:prstGeom prst="wedgeRoundRectCallout">
            <a:avLst>
              <a:gd name="adj1" fmla="val -39043"/>
              <a:gd name="adj2" fmla="val 68091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00" dirty="0" smtClean="0"/>
              <a:t>이 컴퓨터에 </a:t>
            </a:r>
            <a:r>
              <a:rPr lang="en-US" altLang="ko-KR" sz="1000" dirty="0" smtClean="0"/>
              <a:t>JDK 7</a:t>
            </a:r>
            <a:r>
              <a:rPr lang="ko-KR" altLang="en-US" sz="1000" dirty="0" smtClean="0"/>
              <a:t>이 설치되어 있음</a:t>
            </a:r>
            <a:r>
              <a:rPr lang="en-US" altLang="ko-KR" sz="1000" dirty="0" smtClean="0"/>
              <a:t>. </a:t>
            </a:r>
            <a:r>
              <a:rPr lang="ko-KR" altLang="en-US" sz="1000" dirty="0" smtClean="0"/>
              <a:t>자동</a:t>
            </a:r>
            <a:endParaRPr lang="ko-KR" altLang="en-US" sz="1000" dirty="0"/>
          </a:p>
        </p:txBody>
      </p:sp>
      <p:sp>
        <p:nvSpPr>
          <p:cNvPr id="10" name="TextBox 9"/>
          <p:cNvSpPr txBox="1"/>
          <p:nvPr/>
        </p:nvSpPr>
        <p:spPr>
          <a:xfrm>
            <a:off x="7219473" y="5772599"/>
            <a:ext cx="864096" cy="272415"/>
          </a:xfrm>
          <a:prstGeom prst="wedgeRoundRectCallout">
            <a:avLst>
              <a:gd name="adj1" fmla="val -14583"/>
              <a:gd name="adj2" fmla="val 86458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000" smtClean="0"/>
              <a:t>Finish </a:t>
            </a:r>
            <a:r>
              <a:rPr lang="ko-KR" altLang="en-US" sz="1000" dirty="0" smtClean="0"/>
              <a:t>선</a:t>
            </a:r>
            <a:r>
              <a:rPr lang="ko-KR" altLang="en-US" sz="1000" dirty="0"/>
              <a:t>택</a:t>
            </a:r>
          </a:p>
        </p:txBody>
      </p:sp>
      <p:sp>
        <p:nvSpPr>
          <p:cNvPr id="11" name="제목 6"/>
          <p:cNvSpPr txBox="1">
            <a:spLocks/>
          </p:cNvSpPr>
          <p:nvPr/>
        </p:nvSpPr>
        <p:spPr bwMode="white">
          <a:xfrm>
            <a:off x="2406650" y="260648"/>
            <a:ext cx="63246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6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j-cs"/>
              </a:rPr>
              <a:t>12.Eclipse</a:t>
            </a:r>
            <a:endParaRPr kumimoji="0" lang="ko-KR" altLang="en-US" sz="36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j-cs"/>
            </a:endParaRPr>
          </a:p>
        </p:txBody>
      </p:sp>
      <p:sp>
        <p:nvSpPr>
          <p:cNvPr id="12" name="제목 6"/>
          <p:cNvSpPr txBox="1">
            <a:spLocks/>
          </p:cNvSpPr>
          <p:nvPr/>
        </p:nvSpPr>
        <p:spPr bwMode="white">
          <a:xfrm>
            <a:off x="2195736" y="1154832"/>
            <a:ext cx="63246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j-cs"/>
              </a:rPr>
              <a:t>프로젝트 생성</a:t>
            </a:r>
            <a:endParaRPr kumimoji="0" lang="ko-KR" altLang="en-US" sz="36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j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58457960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483768" y="836712"/>
            <a:ext cx="4320480" cy="762000"/>
          </a:xfrm>
        </p:spPr>
        <p:txBody>
          <a:bodyPr/>
          <a:lstStyle/>
          <a:p>
            <a:r>
              <a:rPr lang="ko-KR" altLang="en-US" dirty="0" smtClean="0">
                <a:solidFill>
                  <a:srgbClr val="FF0000"/>
                </a:solidFill>
              </a:rPr>
              <a:t>클래스 생성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A6BD2C2-3D3B-4E94-BD92-61B02C5F4DEE}" type="slidenum">
              <a:rPr lang="ko-KR" altLang="en-US" smtClean="0"/>
              <a:pPr/>
              <a:t>43</a:t>
            </a:fld>
            <a:endParaRPr lang="ko-KR" altLang="en-US"/>
          </a:p>
        </p:txBody>
      </p:sp>
      <p:sp>
        <p:nvSpPr>
          <p:cNvPr id="7270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2060848"/>
            <a:ext cx="3876668" cy="4547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직사각형 5"/>
          <p:cNvSpPr/>
          <p:nvPr/>
        </p:nvSpPr>
        <p:spPr>
          <a:xfrm>
            <a:off x="323528" y="1484784"/>
            <a:ext cx="31261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File-&gt;New-&gt;</a:t>
            </a:r>
            <a:r>
              <a:rPr lang="en-US" altLang="ko-KR" dirty="0" smtClean="0"/>
              <a:t>Class </a:t>
            </a:r>
            <a:r>
              <a:rPr lang="ko-KR" altLang="en-US" dirty="0" smtClean="0"/>
              <a:t>메뉴 선택</a:t>
            </a:r>
            <a:endParaRPr lang="ko-KR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4499992" y="3429000"/>
            <a:ext cx="1230458" cy="272415"/>
          </a:xfrm>
          <a:prstGeom prst="wedgeRoundRectCallout">
            <a:avLst>
              <a:gd name="adj1" fmla="val -74658"/>
              <a:gd name="adj2" fmla="val 40408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00" smtClean="0"/>
              <a:t>클래스 이름 입력</a:t>
            </a:r>
            <a:endParaRPr lang="ko-KR" altLang="en-US" sz="1000" dirty="0"/>
          </a:p>
        </p:txBody>
      </p:sp>
      <p:sp>
        <p:nvSpPr>
          <p:cNvPr id="15" name="TextBox 14"/>
          <p:cNvSpPr txBox="1"/>
          <p:nvPr/>
        </p:nvSpPr>
        <p:spPr>
          <a:xfrm>
            <a:off x="4644008" y="5805264"/>
            <a:ext cx="864096" cy="272415"/>
          </a:xfrm>
          <a:prstGeom prst="wedgeRoundRectCallout">
            <a:avLst>
              <a:gd name="adj1" fmla="val -14583"/>
              <a:gd name="adj2" fmla="val 86458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Finish </a:t>
            </a:r>
            <a:r>
              <a:rPr lang="ko-KR" altLang="en-US" sz="1000" dirty="0" smtClean="0"/>
              <a:t>선</a:t>
            </a:r>
            <a:r>
              <a:rPr lang="ko-KR" altLang="en-US" sz="1000" dirty="0"/>
              <a:t>택</a:t>
            </a:r>
          </a:p>
        </p:txBody>
      </p:sp>
      <p:sp>
        <p:nvSpPr>
          <p:cNvPr id="12" name="제목 6"/>
          <p:cNvSpPr txBox="1">
            <a:spLocks/>
          </p:cNvSpPr>
          <p:nvPr/>
        </p:nvSpPr>
        <p:spPr bwMode="white">
          <a:xfrm>
            <a:off x="2406650" y="260648"/>
            <a:ext cx="63246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6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j-cs"/>
              </a:rPr>
              <a:t>12.Eclipse</a:t>
            </a:r>
            <a:endParaRPr kumimoji="0" lang="ko-KR" altLang="en-US" sz="36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j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87854983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2525" y="1595438"/>
            <a:ext cx="6838950" cy="3667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A6BD2C2-3D3B-4E94-BD92-61B02C5F4DEE}" type="slidenum">
              <a:rPr lang="ko-KR" altLang="en-US" smtClean="0"/>
              <a:pPr/>
              <a:t>44</a:t>
            </a:fld>
            <a:endParaRPr lang="ko-KR" altLang="en-US"/>
          </a:p>
        </p:txBody>
      </p:sp>
      <p:sp>
        <p:nvSpPr>
          <p:cNvPr id="7373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" name="제목 6"/>
          <p:cNvSpPr txBox="1">
            <a:spLocks/>
          </p:cNvSpPr>
          <p:nvPr/>
        </p:nvSpPr>
        <p:spPr bwMode="white">
          <a:xfrm>
            <a:off x="2406650" y="260648"/>
            <a:ext cx="63246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6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j-cs"/>
              </a:rPr>
              <a:t>12.Eclipse</a:t>
            </a:r>
            <a:endParaRPr kumimoji="0" lang="ko-KR" altLang="en-US" sz="36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j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0262328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슬라이드 번호 개체 틀 10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A6BD2C2-3D3B-4E94-BD92-61B02C5F4DEE}" type="slidenum">
              <a:rPr lang="ko-KR" altLang="en-US" smtClean="0"/>
              <a:pPr/>
              <a:t>45</a:t>
            </a:fld>
            <a:endParaRPr lang="ko-KR" altLang="en-US"/>
          </a:p>
        </p:txBody>
      </p:sp>
      <p:sp>
        <p:nvSpPr>
          <p:cNvPr id="7475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4756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cxnSp>
        <p:nvCxnSpPr>
          <p:cNvPr id="10" name="직선 화살표 연결선 9"/>
          <p:cNvCxnSpPr/>
          <p:nvPr/>
        </p:nvCxnSpPr>
        <p:spPr>
          <a:xfrm rot="10800000" flipV="1">
            <a:off x="3071802" y="2110006"/>
            <a:ext cx="4572032" cy="1529846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514092"/>
            <a:ext cx="7810500" cy="4791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타원 4"/>
          <p:cNvSpPr/>
          <p:nvPr/>
        </p:nvSpPr>
        <p:spPr>
          <a:xfrm>
            <a:off x="2195736" y="1925340"/>
            <a:ext cx="504056" cy="3693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2123728" y="1506283"/>
            <a:ext cx="876064" cy="272415"/>
          </a:xfrm>
          <a:prstGeom prst="wedgeRoundRectCallout">
            <a:avLst>
              <a:gd name="adj1" fmla="val -28948"/>
              <a:gd name="adj2" fmla="val 113078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00" dirty="0" smtClean="0"/>
              <a:t>실행 버튼</a:t>
            </a:r>
            <a:endParaRPr lang="ko-KR" altLang="en-US" sz="1000" dirty="0"/>
          </a:p>
        </p:txBody>
      </p:sp>
      <p:sp>
        <p:nvSpPr>
          <p:cNvPr id="14" name="TextBox 13"/>
          <p:cNvSpPr txBox="1"/>
          <p:nvPr/>
        </p:nvSpPr>
        <p:spPr>
          <a:xfrm>
            <a:off x="3762571" y="1514092"/>
            <a:ext cx="1618858" cy="272415"/>
          </a:xfrm>
          <a:prstGeom prst="wedgeRoundRectCallout">
            <a:avLst>
              <a:gd name="adj1" fmla="val -27126"/>
              <a:gd name="adj2" fmla="val 71553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Run -&gt; Run </a:t>
            </a:r>
            <a:r>
              <a:rPr lang="ko-KR" altLang="en-US" sz="1000" dirty="0" smtClean="0"/>
              <a:t>실행 메뉴</a:t>
            </a:r>
            <a:endParaRPr lang="ko-KR" altLang="en-US" sz="1000" dirty="0"/>
          </a:p>
        </p:txBody>
      </p:sp>
      <p:sp>
        <p:nvSpPr>
          <p:cNvPr id="16" name="TextBox 15"/>
          <p:cNvSpPr txBox="1"/>
          <p:nvPr/>
        </p:nvSpPr>
        <p:spPr>
          <a:xfrm>
            <a:off x="1007569" y="5301208"/>
            <a:ext cx="948072" cy="272415"/>
          </a:xfrm>
          <a:prstGeom prst="wedgeRoundRectCallout">
            <a:avLst>
              <a:gd name="adj1" fmla="val 75265"/>
              <a:gd name="adj2" fmla="val 26566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00" smtClean="0"/>
              <a:t>콘솔 윈도우</a:t>
            </a:r>
            <a:endParaRPr lang="ko-KR" altLang="en-US" sz="1000" dirty="0"/>
          </a:p>
        </p:txBody>
      </p:sp>
      <p:sp>
        <p:nvSpPr>
          <p:cNvPr id="17" name="TextBox 16"/>
          <p:cNvSpPr txBox="1"/>
          <p:nvPr/>
        </p:nvSpPr>
        <p:spPr>
          <a:xfrm>
            <a:off x="1007568" y="4869160"/>
            <a:ext cx="840095" cy="272415"/>
          </a:xfrm>
          <a:prstGeom prst="wedgeRoundRectCallout">
            <a:avLst>
              <a:gd name="adj1" fmla="val 75265"/>
              <a:gd name="adj2" fmla="val 26566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00" smtClean="0"/>
              <a:t>실행 결과</a:t>
            </a:r>
            <a:endParaRPr lang="ko-KR" altLang="en-US" sz="1000" dirty="0"/>
          </a:p>
        </p:txBody>
      </p:sp>
      <p:sp>
        <p:nvSpPr>
          <p:cNvPr id="18" name="제목 6"/>
          <p:cNvSpPr txBox="1">
            <a:spLocks/>
          </p:cNvSpPr>
          <p:nvPr/>
        </p:nvSpPr>
        <p:spPr bwMode="white">
          <a:xfrm>
            <a:off x="2406650" y="260648"/>
            <a:ext cx="63246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6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j-cs"/>
              </a:rPr>
              <a:t>12.Eclipse</a:t>
            </a:r>
            <a:endParaRPr kumimoji="0" lang="ko-KR" altLang="en-US" sz="36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j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749211121"/>
      </p:ext>
    </p:extLst>
  </p:cSld>
  <p:clrMapOvr>
    <a:masterClrMapping/>
  </p:clrMapOvr>
</p:sld>
</file>

<file path=ppt/theme/theme1.xml><?xml version="1.0" encoding="utf-8"?>
<a:theme xmlns:a="http://schemas.openxmlformats.org/drawingml/2006/main" name="ms01_1">
  <a:themeElements>
    <a:clrScheme name="ms01_1 3">
      <a:dk1>
        <a:srgbClr val="808080"/>
      </a:dk1>
      <a:lt1>
        <a:srgbClr val="FFFFFF"/>
      </a:lt1>
      <a:dk2>
        <a:srgbClr val="FFFFFF"/>
      </a:dk2>
      <a:lt2>
        <a:srgbClr val="B2B2B2"/>
      </a:lt2>
      <a:accent1>
        <a:srgbClr val="058089"/>
      </a:accent1>
      <a:accent2>
        <a:srgbClr val="66BE0E"/>
      </a:accent2>
      <a:accent3>
        <a:srgbClr val="FFFFFF"/>
      </a:accent3>
      <a:accent4>
        <a:srgbClr val="6C6C6C"/>
      </a:accent4>
      <a:accent5>
        <a:srgbClr val="AAC0C4"/>
      </a:accent5>
      <a:accent6>
        <a:srgbClr val="5CAC0C"/>
      </a:accent6>
      <a:hlink>
        <a:srgbClr val="2CA9D0"/>
      </a:hlink>
      <a:folHlink>
        <a:srgbClr val="4841D9"/>
      </a:folHlink>
    </a:clrScheme>
    <a:fontScheme name="ms01_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ms01_1 1">
        <a:dk1>
          <a:srgbClr val="1D528D"/>
        </a:dk1>
        <a:lt1>
          <a:srgbClr val="FFFFFF"/>
        </a:lt1>
        <a:dk2>
          <a:srgbClr val="000000"/>
        </a:dk2>
        <a:lt2>
          <a:srgbClr val="CACACA"/>
        </a:lt2>
        <a:accent1>
          <a:srgbClr val="0099CC"/>
        </a:accent1>
        <a:accent2>
          <a:srgbClr val="BFA907"/>
        </a:accent2>
        <a:accent3>
          <a:srgbClr val="FFFFFF"/>
        </a:accent3>
        <a:accent4>
          <a:srgbClr val="174578"/>
        </a:accent4>
        <a:accent5>
          <a:srgbClr val="AACAE2"/>
        </a:accent5>
        <a:accent6>
          <a:srgbClr val="AD9906"/>
        </a:accent6>
        <a:hlink>
          <a:srgbClr val="6E81E0"/>
        </a:hlink>
        <a:folHlink>
          <a:srgbClr val="00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s01_1 2">
        <a:dk1>
          <a:srgbClr val="4E40A4"/>
        </a:dk1>
        <a:lt1>
          <a:srgbClr val="FFFFFF"/>
        </a:lt1>
        <a:dk2>
          <a:srgbClr val="000000"/>
        </a:dk2>
        <a:lt2>
          <a:srgbClr val="CACACA"/>
        </a:lt2>
        <a:accent1>
          <a:srgbClr val="8B65E9"/>
        </a:accent1>
        <a:accent2>
          <a:srgbClr val="008080"/>
        </a:accent2>
        <a:accent3>
          <a:srgbClr val="FFFFFF"/>
        </a:accent3>
        <a:accent4>
          <a:srgbClr val="41358B"/>
        </a:accent4>
        <a:accent5>
          <a:srgbClr val="C4B8F2"/>
        </a:accent5>
        <a:accent6>
          <a:srgbClr val="007373"/>
        </a:accent6>
        <a:hlink>
          <a:srgbClr val="0066CC"/>
        </a:hlink>
        <a:folHlink>
          <a:srgbClr val="8AB15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s01_1 3">
        <a:dk1>
          <a:srgbClr val="808080"/>
        </a:dk1>
        <a:lt1>
          <a:srgbClr val="FFFFFF"/>
        </a:lt1>
        <a:dk2>
          <a:srgbClr val="FFFFFF"/>
        </a:dk2>
        <a:lt2>
          <a:srgbClr val="B2B2B2"/>
        </a:lt2>
        <a:accent1>
          <a:srgbClr val="058089"/>
        </a:accent1>
        <a:accent2>
          <a:srgbClr val="66BE0E"/>
        </a:accent2>
        <a:accent3>
          <a:srgbClr val="FFFFFF"/>
        </a:accent3>
        <a:accent4>
          <a:srgbClr val="6C6C6C"/>
        </a:accent4>
        <a:accent5>
          <a:srgbClr val="AAC0C4"/>
        </a:accent5>
        <a:accent6>
          <a:srgbClr val="5CAC0C"/>
        </a:accent6>
        <a:hlink>
          <a:srgbClr val="2CA9D0"/>
        </a:hlink>
        <a:folHlink>
          <a:srgbClr val="4841D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7697</TotalTime>
  <Words>2714</Words>
  <Application>Microsoft Office PowerPoint</Application>
  <PresentationFormat>화면 슬라이드 쇼(4:3)</PresentationFormat>
  <Paragraphs>554</Paragraphs>
  <Slides>45</Slides>
  <Notes>0</Notes>
  <HiddenSlides>0</HiddenSlides>
  <MMClips>0</MMClips>
  <ScaleCrop>false</ScaleCrop>
  <HeadingPairs>
    <vt:vector size="6" baseType="variant"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45</vt:i4>
      </vt:variant>
    </vt:vector>
  </HeadingPairs>
  <TitlesOfParts>
    <vt:vector size="47" baseType="lpstr">
      <vt:lpstr>ms01_1</vt:lpstr>
      <vt:lpstr>Image</vt:lpstr>
      <vt:lpstr>Java Basic</vt:lpstr>
      <vt:lpstr>1. Java</vt:lpstr>
      <vt:lpstr>2. Java 특징</vt:lpstr>
      <vt:lpstr>플랫폼 종속성(platform dependency)</vt:lpstr>
      <vt:lpstr>슬라이드 5</vt:lpstr>
      <vt:lpstr>슬라이드 6</vt:lpstr>
      <vt:lpstr>3. JDK 개발 플랫폼</vt:lpstr>
      <vt:lpstr>3. JDK 개발 플랫폼</vt:lpstr>
      <vt:lpstr>3. JDK 개발 플랫폼</vt:lpstr>
      <vt:lpstr>4. JDK 설치</vt:lpstr>
      <vt:lpstr>JDK 설치 후 디렉터리 구조</vt:lpstr>
      <vt:lpstr>5. Java 프로그램 작성 및 컴파일 및 실행</vt:lpstr>
      <vt:lpstr>실습</vt:lpstr>
      <vt:lpstr>5. Java 프로그램 작성 및 컴파일 및 실행</vt:lpstr>
      <vt:lpstr>실습</vt:lpstr>
      <vt:lpstr>실습</vt:lpstr>
      <vt:lpstr>실습</vt:lpstr>
      <vt:lpstr>자바와 C/C++의 실행 환경 차이</vt:lpstr>
      <vt:lpstr>5. Java 프로그램 작성 및 컴파일 및 실행</vt:lpstr>
      <vt:lpstr>슬라이드 20</vt:lpstr>
      <vt:lpstr>6. System.out.print 와 println</vt:lpstr>
      <vt:lpstr>실습</vt:lpstr>
      <vt:lpstr>7. 매개변수를 활용한 실행</vt:lpstr>
      <vt:lpstr>실습</vt:lpstr>
      <vt:lpstr>실습</vt:lpstr>
      <vt:lpstr>8. 자바 프로그램의 작성 규칙</vt:lpstr>
      <vt:lpstr>9. Java 프로그램구성</vt:lpstr>
      <vt:lpstr>9. Java 프로그램구성</vt:lpstr>
      <vt:lpstr>10. 자바 개발 도구</vt:lpstr>
      <vt:lpstr>슬라이드 30</vt:lpstr>
      <vt:lpstr>슬라이드 31</vt:lpstr>
      <vt:lpstr>슬라이드 32</vt:lpstr>
      <vt:lpstr>슬라이드 33</vt:lpstr>
      <vt:lpstr>슬라이드 34</vt:lpstr>
      <vt:lpstr>슬라이드 35</vt:lpstr>
      <vt:lpstr>실습</vt:lpstr>
      <vt:lpstr>11.자주 발생하는 에러</vt:lpstr>
      <vt:lpstr>12.Eclipse</vt:lpstr>
      <vt:lpstr>12.Eclipse</vt:lpstr>
      <vt:lpstr>12.Eclipse</vt:lpstr>
      <vt:lpstr>12.Eclipse</vt:lpstr>
      <vt:lpstr>슬라이드 42</vt:lpstr>
      <vt:lpstr>클래스 생성</vt:lpstr>
      <vt:lpstr>슬라이드 44</vt:lpstr>
      <vt:lpstr>슬라이드 45</vt:lpstr>
    </vt:vector>
  </TitlesOfParts>
  <Company>Home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Teresa</dc:creator>
  <cp:lastModifiedBy>user</cp:lastModifiedBy>
  <cp:revision>429</cp:revision>
  <dcterms:created xsi:type="dcterms:W3CDTF">2010-03-14T12:09:21Z</dcterms:created>
  <dcterms:modified xsi:type="dcterms:W3CDTF">2013-03-17T23:15:54Z</dcterms:modified>
</cp:coreProperties>
</file>