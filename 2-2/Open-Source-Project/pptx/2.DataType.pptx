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8" r:id="rId2"/>
    <p:sldId id="284" r:id="rId3"/>
    <p:sldId id="259" r:id="rId4"/>
    <p:sldId id="260" r:id="rId5"/>
    <p:sldId id="285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2" r:id="rId19"/>
    <p:sldId id="283" r:id="rId20"/>
    <p:sldId id="273" r:id="rId21"/>
    <p:sldId id="274" r:id="rId22"/>
    <p:sldId id="275" r:id="rId2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3198" y="-84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E55A8-D5CF-4CB6-A127-D1933B95FA4A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817949-EA51-4397-99D6-3B2F4099EE7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47727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1"/>
          <p:cNvSpPr>
            <a:spLocks noChangeArrowheads="1"/>
          </p:cNvSpPr>
          <p:nvPr/>
        </p:nvSpPr>
        <p:spPr bwMode="white">
          <a:xfrm>
            <a:off x="0" y="0"/>
            <a:ext cx="9144000" cy="3279775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5" name="Freeform 32"/>
          <p:cNvSpPr>
            <a:spLocks/>
          </p:cNvSpPr>
          <p:nvPr/>
        </p:nvSpPr>
        <p:spPr bwMode="gray">
          <a:xfrm>
            <a:off x="1285852" y="2000240"/>
            <a:ext cx="7859737" cy="1271598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gamma/>
                  <a:shade val="12549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6" name="Freeform 33"/>
          <p:cNvSpPr>
            <a:spLocks/>
          </p:cNvSpPr>
          <p:nvPr/>
        </p:nvSpPr>
        <p:spPr bwMode="invGray">
          <a:xfrm>
            <a:off x="-6350" y="3273425"/>
            <a:ext cx="1292202" cy="454018"/>
          </a:xfrm>
          <a:custGeom>
            <a:avLst/>
            <a:gdLst>
              <a:gd name="connsiteX0" fmla="*/ 0 w 10000"/>
              <a:gd name="connsiteY0" fmla="*/ 0 h 9965"/>
              <a:gd name="connsiteX1" fmla="*/ 10000 w 10000"/>
              <a:gd name="connsiteY1" fmla="*/ 0 h 9965"/>
              <a:gd name="connsiteX2" fmla="*/ 8341 w 10000"/>
              <a:gd name="connsiteY2" fmla="*/ 9686 h 9965"/>
              <a:gd name="connsiteX3" fmla="*/ 0 w 10000"/>
              <a:gd name="connsiteY3" fmla="*/ 9965 h 9965"/>
              <a:gd name="connsiteX4" fmla="*/ 0 w 10000"/>
              <a:gd name="connsiteY4" fmla="*/ 0 h 9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9965">
                <a:moveTo>
                  <a:pt x="0" y="0"/>
                </a:moveTo>
                <a:lnTo>
                  <a:pt x="10000" y="0"/>
                </a:lnTo>
                <a:lnTo>
                  <a:pt x="8341" y="9686"/>
                </a:lnTo>
                <a:lnTo>
                  <a:pt x="0" y="996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71670" y="2285992"/>
            <a:ext cx="6715140" cy="685800"/>
          </a:xfrm>
        </p:spPr>
        <p:txBody>
          <a:bodyPr/>
          <a:lstStyle>
            <a:lvl1pPr algn="ctr">
              <a:defRPr sz="4400" b="1" i="0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5638800"/>
            <a:ext cx="6400800" cy="533400"/>
          </a:xfrm>
        </p:spPr>
        <p:txBody>
          <a:bodyPr/>
          <a:lstStyle>
            <a:lvl1pPr marL="0" indent="0" algn="r">
              <a:buFontTx/>
              <a:buNone/>
              <a:defRPr sz="2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부제목 스타일 편집</a:t>
            </a:r>
            <a:endParaRPr lang="en-US" altLang="ko-K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</p:spPr>
        <p:txBody>
          <a:bodyPr/>
          <a:lstStyle>
            <a:lvl1pPr>
              <a:defRPr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320675"/>
          </a:xfrm>
        </p:spPr>
        <p:txBody>
          <a:bodyPr/>
          <a:lstStyle>
            <a:lvl1pPr>
              <a:defRPr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2133600" cy="320675"/>
          </a:xfrm>
        </p:spPr>
        <p:txBody>
          <a:bodyPr/>
          <a:lstStyle>
            <a:lvl1pPr>
              <a:defRPr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43174" y="227013"/>
            <a:ext cx="6500826" cy="7620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28860" y="71414"/>
            <a:ext cx="6257940" cy="11430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 bwMode="auto">
          <a:xfrm>
            <a:off x="0" y="1500174"/>
            <a:ext cx="9144000" cy="535782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 smtClean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62738" y="227013"/>
            <a:ext cx="2068512" cy="6170612"/>
          </a:xfrm>
        </p:spPr>
        <p:txBody>
          <a:bodyPr vert="eaVert"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27013"/>
            <a:ext cx="6053138" cy="6170612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06650" y="227013"/>
            <a:ext cx="6324600" cy="762000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949825"/>
          </a:xfrm>
        </p:spPr>
        <p:txBody>
          <a:bodyPr/>
          <a:lstStyle/>
          <a:p>
            <a:pPr lvl="0"/>
            <a:r>
              <a:rPr lang="ko-KR" altLang="en-US" noProof="0" smtClean="0"/>
              <a:t>표를 추가하려면 아이콘을 클릭하십시오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tint val="39216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1"/>
          <p:cNvSpPr>
            <a:spLocks noChangeArrowheads="1"/>
          </p:cNvSpPr>
          <p:nvPr/>
        </p:nvSpPr>
        <p:spPr bwMode="white">
          <a:xfrm>
            <a:off x="0" y="0"/>
            <a:ext cx="9144000" cy="9652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ea typeface="굴림" charset="-127"/>
            </a:endParaRPr>
          </a:p>
        </p:txBody>
      </p:sp>
      <p:graphicFrame>
        <p:nvGraphicFramePr>
          <p:cNvPr id="1026" name="Object 19"/>
          <p:cNvGraphicFramePr>
            <a:graphicFrameLocks noChangeAspect="1"/>
          </p:cNvGraphicFramePr>
          <p:nvPr userDrawn="1"/>
        </p:nvGraphicFramePr>
        <p:xfrm>
          <a:off x="2987675" y="2736850"/>
          <a:ext cx="6156325" cy="4121150"/>
        </p:xfrm>
        <a:graphic>
          <a:graphicData uri="http://schemas.openxmlformats.org/presentationml/2006/ole">
            <p:oleObj spid="_x0000_s1029" name="Image" r:id="rId15" imgW="7949206" imgH="5320635" progId="">
              <p:embed/>
            </p:oleObj>
          </a:graphicData>
        </a:graphic>
      </p:graphicFrame>
      <p:sp>
        <p:nvSpPr>
          <p:cNvPr id="1045" name="Freeform 21"/>
          <p:cNvSpPr>
            <a:spLocks/>
          </p:cNvSpPr>
          <p:nvPr/>
        </p:nvSpPr>
        <p:spPr bwMode="gray">
          <a:xfrm>
            <a:off x="1828800" y="246063"/>
            <a:ext cx="7315200" cy="720725"/>
          </a:xfrm>
          <a:custGeom>
            <a:avLst/>
            <a:gdLst/>
            <a:ahLst/>
            <a:cxnLst>
              <a:cxn ang="0">
                <a:pos x="0" y="454"/>
              </a:cxn>
              <a:cxn ang="0">
                <a:pos x="4798" y="454"/>
              </a:cxn>
              <a:cxn ang="0">
                <a:pos x="4798" y="0"/>
              </a:cxn>
              <a:cxn ang="0">
                <a:pos x="382" y="3"/>
              </a:cxn>
              <a:cxn ang="0">
                <a:pos x="0" y="454"/>
              </a:cxn>
            </a:cxnLst>
            <a:rect l="0" t="0" r="r" b="b"/>
            <a:pathLst>
              <a:path w="4798" h="454">
                <a:moveTo>
                  <a:pt x="0" y="454"/>
                </a:moveTo>
                <a:lnTo>
                  <a:pt x="4798" y="454"/>
                </a:lnTo>
                <a:lnTo>
                  <a:pt x="4798" y="0"/>
                </a:lnTo>
                <a:lnTo>
                  <a:pt x="382" y="3"/>
                </a:lnTo>
                <a:lnTo>
                  <a:pt x="0" y="454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1046" name="Freeform 22"/>
          <p:cNvSpPr>
            <a:spLocks/>
          </p:cNvSpPr>
          <p:nvPr/>
        </p:nvSpPr>
        <p:spPr bwMode="gray">
          <a:xfrm>
            <a:off x="0" y="966788"/>
            <a:ext cx="1828800" cy="2889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338" y="0"/>
              </a:cxn>
              <a:cxn ang="0">
                <a:pos x="1138" y="182"/>
              </a:cxn>
              <a:cxn ang="0">
                <a:pos x="0" y="181"/>
              </a:cxn>
              <a:cxn ang="0">
                <a:pos x="0" y="0"/>
              </a:cxn>
            </a:cxnLst>
            <a:rect l="0" t="0" r="r" b="b"/>
            <a:pathLst>
              <a:path w="1338" h="182">
                <a:moveTo>
                  <a:pt x="0" y="0"/>
                </a:moveTo>
                <a:lnTo>
                  <a:pt x="1338" y="0"/>
                </a:lnTo>
                <a:lnTo>
                  <a:pt x="1138" y="182"/>
                </a:lnTo>
                <a:lnTo>
                  <a:pt x="0" y="1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2406650" y="227013"/>
            <a:ext cx="6324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en-US" altLang="ko-KR" smtClean="0"/>
          </a:p>
        </p:txBody>
      </p:sp>
      <p:sp>
        <p:nvSpPr>
          <p:cNvPr id="10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47800"/>
            <a:ext cx="8229600" cy="494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altLang="ko-KR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770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ea typeface="굴림" charset="-127"/>
              </a:defRPr>
            </a:lvl1pPr>
          </a:lstStyle>
          <a:p>
            <a:fld id="{ED16AAFA-4550-424F-9D6C-ADABFCF9C3D7}" type="datetimeFigureOut">
              <a:rPr lang="ko-KR" altLang="en-US" smtClean="0"/>
              <a:pPr/>
              <a:t>2013-03-15</a:t>
            </a:fld>
            <a:endParaRPr lang="ko-KR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ea typeface="굴림" charset="-127"/>
              </a:defRPr>
            </a:lvl1pPr>
          </a:lstStyle>
          <a:p>
            <a:endParaRPr lang="ko-KR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ea typeface="굴림" charset="-127"/>
              </a:defRPr>
            </a:lvl1pPr>
          </a:lstStyle>
          <a:p>
            <a:fld id="{7CEC74C1-0EC0-40F1-AA0B-9171B5E2F16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4000" b="1" i="0">
          <a:solidFill>
            <a:schemeClr val="bg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4000" i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sz="3200">
          <a:solidFill>
            <a:srgbClr val="000000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sz="2800">
          <a:solidFill>
            <a:srgbClr val="000000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2400">
          <a:solidFill>
            <a:srgbClr val="00000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Data Type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자바 키워드</a:t>
            </a:r>
            <a:endParaRPr lang="ko-KR" altLang="en-US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240285128"/>
              </p:ext>
            </p:extLst>
          </p:nvPr>
        </p:nvGraphicFramePr>
        <p:xfrm>
          <a:off x="928660" y="1428740"/>
          <a:ext cx="7215240" cy="328422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443048"/>
                <a:gridCol w="1443048"/>
                <a:gridCol w="1443048"/>
                <a:gridCol w="1443048"/>
                <a:gridCol w="1443048"/>
              </a:tblGrid>
              <a:tr h="3152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abstract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continue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for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new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switch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</a:tr>
              <a:tr h="3152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assert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if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package</a:t>
                      </a:r>
                      <a:endParaRPr lang="en-US" sz="1200" b="1" i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synchronized</a:t>
                      </a:r>
                      <a:endParaRPr lang="en-US" sz="1200" b="1" i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</a:tr>
              <a:tr h="3152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</a:rPr>
                        <a:t>boolean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do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goto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private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this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</a:tr>
              <a:tr h="3152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break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double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implements</a:t>
                      </a:r>
                      <a:endParaRPr lang="en-US" sz="1200" b="1" i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protected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throw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</a:tr>
              <a:tr h="3152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byte</a:t>
                      </a:r>
                      <a:endParaRPr lang="en-US" sz="1200" b="1" i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else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import</a:t>
                      </a:r>
                      <a:endParaRPr lang="en-US" sz="1200" b="1" i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public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throws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</a:tr>
              <a:tr h="3152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case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</a:rPr>
                        <a:t>enum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</a:rPr>
                        <a:t>instanceof</a:t>
                      </a:r>
                      <a:endParaRPr lang="en-US" sz="1200" b="1" i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return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transient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</a:tr>
              <a:tr h="3152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catch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extends</a:t>
                      </a:r>
                      <a:endParaRPr lang="en-US" sz="1200" b="1" i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</a:rPr>
                        <a:t>int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short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try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</a:tr>
              <a:tr h="3152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char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final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interface</a:t>
                      </a:r>
                      <a:endParaRPr lang="en-US" sz="1200" b="1" i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static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void 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</a:tr>
              <a:tr h="3152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class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finally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long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</a:rPr>
                        <a:t>strictfp</a:t>
                      </a:r>
                      <a:endParaRPr lang="en-US" sz="1200" b="1" i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volatile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</a:tr>
              <a:tr h="31523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</a:rPr>
                        <a:t>const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float</a:t>
                      </a:r>
                      <a:endParaRPr 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</a:rPr>
                        <a:t>native</a:t>
                      </a:r>
                      <a:endParaRPr lang="en-US" sz="1200" b="1" i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super</a:t>
                      </a:r>
                      <a:endParaRPr lang="en-US" sz="1200" b="1" i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while </a:t>
                      </a:r>
                      <a:endParaRPr 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  <a:cs typeface="Verdana" pitchFamily="34" charset="0"/>
                      </a:endParaRPr>
                    </a:p>
                  </a:txBody>
                  <a:tcPr marL="64770" marR="64770" marT="17907" marB="17907" anchor="ctr"/>
                </a:tc>
              </a:tr>
            </a:tbl>
          </a:graphicData>
        </a:graphic>
      </p:graphicFrame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595198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err="1" smtClean="0"/>
              <a:t>자료형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949825"/>
          </a:xfrm>
        </p:spPr>
        <p:txBody>
          <a:bodyPr>
            <a:noAutofit/>
          </a:bodyPr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상수는 값이 일정한 것을 의미하고 변수는 값을 저장할 수 있는 메모리 상의 공간에 붙여놓은 이름으로 값의 변화를 줄 수 있습니다</a:t>
            </a:r>
            <a:r>
              <a:rPr lang="en-US" altLang="ko-KR" sz="1600" dirty="0" smtClean="0"/>
              <a:t>.</a:t>
            </a:r>
            <a:endParaRPr lang="ko-KR" altLang="en-US" sz="1600" dirty="0" smtClean="0"/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변수의 선언</a:t>
            </a:r>
            <a:r>
              <a:rPr lang="en-US" altLang="ko-KR" sz="1600" dirty="0" smtClean="0"/>
              <a:t>: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변수의 </a:t>
            </a:r>
            <a:r>
              <a:rPr lang="ko-KR" altLang="en-US" sz="1600" b="1" dirty="0" err="1" smtClean="0">
                <a:solidFill>
                  <a:srgbClr val="FF0000"/>
                </a:solidFill>
              </a:rPr>
              <a:t>자료형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600" b="1" dirty="0" err="1" smtClean="0">
                <a:solidFill>
                  <a:srgbClr val="FF0000"/>
                </a:solidFill>
              </a:rPr>
              <a:t>변수명</a:t>
            </a:r>
            <a:r>
              <a:rPr lang="en-US" altLang="ko-KR" sz="1600" b="1" dirty="0" smtClean="0">
                <a:solidFill>
                  <a:srgbClr val="FF0000"/>
                </a:solidFill>
              </a:rPr>
              <a:t>;   </a:t>
            </a:r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err="1" smtClean="0"/>
              <a:t>자료형은</a:t>
            </a:r>
            <a:r>
              <a:rPr lang="ko-KR" altLang="en-US" sz="1600" dirty="0" smtClean="0"/>
              <a:t> 기본형</a:t>
            </a:r>
            <a:r>
              <a:rPr lang="en-US" altLang="ko-KR" sz="1600" dirty="0" smtClean="0"/>
              <a:t>(8</a:t>
            </a:r>
            <a:r>
              <a:rPr lang="ko-KR" altLang="en-US" sz="1600" dirty="0" smtClean="0"/>
              <a:t>가지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과 참조형</a:t>
            </a:r>
            <a:r>
              <a:rPr lang="en-US" altLang="ko-KR" sz="1600" dirty="0" smtClean="0"/>
              <a:t>(3</a:t>
            </a:r>
            <a:r>
              <a:rPr lang="ko-KR" altLang="en-US" sz="1600" dirty="0" smtClean="0"/>
              <a:t>가지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이 있습니다</a:t>
            </a:r>
            <a:r>
              <a:rPr lang="en-US" altLang="ko-KR" sz="1600" dirty="0" smtClean="0"/>
              <a:t>.</a:t>
            </a:r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기본형은 </a:t>
            </a:r>
            <a:r>
              <a:rPr lang="en-US" altLang="ko-KR" sz="1600" dirty="0" smtClean="0"/>
              <a:t>stack</a:t>
            </a:r>
            <a:r>
              <a:rPr lang="ko-KR" altLang="en-US" sz="1600" dirty="0" smtClean="0"/>
              <a:t>에 바로 사용할 수 있는 값을 저장하고 참조형은 </a:t>
            </a:r>
            <a:r>
              <a:rPr lang="en-US" altLang="ko-KR" sz="1600" dirty="0" smtClean="0"/>
              <a:t>heap</a:t>
            </a:r>
            <a:r>
              <a:rPr lang="ko-KR" altLang="en-US" sz="1600" dirty="0" smtClean="0"/>
              <a:t>이나 </a:t>
            </a:r>
            <a:r>
              <a:rPr lang="en-US" altLang="ko-KR" sz="1600" dirty="0" smtClean="0"/>
              <a:t>static(</a:t>
            </a:r>
            <a:r>
              <a:rPr lang="ko-KR" altLang="en-US" sz="1600" dirty="0" smtClean="0"/>
              <a:t>클래스 또는 </a:t>
            </a:r>
            <a:r>
              <a:rPr lang="ko-KR" altLang="en-US" sz="1600" dirty="0" err="1" smtClean="0"/>
              <a:t>메서드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영역의 메모리 주소를 저장하고 있습니다</a:t>
            </a:r>
            <a:r>
              <a:rPr lang="en-US" altLang="ko-KR" sz="1600" dirty="0" smtClean="0"/>
              <a:t>.</a:t>
            </a:r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기본형은 선언과 동시에 메모리 할당이 이루어지므로 바로 사용이 가능</a:t>
            </a:r>
            <a:endParaRPr lang="en-US" altLang="ko-KR" sz="1600" dirty="0" smtClean="0"/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err="1" smtClean="0"/>
              <a:t>참조형의</a:t>
            </a:r>
            <a:r>
              <a:rPr lang="ko-KR" altLang="en-US" sz="1600" dirty="0" smtClean="0"/>
              <a:t> 선언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err="1" smtClean="0"/>
              <a:t>참조형은</a:t>
            </a:r>
            <a:r>
              <a:rPr lang="ko-KR" altLang="en-US" sz="1400" dirty="0" smtClean="0"/>
              <a:t> 선언만으로는 사용할 수 없습니다</a:t>
            </a:r>
            <a:r>
              <a:rPr lang="en-US" altLang="ko-KR" sz="14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err="1" smtClean="0"/>
              <a:t>참조형인</a:t>
            </a:r>
            <a:r>
              <a:rPr lang="ko-KR" altLang="en-US" sz="1400" dirty="0" smtClean="0"/>
              <a:t> 경우는 메모리를 </a:t>
            </a:r>
            <a:r>
              <a:rPr lang="ko-KR" altLang="en-US" sz="1400" dirty="0" err="1" smtClean="0"/>
              <a:t>할당받아서</a:t>
            </a:r>
            <a:r>
              <a:rPr lang="ko-KR" altLang="en-US" sz="1400" dirty="0" smtClean="0"/>
              <a:t> 데이터를 조작하거나 다른 </a:t>
            </a:r>
            <a:r>
              <a:rPr lang="ko-KR" altLang="en-US" sz="1400" dirty="0" err="1" smtClean="0"/>
              <a:t>참조형의</a:t>
            </a:r>
            <a:r>
              <a:rPr lang="ko-KR" altLang="en-US" sz="1400" dirty="0" smtClean="0"/>
              <a:t> 주소를 </a:t>
            </a:r>
            <a:r>
              <a:rPr lang="ko-KR" altLang="en-US" sz="1400" dirty="0" err="1" smtClean="0"/>
              <a:t>대입받은</a:t>
            </a:r>
            <a:r>
              <a:rPr lang="ko-KR" altLang="en-US" sz="1400" dirty="0" smtClean="0"/>
              <a:t> 후 조작을 가해야 합니다</a:t>
            </a:r>
            <a:r>
              <a:rPr lang="en-US" altLang="ko-KR" sz="14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메모리를 </a:t>
            </a:r>
            <a:r>
              <a:rPr lang="ko-KR" altLang="en-US" sz="1400" dirty="0" err="1" smtClean="0"/>
              <a:t>할당받기</a:t>
            </a:r>
            <a:r>
              <a:rPr lang="ko-KR" altLang="en-US" sz="1400" dirty="0" smtClean="0"/>
              <a:t> 위해서는 </a:t>
            </a:r>
            <a:r>
              <a:rPr lang="en-US" altLang="ko-KR" sz="1400" dirty="0" smtClean="0"/>
              <a:t>new </a:t>
            </a:r>
            <a:r>
              <a:rPr lang="ko-KR" altLang="en-US" sz="1400" dirty="0" smtClean="0"/>
              <a:t>라는 연산자를 이용합니다</a:t>
            </a:r>
            <a:r>
              <a:rPr lang="en-US" altLang="ko-KR" sz="14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b="1" dirty="0" smtClean="0">
                <a:solidFill>
                  <a:srgbClr val="FF0000"/>
                </a:solidFill>
              </a:rPr>
              <a:t>new </a:t>
            </a:r>
            <a:r>
              <a:rPr lang="ko-KR" altLang="en-US" sz="1400" b="1" dirty="0" err="1" smtClean="0">
                <a:solidFill>
                  <a:srgbClr val="FF0000"/>
                </a:solidFill>
              </a:rPr>
              <a:t>생성자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();</a:t>
            </a:r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값 할당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초기화</a:t>
            </a:r>
            <a:r>
              <a:rPr lang="en-US" altLang="ko-KR" sz="1600" dirty="0" smtClean="0"/>
              <a:t>): </a:t>
            </a:r>
            <a:r>
              <a:rPr lang="ko-KR" altLang="en-US" sz="1400" b="1" dirty="0" err="1" smtClean="0">
                <a:solidFill>
                  <a:srgbClr val="FF0000"/>
                </a:solidFill>
              </a:rPr>
              <a:t>변수명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= 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값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;</a:t>
            </a:r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값 사용</a:t>
            </a:r>
            <a:r>
              <a:rPr lang="en-US" altLang="ko-KR" sz="1600" dirty="0" smtClean="0"/>
              <a:t>: </a:t>
            </a:r>
            <a:r>
              <a:rPr lang="ko-KR" altLang="en-US" sz="1600" dirty="0" err="1" smtClean="0"/>
              <a:t>변수명</a:t>
            </a:r>
            <a:r>
              <a:rPr lang="ko-KR" altLang="en-US" sz="1600" dirty="0" smtClean="0"/>
              <a:t> 만으로 사용</a:t>
            </a:r>
            <a:endParaRPr lang="en-US" altLang="ko-KR" sz="1600" dirty="0" smtClean="0"/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err="1" smtClean="0"/>
              <a:t>변수명은</a:t>
            </a:r>
            <a:r>
              <a:rPr lang="ko-KR" altLang="en-US" sz="1600" dirty="0" smtClean="0"/>
              <a:t> 한글로 선언이 가능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예</a:t>
            </a:r>
            <a:r>
              <a:rPr lang="en-US" altLang="ko-KR" sz="1400" dirty="0" smtClean="0"/>
              <a:t>)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박문석</a:t>
            </a:r>
            <a:r>
              <a:rPr lang="en-US" altLang="ko-KR" sz="1400" dirty="0" smtClean="0"/>
              <a:t>;   //</a:t>
            </a:r>
            <a:r>
              <a:rPr lang="ko-KR" altLang="en-US" sz="1400" dirty="0" smtClean="0"/>
              <a:t>이것도 가능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일반적으로 사용은 하지 않습니다</a:t>
            </a:r>
            <a:r>
              <a:rPr lang="en-US" altLang="ko-KR" sz="1400" dirty="0" smtClean="0"/>
              <a:t>.)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박문석 </a:t>
            </a:r>
            <a:r>
              <a:rPr lang="en-US" altLang="ko-KR" sz="1400" dirty="0" smtClean="0"/>
              <a:t>= 10;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박문석</a:t>
            </a:r>
            <a:r>
              <a:rPr lang="en-US" altLang="ko-KR" sz="1400" dirty="0" smtClean="0"/>
              <a:t>=" + </a:t>
            </a:r>
            <a:r>
              <a:rPr lang="ko-KR" altLang="en-US" sz="1400" dirty="0" smtClean="0"/>
              <a:t>박문석</a:t>
            </a:r>
            <a:r>
              <a:rPr lang="en-US" altLang="ko-KR" sz="1400" dirty="0" smtClean="0"/>
              <a:t>);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err="1" smtClean="0"/>
              <a:t>자료형</a:t>
            </a:r>
            <a:r>
              <a:rPr lang="en-US" altLang="ko-KR" dirty="0" smtClean="0"/>
              <a:t>(Primitive Type)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ko-KR" altLang="ko-KR" sz="1400" dirty="0" smtClean="0"/>
              <a:t>실행의 효율성을 위해서 사용 </a:t>
            </a:r>
            <a:r>
              <a:rPr lang="en-US" altLang="ko-KR" sz="1400" dirty="0" smtClean="0"/>
              <a:t>– stack</a:t>
            </a:r>
            <a:r>
              <a:rPr lang="ko-KR" altLang="ko-KR" sz="1400" dirty="0" smtClean="0"/>
              <a:t>에 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사용할 수 있는 값을 저장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byte, short,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, long, char(2byte</a:t>
            </a:r>
            <a:r>
              <a:rPr lang="ko-KR" altLang="ko-KR" sz="1400" dirty="0" smtClean="0"/>
              <a:t>임</a:t>
            </a:r>
            <a:r>
              <a:rPr lang="en-US" altLang="ko-KR" sz="1400" dirty="0" smtClean="0"/>
              <a:t>), float, double, </a:t>
            </a:r>
            <a:r>
              <a:rPr lang="en-US" altLang="ko-KR" sz="1400" dirty="0" err="1" smtClean="0"/>
              <a:t>boolean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--------------------------------------------------------------------------------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     </a:t>
            </a:r>
            <a:r>
              <a:rPr lang="ko-KR" altLang="ko-KR" sz="1400" dirty="0" smtClean="0"/>
              <a:t>구분</a:t>
            </a:r>
            <a:r>
              <a:rPr lang="en-US" altLang="ko-KR" sz="1400" dirty="0" smtClean="0"/>
              <a:t>    	</a:t>
            </a:r>
            <a:r>
              <a:rPr lang="ko-KR" altLang="ko-KR" sz="1400" dirty="0" err="1" smtClean="0"/>
              <a:t>데이터형</a:t>
            </a:r>
            <a:r>
              <a:rPr lang="en-US" altLang="ko-KR" sz="1400" dirty="0" smtClean="0"/>
              <a:t>	</a:t>
            </a:r>
            <a:r>
              <a:rPr lang="ko-KR" altLang="ko-KR" sz="1400" dirty="0" smtClean="0"/>
              <a:t>크기</a:t>
            </a:r>
            <a:r>
              <a:rPr lang="en-US" altLang="ko-KR" sz="1400" dirty="0" smtClean="0"/>
              <a:t>(byte)		</a:t>
            </a:r>
            <a:r>
              <a:rPr lang="ko-KR" altLang="ko-KR" sz="1400" dirty="0" smtClean="0"/>
              <a:t>범위</a:t>
            </a:r>
          </a:p>
          <a:p>
            <a:pPr>
              <a:buNone/>
            </a:pPr>
            <a:r>
              <a:rPr lang="en-US" altLang="ko-KR" sz="1400" dirty="0" smtClean="0"/>
              <a:t>--------------------------------------------------------------------------------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               byte        	1		 -2</a:t>
            </a:r>
            <a:r>
              <a:rPr lang="en-US" altLang="ko-KR" sz="1400" baseline="30000" dirty="0" smtClean="0"/>
              <a:t>7</a:t>
            </a:r>
            <a:r>
              <a:rPr lang="en-US" altLang="ko-KR" sz="1400" dirty="0" smtClean="0"/>
              <a:t>  ~ 2</a:t>
            </a:r>
            <a:r>
              <a:rPr lang="en-US" altLang="ko-KR" sz="1400" baseline="30000" dirty="0" smtClean="0"/>
              <a:t>7</a:t>
            </a:r>
            <a:r>
              <a:rPr lang="en-US" altLang="ko-KR" sz="1400" dirty="0" smtClean="0"/>
              <a:t>-1	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     </a:t>
            </a:r>
            <a:r>
              <a:rPr lang="ko-KR" altLang="ko-KR" sz="1400" dirty="0" smtClean="0"/>
              <a:t>정수</a:t>
            </a:r>
            <a:r>
              <a:rPr lang="en-US" altLang="ko-KR" sz="1400" dirty="0" smtClean="0"/>
              <a:t>    	short	2                	-2</a:t>
            </a:r>
            <a:r>
              <a:rPr lang="en-US" altLang="ko-KR" sz="1400" baseline="30000" dirty="0" smtClean="0"/>
              <a:t>15</a:t>
            </a:r>
            <a:r>
              <a:rPr lang="en-US" altLang="ko-KR" sz="1400" dirty="0" smtClean="0"/>
              <a:t>  ~ 2</a:t>
            </a:r>
            <a:r>
              <a:rPr lang="en-US" altLang="ko-KR" sz="1400" baseline="30000" dirty="0" smtClean="0"/>
              <a:t>15</a:t>
            </a:r>
            <a:r>
              <a:rPr lang="en-US" altLang="ko-KR" sz="1400" dirty="0" smtClean="0"/>
              <a:t>-1	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              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         	4                	-2</a:t>
            </a:r>
            <a:r>
              <a:rPr lang="en-US" altLang="ko-KR" sz="1400" baseline="30000" dirty="0" smtClean="0"/>
              <a:t>31</a:t>
            </a:r>
            <a:r>
              <a:rPr lang="en-US" altLang="ko-KR" sz="1400" dirty="0" smtClean="0"/>
              <a:t>  ~ 2</a:t>
            </a:r>
            <a:r>
              <a:rPr lang="en-US" altLang="ko-KR" sz="1400" baseline="30000" dirty="0" smtClean="0"/>
              <a:t>31</a:t>
            </a:r>
            <a:r>
              <a:rPr lang="en-US" altLang="ko-KR" sz="1400" dirty="0" smtClean="0"/>
              <a:t>-1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               long         8                	-2</a:t>
            </a:r>
            <a:r>
              <a:rPr lang="en-US" altLang="ko-KR" sz="1400" baseline="30000" dirty="0" smtClean="0"/>
              <a:t>63</a:t>
            </a:r>
            <a:r>
              <a:rPr lang="en-US" altLang="ko-KR" sz="1400" dirty="0" smtClean="0"/>
              <a:t>  ~ 2</a:t>
            </a:r>
            <a:r>
              <a:rPr lang="en-US" altLang="ko-KR" sz="1400" baseline="30000" dirty="0" smtClean="0"/>
              <a:t>63</a:t>
            </a:r>
            <a:r>
              <a:rPr lang="en-US" altLang="ko-KR" sz="1400" dirty="0" smtClean="0"/>
              <a:t>-1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--------------------------------------------------------------------------------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     </a:t>
            </a:r>
            <a:r>
              <a:rPr lang="ko-KR" altLang="ko-KR" sz="1400" dirty="0" smtClean="0"/>
              <a:t>문자형</a:t>
            </a:r>
            <a:r>
              <a:rPr lang="en-US" altLang="ko-KR" sz="1400" dirty="0" smtClean="0"/>
              <a:t> 	char         	2	             	</a:t>
            </a:r>
            <a:r>
              <a:rPr lang="ko-KR" altLang="ko-KR" sz="1400" dirty="0" smtClean="0"/>
              <a:t>영문자</a:t>
            </a:r>
            <a:r>
              <a:rPr lang="en-US" altLang="ko-KR" sz="1400" dirty="0" smtClean="0"/>
              <a:t> 1</a:t>
            </a:r>
            <a:r>
              <a:rPr lang="ko-KR" altLang="ko-KR" sz="1400" dirty="0" smtClean="0"/>
              <a:t>자</a:t>
            </a:r>
            <a:r>
              <a:rPr lang="en-US" altLang="ko-KR" sz="1400" dirty="0" smtClean="0"/>
              <a:t> 'a' -&gt; ASCII 0~65535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                                             	Java</a:t>
            </a:r>
            <a:r>
              <a:rPr lang="ko-KR" altLang="ko-KR" sz="1400" dirty="0" smtClean="0"/>
              <a:t>는 유니코드를 사용 함</a:t>
            </a:r>
          </a:p>
          <a:p>
            <a:pPr>
              <a:buNone/>
            </a:pPr>
            <a:r>
              <a:rPr lang="en-US" altLang="ko-KR" sz="1400" dirty="0" smtClean="0"/>
              <a:t>---------------------------------------------------------------------------------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     </a:t>
            </a:r>
            <a:r>
              <a:rPr lang="ko-KR" altLang="ko-KR" sz="1400" dirty="0" err="1" smtClean="0"/>
              <a:t>실수형</a:t>
            </a:r>
            <a:r>
              <a:rPr lang="en-US" altLang="ko-KR" sz="1400" dirty="0" smtClean="0"/>
              <a:t>  float        	4                	</a:t>
            </a:r>
            <a:r>
              <a:rPr lang="ko-KR" altLang="ko-KR" sz="1400" dirty="0" smtClean="0"/>
              <a:t>유효자리</a:t>
            </a:r>
            <a:r>
              <a:rPr lang="en-US" altLang="ko-KR" sz="1400" dirty="0" smtClean="0"/>
              <a:t> 7</a:t>
            </a:r>
            <a:r>
              <a:rPr lang="ko-KR" altLang="ko-KR" sz="1400" dirty="0" smtClean="0"/>
              <a:t>자리</a:t>
            </a:r>
            <a:r>
              <a:rPr lang="en-US" altLang="ko-KR" sz="1400" dirty="0" smtClean="0"/>
              <a:t>(</a:t>
            </a:r>
            <a:r>
              <a:rPr lang="ko-KR" altLang="ko-KR" sz="1400" dirty="0" smtClean="0"/>
              <a:t>정밀도</a:t>
            </a:r>
            <a:r>
              <a:rPr lang="en-US" altLang="ko-KR" sz="1400" dirty="0" smtClean="0"/>
              <a:t>)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               double     	8                	</a:t>
            </a:r>
            <a:r>
              <a:rPr lang="ko-KR" altLang="ko-KR" sz="1400" dirty="0" smtClean="0"/>
              <a:t>유효자리</a:t>
            </a:r>
            <a:r>
              <a:rPr lang="en-US" altLang="ko-KR" sz="1400" dirty="0" smtClean="0"/>
              <a:t> 16</a:t>
            </a:r>
            <a:r>
              <a:rPr lang="ko-KR" altLang="ko-KR" sz="1400" dirty="0" smtClean="0"/>
              <a:t>자리</a:t>
            </a:r>
            <a:r>
              <a:rPr lang="en-US" altLang="ko-KR" sz="1400" dirty="0" smtClean="0"/>
              <a:t>(</a:t>
            </a:r>
            <a:r>
              <a:rPr lang="ko-KR" altLang="ko-KR" sz="1400" dirty="0" smtClean="0"/>
              <a:t>정밀도</a:t>
            </a:r>
            <a:r>
              <a:rPr lang="en-US" altLang="ko-KR" sz="1400" dirty="0" smtClean="0"/>
              <a:t>)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---------------------------------------------------------------------------------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     </a:t>
            </a:r>
            <a:r>
              <a:rPr lang="ko-KR" altLang="ko-KR" sz="1400" dirty="0" err="1" smtClean="0"/>
              <a:t>불형</a:t>
            </a:r>
            <a:r>
              <a:rPr lang="en-US" altLang="ko-KR" sz="1400" dirty="0" smtClean="0"/>
              <a:t>    	</a:t>
            </a:r>
            <a:r>
              <a:rPr lang="en-US" altLang="ko-KR" sz="1400" dirty="0" err="1" smtClean="0"/>
              <a:t>boolean</a:t>
            </a:r>
            <a:r>
              <a:rPr lang="en-US" altLang="ko-KR" sz="1400" dirty="0" smtClean="0"/>
              <a:t>    	1                	true </a:t>
            </a:r>
            <a:r>
              <a:rPr lang="ko-KR" altLang="ko-KR" sz="1400" dirty="0" smtClean="0"/>
              <a:t>또는</a:t>
            </a:r>
            <a:r>
              <a:rPr lang="en-US" altLang="ko-KR" sz="1400" dirty="0" smtClean="0"/>
              <a:t> false    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---------------------------------------------------------------------------------</a:t>
            </a:r>
            <a:endParaRPr lang="ko-KR" altLang="ko-KR" sz="1400" dirty="0" smtClean="0"/>
          </a:p>
          <a:p>
            <a:pPr latinLnBrk="0">
              <a:buNone/>
            </a:pPr>
            <a:endParaRPr lang="en-US" altLang="ko-KR" sz="14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err="1" smtClean="0"/>
              <a:t>자료형</a:t>
            </a:r>
            <a:r>
              <a:rPr lang="en-US" altLang="ko-KR" dirty="0" smtClean="0"/>
              <a:t>(Primitive Type)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"/>
          </p:nvPr>
        </p:nvSpPr>
        <p:spPr>
          <a:xfrm>
            <a:off x="612648" y="1285860"/>
            <a:ext cx="8153400" cy="991012"/>
          </a:xfrm>
        </p:spPr>
        <p:txBody>
          <a:bodyPr>
            <a:normAutofit/>
          </a:bodyPr>
          <a:lstStyle/>
          <a:p>
            <a:r>
              <a:rPr lang="ko-KR" altLang="en-US" sz="1600" b="1" dirty="0" smtClean="0"/>
              <a:t>특징</a:t>
            </a:r>
            <a:endParaRPr lang="en-US" altLang="ko-KR" sz="1600" b="1" dirty="0" smtClean="0"/>
          </a:p>
          <a:p>
            <a:pPr lvl="1"/>
            <a:r>
              <a:rPr lang="ko-KR" altLang="en-US" sz="1600" b="1" dirty="0" smtClean="0"/>
              <a:t>크기가 </a:t>
            </a:r>
            <a:r>
              <a:rPr lang="ko-KR" altLang="en-US" sz="1600" b="1" dirty="0" smtClean="0"/>
              <a:t>정해져 있음</a:t>
            </a:r>
            <a:endParaRPr lang="en-US" altLang="ko-KR" sz="1600" b="1" dirty="0" smtClean="0"/>
          </a:p>
          <a:p>
            <a:pPr lvl="1"/>
            <a:r>
              <a:rPr lang="ko-KR" altLang="en-US" sz="1600" b="1" dirty="0" smtClean="0"/>
              <a:t>크기는 </a:t>
            </a:r>
            <a:r>
              <a:rPr lang="en-US" altLang="ko-KR" sz="1600" b="1" dirty="0" smtClean="0"/>
              <a:t>CPU</a:t>
            </a:r>
            <a:r>
              <a:rPr lang="ko-KR" altLang="en-US" sz="1600" b="1" dirty="0" smtClean="0"/>
              <a:t>나 운영체제에 따라 변하지 않음</a:t>
            </a:r>
            <a:endParaRPr lang="en-US" altLang="ko-KR" sz="1600" b="1" dirty="0" smtClean="0"/>
          </a:p>
        </p:txBody>
      </p:sp>
      <p:sp>
        <p:nvSpPr>
          <p:cNvPr id="21" name="TextBox 20"/>
          <p:cNvSpPr txBox="1"/>
          <p:nvPr/>
        </p:nvSpPr>
        <p:spPr>
          <a:xfrm>
            <a:off x="95572" y="2857496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000000"/>
                </a:solidFill>
              </a:rPr>
              <a:t>논리타입</a:t>
            </a:r>
            <a:r>
              <a:rPr lang="en-US" altLang="ko-KR" sz="1200" b="1" dirty="0" smtClean="0">
                <a:solidFill>
                  <a:srgbClr val="000000"/>
                </a:solidFill>
              </a:rPr>
              <a:t> 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5572" y="335756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000000"/>
                </a:solidFill>
              </a:rPr>
              <a:t>문자타입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5572" y="435769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000000"/>
                </a:solidFill>
              </a:rPr>
              <a:t>정수타입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544" y="559454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000000"/>
                </a:solidFill>
              </a:rPr>
              <a:t>실수타입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25" name="왼쪽 중괄호 24"/>
          <p:cNvSpPr/>
          <p:nvPr/>
        </p:nvSpPr>
        <p:spPr>
          <a:xfrm>
            <a:off x="807417" y="3786190"/>
            <a:ext cx="210692" cy="1428760"/>
          </a:xfrm>
          <a:prstGeom prst="leftBrace">
            <a:avLst>
              <a:gd name="adj1" fmla="val 61666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rgbClr val="000000"/>
              </a:solidFill>
            </a:endParaRPr>
          </a:p>
        </p:txBody>
      </p:sp>
      <p:sp>
        <p:nvSpPr>
          <p:cNvPr id="27" name="왼쪽 중괄호 26"/>
          <p:cNvSpPr/>
          <p:nvPr/>
        </p:nvSpPr>
        <p:spPr>
          <a:xfrm>
            <a:off x="841074" y="5470767"/>
            <a:ext cx="109220" cy="539274"/>
          </a:xfrm>
          <a:prstGeom prst="leftBrace">
            <a:avLst>
              <a:gd name="adj1" fmla="val 61666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200" b="1">
              <a:solidFill>
                <a:srgbClr val="00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381556" y="2871146"/>
            <a:ext cx="18181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000000"/>
                </a:solidFill>
              </a:rPr>
              <a:t>(1Byte, true </a:t>
            </a:r>
            <a:r>
              <a:rPr lang="ko-KR" altLang="en-US" sz="1200" b="1" dirty="0" smtClean="0">
                <a:solidFill>
                  <a:srgbClr val="000000"/>
                </a:solidFill>
              </a:rPr>
              <a:t>또는</a:t>
            </a:r>
            <a:r>
              <a:rPr lang="en-US" altLang="ko-KR" sz="1200" b="1" dirty="0" smtClean="0">
                <a:solidFill>
                  <a:srgbClr val="000000"/>
                </a:solidFill>
              </a:rPr>
              <a:t> false)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24498" y="3299774"/>
            <a:ext cx="15263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000000"/>
                </a:solidFill>
              </a:rPr>
              <a:t>(2Bytes,  Unicode)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310118" y="3728402"/>
            <a:ext cx="15383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smtClean="0">
                <a:solidFill>
                  <a:srgbClr val="000000"/>
                </a:solidFill>
              </a:rPr>
              <a:t>(1Byte, -128 ~ 127)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024498" y="4157030"/>
            <a:ext cx="20673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mtClean="0">
                <a:solidFill>
                  <a:srgbClr val="000000"/>
                </a:solidFill>
              </a:rPr>
              <a:t>(2Bytes,  </a:t>
            </a:r>
            <a:r>
              <a:rPr lang="en-US" altLang="ko-KR" sz="1200" b="1" dirty="0" smtClean="0">
                <a:solidFill>
                  <a:srgbClr val="000000"/>
                </a:solidFill>
              </a:rPr>
              <a:t>-32,768 ~ 32,767)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24696" y="4585658"/>
            <a:ext cx="17267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mtClean="0">
                <a:solidFill>
                  <a:srgbClr val="000000"/>
                </a:solidFill>
              </a:rPr>
              <a:t>(4Bytes  </a:t>
            </a:r>
            <a:r>
              <a:rPr lang="en-US" altLang="ko-KR" sz="1200" b="1" dirty="0" smtClean="0">
                <a:solidFill>
                  <a:srgbClr val="000000"/>
                </a:solidFill>
              </a:rPr>
              <a:t>-2</a:t>
            </a:r>
            <a:r>
              <a:rPr lang="en-US" altLang="ko-KR" sz="1200" b="1" baseline="30000" dirty="0" smtClean="0">
                <a:solidFill>
                  <a:srgbClr val="000000"/>
                </a:solidFill>
              </a:rPr>
              <a:t>31</a:t>
            </a:r>
            <a:r>
              <a:rPr lang="en-US" altLang="ko-KR" sz="1200" b="1" dirty="0" smtClean="0">
                <a:solidFill>
                  <a:srgbClr val="000000"/>
                </a:solidFill>
              </a:rPr>
              <a:t> ~ 2</a:t>
            </a:r>
            <a:r>
              <a:rPr lang="en-US" altLang="ko-KR" sz="1200" b="1" baseline="30000" dirty="0" smtClean="0">
                <a:solidFill>
                  <a:srgbClr val="000000"/>
                </a:solidFill>
              </a:rPr>
              <a:t>31</a:t>
            </a:r>
            <a:r>
              <a:rPr lang="en-US" altLang="ko-KR" sz="1200" b="1" dirty="0" smtClean="0">
                <a:solidFill>
                  <a:srgbClr val="000000"/>
                </a:solidFill>
              </a:rPr>
              <a:t> -1 )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82150" y="5014286"/>
            <a:ext cx="1820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mtClean="0">
                <a:solidFill>
                  <a:srgbClr val="000000"/>
                </a:solidFill>
              </a:rPr>
              <a:t>(8Bytes, </a:t>
            </a:r>
            <a:r>
              <a:rPr lang="en-US" altLang="ko-KR" sz="1200" b="1" dirty="0" smtClean="0">
                <a:solidFill>
                  <a:srgbClr val="000000"/>
                </a:solidFill>
              </a:rPr>
              <a:t>-2</a:t>
            </a:r>
            <a:r>
              <a:rPr lang="en-US" altLang="ko-KR" sz="1200" b="1" baseline="30000" dirty="0" smtClean="0">
                <a:solidFill>
                  <a:srgbClr val="000000"/>
                </a:solidFill>
              </a:rPr>
              <a:t>63</a:t>
            </a:r>
            <a:r>
              <a:rPr lang="en-US" altLang="ko-KR" sz="1200" b="1" dirty="0" smtClean="0">
                <a:solidFill>
                  <a:srgbClr val="000000"/>
                </a:solidFill>
              </a:rPr>
              <a:t> ~ 2</a:t>
            </a:r>
            <a:r>
              <a:rPr lang="en-US" altLang="ko-KR" sz="1200" b="1" baseline="30000" dirty="0" smtClean="0">
                <a:solidFill>
                  <a:srgbClr val="000000"/>
                </a:solidFill>
              </a:rPr>
              <a:t>63  </a:t>
            </a:r>
            <a:r>
              <a:rPr lang="en-US" altLang="ko-KR" sz="1200" b="1" dirty="0" smtClean="0">
                <a:solidFill>
                  <a:srgbClr val="000000"/>
                </a:solidFill>
              </a:rPr>
              <a:t>-1)  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24696" y="5442914"/>
            <a:ext cx="2031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mtClean="0">
                <a:solidFill>
                  <a:srgbClr val="000000"/>
                </a:solidFill>
              </a:rPr>
              <a:t>(4Bytes </a:t>
            </a:r>
            <a:r>
              <a:rPr lang="en-US" altLang="ko-KR" sz="1200" b="1" dirty="0" smtClean="0">
                <a:solidFill>
                  <a:srgbClr val="000000"/>
                </a:solidFill>
              </a:rPr>
              <a:t>-3.4E38 ~ 3.4E38)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63337" y="5871542"/>
            <a:ext cx="22445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mtClean="0">
                <a:solidFill>
                  <a:srgbClr val="000000"/>
                </a:solidFill>
              </a:rPr>
              <a:t>(8Bytes, </a:t>
            </a:r>
            <a:r>
              <a:rPr lang="en-US" altLang="ko-KR" sz="1200" b="1" dirty="0" smtClean="0">
                <a:solidFill>
                  <a:srgbClr val="000000"/>
                </a:solidFill>
              </a:rPr>
              <a:t>-1.7E308 ~ 1.7E308)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78020078"/>
              </p:ext>
            </p:extLst>
          </p:nvPr>
        </p:nvGraphicFramePr>
        <p:xfrm>
          <a:off x="1524300" y="5014286"/>
          <a:ext cx="535784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731"/>
                <a:gridCol w="669731"/>
                <a:gridCol w="669731"/>
                <a:gridCol w="669731"/>
                <a:gridCol w="669731"/>
                <a:gridCol w="669731"/>
                <a:gridCol w="669731"/>
                <a:gridCol w="669731"/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70364760"/>
              </p:ext>
            </p:extLst>
          </p:nvPr>
        </p:nvGraphicFramePr>
        <p:xfrm>
          <a:off x="1524300" y="4572008"/>
          <a:ext cx="26789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731"/>
                <a:gridCol w="669731"/>
                <a:gridCol w="669731"/>
                <a:gridCol w="669731"/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84530337"/>
              </p:ext>
            </p:extLst>
          </p:nvPr>
        </p:nvGraphicFramePr>
        <p:xfrm>
          <a:off x="1524300" y="4143380"/>
          <a:ext cx="13394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732"/>
                <a:gridCol w="669732"/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809744117"/>
              </p:ext>
            </p:extLst>
          </p:nvPr>
        </p:nvGraphicFramePr>
        <p:xfrm>
          <a:off x="1524300" y="3728402"/>
          <a:ext cx="6697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731"/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410494201"/>
              </p:ext>
            </p:extLst>
          </p:nvPr>
        </p:nvGraphicFramePr>
        <p:xfrm>
          <a:off x="1524300" y="3299774"/>
          <a:ext cx="13394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732"/>
                <a:gridCol w="669732"/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58819899"/>
              </p:ext>
            </p:extLst>
          </p:nvPr>
        </p:nvGraphicFramePr>
        <p:xfrm>
          <a:off x="1524300" y="5442914"/>
          <a:ext cx="26789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731"/>
                <a:gridCol w="669731"/>
                <a:gridCol w="669731"/>
                <a:gridCol w="669731"/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표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83240609"/>
              </p:ext>
            </p:extLst>
          </p:nvPr>
        </p:nvGraphicFramePr>
        <p:xfrm>
          <a:off x="1524300" y="5857892"/>
          <a:ext cx="535784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731"/>
                <a:gridCol w="669731"/>
                <a:gridCol w="669731"/>
                <a:gridCol w="669731"/>
                <a:gridCol w="669731"/>
                <a:gridCol w="669731"/>
                <a:gridCol w="669731"/>
                <a:gridCol w="669731"/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" name="표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48093165"/>
              </p:ext>
            </p:extLst>
          </p:nvPr>
        </p:nvGraphicFramePr>
        <p:xfrm>
          <a:off x="1524300" y="2857496"/>
          <a:ext cx="6697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731"/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" name="직사각형 25"/>
          <p:cNvSpPr/>
          <p:nvPr/>
        </p:nvSpPr>
        <p:spPr>
          <a:xfrm>
            <a:off x="738482" y="2857496"/>
            <a:ext cx="7761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smtClean="0">
                <a:solidFill>
                  <a:srgbClr val="000000"/>
                </a:solidFill>
              </a:rPr>
              <a:t>boolean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1049272" y="3357562"/>
            <a:ext cx="5084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smtClean="0">
                <a:solidFill>
                  <a:srgbClr val="000000"/>
                </a:solidFill>
              </a:rPr>
              <a:t>char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043629" y="3714752"/>
            <a:ext cx="5004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smtClean="0">
                <a:solidFill>
                  <a:srgbClr val="000000"/>
                </a:solidFill>
              </a:rPr>
              <a:t>byte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1018109" y="4143380"/>
            <a:ext cx="5693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smtClean="0">
                <a:solidFill>
                  <a:srgbClr val="000000"/>
                </a:solidFill>
              </a:rPr>
              <a:t>short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217779" y="4572008"/>
            <a:ext cx="3738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smtClean="0">
                <a:solidFill>
                  <a:srgbClr val="000000"/>
                </a:solidFill>
              </a:rPr>
              <a:t>int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057479" y="5000636"/>
            <a:ext cx="51167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smtClean="0">
                <a:solidFill>
                  <a:srgbClr val="000000"/>
                </a:solidFill>
              </a:rPr>
              <a:t>long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022213" y="5429264"/>
            <a:ext cx="5100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smtClean="0">
                <a:solidFill>
                  <a:srgbClr val="000000"/>
                </a:solidFill>
              </a:rPr>
              <a:t>float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841074" y="5857892"/>
            <a:ext cx="6912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smtClean="0">
                <a:solidFill>
                  <a:srgbClr val="000000"/>
                </a:solidFill>
              </a:rPr>
              <a:t>double</a:t>
            </a:r>
            <a:endParaRPr lang="ko-KR" altLang="en-US" sz="1200" b="1" dirty="0">
              <a:solidFill>
                <a:srgbClr val="000000"/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6BD2C2-3D3B-4E94-BD92-61B02C5F4DEE}" type="slidenum">
              <a:rPr lang="ko-KR" altLang="en-US" b="1" smtClean="0"/>
              <a:pPr/>
              <a:t>5</a:t>
            </a:fld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xmlns="" val="354834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 smtClean="0"/>
              <a:t>1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자료형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ReferenceType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선언할 때 실제 메모리를 할당하는 것이 아니고 </a:t>
            </a:r>
            <a:r>
              <a:rPr lang="en-US" altLang="ko-KR" sz="1600" dirty="0" smtClean="0"/>
              <a:t>new</a:t>
            </a:r>
            <a:r>
              <a:rPr lang="ko-KR" altLang="en-US" sz="1600" dirty="0" smtClean="0"/>
              <a:t>를 만났을 때 실제 사용할 데이터를 저장할 메모리를 할당</a:t>
            </a:r>
            <a:endParaRPr lang="en-US" altLang="ko-KR" sz="1600" dirty="0" smtClean="0"/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변수는 </a:t>
            </a:r>
            <a:r>
              <a:rPr lang="ko-KR" altLang="en-US" sz="1600" dirty="0" err="1" smtClean="0"/>
              <a:t>스택에</a:t>
            </a:r>
            <a:r>
              <a:rPr lang="ko-KR" altLang="en-US" sz="1600" dirty="0" smtClean="0"/>
              <a:t> 할당 받은 메모리의 주소를 기억</a:t>
            </a:r>
            <a:endParaRPr lang="en-US" altLang="ko-KR" sz="1600" dirty="0" smtClean="0"/>
          </a:p>
          <a:p>
            <a:pPr latinLnBrk="0">
              <a:buFont typeface="Wingdings" pitchFamily="2" charset="2"/>
              <a:buChar char="v"/>
            </a:pPr>
            <a:r>
              <a:rPr lang="en-US" altLang="ko-KR" sz="1600" dirty="0" smtClean="0"/>
              <a:t>C</a:t>
            </a:r>
            <a:r>
              <a:rPr lang="ko-KR" altLang="en-US" sz="1600" dirty="0" smtClean="0"/>
              <a:t>언어에서의 포인터와 유사한 개념</a:t>
            </a:r>
            <a:endParaRPr lang="en-US" altLang="ko-KR" sz="1600" dirty="0" smtClean="0"/>
          </a:p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종류</a:t>
            </a:r>
            <a:endParaRPr lang="en-US" altLang="ko-KR" sz="1600" dirty="0" smtClean="0"/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Class, </a:t>
            </a:r>
            <a:r>
              <a:rPr lang="en-US" altLang="ko-KR" sz="1400" dirty="0" err="1" smtClean="0"/>
              <a:t>Inteface</a:t>
            </a:r>
            <a:endParaRPr lang="en-US" altLang="ko-KR" sz="1400" dirty="0" smtClean="0"/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String(</a:t>
            </a:r>
            <a:r>
              <a:rPr lang="ko-KR" altLang="en-US" sz="1400" dirty="0" smtClean="0"/>
              <a:t>문자열</a:t>
            </a:r>
            <a:r>
              <a:rPr lang="en-US" altLang="ko-KR" sz="1400" dirty="0" smtClean="0"/>
              <a:t>)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Array(</a:t>
            </a:r>
            <a:r>
              <a:rPr lang="ko-KR" altLang="en-US" sz="1400" dirty="0" smtClean="0"/>
              <a:t>배열</a:t>
            </a:r>
            <a:r>
              <a:rPr lang="en-US" altLang="ko-KR" sz="1400" dirty="0" smtClean="0"/>
              <a:t>)</a:t>
            </a:r>
          </a:p>
          <a:p>
            <a:pPr latinLnBrk="0">
              <a:buFont typeface="Wingdings" pitchFamily="2" charset="2"/>
              <a:buChar char="v"/>
            </a:pPr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기본 데이터 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1600" dirty="0" smtClean="0"/>
              <a:t>정수</a:t>
            </a:r>
            <a:endParaRPr lang="ko-KR" altLang="en-US" sz="1600" dirty="0" smtClean="0"/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10 =&gt; </a:t>
            </a:r>
            <a:r>
              <a:rPr lang="en-US" altLang="ko-KR" sz="1400" dirty="0" err="1" smtClean="0"/>
              <a:t>int</a:t>
            </a:r>
            <a:endParaRPr lang="en-US" altLang="ko-KR" sz="1400" dirty="0" smtClean="0"/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정수 상수는 기본적으로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형입니다</a:t>
            </a:r>
            <a:r>
              <a:rPr lang="en-US" altLang="ko-KR" sz="14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long l = 10L;   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뒤에 </a:t>
            </a:r>
            <a:r>
              <a:rPr lang="en-US" altLang="ko-KR" sz="1400" dirty="0" smtClean="0"/>
              <a:t>L</a:t>
            </a:r>
            <a:r>
              <a:rPr lang="ko-KR" altLang="en-US" sz="1400" dirty="0" smtClean="0"/>
              <a:t>이나 </a:t>
            </a:r>
            <a:r>
              <a:rPr lang="en-US" altLang="ko-KR" sz="1400" dirty="0" smtClean="0"/>
              <a:t>l</a:t>
            </a:r>
            <a:r>
              <a:rPr lang="ko-KR" altLang="en-US" sz="1400" dirty="0" smtClean="0"/>
              <a:t>을 입력하면 자료형을 명시적으로 표현한 것이 되는데 </a:t>
            </a:r>
            <a:r>
              <a:rPr lang="en-US" altLang="ko-KR" sz="1400" dirty="0" smtClean="0"/>
              <a:t>long</a:t>
            </a:r>
            <a:r>
              <a:rPr lang="ko-KR" altLang="en-US" sz="1400" dirty="0" smtClean="0"/>
              <a:t>형 정수 상수가 됩니다</a:t>
            </a:r>
            <a:r>
              <a:rPr lang="en-US" altLang="ko-KR" sz="1400" dirty="0" smtClean="0"/>
              <a:t>. 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8</a:t>
            </a:r>
            <a:r>
              <a:rPr lang="ko-KR" altLang="en-US" sz="1400" dirty="0" smtClean="0"/>
              <a:t>진수  </a:t>
            </a:r>
            <a:r>
              <a:rPr lang="en-US" altLang="ko-KR" sz="1400" dirty="0" smtClean="0"/>
              <a:t>:  0</a:t>
            </a:r>
            <a:r>
              <a:rPr lang="ko-KR" altLang="en-US" sz="1400" dirty="0" smtClean="0"/>
              <a:t>으로 시작하는 숫자는 모두 </a:t>
            </a:r>
            <a:r>
              <a:rPr lang="en-US" altLang="ko-KR" sz="1400" dirty="0" smtClean="0"/>
              <a:t>8</a:t>
            </a:r>
            <a:r>
              <a:rPr lang="ko-KR" altLang="en-US" sz="1400" dirty="0" smtClean="0"/>
              <a:t>진수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n = 015; // 10</a:t>
            </a:r>
            <a:r>
              <a:rPr lang="ko-KR" altLang="en-US" sz="1400" dirty="0" smtClean="0"/>
              <a:t>진수로 </a:t>
            </a:r>
            <a:r>
              <a:rPr lang="en-US" altLang="ko-KR" sz="1400" dirty="0" smtClean="0"/>
              <a:t>13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16</a:t>
            </a:r>
            <a:r>
              <a:rPr lang="ko-KR" altLang="en-US" sz="1400" dirty="0" smtClean="0"/>
              <a:t>진수 </a:t>
            </a:r>
            <a:r>
              <a:rPr lang="en-US" altLang="ko-KR" sz="1400" dirty="0" smtClean="0"/>
              <a:t>: 0x</a:t>
            </a:r>
            <a:r>
              <a:rPr lang="ko-KR" altLang="en-US" sz="1400" dirty="0" smtClean="0"/>
              <a:t>로 시작하는 숫자는 </a:t>
            </a:r>
            <a:r>
              <a:rPr lang="en-US" altLang="ko-KR" sz="1400" dirty="0" smtClean="0"/>
              <a:t>16</a:t>
            </a:r>
            <a:r>
              <a:rPr lang="ko-KR" altLang="en-US" sz="1400" dirty="0" smtClean="0"/>
              <a:t>진수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n = 0x15; // 10</a:t>
            </a:r>
            <a:r>
              <a:rPr lang="ko-KR" altLang="en-US" sz="1400" dirty="0" smtClean="0"/>
              <a:t>진수로 </a:t>
            </a:r>
            <a:r>
              <a:rPr lang="en-US" altLang="ko-KR" sz="1400" dirty="0" smtClean="0"/>
              <a:t>21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10</a:t>
            </a:r>
            <a:r>
              <a:rPr lang="ko-KR" altLang="en-US" sz="1400" dirty="0" smtClean="0"/>
              <a:t>진수 </a:t>
            </a:r>
            <a:r>
              <a:rPr lang="en-US" altLang="ko-KR" sz="1400" dirty="0" smtClean="0"/>
              <a:t>: 0</a:t>
            </a:r>
            <a:r>
              <a:rPr lang="ko-KR" altLang="en-US" sz="1400" dirty="0" smtClean="0"/>
              <a:t>으로 시작하지 않는 숫자는 </a:t>
            </a:r>
            <a:r>
              <a:rPr lang="en-US" altLang="ko-KR" sz="1400" dirty="0" smtClean="0"/>
              <a:t>10</a:t>
            </a:r>
            <a:r>
              <a:rPr lang="ko-KR" altLang="en-US" sz="1400" dirty="0" smtClean="0"/>
              <a:t>진수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15, 3, 20, 55, 88</a:t>
            </a:r>
          </a:p>
          <a:p>
            <a:pPr lvl="1" latinLnBrk="0">
              <a:buFont typeface="Wingdings" pitchFamily="2" charset="2"/>
              <a:buChar char="v"/>
            </a:pPr>
            <a:endParaRPr lang="en-US" altLang="ko-KR" sz="1400" dirty="0" smtClean="0"/>
          </a:p>
          <a:p>
            <a:pPr latinLnBrk="0">
              <a:buFont typeface="Wingdings" pitchFamily="2" charset="2"/>
              <a:buChar char="v"/>
            </a:pPr>
            <a:r>
              <a:rPr lang="ko-KR" altLang="en-US" sz="1800" dirty="0" smtClean="0"/>
              <a:t>실수</a:t>
            </a:r>
            <a:endParaRPr lang="en-US" altLang="ko-KR" sz="1800" dirty="0" smtClean="0"/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3.14 =&gt; double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실수 상수는 기본적으로 </a:t>
            </a:r>
            <a:r>
              <a:rPr lang="en-US" altLang="ko-KR" sz="1400" dirty="0" smtClean="0"/>
              <a:t>double </a:t>
            </a:r>
            <a:r>
              <a:rPr lang="ko-KR" altLang="en-US" sz="1400" dirty="0" smtClean="0"/>
              <a:t>형입니다</a:t>
            </a:r>
            <a:r>
              <a:rPr lang="en-US" altLang="ko-KR" sz="1400" dirty="0" smtClean="0"/>
              <a:t>.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double </a:t>
            </a:r>
            <a:r>
              <a:rPr lang="en-US" altLang="ko-KR" sz="1400" dirty="0" smtClean="0"/>
              <a:t>d = 3.14d</a:t>
            </a:r>
            <a:r>
              <a:rPr lang="en-US" altLang="ko-KR" sz="1400" dirty="0" smtClean="0"/>
              <a:t>; </a:t>
            </a:r>
            <a:r>
              <a:rPr lang="en-US" altLang="ko-KR" sz="1400" dirty="0" smtClean="0"/>
              <a:t>=&gt;314E-2</a:t>
            </a:r>
            <a:endParaRPr lang="en-US" altLang="ko-KR" sz="1400" dirty="0" smtClean="0"/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400" dirty="0" smtClean="0"/>
              <a:t>float f = 3.14f; </a:t>
            </a:r>
          </a:p>
          <a:p>
            <a:pPr lvl="1" latinLnBrk="0">
              <a:buFont typeface="Wingdings" pitchFamily="2" charset="2"/>
              <a:buChar char="v"/>
            </a:pPr>
            <a:r>
              <a:rPr lang="ko-KR" altLang="en-US" sz="1400" dirty="0" smtClean="0"/>
              <a:t>뒤에 </a:t>
            </a:r>
            <a:r>
              <a:rPr lang="en-US" altLang="ko-KR" sz="1400" dirty="0" smtClean="0"/>
              <a:t>f</a:t>
            </a:r>
            <a:r>
              <a:rPr lang="ko-KR" altLang="en-US" sz="1400" dirty="0" smtClean="0"/>
              <a:t>나 </a:t>
            </a:r>
            <a:r>
              <a:rPr lang="en-US" altLang="ko-KR" sz="1400" dirty="0" smtClean="0"/>
              <a:t>d</a:t>
            </a:r>
            <a:r>
              <a:rPr lang="ko-KR" altLang="en-US" sz="1400" dirty="0" smtClean="0"/>
              <a:t>을 붙이면 자료형을 명시적으로 표현한 것이 되는데 </a:t>
            </a:r>
            <a:r>
              <a:rPr lang="en-US" altLang="ko-KR" sz="1400" dirty="0" smtClean="0"/>
              <a:t>float</a:t>
            </a:r>
            <a:r>
              <a:rPr lang="ko-KR" altLang="en-US" sz="1400" dirty="0" smtClean="0"/>
              <a:t>형 이나 </a:t>
            </a:r>
            <a:r>
              <a:rPr lang="en-US" altLang="ko-KR" sz="1400" dirty="0" smtClean="0"/>
              <a:t>double</a:t>
            </a:r>
            <a:r>
              <a:rPr lang="ko-KR" altLang="en-US" sz="1400" dirty="0" smtClean="0"/>
              <a:t>형 상수가 됩니다</a:t>
            </a:r>
            <a:r>
              <a:rPr lang="en-US" altLang="ko-KR" sz="1400" dirty="0" smtClean="0"/>
              <a:t>.</a:t>
            </a:r>
          </a:p>
          <a:p>
            <a:pPr latinLnBrk="0">
              <a:buFont typeface="Wingdings" pitchFamily="2" charset="2"/>
              <a:buChar char="v"/>
            </a:pPr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public class Variable 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{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	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	{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a;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		a=10;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("a=" + a);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		a=20;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("a=" + a);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("a + a= " + (</a:t>
            </a:r>
            <a:r>
              <a:rPr lang="en-US" altLang="ko-KR" sz="1400" dirty="0" err="1" smtClean="0"/>
              <a:t>a+a</a:t>
            </a:r>
            <a:r>
              <a:rPr lang="en-US" altLang="ko-KR" sz="1400" dirty="0" smtClean="0"/>
              <a:t>));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b=30; //</a:t>
            </a:r>
            <a:r>
              <a:rPr lang="ko-KR" altLang="ko-KR" sz="1400" dirty="0" smtClean="0"/>
              <a:t>선언과 동시에 초기화</a:t>
            </a:r>
            <a:r>
              <a:rPr lang="en-US" altLang="ko-KR" sz="1400" dirty="0" smtClean="0"/>
              <a:t>.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("b=" + b);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		float f;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		f=0.123456789f; 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("f = " + f);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		double d;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		d=0.12345678901234567;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("d = " + d);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	}</a:t>
            </a:r>
            <a:endParaRPr lang="ko-KR" altLang="ko-KR" sz="1400" dirty="0" smtClean="0"/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1340768"/>
            <a:ext cx="4010937" cy="2891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기본 데이터 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ko-KR" altLang="ko-KR" sz="1600" b="1" dirty="0" smtClean="0"/>
              <a:t>문자</a:t>
            </a:r>
            <a:endParaRPr lang="ko-KR" altLang="ko-KR" sz="1600" dirty="0" smtClean="0"/>
          </a:p>
          <a:p>
            <a:pPr lvl="1">
              <a:buFont typeface="Wingdings" pitchFamily="2" charset="2"/>
              <a:buChar char="v"/>
            </a:pPr>
            <a:r>
              <a:rPr lang="en-US" altLang="ko-KR" sz="1400" dirty="0" smtClean="0"/>
              <a:t>Java</a:t>
            </a:r>
            <a:r>
              <a:rPr lang="ko-KR" altLang="ko-KR" sz="1400" dirty="0" smtClean="0"/>
              <a:t>는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하나의 문자를 </a:t>
            </a:r>
            <a:r>
              <a:rPr lang="en-US" altLang="ko-KR" sz="1400" dirty="0" smtClean="0"/>
              <a:t>Unicode</a:t>
            </a:r>
            <a:r>
              <a:rPr lang="ko-KR" altLang="en-US" sz="1400" dirty="0" smtClean="0"/>
              <a:t>를 사용해서 표현하므로</a:t>
            </a:r>
            <a:r>
              <a:rPr lang="ko-KR" altLang="ko-KR" sz="1400" dirty="0" smtClean="0"/>
              <a:t> 문자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값을 표현하는</a:t>
            </a:r>
            <a:r>
              <a:rPr lang="ko-KR" altLang="ko-KR" sz="1400" dirty="0" smtClean="0"/>
              <a:t> 방법이</a:t>
            </a:r>
            <a:r>
              <a:rPr lang="en-US" altLang="ko-KR" sz="1400" dirty="0" smtClean="0"/>
              <a:t> 3</a:t>
            </a:r>
            <a:r>
              <a:rPr lang="ko-KR" altLang="ko-KR" sz="1400" dirty="0" smtClean="0"/>
              <a:t>가지가 있습니다</a:t>
            </a:r>
            <a:r>
              <a:rPr lang="en-US" altLang="ko-KR" sz="1400" dirty="0" smtClean="0"/>
              <a:t>.</a:t>
            </a:r>
          </a:p>
          <a:p>
            <a:pPr lvl="1">
              <a:buFont typeface="Wingdings" pitchFamily="2" charset="2"/>
              <a:buChar char="v"/>
            </a:pPr>
            <a:r>
              <a:rPr lang="en-US" altLang="ko-KR" sz="1400" dirty="0" smtClean="0"/>
              <a:t>ASCII </a:t>
            </a:r>
            <a:r>
              <a:rPr lang="ko-KR" altLang="ko-KR" sz="1400" dirty="0" smtClean="0"/>
              <a:t>코드 이용</a:t>
            </a:r>
            <a:r>
              <a:rPr lang="en-US" altLang="ko-KR" sz="1400" dirty="0" smtClean="0"/>
              <a:t>: </a:t>
            </a:r>
            <a:r>
              <a:rPr lang="en-US" altLang="ko-KR" sz="1400" b="1" dirty="0" smtClean="0"/>
              <a:t>ASCII </a:t>
            </a:r>
            <a:r>
              <a:rPr lang="ko-KR" altLang="ko-KR" sz="1400" b="1" dirty="0" smtClean="0"/>
              <a:t>코드 값</a:t>
            </a:r>
            <a:r>
              <a:rPr lang="en-US" altLang="ko-KR" sz="1400" b="1" dirty="0" smtClean="0"/>
              <a:t>;</a:t>
            </a:r>
            <a:endParaRPr lang="ko-KR" altLang="ko-KR" sz="1400" dirty="0" smtClean="0"/>
          </a:p>
          <a:p>
            <a:pPr lvl="1">
              <a:buFont typeface="Wingdings" pitchFamily="2" charset="2"/>
              <a:buChar char="v"/>
            </a:pPr>
            <a:r>
              <a:rPr lang="en-US" altLang="ko-KR" sz="1400" dirty="0" smtClean="0"/>
              <a:t>UNICODE </a:t>
            </a:r>
            <a:r>
              <a:rPr lang="ko-KR" altLang="ko-KR" sz="1400" dirty="0" smtClean="0"/>
              <a:t>이용</a:t>
            </a:r>
            <a:r>
              <a:rPr lang="en-US" altLang="ko-KR" sz="1400" dirty="0" smtClean="0"/>
              <a:t>: </a:t>
            </a:r>
            <a:r>
              <a:rPr lang="en-US" altLang="ko-KR" sz="1400" b="1" dirty="0" smtClean="0"/>
              <a:t>‘</a:t>
            </a:r>
            <a:r>
              <a:rPr lang="ko-KR" altLang="ko-KR" sz="1400" b="1" dirty="0" err="1" smtClean="0"/>
              <a:t>코드값</a:t>
            </a:r>
            <a:r>
              <a:rPr lang="en-US" altLang="ko-KR" sz="1400" b="1" dirty="0" smtClean="0"/>
              <a:t>’;</a:t>
            </a:r>
            <a:endParaRPr lang="ko-KR" altLang="ko-KR" sz="1400" dirty="0" smtClean="0"/>
          </a:p>
          <a:p>
            <a:pPr lvl="1">
              <a:buFont typeface="Wingdings" pitchFamily="2" charset="2"/>
              <a:buChar char="v"/>
            </a:pPr>
            <a:r>
              <a:rPr lang="ko-KR" altLang="ko-KR" sz="1400" dirty="0" smtClean="0"/>
              <a:t>문자 상수 직접 대입</a:t>
            </a:r>
            <a:r>
              <a:rPr lang="en-US" altLang="ko-KR" sz="1400" dirty="0" smtClean="0"/>
              <a:t>: </a:t>
            </a:r>
            <a:r>
              <a:rPr lang="en-US" altLang="ko-KR" sz="1400" b="1" dirty="0" smtClean="0"/>
              <a:t>‘</a:t>
            </a:r>
            <a:r>
              <a:rPr lang="ko-KR" altLang="ko-KR" sz="1400" b="1" dirty="0" smtClean="0"/>
              <a:t>문자</a:t>
            </a:r>
            <a:r>
              <a:rPr lang="en-US" altLang="ko-KR" sz="1400" b="1" dirty="0" smtClean="0"/>
              <a:t>’;</a:t>
            </a:r>
          </a:p>
          <a:p>
            <a:pPr lvl="1">
              <a:buFont typeface="Wingdings" pitchFamily="2" charset="2"/>
              <a:buChar char="v"/>
            </a:pPr>
            <a:r>
              <a:rPr lang="en-US" altLang="ko-KR" sz="1400" dirty="0" smtClean="0"/>
              <a:t>\</a:t>
            </a:r>
            <a:r>
              <a:rPr lang="ko-KR" altLang="en-US" sz="1400" dirty="0" smtClean="0"/>
              <a:t>다음에 숫자는 </a:t>
            </a:r>
            <a:r>
              <a:rPr lang="en-US" altLang="ko-KR" sz="1400" dirty="0" smtClean="0"/>
              <a:t>8</a:t>
            </a:r>
            <a:r>
              <a:rPr lang="ko-KR" altLang="en-US" sz="1400" dirty="0" smtClean="0"/>
              <a:t>진수로서 </a:t>
            </a:r>
            <a:r>
              <a:rPr lang="en-US" altLang="ko-KR" sz="1400" dirty="0" smtClean="0"/>
              <a:t>0 ~ 337</a:t>
            </a:r>
            <a:r>
              <a:rPr lang="ko-KR" altLang="en-US" sz="1400" dirty="0" smtClean="0"/>
              <a:t>사이의 </a:t>
            </a:r>
            <a:r>
              <a:rPr lang="en-US" altLang="ko-KR" sz="1400" dirty="0" smtClean="0"/>
              <a:t>8</a:t>
            </a:r>
            <a:r>
              <a:rPr lang="ko-KR" altLang="en-US" sz="1400" dirty="0" smtClean="0"/>
              <a:t>진수만 가능</a:t>
            </a:r>
          </a:p>
          <a:p>
            <a:pPr lvl="1">
              <a:buNone/>
            </a:pPr>
            <a:r>
              <a:rPr lang="en-US" altLang="ko-KR" sz="1400" dirty="0" smtClean="0"/>
              <a:t>\102 -&gt; </a:t>
            </a:r>
            <a:r>
              <a:rPr lang="ko-KR" altLang="en-US" sz="1400" dirty="0" smtClean="0"/>
              <a:t>문자 ‘</a:t>
            </a:r>
            <a:r>
              <a:rPr lang="en-US" altLang="ko-KR" sz="1400" dirty="0" smtClean="0"/>
              <a:t>B’</a:t>
            </a:r>
            <a:r>
              <a:rPr lang="ko-KR" altLang="en-US" sz="1400" dirty="0" smtClean="0"/>
              <a:t>를 나타내는 </a:t>
            </a:r>
            <a:r>
              <a:rPr lang="en-US" altLang="ko-KR" sz="1400" dirty="0" smtClean="0"/>
              <a:t>8</a:t>
            </a:r>
            <a:r>
              <a:rPr lang="ko-KR" altLang="en-US" sz="1400" dirty="0" smtClean="0"/>
              <a:t>진수</a:t>
            </a:r>
          </a:p>
          <a:p>
            <a:pPr lvl="1">
              <a:buNone/>
            </a:pPr>
            <a:r>
              <a:rPr lang="en-US" altLang="ko-KR" sz="1400" dirty="0" smtClean="0"/>
              <a:t>\337 -&gt; </a:t>
            </a:r>
            <a:r>
              <a:rPr lang="ko-KR" altLang="en-US" sz="1400" dirty="0" smtClean="0"/>
              <a:t>문자 ‘</a:t>
            </a:r>
            <a:r>
              <a:rPr lang="en-US" altLang="ko-KR" sz="1400" dirty="0" smtClean="0"/>
              <a:t>β’</a:t>
            </a:r>
            <a:r>
              <a:rPr lang="ko-KR" altLang="en-US" sz="1400" dirty="0" smtClean="0"/>
              <a:t>를 나타내는 </a:t>
            </a:r>
            <a:r>
              <a:rPr lang="en-US" altLang="ko-KR" sz="1400" dirty="0" smtClean="0"/>
              <a:t>8</a:t>
            </a:r>
            <a:r>
              <a:rPr lang="ko-KR" altLang="en-US" sz="1400" dirty="0" smtClean="0"/>
              <a:t>진수</a:t>
            </a:r>
          </a:p>
          <a:p>
            <a:pPr lvl="1">
              <a:buFont typeface="Wingdings" pitchFamily="2" charset="2"/>
              <a:buChar char="v"/>
            </a:pPr>
            <a:r>
              <a:rPr lang="en-US" altLang="ko-KR" sz="1400" dirty="0" smtClean="0"/>
              <a:t>\u</a:t>
            </a:r>
            <a:r>
              <a:rPr lang="ko-KR" altLang="en-US" sz="1400" dirty="0" smtClean="0"/>
              <a:t>다음에 </a:t>
            </a:r>
            <a:r>
              <a:rPr lang="en-US" altLang="ko-KR" sz="1400" dirty="0" smtClean="0"/>
              <a:t>4</a:t>
            </a:r>
            <a:r>
              <a:rPr lang="ko-KR" altLang="en-US" sz="1400" dirty="0" smtClean="0"/>
              <a:t>자리 </a:t>
            </a:r>
            <a:r>
              <a:rPr lang="en-US" altLang="ko-KR" sz="1400" dirty="0" smtClean="0"/>
              <a:t>16</a:t>
            </a:r>
            <a:r>
              <a:rPr lang="ko-KR" altLang="en-US" sz="1400" dirty="0" smtClean="0"/>
              <a:t>진수</a:t>
            </a:r>
            <a:r>
              <a:rPr lang="en-US" altLang="ko-KR" sz="1400" dirty="0" smtClean="0"/>
              <a:t>, 2 </a:t>
            </a:r>
            <a:r>
              <a:rPr lang="ko-KR" altLang="en-US" sz="1400" dirty="0" smtClean="0"/>
              <a:t>바이트의 유니코드</a:t>
            </a:r>
            <a:r>
              <a:rPr lang="en-US" altLang="ko-KR" sz="1400" dirty="0" smtClean="0"/>
              <a:t>(Unicode)</a:t>
            </a:r>
          </a:p>
          <a:p>
            <a:pPr lvl="1">
              <a:buNone/>
            </a:pPr>
            <a:r>
              <a:rPr lang="en-US" altLang="ko-KR" sz="1400" dirty="0" smtClean="0"/>
              <a:t>\u0041 -&gt; </a:t>
            </a:r>
            <a:r>
              <a:rPr lang="ko-KR" altLang="en-US" sz="1400" dirty="0" smtClean="0"/>
              <a:t>문자 </a:t>
            </a:r>
            <a:r>
              <a:rPr lang="en-US" altLang="ko-KR" sz="1400" dirty="0" smtClean="0"/>
              <a:t>'A'</a:t>
            </a:r>
            <a:r>
              <a:rPr lang="ko-KR" altLang="en-US" sz="1400" dirty="0" smtClean="0"/>
              <a:t>의 유니코드</a:t>
            </a:r>
            <a:r>
              <a:rPr lang="en-US" altLang="ko-KR" sz="1400" dirty="0" smtClean="0"/>
              <a:t>(0041)</a:t>
            </a:r>
          </a:p>
          <a:p>
            <a:pPr lvl="1">
              <a:buNone/>
            </a:pPr>
            <a:r>
              <a:rPr lang="en-US" altLang="ko-KR" sz="1400" dirty="0" smtClean="0"/>
              <a:t>\uae00 -&gt; </a:t>
            </a:r>
            <a:r>
              <a:rPr lang="ko-KR" altLang="en-US" sz="1400" dirty="0" smtClean="0"/>
              <a:t>한글문자 </a:t>
            </a:r>
            <a:r>
              <a:rPr lang="en-US" altLang="ko-KR" sz="1400" dirty="0" smtClean="0"/>
              <a:t>'</a:t>
            </a:r>
            <a:r>
              <a:rPr lang="ko-KR" altLang="en-US" sz="1400" dirty="0" smtClean="0"/>
              <a:t>글</a:t>
            </a:r>
            <a:r>
              <a:rPr lang="en-US" altLang="ko-KR" sz="1400" dirty="0" smtClean="0"/>
              <a:t>'</a:t>
            </a:r>
            <a:r>
              <a:rPr lang="ko-KR" altLang="en-US" sz="1400" dirty="0" smtClean="0"/>
              <a:t>의 유니코드</a:t>
            </a:r>
            <a:r>
              <a:rPr lang="en-US" altLang="ko-KR" sz="1400" dirty="0" smtClean="0"/>
              <a:t>(ae00)</a:t>
            </a:r>
          </a:p>
          <a:p>
            <a:pPr lvl="1">
              <a:buFont typeface="Wingdings" pitchFamily="2" charset="2"/>
              <a:buChar char="v"/>
            </a:pPr>
            <a:r>
              <a:rPr lang="ko-KR" altLang="ko-KR" sz="1400" dirty="0" smtClean="0"/>
              <a:t>제어문자</a:t>
            </a:r>
            <a:r>
              <a:rPr lang="en-US" altLang="ko-KR" sz="1400" dirty="0" smtClean="0"/>
              <a:t>(Control </a:t>
            </a:r>
            <a:r>
              <a:rPr lang="en-US" altLang="ko-KR" sz="1400" dirty="0" err="1" smtClean="0"/>
              <a:t>Chracter</a:t>
            </a:r>
            <a:r>
              <a:rPr lang="en-US" altLang="ko-KR" sz="1400" dirty="0" smtClean="0"/>
              <a:t>)</a:t>
            </a:r>
            <a:endParaRPr lang="ko-KR" altLang="ko-KR" sz="1400" dirty="0" smtClean="0"/>
          </a:p>
          <a:p>
            <a:pPr lvl="2">
              <a:buFont typeface="Wingdings" pitchFamily="2" charset="2"/>
              <a:buChar char="v"/>
            </a:pPr>
            <a:r>
              <a:rPr lang="ko-KR" altLang="ko-KR" sz="1400" dirty="0" smtClean="0"/>
              <a:t>특별한 의미를 갖는 문자를 제어문자라고 합니다</a:t>
            </a:r>
            <a:r>
              <a:rPr lang="en-US" altLang="ko-KR" sz="1400" dirty="0" smtClean="0"/>
              <a:t>.</a:t>
            </a:r>
            <a:endParaRPr lang="ko-KR" altLang="ko-KR" sz="1400" dirty="0" smtClean="0"/>
          </a:p>
          <a:p>
            <a:pPr lvl="2">
              <a:buFont typeface="Wingdings" pitchFamily="2" charset="2"/>
              <a:buChar char="v"/>
            </a:pPr>
            <a:r>
              <a:rPr lang="en-US" altLang="ko-KR" sz="1400" dirty="0" smtClean="0"/>
              <a:t>\</a:t>
            </a:r>
            <a:r>
              <a:rPr lang="ko-KR" altLang="ko-KR" sz="1400" dirty="0" smtClean="0"/>
              <a:t>다음에 하나의 문자가 오면 제어문자가 됩니다</a:t>
            </a:r>
            <a:r>
              <a:rPr lang="en-US" altLang="ko-KR" sz="1400" dirty="0" smtClean="0"/>
              <a:t>.</a:t>
            </a:r>
            <a:endParaRPr lang="ko-KR" altLang="ko-KR" sz="1400" dirty="0" smtClean="0"/>
          </a:p>
          <a:p>
            <a:pPr lvl="2">
              <a:buNone/>
            </a:pPr>
            <a:r>
              <a:rPr lang="en-US" altLang="ko-KR" sz="1400" dirty="0" smtClean="0"/>
              <a:t>\t: </a:t>
            </a:r>
            <a:r>
              <a:rPr lang="ko-KR" altLang="ko-KR" sz="1400" dirty="0" smtClean="0"/>
              <a:t>탭</a:t>
            </a:r>
            <a:r>
              <a:rPr lang="en-US" altLang="ko-KR" sz="1400" dirty="0" smtClean="0"/>
              <a:t>		\n: </a:t>
            </a:r>
            <a:r>
              <a:rPr lang="ko-KR" altLang="ko-KR" sz="1400" dirty="0" smtClean="0"/>
              <a:t>줄 바꿈</a:t>
            </a:r>
            <a:r>
              <a:rPr lang="en-US" altLang="ko-KR" sz="1400" dirty="0" smtClean="0"/>
              <a:t>	\r: </a:t>
            </a:r>
            <a:r>
              <a:rPr lang="ko-KR" altLang="ko-KR" sz="1400" dirty="0" smtClean="0"/>
              <a:t>첫 칸으로 이동</a:t>
            </a:r>
          </a:p>
          <a:p>
            <a:pPr lvl="2">
              <a:buNone/>
            </a:pPr>
            <a:r>
              <a:rPr lang="en-US" altLang="ko-KR" sz="1400" dirty="0" smtClean="0"/>
              <a:t>\b: back space	\f: </a:t>
            </a:r>
            <a:r>
              <a:rPr lang="ko-KR" altLang="ko-KR" sz="1400" dirty="0" smtClean="0"/>
              <a:t>페이지 바꿈</a:t>
            </a:r>
            <a:r>
              <a:rPr lang="en-US" altLang="ko-KR" sz="1400" dirty="0" smtClean="0"/>
              <a:t>	\</a:t>
            </a:r>
            <a:r>
              <a:rPr lang="ko-KR" altLang="ko-KR" sz="1400" dirty="0" smtClean="0"/>
              <a:t>숫자</a:t>
            </a:r>
            <a:r>
              <a:rPr lang="en-US" altLang="ko-KR" sz="1400" dirty="0" smtClean="0"/>
              <a:t>: 8</a:t>
            </a:r>
            <a:r>
              <a:rPr lang="ko-KR" altLang="ko-KR" sz="1400" dirty="0" smtClean="0"/>
              <a:t>진수</a:t>
            </a:r>
          </a:p>
          <a:p>
            <a:pPr lvl="2">
              <a:buNone/>
            </a:pPr>
            <a:r>
              <a:rPr lang="en-US" altLang="ko-KR" sz="1400" dirty="0" smtClean="0"/>
              <a:t>\u</a:t>
            </a:r>
            <a:r>
              <a:rPr lang="ko-KR" altLang="ko-KR" sz="1400" dirty="0" smtClean="0"/>
              <a:t>숫자</a:t>
            </a:r>
            <a:r>
              <a:rPr lang="en-US" altLang="ko-KR" sz="1400" dirty="0" smtClean="0"/>
              <a:t>: 16</a:t>
            </a:r>
            <a:r>
              <a:rPr lang="ko-KR" altLang="ko-KR" sz="1400" dirty="0" smtClean="0"/>
              <a:t>진수</a:t>
            </a:r>
            <a:r>
              <a:rPr lang="en-US" altLang="ko-KR" sz="1400" dirty="0" smtClean="0"/>
              <a:t>	\\: \</a:t>
            </a:r>
            <a:r>
              <a:rPr lang="ko-KR" altLang="ko-KR" sz="1400" dirty="0" smtClean="0"/>
              <a:t>문자</a:t>
            </a:r>
            <a:r>
              <a:rPr lang="en-US" altLang="ko-KR" sz="1400" dirty="0" smtClean="0"/>
              <a:t>		\’,\”: ‘ </a:t>
            </a:r>
            <a:r>
              <a:rPr lang="ko-KR" altLang="ko-KR" sz="1400" dirty="0" smtClean="0"/>
              <a:t>또는 </a:t>
            </a:r>
            <a:r>
              <a:rPr lang="en-US" altLang="ko-KR" sz="1400" dirty="0" smtClean="0"/>
              <a:t>“</a:t>
            </a:r>
            <a:endParaRPr lang="ko-KR" altLang="ko-KR" sz="1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1400" dirty="0" smtClean="0"/>
              <a:t>public class Character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 	public static void main(String[]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)</a:t>
            </a:r>
          </a:p>
          <a:p>
            <a:pPr>
              <a:buNone/>
            </a:pPr>
            <a:r>
              <a:rPr lang="en-US" altLang="ko-KR" sz="1400" dirty="0" smtClean="0"/>
              <a:t> 	{</a:t>
            </a:r>
          </a:p>
          <a:p>
            <a:pPr>
              <a:buNone/>
            </a:pPr>
            <a:r>
              <a:rPr lang="en-US" altLang="ko-KR" sz="1400" dirty="0" smtClean="0"/>
              <a:t>		char </a:t>
            </a:r>
            <a:r>
              <a:rPr lang="en-US" altLang="ko-KR" sz="1400" dirty="0" err="1" smtClean="0"/>
              <a:t>ch</a:t>
            </a:r>
            <a:r>
              <a:rPr lang="en-US" altLang="ko-KR" sz="1400" dirty="0" smtClean="0"/>
              <a:t>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ch</a:t>
            </a:r>
            <a:r>
              <a:rPr lang="en-US" altLang="ko-KR" sz="1400" dirty="0" smtClean="0"/>
              <a:t> = 97;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en-US" altLang="ko-KR" sz="1400" dirty="0" err="1" smtClean="0"/>
              <a:t>ch</a:t>
            </a:r>
            <a:r>
              <a:rPr lang="en-US" altLang="ko-KR" sz="1400" dirty="0" smtClean="0"/>
              <a:t> = " + </a:t>
            </a:r>
            <a:r>
              <a:rPr lang="en-US" altLang="ko-KR" sz="1400" dirty="0" err="1" smtClean="0"/>
              <a:t>ch</a:t>
            </a:r>
            <a:r>
              <a:rPr lang="en-US" altLang="ko-KR" sz="1400" dirty="0" smtClean="0"/>
              <a:t>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ch</a:t>
            </a:r>
            <a:r>
              <a:rPr lang="en-US" altLang="ko-KR" sz="1400" dirty="0" smtClean="0"/>
              <a:t> = 'a';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en-US" altLang="ko-KR" sz="1400" dirty="0" err="1" smtClean="0"/>
              <a:t>ch</a:t>
            </a:r>
            <a:r>
              <a:rPr lang="en-US" altLang="ko-KR" sz="1400" dirty="0" smtClean="0"/>
              <a:t> = " + </a:t>
            </a:r>
            <a:r>
              <a:rPr lang="en-US" altLang="ko-KR" sz="1400" dirty="0" err="1" smtClean="0"/>
              <a:t>ch</a:t>
            </a:r>
            <a:r>
              <a:rPr lang="en-US" altLang="ko-KR" sz="1400" dirty="0" smtClean="0"/>
              <a:t>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ch</a:t>
            </a:r>
            <a:r>
              <a:rPr lang="en-US" altLang="ko-KR" sz="1400" dirty="0" smtClean="0"/>
              <a:t> = '\u0061';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en-US" altLang="ko-KR" sz="1400" dirty="0" err="1" smtClean="0"/>
              <a:t>ch</a:t>
            </a:r>
            <a:r>
              <a:rPr lang="en-US" altLang="ko-KR" sz="1400" dirty="0" smtClean="0"/>
              <a:t> = " + </a:t>
            </a:r>
            <a:r>
              <a:rPr lang="en-US" altLang="ko-KR" sz="1400" dirty="0" err="1" smtClean="0"/>
              <a:t>ch</a:t>
            </a:r>
            <a:r>
              <a:rPr lang="en-US" altLang="ko-KR" sz="1400" dirty="0" smtClean="0"/>
              <a:t>);</a:t>
            </a:r>
          </a:p>
          <a:p>
            <a:pPr>
              <a:buNone/>
            </a:pPr>
            <a:r>
              <a:rPr lang="en-US" altLang="ko-KR" sz="1400" dirty="0" smtClean="0"/>
              <a:t>  		</a:t>
            </a:r>
            <a:r>
              <a:rPr lang="en-US" altLang="ko-KR" sz="1400" dirty="0" err="1" smtClean="0"/>
              <a:t>System.out.print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여기는 </a:t>
            </a:r>
            <a:r>
              <a:rPr lang="ko-KR" altLang="en-US" sz="1400" dirty="0" err="1" smtClean="0"/>
              <a:t>첫째줄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입니다</a:t>
            </a:r>
            <a:r>
              <a:rPr lang="en-US" altLang="ko-KR" sz="1400" dirty="0" smtClean="0"/>
              <a:t>.\n"); 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여기는 둘째 줄 입니다</a:t>
            </a:r>
            <a:r>
              <a:rPr lang="en-US" altLang="ko-KR" sz="1400" dirty="0" smtClean="0"/>
              <a:t>.");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국어</a:t>
            </a:r>
            <a:r>
              <a:rPr lang="en-US" altLang="ko-KR" sz="1400" dirty="0" smtClean="0"/>
              <a:t>\t</a:t>
            </a:r>
            <a:r>
              <a:rPr lang="ko-KR" altLang="en-US" sz="1400" dirty="0" smtClean="0"/>
              <a:t>영어</a:t>
            </a:r>
            <a:r>
              <a:rPr lang="en-US" altLang="ko-KR" sz="1400" dirty="0" smtClean="0"/>
              <a:t>\t</a:t>
            </a:r>
            <a:r>
              <a:rPr lang="ko-KR" altLang="en-US" sz="1400" dirty="0" smtClean="0"/>
              <a:t>수학</a:t>
            </a:r>
            <a:r>
              <a:rPr lang="en-US" altLang="ko-KR" sz="1400" dirty="0" smtClean="0"/>
              <a:t>\n");</a:t>
            </a:r>
          </a:p>
          <a:p>
            <a:pPr>
              <a:buNone/>
            </a:pPr>
            <a:r>
              <a:rPr lang="en-US" altLang="ko-KR" sz="1400" dirty="0" smtClean="0"/>
              <a:t> 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("---------------------");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("80\t50\t100");</a:t>
            </a:r>
          </a:p>
          <a:p>
            <a:pPr>
              <a:buNone/>
            </a:pPr>
            <a:r>
              <a:rPr lang="en-US" altLang="ko-KR" sz="1400" dirty="0" smtClean="0"/>
              <a:t>  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268760"/>
            <a:ext cx="4396530" cy="28916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기본 데이터 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ko-KR" altLang="en-US" sz="1600" dirty="0" smtClean="0"/>
              <a:t>문자 변수가 메모리에 저장될 때는 메모리에는 문자가 저장될 수 없으므로 코드 값이 저장</a:t>
            </a:r>
            <a:endParaRPr lang="en-US" altLang="ko-KR" sz="1600" dirty="0" smtClean="0"/>
          </a:p>
          <a:p>
            <a:pPr>
              <a:buFont typeface="Wingdings" pitchFamily="2" charset="2"/>
              <a:buChar char="v"/>
            </a:pPr>
            <a:r>
              <a:rPr lang="ko-KR" altLang="en-US" sz="1600" dirty="0" smtClean="0"/>
              <a:t>문자 변수도 </a:t>
            </a:r>
            <a:r>
              <a:rPr lang="en-US" altLang="ko-KR" sz="1600" dirty="0" smtClean="0"/>
              <a:t>2byte</a:t>
            </a:r>
            <a:r>
              <a:rPr lang="ko-KR" altLang="en-US" sz="1600" dirty="0" smtClean="0"/>
              <a:t>형 정수로 취급</a:t>
            </a:r>
            <a:endParaRPr lang="en-US" altLang="ko-KR" sz="1600" dirty="0" smtClean="0"/>
          </a:p>
          <a:p>
            <a:pPr>
              <a:buFont typeface="Wingdings" pitchFamily="2" charset="2"/>
              <a:buChar char="v"/>
            </a:pPr>
            <a:r>
              <a:rPr lang="ko-KR" altLang="en-US" sz="1600" dirty="0" smtClean="0"/>
              <a:t>문자 변수는 정수로 취급되므로 정수나 실수 데이터와 연산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가능</a:t>
            </a:r>
            <a:endParaRPr lang="en-US" altLang="ko-KR" sz="1600" dirty="0" smtClean="0"/>
          </a:p>
          <a:p>
            <a:pPr>
              <a:buFont typeface="Wingdings" pitchFamily="2" charset="2"/>
              <a:buChar char="v"/>
            </a:pPr>
            <a:r>
              <a:rPr lang="en-US" altLang="ko-KR" sz="1600" b="1" dirty="0" smtClean="0"/>
              <a:t>char </a:t>
            </a:r>
            <a:r>
              <a:rPr lang="en-US" altLang="ko-KR" sz="1600" b="1" dirty="0" err="1" smtClean="0"/>
              <a:t>ch</a:t>
            </a:r>
            <a:r>
              <a:rPr lang="en-US" altLang="ko-KR" sz="1600" b="1" dirty="0" smtClean="0"/>
              <a:t> = ‘A’; </a:t>
            </a:r>
            <a:r>
              <a:rPr lang="ko-KR" altLang="en-US" sz="1600" dirty="0" smtClean="0"/>
              <a:t>라는 문장이 있다면 </a:t>
            </a:r>
            <a:r>
              <a:rPr lang="en-US" altLang="ko-KR" sz="1600" dirty="0" err="1" smtClean="0"/>
              <a:t>ch</a:t>
            </a:r>
            <a:r>
              <a:rPr lang="ko-KR" altLang="en-US" sz="1600" dirty="0" smtClean="0"/>
              <a:t>에는 </a:t>
            </a:r>
            <a:r>
              <a:rPr lang="en-US" altLang="ko-KR" sz="1600" dirty="0" smtClean="0"/>
              <a:t>65</a:t>
            </a:r>
            <a:r>
              <a:rPr lang="ko-KR" altLang="en-US" sz="1600" dirty="0" smtClean="0"/>
              <a:t>라는 </a:t>
            </a:r>
            <a:r>
              <a:rPr lang="en-US" altLang="ko-KR" sz="1600" dirty="0" smtClean="0"/>
              <a:t>ASCII </a:t>
            </a:r>
            <a:r>
              <a:rPr lang="ko-KR" altLang="en-US" sz="1600" dirty="0" smtClean="0"/>
              <a:t>코드 값이 저장되고 출력할 때 문자 변수이므로 </a:t>
            </a:r>
            <a:r>
              <a:rPr lang="en-US" altLang="ko-KR" sz="1600" dirty="0" smtClean="0"/>
              <a:t>ASCII </a:t>
            </a:r>
            <a:r>
              <a:rPr lang="ko-KR" altLang="en-US" sz="1600" dirty="0" smtClean="0"/>
              <a:t>코드 </a:t>
            </a:r>
            <a:r>
              <a:rPr lang="en-US" altLang="ko-KR" sz="1600" dirty="0" smtClean="0"/>
              <a:t>65</a:t>
            </a:r>
            <a:r>
              <a:rPr lang="ko-KR" altLang="en-US" sz="1600" dirty="0" smtClean="0"/>
              <a:t>에 해당하는 </a:t>
            </a:r>
            <a:r>
              <a:rPr lang="en-US" altLang="ko-KR" sz="1600" dirty="0" smtClean="0"/>
              <a:t>A</a:t>
            </a:r>
            <a:r>
              <a:rPr lang="ko-KR" altLang="en-US" sz="1600" dirty="0" smtClean="0"/>
              <a:t>라는 문자를 출력</a:t>
            </a:r>
            <a:endParaRPr lang="en-US" altLang="ko-KR" sz="1600" dirty="0" smtClean="0"/>
          </a:p>
          <a:p>
            <a:pPr>
              <a:buFont typeface="Wingdings" pitchFamily="2" charset="2"/>
              <a:buChar char="v"/>
            </a:pPr>
            <a:r>
              <a:rPr lang="en-US" altLang="ko-KR" sz="1600" dirty="0" err="1" smtClean="0"/>
              <a:t>ch</a:t>
            </a:r>
            <a:r>
              <a:rPr lang="en-US" altLang="ko-KR" sz="1600" dirty="0" smtClean="0"/>
              <a:t> + 1</a:t>
            </a:r>
            <a:r>
              <a:rPr lang="ko-KR" altLang="en-US" sz="1600" dirty="0" smtClean="0"/>
              <a:t>은 ‘</a:t>
            </a:r>
            <a:r>
              <a:rPr lang="en-US" altLang="ko-KR" sz="1600" dirty="0" smtClean="0"/>
              <a:t>A’ + 1</a:t>
            </a:r>
            <a:r>
              <a:rPr lang="ko-KR" altLang="en-US" sz="1600" dirty="0" smtClean="0"/>
              <a:t>이 아니고 </a:t>
            </a:r>
            <a:r>
              <a:rPr lang="en-US" altLang="ko-KR" sz="1600" dirty="0" smtClean="0"/>
              <a:t>65+1</a:t>
            </a:r>
            <a:r>
              <a:rPr lang="ko-KR" altLang="en-US" sz="1600" dirty="0" smtClean="0"/>
              <a:t>이 되서 </a:t>
            </a:r>
            <a:r>
              <a:rPr lang="en-US" altLang="ko-KR" sz="1600" dirty="0" smtClean="0"/>
              <a:t>66</a:t>
            </a:r>
            <a:r>
              <a:rPr lang="ko-KR" altLang="en-US" sz="1600" dirty="0" smtClean="0"/>
              <a:t>이라는 숫자를 리턴</a:t>
            </a:r>
            <a:endParaRPr lang="en-US" altLang="ko-KR" sz="1600" dirty="0" smtClean="0"/>
          </a:p>
          <a:p>
            <a:pPr>
              <a:buFont typeface="Wingdings" pitchFamily="2" charset="2"/>
              <a:buChar char="v"/>
            </a:pPr>
            <a:r>
              <a:rPr lang="ko-KR" altLang="en-US" sz="1600" dirty="0" smtClean="0"/>
              <a:t>위 연산의 결과를 문자변수에 저장한 다음 출력하게 되면 그 때는 </a:t>
            </a:r>
            <a:r>
              <a:rPr lang="en-US" altLang="ko-KR" sz="1600" dirty="0" smtClean="0"/>
              <a:t>B</a:t>
            </a:r>
            <a:r>
              <a:rPr lang="ko-KR" altLang="en-US" sz="1600" dirty="0" smtClean="0"/>
              <a:t>를 출력</a:t>
            </a:r>
            <a:endParaRPr lang="en-US" altLang="ko-KR" sz="1600" dirty="0" smtClean="0"/>
          </a:p>
          <a:p>
            <a:pPr>
              <a:buFont typeface="Wingdings" pitchFamily="2" charset="2"/>
              <a:buChar char="v"/>
            </a:pPr>
            <a:r>
              <a:rPr lang="en-US" altLang="ko-KR" sz="1600" dirty="0" smtClean="0"/>
              <a:t>ASCII </a:t>
            </a:r>
            <a:r>
              <a:rPr lang="ko-KR" altLang="en-US" sz="1600" dirty="0" smtClean="0"/>
              <a:t>코드 중에서 숫자 </a:t>
            </a:r>
            <a:r>
              <a:rPr lang="en-US" altLang="ko-KR" sz="1600" dirty="0" smtClean="0"/>
              <a:t>0</a:t>
            </a:r>
            <a:r>
              <a:rPr lang="ko-KR" altLang="en-US" sz="1600" dirty="0" smtClean="0"/>
              <a:t>은 </a:t>
            </a:r>
            <a:r>
              <a:rPr lang="en-US" altLang="ko-KR" sz="1600" dirty="0" smtClean="0"/>
              <a:t>48(0x30)</a:t>
            </a:r>
            <a:r>
              <a:rPr lang="ko-KR" altLang="en-US" sz="1600" dirty="0" smtClean="0"/>
              <a:t>에서 시작하고 대문자 </a:t>
            </a:r>
            <a:r>
              <a:rPr lang="en-US" altLang="ko-KR" sz="1600" dirty="0" smtClean="0"/>
              <a:t>A</a:t>
            </a:r>
            <a:r>
              <a:rPr lang="ko-KR" altLang="en-US" sz="1600" dirty="0" smtClean="0"/>
              <a:t>는 </a:t>
            </a:r>
            <a:r>
              <a:rPr lang="en-US" altLang="ko-KR" sz="1600" dirty="0" smtClean="0"/>
              <a:t>65(0x41) </a:t>
            </a:r>
            <a:r>
              <a:rPr lang="ko-KR" altLang="en-US" sz="1600" dirty="0" smtClean="0"/>
              <a:t>소문자 </a:t>
            </a:r>
            <a:r>
              <a:rPr lang="en-US" altLang="ko-KR" sz="1600" dirty="0" smtClean="0"/>
              <a:t>a</a:t>
            </a:r>
            <a:r>
              <a:rPr lang="ko-KR" altLang="en-US" sz="1600" dirty="0" smtClean="0"/>
              <a:t>는 </a:t>
            </a:r>
            <a:r>
              <a:rPr lang="en-US" altLang="ko-KR" sz="1600" dirty="0" smtClean="0"/>
              <a:t>97(0x61)</a:t>
            </a:r>
            <a:r>
              <a:rPr lang="ko-KR" altLang="en-US" sz="1600" dirty="0" smtClean="0"/>
              <a:t>에서 시작</a:t>
            </a:r>
            <a:endParaRPr lang="en-US" altLang="ko-KR" sz="16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1400" dirty="0" smtClean="0"/>
              <a:t>class </a:t>
            </a:r>
            <a:r>
              <a:rPr lang="en-US" altLang="ko-KR" sz="1400" dirty="0" err="1" smtClean="0"/>
              <a:t>CharTest</a:t>
            </a:r>
            <a:r>
              <a:rPr lang="en-US" altLang="ko-KR" sz="1400" dirty="0" smtClean="0"/>
              <a:t> 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    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 </a:t>
            </a:r>
          </a:p>
          <a:p>
            <a:pPr>
              <a:buNone/>
            </a:pPr>
            <a:r>
              <a:rPr lang="en-US" altLang="ko-KR" sz="1400" dirty="0" smtClean="0"/>
              <a:t>    {</a:t>
            </a:r>
          </a:p>
          <a:p>
            <a:pPr>
              <a:buNone/>
            </a:pPr>
            <a:r>
              <a:rPr lang="en-US" altLang="ko-KR" sz="1400" dirty="0" smtClean="0"/>
              <a:t>	char </a:t>
            </a:r>
            <a:r>
              <a:rPr lang="en-US" altLang="ko-KR" sz="1400" dirty="0" err="1" smtClean="0"/>
              <a:t>ch</a:t>
            </a:r>
            <a:r>
              <a:rPr lang="en-US" altLang="ko-KR" sz="1400" dirty="0" smtClean="0"/>
              <a:t> = 'A';</a:t>
            </a:r>
          </a:p>
          <a:p>
            <a:pPr>
              <a:buNone/>
            </a:pPr>
            <a:r>
              <a:rPr lang="en-US" altLang="ko-KR" sz="1400" dirty="0" smtClean="0"/>
              <a:t>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en-US" altLang="ko-KR" sz="1400" dirty="0" err="1" smtClean="0"/>
              <a:t>ch</a:t>
            </a:r>
            <a:r>
              <a:rPr lang="en-US" altLang="ko-KR" sz="1400" dirty="0" smtClean="0"/>
              <a:t> = " + </a:t>
            </a:r>
            <a:r>
              <a:rPr lang="en-US" altLang="ko-KR" sz="1400" dirty="0" err="1" smtClean="0"/>
              <a:t>ch</a:t>
            </a:r>
            <a:r>
              <a:rPr lang="en-US" altLang="ko-KR" sz="1400" dirty="0" smtClean="0"/>
              <a:t>);</a:t>
            </a:r>
          </a:p>
          <a:p>
            <a:pPr>
              <a:buNone/>
            </a:pPr>
            <a:r>
              <a:rPr lang="en-US" altLang="ko-KR" sz="1400" dirty="0" smtClean="0"/>
              <a:t>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en-US" altLang="ko-KR" sz="1400" dirty="0" err="1" smtClean="0"/>
              <a:t>ch</a:t>
            </a:r>
            <a:r>
              <a:rPr lang="en-US" altLang="ko-KR" sz="1400" dirty="0" smtClean="0"/>
              <a:t> + 1 = " + (ch+1));</a:t>
            </a:r>
          </a:p>
          <a:p>
            <a:pPr>
              <a:buNone/>
            </a:pPr>
            <a:r>
              <a:rPr lang="en-US" altLang="ko-KR" sz="1400" dirty="0" smtClean="0"/>
              <a:t>	char ch1 = 'A' + 1;</a:t>
            </a:r>
          </a:p>
          <a:p>
            <a:pPr>
              <a:buNone/>
            </a:pPr>
            <a:r>
              <a:rPr lang="en-US" altLang="ko-KR" sz="1400" dirty="0" smtClean="0"/>
              <a:t>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en-US" altLang="ko-KR" sz="1400" dirty="0" err="1" smtClean="0"/>
              <a:t>ch</a:t>
            </a:r>
            <a:r>
              <a:rPr lang="en-US" altLang="ko-KR" sz="1400" dirty="0" smtClean="0"/>
              <a:t> + 1 = " + ch1);</a:t>
            </a:r>
          </a:p>
          <a:p>
            <a:pPr>
              <a:buNone/>
            </a:pPr>
            <a:r>
              <a:rPr lang="en-US" altLang="ko-KR" sz="1400" dirty="0" smtClean="0"/>
              <a:t>	</a:t>
            </a:r>
            <a:r>
              <a:rPr lang="en-US" altLang="ko-KR" sz="1400" dirty="0" err="1" smtClean="0"/>
              <a:t>ch</a:t>
            </a:r>
            <a:r>
              <a:rPr lang="en-US" altLang="ko-KR" sz="1400" dirty="0" smtClean="0"/>
              <a:t> = 13;</a:t>
            </a:r>
          </a:p>
          <a:p>
            <a:pPr>
              <a:buNone/>
            </a:pPr>
            <a:r>
              <a:rPr lang="en-US" altLang="ko-KR" sz="1400" dirty="0" smtClean="0"/>
              <a:t>	</a:t>
            </a:r>
            <a:r>
              <a:rPr lang="en-US" altLang="ko-KR" sz="1400" dirty="0" err="1" smtClean="0"/>
              <a:t>System.out.print</a:t>
            </a:r>
            <a:r>
              <a:rPr lang="en-US" altLang="ko-KR" sz="1400" dirty="0" smtClean="0"/>
              <a:t>("ASCII Code 13 = " + </a:t>
            </a:r>
            <a:r>
              <a:rPr lang="en-US" altLang="ko-KR" sz="1400" dirty="0" err="1" smtClean="0"/>
              <a:t>ch</a:t>
            </a:r>
            <a:r>
              <a:rPr lang="en-US" altLang="ko-KR" sz="1400" dirty="0" smtClean="0"/>
              <a:t>);</a:t>
            </a:r>
          </a:p>
          <a:p>
            <a:pPr>
              <a:buNone/>
            </a:pPr>
            <a:r>
              <a:rPr lang="en-US" altLang="ko-KR" sz="1400" dirty="0" smtClean="0"/>
              <a:t>	</a:t>
            </a:r>
            <a:r>
              <a:rPr lang="en-US" altLang="ko-KR" sz="1400" dirty="0" err="1" smtClean="0"/>
              <a:t>System.out.print</a:t>
            </a:r>
            <a:r>
              <a:rPr lang="en-US" altLang="ko-KR" sz="1400" dirty="0" smtClean="0"/>
              <a:t>("</a:t>
            </a:r>
            <a:r>
              <a:rPr lang="ko-KR" altLang="en-US" sz="1400" dirty="0" smtClean="0"/>
              <a:t>한 줄이 떨어져서 출력될 것입니다</a:t>
            </a:r>
            <a:r>
              <a:rPr lang="en-US" altLang="ko-KR" sz="1400" dirty="0" smtClean="0"/>
              <a:t>");</a:t>
            </a:r>
          </a:p>
          <a:p>
            <a:pPr>
              <a:buNone/>
            </a:pPr>
            <a:r>
              <a:rPr lang="en-US" altLang="ko-KR" sz="1400" dirty="0" smtClean="0"/>
              <a:t>    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12</a:t>
            </a:fld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88022" y="1340769"/>
            <a:ext cx="4360442" cy="259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기본 데이터 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altLang="ko-KR" sz="1600" b="1" dirty="0" err="1" smtClean="0"/>
              <a:t>boolean</a:t>
            </a:r>
            <a:endParaRPr lang="ko-KR" altLang="ko-KR" sz="1600" dirty="0" smtClean="0"/>
          </a:p>
          <a:p>
            <a:pPr lvl="1">
              <a:buFont typeface="Wingdings" pitchFamily="2" charset="2"/>
              <a:buChar char="v"/>
            </a:pPr>
            <a:r>
              <a:rPr lang="en-US" altLang="ko-KR" sz="1600" dirty="0" err="1" smtClean="0"/>
              <a:t>boolean</a:t>
            </a:r>
            <a:r>
              <a:rPr lang="en-US" altLang="ko-KR" sz="1600" dirty="0" smtClean="0"/>
              <a:t> </a:t>
            </a:r>
            <a:r>
              <a:rPr lang="ko-KR" altLang="ko-KR" sz="1600" dirty="0" err="1" smtClean="0"/>
              <a:t>자료형은</a:t>
            </a:r>
            <a:r>
              <a:rPr lang="en-US" altLang="ko-KR" sz="1600" dirty="0" smtClean="0"/>
              <a:t> true </a:t>
            </a:r>
            <a:r>
              <a:rPr lang="ko-KR" altLang="ko-KR" sz="1600" dirty="0" smtClean="0"/>
              <a:t>또는</a:t>
            </a:r>
            <a:r>
              <a:rPr lang="en-US" altLang="ko-KR" sz="1600" dirty="0" smtClean="0"/>
              <a:t> false 2</a:t>
            </a:r>
            <a:r>
              <a:rPr lang="ko-KR" altLang="ko-KR" sz="1600" dirty="0" smtClean="0"/>
              <a:t>가지 상태만 </a:t>
            </a:r>
            <a:r>
              <a:rPr lang="ko-KR" altLang="en-US" sz="1600" dirty="0" smtClean="0"/>
              <a:t>갖는데 </a:t>
            </a:r>
            <a:r>
              <a:rPr lang="en-US" altLang="ko-KR" sz="1600" dirty="0" smtClean="0"/>
              <a:t>1bit</a:t>
            </a:r>
            <a:r>
              <a:rPr lang="ko-KR" altLang="ko-KR" sz="1600" dirty="0" smtClean="0"/>
              <a:t>만 있으면 </a:t>
            </a:r>
            <a:r>
              <a:rPr lang="ko-KR" altLang="en-US" sz="1600" dirty="0" smtClean="0"/>
              <a:t>표현이</a:t>
            </a:r>
            <a:r>
              <a:rPr lang="ko-KR" altLang="ko-KR" sz="1600" dirty="0" smtClean="0"/>
              <a:t> 가능하지만 메모리 할당을</a:t>
            </a:r>
            <a:r>
              <a:rPr lang="en-US" altLang="ko-KR" sz="1600" dirty="0" smtClean="0"/>
              <a:t> bit </a:t>
            </a:r>
            <a:r>
              <a:rPr lang="ko-KR" altLang="ko-KR" sz="1600" dirty="0" smtClean="0"/>
              <a:t>단위로 할 수 없으므로 </a:t>
            </a:r>
            <a:r>
              <a:rPr lang="en-US" altLang="ko-KR" sz="1600" dirty="0" smtClean="0"/>
              <a:t>1byte</a:t>
            </a:r>
            <a:r>
              <a:rPr lang="ko-KR" altLang="ko-KR" sz="1600" dirty="0" smtClean="0"/>
              <a:t>를 </a:t>
            </a:r>
            <a:r>
              <a:rPr lang="ko-KR" altLang="en-US" sz="1600" dirty="0" smtClean="0"/>
              <a:t>할당합니다</a:t>
            </a:r>
            <a:r>
              <a:rPr lang="en-US" altLang="ko-KR" sz="1600" dirty="0" smtClean="0"/>
              <a:t>.</a:t>
            </a:r>
            <a:endParaRPr lang="ko-KR" altLang="ko-KR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1400" dirty="0" smtClean="0"/>
              <a:t>public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class </a:t>
            </a:r>
            <a:r>
              <a:rPr lang="en-US" altLang="ko-KR" sz="1400" dirty="0" err="1" smtClean="0"/>
              <a:t>BooleanTest</a:t>
            </a:r>
            <a:r>
              <a:rPr lang="en-US" altLang="ko-KR" sz="1400" dirty="0" smtClean="0"/>
              <a:t> 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    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 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        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num = 10 + 20;</a:t>
            </a:r>
          </a:p>
          <a:p>
            <a:pPr>
              <a:buNone/>
            </a:pPr>
            <a:r>
              <a:rPr lang="en-US" altLang="ko-KR" sz="1400" dirty="0" smtClean="0"/>
              <a:t>         // </a:t>
            </a:r>
            <a:r>
              <a:rPr lang="en-US" altLang="ko-KR" sz="1400" dirty="0" err="1" smtClean="0"/>
              <a:t>boolean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타입의 변수를 선언</a:t>
            </a:r>
          </a:p>
          <a:p>
            <a:pPr>
              <a:buNone/>
            </a:pPr>
            <a:r>
              <a:rPr lang="en-US" altLang="ko-KR" sz="1400" dirty="0" smtClean="0"/>
              <a:t>        </a:t>
            </a:r>
            <a:r>
              <a:rPr lang="en-US" altLang="ko-KR" sz="1400" dirty="0" err="1" smtClean="0"/>
              <a:t>boolean</a:t>
            </a:r>
            <a:r>
              <a:rPr lang="en-US" altLang="ko-KR" sz="1400" dirty="0" smtClean="0"/>
              <a:t> pan; </a:t>
            </a:r>
          </a:p>
          <a:p>
            <a:pPr>
              <a:buNone/>
            </a:pPr>
            <a:r>
              <a:rPr lang="en-US" altLang="ko-KR" sz="1400" dirty="0" smtClean="0"/>
              <a:t> 	   // </a:t>
            </a:r>
            <a:r>
              <a:rPr lang="en-US" altLang="ko-KR" sz="1400" dirty="0" err="1" smtClean="0"/>
              <a:t>boolean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타입의 변수에 값 대입</a:t>
            </a:r>
            <a:endParaRPr lang="en-US" altLang="ko-KR" sz="1400" dirty="0" smtClean="0"/>
          </a:p>
          <a:p>
            <a:pPr>
              <a:buNone/>
            </a:pPr>
            <a:r>
              <a:rPr lang="en-US" altLang="ko-KR" sz="1400" dirty="0" smtClean="0"/>
              <a:t>	   pan = num &gt; 10; </a:t>
            </a:r>
          </a:p>
          <a:p>
            <a:pPr>
              <a:buNone/>
            </a:pPr>
            <a:r>
              <a:rPr lang="en-US" altLang="ko-KR" sz="1400" dirty="0" smtClean="0"/>
              <a:t>        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("pan=" + pan);</a:t>
            </a:r>
          </a:p>
          <a:p>
            <a:pPr>
              <a:buNone/>
            </a:pPr>
            <a:r>
              <a:rPr lang="en-US" altLang="ko-KR" sz="1400" dirty="0" smtClean="0"/>
              <a:t>    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14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7823" y="1268760"/>
            <a:ext cx="4416177" cy="3183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3</a:t>
            </a:r>
            <a:r>
              <a:rPr lang="en-US" altLang="ko-KR" dirty="0" smtClean="0"/>
              <a:t>. </a:t>
            </a:r>
            <a:r>
              <a:rPr lang="en-US" altLang="ko-KR" dirty="0" smtClean="0"/>
              <a:t>Overflow &amp;</a:t>
            </a:r>
            <a:r>
              <a:rPr lang="ko-KR" altLang="en-US" dirty="0" smtClean="0"/>
              <a:t> </a:t>
            </a:r>
            <a:r>
              <a:rPr lang="en-US" altLang="ko-KR" dirty="0" smtClean="0"/>
              <a:t>Underflow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600" b="1" dirty="0" smtClean="0"/>
              <a:t>Overflow: </a:t>
            </a:r>
            <a:r>
              <a:rPr lang="ko-KR" altLang="en-US" sz="1600" b="1" dirty="0" smtClean="0"/>
              <a:t>데이터 타입이 저장할 수 있는 값의 범위를 초과한 경우로 가장 작은 숫자로 돌아가서 다시 올라가게 됩니다</a:t>
            </a:r>
            <a:r>
              <a:rPr lang="en-US" altLang="ko-KR" sz="1600" b="1" dirty="0" smtClean="0"/>
              <a:t>.</a:t>
            </a:r>
          </a:p>
          <a:p>
            <a:r>
              <a:rPr lang="en-US" altLang="ko-KR" sz="1600" b="1" dirty="0" smtClean="0"/>
              <a:t>Underflow: </a:t>
            </a:r>
            <a:r>
              <a:rPr lang="ko-KR" altLang="en-US" sz="1600" b="1" dirty="0" smtClean="0"/>
              <a:t>데이터 타입이 저장할 수 있는 값의 범위보다 작은 값을 저장 한 경우로 가장 큰 숫자로 돌아가서 다시 내려가게 됩니다</a:t>
            </a:r>
            <a:r>
              <a:rPr lang="en-US" altLang="ko-KR" sz="1600" b="1" dirty="0" smtClean="0"/>
              <a:t>.</a:t>
            </a:r>
            <a:endParaRPr lang="en-US" altLang="ko-KR" sz="1600" b="1" dirty="0" err="1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1400" dirty="0" smtClean="0"/>
              <a:t>class </a:t>
            </a:r>
            <a:r>
              <a:rPr lang="en-US" altLang="ko-KR" sz="1400" dirty="0" err="1" smtClean="0"/>
              <a:t>OverUnderflow</a:t>
            </a:r>
            <a:r>
              <a:rPr lang="en-US" altLang="ko-KR" sz="1400" dirty="0" smtClean="0"/>
              <a:t> </a:t>
            </a:r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    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 </a:t>
            </a:r>
          </a:p>
          <a:p>
            <a:pPr>
              <a:buNone/>
            </a:pPr>
            <a:r>
              <a:rPr lang="en-US" altLang="ko-KR" sz="1400" dirty="0" smtClean="0"/>
              <a:t>    {</a:t>
            </a:r>
          </a:p>
          <a:p>
            <a:pPr>
              <a:buNone/>
            </a:pPr>
            <a:r>
              <a:rPr lang="en-US" altLang="ko-KR" sz="1400" dirty="0" smtClean="0"/>
              <a:t>    	byte num1 = 127;</a:t>
            </a:r>
          </a:p>
          <a:p>
            <a:pPr>
              <a:buNone/>
            </a:pPr>
            <a:r>
              <a:rPr lang="en-US" altLang="ko-KR" sz="1400" dirty="0" smtClean="0"/>
              <a:t>	byte num2 = (byte)128;</a:t>
            </a:r>
          </a:p>
          <a:p>
            <a:pPr>
              <a:buNone/>
            </a:pPr>
            <a:r>
              <a:rPr lang="en-US" altLang="ko-KR" sz="1400" dirty="0" smtClean="0"/>
              <a:t>     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("num1 = " + num1);</a:t>
            </a:r>
          </a:p>
          <a:p>
            <a:pPr>
              <a:buNone/>
            </a:pPr>
            <a:r>
              <a:rPr lang="en-US" altLang="ko-KR" sz="1400" dirty="0" smtClean="0"/>
              <a:t>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("num2 = " + num2);</a:t>
            </a:r>
          </a:p>
          <a:p>
            <a:pPr>
              <a:buNone/>
            </a:pPr>
            <a:r>
              <a:rPr lang="en-US" altLang="ko-KR" sz="1400" dirty="0" smtClean="0"/>
              <a:t>	num1 = -128; </a:t>
            </a:r>
          </a:p>
          <a:p>
            <a:pPr>
              <a:buNone/>
            </a:pPr>
            <a:r>
              <a:rPr lang="en-US" altLang="ko-KR" sz="1400" dirty="0" smtClean="0"/>
              <a:t>	num2 = (byte)-129;</a:t>
            </a:r>
          </a:p>
          <a:p>
            <a:pPr>
              <a:buNone/>
            </a:pPr>
            <a:r>
              <a:rPr lang="en-US" altLang="ko-KR" sz="1400" dirty="0" smtClean="0"/>
              <a:t>     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("num1 = " + num1);</a:t>
            </a:r>
          </a:p>
          <a:p>
            <a:pPr>
              <a:buNone/>
            </a:pPr>
            <a:r>
              <a:rPr lang="en-US" altLang="ko-KR" sz="1400" dirty="0" smtClean="0"/>
              <a:t>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("num2 = " + num2);</a:t>
            </a:r>
          </a:p>
          <a:p>
            <a:pPr>
              <a:buNone/>
            </a:pPr>
            <a:r>
              <a:rPr lang="en-US" altLang="ko-KR" sz="1400" dirty="0" smtClean="0"/>
              <a:t>    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1268761"/>
            <a:ext cx="4272161" cy="201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4</a:t>
            </a:r>
            <a:r>
              <a:rPr lang="en-US" altLang="ko-KR" dirty="0" smtClean="0"/>
              <a:t>. </a:t>
            </a:r>
            <a:r>
              <a:rPr lang="en-US" altLang="ko-KR" dirty="0" smtClean="0"/>
              <a:t>Type Casting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ko-KR" altLang="en-US" sz="1600" b="1" dirty="0" smtClean="0"/>
              <a:t>변수 또는 상수의 값을 다른 타입으로 변환하는 것</a:t>
            </a:r>
          </a:p>
          <a:p>
            <a:pPr>
              <a:buFont typeface="Wingdings" pitchFamily="2" charset="2"/>
              <a:buChar char="v"/>
            </a:pPr>
            <a:r>
              <a:rPr lang="ko-KR" altLang="en-US" sz="1600" b="1" dirty="0" smtClean="0"/>
              <a:t>기본형과 </a:t>
            </a:r>
            <a:r>
              <a:rPr lang="ko-KR" altLang="en-US" sz="1600" b="1" dirty="0" err="1" smtClean="0"/>
              <a:t>참조형</a:t>
            </a:r>
            <a:r>
              <a:rPr lang="ko-KR" altLang="en-US" sz="1600" b="1" dirty="0" smtClean="0"/>
              <a:t> 모두 형 변환이 가능하지만 기본형과 </a:t>
            </a:r>
            <a:r>
              <a:rPr lang="ko-KR" altLang="en-US" sz="1600" b="1" dirty="0" err="1" smtClean="0"/>
              <a:t>참조형</a:t>
            </a:r>
            <a:r>
              <a:rPr lang="ko-KR" altLang="en-US" sz="1600" b="1" dirty="0" smtClean="0"/>
              <a:t> 사이의 형 변환은 불가능합니다</a:t>
            </a:r>
            <a:r>
              <a:rPr lang="en-US" altLang="ko-KR" sz="1600" b="1" dirty="0" smtClean="0"/>
              <a:t>.</a:t>
            </a:r>
          </a:p>
          <a:p>
            <a:pPr>
              <a:buFont typeface="Wingdings" pitchFamily="2" charset="2"/>
              <a:buChar char="v"/>
            </a:pPr>
            <a:r>
              <a:rPr lang="ko-KR" altLang="en-US" sz="1600" b="1" dirty="0" smtClean="0"/>
              <a:t>기본형에서는 </a:t>
            </a:r>
            <a:r>
              <a:rPr lang="en-US" altLang="ko-KR" sz="1600" b="1" dirty="0" err="1" smtClean="0"/>
              <a:t>boolean</a:t>
            </a:r>
            <a:r>
              <a:rPr lang="ko-KR" altLang="en-US" sz="1600" b="1" dirty="0" smtClean="0"/>
              <a:t>을 제외한 모든 자료형 사이에 형 변환이 가능</a:t>
            </a:r>
          </a:p>
          <a:p>
            <a:pPr>
              <a:buFont typeface="Wingdings" pitchFamily="2" charset="2"/>
              <a:buChar char="v"/>
            </a:pPr>
            <a:r>
              <a:rPr lang="ko-KR" altLang="en-US" sz="1600" b="1" dirty="0" err="1" smtClean="0"/>
              <a:t>참조형은</a:t>
            </a:r>
            <a:r>
              <a:rPr lang="ko-KR" altLang="en-US" sz="1600" b="1" dirty="0" smtClean="0"/>
              <a:t> 상속관계에 있는 클래스의 객체들 사이에서 형 변환을 해서 사용하는 것이 가능</a:t>
            </a:r>
          </a:p>
          <a:p>
            <a:pPr>
              <a:buFont typeface="Wingdings" pitchFamily="2" charset="2"/>
              <a:buChar char="v"/>
            </a:pPr>
            <a:r>
              <a:rPr lang="ko-KR" altLang="en-US" sz="1600" b="1" dirty="0" smtClean="0"/>
              <a:t>자동 형 변환</a:t>
            </a:r>
          </a:p>
          <a:p>
            <a:pPr lvl="1">
              <a:buFont typeface="Wingdings" pitchFamily="2" charset="2"/>
              <a:buChar char="v"/>
            </a:pPr>
            <a:r>
              <a:rPr lang="ko-KR" altLang="en-US" sz="1400" b="1" dirty="0" smtClean="0"/>
              <a:t>형 변환을 명시하지 않아도 형 변환이 이루어지는 것</a:t>
            </a:r>
            <a:endParaRPr lang="en-US" altLang="ko-KR" sz="1400" b="1" dirty="0" smtClean="0"/>
          </a:p>
          <a:p>
            <a:pPr lvl="1">
              <a:buFont typeface="Wingdings" pitchFamily="2" charset="2"/>
              <a:buChar char="v"/>
            </a:pPr>
            <a:r>
              <a:rPr lang="ko-KR" altLang="en-US" sz="1400" b="1" dirty="0" smtClean="0"/>
              <a:t>메모리 크기가 작은 </a:t>
            </a:r>
            <a:r>
              <a:rPr lang="ko-KR" altLang="en-US" sz="1400" b="1" dirty="0" err="1" smtClean="0"/>
              <a:t>자료형과</a:t>
            </a:r>
            <a:r>
              <a:rPr lang="ko-KR" altLang="en-US" sz="1400" b="1" dirty="0" smtClean="0"/>
              <a:t> 큰 </a:t>
            </a:r>
            <a:r>
              <a:rPr lang="ko-KR" altLang="en-US" sz="1400" b="1" dirty="0" err="1" smtClean="0"/>
              <a:t>자료형이</a:t>
            </a:r>
            <a:r>
              <a:rPr lang="ko-KR" altLang="en-US" sz="1400" b="1" dirty="0" smtClean="0"/>
              <a:t> 연산을 하면 큰 </a:t>
            </a:r>
            <a:r>
              <a:rPr lang="ko-KR" altLang="en-US" sz="1400" b="1" dirty="0" err="1" smtClean="0"/>
              <a:t>자료형으로</a:t>
            </a:r>
            <a:r>
              <a:rPr lang="ko-KR" altLang="en-US" sz="1400" b="1" dirty="0" smtClean="0"/>
              <a:t> 형 변환이 자동으로 </a:t>
            </a:r>
            <a:r>
              <a:rPr lang="ko-KR" altLang="en-US" sz="1400" b="1" dirty="0" err="1" smtClean="0"/>
              <a:t>수행되서</a:t>
            </a:r>
            <a:r>
              <a:rPr lang="ko-KR" altLang="en-US" sz="1400" b="1" dirty="0" smtClean="0"/>
              <a:t> 연산 수행</a:t>
            </a:r>
            <a:endParaRPr lang="en-US" altLang="ko-KR" sz="1400" b="1" dirty="0" smtClean="0"/>
          </a:p>
          <a:p>
            <a:pPr lvl="1">
              <a:buFont typeface="Wingdings" pitchFamily="2" charset="2"/>
              <a:buChar char="v"/>
            </a:pPr>
            <a:r>
              <a:rPr lang="ko-KR" altLang="en-US" sz="1400" b="1" dirty="0" smtClean="0"/>
              <a:t>산술 연산을 수행할 때 결과의 최소 단위는 </a:t>
            </a:r>
            <a:r>
              <a:rPr lang="en-US" altLang="ko-KR" sz="1400" b="1" dirty="0" err="1" smtClean="0"/>
              <a:t>int</a:t>
            </a:r>
            <a:endParaRPr lang="en-US" altLang="ko-KR" sz="1400" b="1" dirty="0" smtClean="0"/>
          </a:p>
          <a:p>
            <a:pPr lvl="1">
              <a:buFont typeface="Wingdings" pitchFamily="2" charset="2"/>
              <a:buChar char="v"/>
            </a:pPr>
            <a:r>
              <a:rPr lang="ko-KR" altLang="en-US" sz="1400" b="1" dirty="0" smtClean="0"/>
              <a:t>형 변환이 작은 쪽에서 큰 쪽으로 일어나는 것을 </a:t>
            </a:r>
            <a:r>
              <a:rPr lang="en-US" altLang="ko-KR" sz="1400" b="1" dirty="0" smtClean="0"/>
              <a:t>promotion </a:t>
            </a:r>
            <a:r>
              <a:rPr lang="ko-KR" altLang="en-US" sz="1400" b="1" dirty="0" smtClean="0"/>
              <a:t>이라고 합니다</a:t>
            </a:r>
            <a:r>
              <a:rPr lang="en-US" altLang="ko-KR" sz="1400" b="1" dirty="0" smtClean="0"/>
              <a:t>.</a:t>
            </a:r>
          </a:p>
          <a:p>
            <a:pPr lvl="1">
              <a:buFont typeface="Wingdings" pitchFamily="2" charset="2"/>
              <a:buChar char="v"/>
            </a:pPr>
            <a:r>
              <a:rPr lang="en-US" altLang="ko-KR" sz="1400" b="1" dirty="0" smtClean="0"/>
              <a:t>byte &lt; short&lt; </a:t>
            </a:r>
            <a:r>
              <a:rPr lang="en-US" altLang="ko-KR" sz="1400" b="1" dirty="0" err="1" smtClean="0"/>
              <a:t>int</a:t>
            </a:r>
            <a:r>
              <a:rPr lang="en-US" altLang="ko-KR" sz="1400" b="1" dirty="0" smtClean="0"/>
              <a:t> &lt; long &lt; float &lt; double</a:t>
            </a:r>
          </a:p>
          <a:p>
            <a:pPr lvl="1">
              <a:buFont typeface="Wingdings" pitchFamily="2" charset="2"/>
              <a:buChar char="v"/>
            </a:pPr>
            <a:r>
              <a:rPr lang="en-US" altLang="ko-KR" sz="1400" b="1" dirty="0" smtClean="0"/>
              <a:t>char</a:t>
            </a:r>
            <a:r>
              <a:rPr lang="ko-KR" altLang="en-US" sz="1400" b="1" dirty="0" smtClean="0"/>
              <a:t>는 </a:t>
            </a:r>
            <a:r>
              <a:rPr lang="en-US" altLang="ko-KR" sz="1400" b="1" dirty="0" smtClean="0"/>
              <a:t>short</a:t>
            </a:r>
            <a:r>
              <a:rPr lang="ko-KR" altLang="en-US" sz="1400" b="1" dirty="0" smtClean="0"/>
              <a:t>와 동일</a:t>
            </a:r>
            <a:endParaRPr lang="en-US" altLang="ko-KR" sz="1400" b="1" dirty="0" smtClean="0"/>
          </a:p>
          <a:p>
            <a:pPr lvl="1">
              <a:buNone/>
            </a:pPr>
            <a:r>
              <a:rPr lang="en-US" altLang="ko-KR" sz="1400" b="1" dirty="0" smtClean="0"/>
              <a:t>   ex)</a:t>
            </a:r>
          </a:p>
          <a:p>
            <a:pPr lvl="1">
              <a:buNone/>
            </a:pPr>
            <a:r>
              <a:rPr lang="en-US" altLang="ko-KR" sz="1400" b="1" dirty="0" smtClean="0"/>
              <a:t>      byte b=10;</a:t>
            </a:r>
          </a:p>
          <a:p>
            <a:pPr lvl="1">
              <a:buNone/>
            </a:pPr>
            <a:r>
              <a:rPr lang="en-US" altLang="ko-KR" sz="1400" b="1" dirty="0" smtClean="0"/>
              <a:t>      </a:t>
            </a:r>
            <a:r>
              <a:rPr lang="en-US" altLang="ko-KR" sz="1400" b="1" dirty="0" err="1" smtClean="0"/>
              <a:t>int</a:t>
            </a:r>
            <a:r>
              <a:rPr lang="en-US" altLang="ko-KR" sz="1400" b="1" dirty="0" smtClean="0"/>
              <a:t>  a=20;</a:t>
            </a:r>
          </a:p>
          <a:p>
            <a:pPr lvl="1">
              <a:buNone/>
            </a:pPr>
            <a:r>
              <a:rPr lang="en-US" altLang="ko-KR" sz="1400" b="1" dirty="0" smtClean="0"/>
              <a:t>      </a:t>
            </a:r>
            <a:r>
              <a:rPr lang="en-US" altLang="ko-KR" sz="1400" b="1" dirty="0" err="1" smtClean="0"/>
              <a:t>a+b</a:t>
            </a:r>
            <a:r>
              <a:rPr lang="en-US" altLang="ko-KR" sz="1400" b="1" dirty="0" smtClean="0"/>
              <a:t> ==&gt; </a:t>
            </a:r>
            <a:r>
              <a:rPr lang="en-US" altLang="ko-KR" sz="1400" b="1" dirty="0" err="1" smtClean="0"/>
              <a:t>int</a:t>
            </a:r>
            <a:r>
              <a:rPr lang="ko-KR" altLang="en-US" sz="1400" b="1" dirty="0" smtClean="0"/>
              <a:t>와 </a:t>
            </a:r>
            <a:r>
              <a:rPr lang="en-US" altLang="ko-KR" sz="1400" b="1" dirty="0" smtClean="0"/>
              <a:t>byte</a:t>
            </a:r>
            <a:r>
              <a:rPr lang="ko-KR" altLang="en-US" sz="1400" b="1" dirty="0" smtClean="0"/>
              <a:t>연산이므로 </a:t>
            </a:r>
            <a:r>
              <a:rPr lang="en-US" altLang="ko-KR" sz="1400" b="1" dirty="0" err="1" smtClean="0"/>
              <a:t>int</a:t>
            </a:r>
            <a:r>
              <a:rPr lang="ko-KR" altLang="en-US" sz="1400" b="1" dirty="0" smtClean="0"/>
              <a:t>로 형 변환이 일어난다</a:t>
            </a:r>
            <a:r>
              <a:rPr lang="en-US" altLang="ko-KR" sz="1400" b="1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4</a:t>
            </a:r>
            <a:r>
              <a:rPr lang="en-US" altLang="ko-KR" dirty="0" smtClean="0"/>
              <a:t>. </a:t>
            </a:r>
            <a:r>
              <a:rPr lang="en-US" altLang="ko-KR" dirty="0" smtClean="0"/>
              <a:t>Type Casting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lang="ko-KR" altLang="en-US" sz="1600" b="1" dirty="0" smtClean="0"/>
              <a:t>강제 형 변환</a:t>
            </a:r>
          </a:p>
          <a:p>
            <a:pPr lvl="1">
              <a:buFont typeface="Wingdings" pitchFamily="2" charset="2"/>
              <a:buChar char="v"/>
            </a:pPr>
            <a:r>
              <a:rPr lang="ko-KR" altLang="en-US" sz="1400" b="1" dirty="0" smtClean="0"/>
              <a:t>강제로 </a:t>
            </a:r>
            <a:r>
              <a:rPr lang="ko-KR" altLang="en-US" sz="1400" b="1" dirty="0" err="1" smtClean="0"/>
              <a:t>자료형을</a:t>
            </a:r>
            <a:r>
              <a:rPr lang="ko-KR" altLang="en-US" sz="1400" b="1" dirty="0" smtClean="0"/>
              <a:t> 변경하는 것을 의미합니다</a:t>
            </a:r>
            <a:r>
              <a:rPr lang="en-US" altLang="ko-KR" sz="1400" b="1" dirty="0" smtClean="0"/>
              <a:t>.</a:t>
            </a:r>
          </a:p>
          <a:p>
            <a:pPr lvl="1">
              <a:buFont typeface="Wingdings" pitchFamily="2" charset="2"/>
              <a:buChar char="v"/>
            </a:pPr>
            <a:r>
              <a:rPr lang="ko-KR" altLang="en-US" sz="1400" b="1" dirty="0" smtClean="0"/>
              <a:t>작은 크기의 메모리 공간에 큰 메모리 공간의 데이터를 바로 대입하면 에러가 발생</a:t>
            </a:r>
            <a:endParaRPr lang="en-US" altLang="ko-KR" sz="1400" b="1" dirty="0" smtClean="0"/>
          </a:p>
          <a:p>
            <a:pPr lvl="1">
              <a:buFont typeface="Wingdings" pitchFamily="2" charset="2"/>
              <a:buChar char="v"/>
            </a:pPr>
            <a:r>
              <a:rPr lang="ko-KR" altLang="en-US" sz="1400" b="1" dirty="0" smtClean="0"/>
              <a:t>작은 크기의 메모리 공간에 맞게 큰 메모리 공간의 데이터를 형 변환을 강제로 수행합니다</a:t>
            </a:r>
            <a:r>
              <a:rPr lang="en-US" altLang="ko-KR" sz="1400" b="1" dirty="0" smtClean="0"/>
              <a:t>.</a:t>
            </a:r>
          </a:p>
          <a:p>
            <a:pPr lvl="1">
              <a:buFont typeface="Wingdings" pitchFamily="2" charset="2"/>
              <a:buChar char="v"/>
            </a:pPr>
            <a:r>
              <a:rPr lang="ko-KR" altLang="en-US" sz="1400" b="1" dirty="0" smtClean="0"/>
              <a:t>큰 쪽에서 작은 쪽으로 일어나게 되는 강제 형 변환을 </a:t>
            </a:r>
            <a:r>
              <a:rPr lang="en-US" altLang="ko-KR" sz="1400" b="1" dirty="0" smtClean="0"/>
              <a:t>demotion</a:t>
            </a:r>
            <a:r>
              <a:rPr lang="ko-KR" altLang="en-US" sz="1400" b="1" dirty="0" smtClean="0"/>
              <a:t>이라고 하며 이는 정보의 손실을 가져올 수 있으므로 주의해야 합니다</a:t>
            </a:r>
            <a:r>
              <a:rPr lang="en-US" altLang="ko-KR" sz="1400" b="1" dirty="0" smtClean="0"/>
              <a:t>.</a:t>
            </a:r>
          </a:p>
          <a:p>
            <a:pPr lvl="1">
              <a:buFont typeface="Wingdings" pitchFamily="2" charset="2"/>
              <a:buChar char="v"/>
            </a:pPr>
            <a:r>
              <a:rPr lang="ko-KR" altLang="en-US" sz="1400" b="1" dirty="0" smtClean="0"/>
              <a:t>형식</a:t>
            </a:r>
            <a:r>
              <a:rPr lang="en-US" altLang="ko-KR" sz="1400" b="1" dirty="0" smtClean="0"/>
              <a:t>)   (</a:t>
            </a:r>
            <a:r>
              <a:rPr lang="ko-KR" altLang="en-US" sz="1400" b="1" dirty="0" err="1" smtClean="0"/>
              <a:t>데이터형</a:t>
            </a:r>
            <a:r>
              <a:rPr lang="en-US" altLang="ko-KR" sz="1400" b="1" dirty="0" smtClean="0"/>
              <a:t>)</a:t>
            </a:r>
            <a:r>
              <a:rPr lang="ko-KR" altLang="en-US" sz="1400" b="1" dirty="0" err="1" smtClean="0"/>
              <a:t>변수명</a:t>
            </a:r>
            <a:r>
              <a:rPr lang="en-US" altLang="ko-KR" sz="1400" b="1" dirty="0" smtClean="0"/>
              <a:t>;</a:t>
            </a:r>
          </a:p>
          <a:p>
            <a:pPr lvl="1">
              <a:buNone/>
            </a:pPr>
            <a:r>
              <a:rPr lang="en-US" altLang="ko-KR" sz="1400" b="1" dirty="0" smtClean="0"/>
              <a:t>   ex) </a:t>
            </a:r>
          </a:p>
          <a:p>
            <a:pPr lvl="1">
              <a:buNone/>
            </a:pPr>
            <a:r>
              <a:rPr lang="en-US" altLang="ko-KR" sz="1400" b="1" dirty="0" smtClean="0"/>
              <a:t>	  	byte b, c, d;  </a:t>
            </a:r>
          </a:p>
          <a:p>
            <a:pPr lvl="1">
              <a:buNone/>
            </a:pPr>
            <a:r>
              <a:rPr lang="en-US" altLang="ko-KR" sz="1400" b="1" dirty="0" smtClean="0"/>
              <a:t>       	b=126;</a:t>
            </a:r>
          </a:p>
          <a:p>
            <a:pPr lvl="1">
              <a:buNone/>
            </a:pPr>
            <a:r>
              <a:rPr lang="en-US" altLang="ko-KR" sz="1400" b="1" dirty="0" smtClean="0"/>
              <a:t>       	c=126;</a:t>
            </a:r>
          </a:p>
          <a:p>
            <a:pPr lvl="1">
              <a:buNone/>
            </a:pPr>
            <a:r>
              <a:rPr lang="en-US" altLang="ko-KR" sz="1400" b="1" dirty="0" smtClean="0"/>
              <a:t>       	(</a:t>
            </a:r>
            <a:r>
              <a:rPr lang="en-US" altLang="ko-KR" sz="1400" b="1" dirty="0" err="1" smtClean="0"/>
              <a:t>int</a:t>
            </a:r>
            <a:r>
              <a:rPr lang="en-US" altLang="ko-KR" sz="1400" b="1" dirty="0" smtClean="0"/>
              <a:t>)d = </a:t>
            </a:r>
            <a:r>
              <a:rPr lang="en-US" altLang="ko-KR" sz="1400" b="1" dirty="0" err="1" smtClean="0"/>
              <a:t>b+c</a:t>
            </a:r>
            <a:r>
              <a:rPr lang="en-US" altLang="ko-KR" sz="1400" b="1" dirty="0" smtClean="0"/>
              <a:t>;  ==&gt; byte</a:t>
            </a:r>
            <a:r>
              <a:rPr lang="ko-KR" altLang="en-US" sz="1400" b="1" dirty="0" smtClean="0"/>
              <a:t>는 </a:t>
            </a:r>
            <a:r>
              <a:rPr lang="en-US" altLang="ko-KR" sz="1400" b="1" dirty="0" smtClean="0"/>
              <a:t>127</a:t>
            </a:r>
            <a:r>
              <a:rPr lang="ko-KR" altLang="en-US" sz="1400" b="1" dirty="0" smtClean="0"/>
              <a:t>까지만 저장할 수 있으므로 </a:t>
            </a:r>
            <a:r>
              <a:rPr lang="en-US" altLang="ko-KR" sz="1400" b="1" dirty="0" smtClean="0"/>
              <a:t>d</a:t>
            </a:r>
            <a:r>
              <a:rPr lang="ko-KR" altLang="en-US" sz="1400" b="1" dirty="0" smtClean="0"/>
              <a:t>에 저장할 수 없지만 </a:t>
            </a:r>
            <a:r>
              <a:rPr lang="en-US" altLang="ko-KR" sz="1400" b="1" dirty="0" smtClean="0"/>
              <a:t>d</a:t>
            </a:r>
            <a:r>
              <a:rPr lang="ko-KR" altLang="en-US" sz="1400" b="1" dirty="0" smtClean="0"/>
              <a:t>를 강제로 </a:t>
            </a:r>
            <a:r>
              <a:rPr lang="en-US" altLang="ko-KR" sz="1400" b="1" dirty="0" err="1" smtClean="0"/>
              <a:t>int</a:t>
            </a:r>
            <a:r>
              <a:rPr lang="ko-KR" altLang="en-US" sz="1400" b="1" dirty="0" smtClean="0"/>
              <a:t>형으로 변환하면 저장 가능</a:t>
            </a:r>
            <a:r>
              <a:rPr lang="en-US" altLang="ko-KR" sz="1400" b="1" dirty="0" smtClean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400" dirty="0" smtClean="0"/>
              <a:t>public class </a:t>
            </a:r>
            <a:r>
              <a:rPr lang="en-US" altLang="ko-KR" sz="1400" dirty="0" err="1" smtClean="0"/>
              <a:t>TypeCasting</a:t>
            </a:r>
            <a:endParaRPr lang="en-US" altLang="ko-KR" sz="1400" dirty="0" smtClean="0"/>
          </a:p>
          <a:p>
            <a:pPr>
              <a:buNone/>
            </a:pPr>
            <a:r>
              <a:rPr lang="en-US" altLang="ko-KR" sz="1400" dirty="0" smtClean="0"/>
              <a:t>{</a:t>
            </a:r>
          </a:p>
          <a:p>
            <a:pPr>
              <a:buNone/>
            </a:pPr>
            <a:r>
              <a:rPr lang="en-US" altLang="ko-KR" sz="1400" dirty="0" smtClean="0"/>
              <a:t>	public static void main(String </a:t>
            </a:r>
            <a:r>
              <a:rPr lang="en-US" altLang="ko-KR" sz="1400" dirty="0" err="1" smtClean="0"/>
              <a:t>args</a:t>
            </a:r>
            <a:r>
              <a:rPr lang="en-US" altLang="ko-KR" sz="1400" dirty="0" smtClean="0"/>
              <a:t>[])</a:t>
            </a:r>
          </a:p>
          <a:p>
            <a:pPr>
              <a:buNone/>
            </a:pPr>
            <a:r>
              <a:rPr lang="en-US" altLang="ko-KR" sz="1400" dirty="0" smtClean="0"/>
              <a:t>	{</a:t>
            </a:r>
          </a:p>
          <a:p>
            <a:pPr>
              <a:buNone/>
            </a:pPr>
            <a:r>
              <a:rPr lang="en-US" altLang="ko-KR" sz="1400" dirty="0" smtClean="0"/>
              <a:t>		//</a:t>
            </a:r>
            <a:r>
              <a:rPr lang="ko-KR" altLang="en-US" sz="1400" dirty="0" smtClean="0"/>
              <a:t>변수 선언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정수형</a:t>
            </a:r>
            <a:r>
              <a:rPr lang="en-US" altLang="ko-KR" sz="1400" dirty="0" smtClean="0"/>
              <a:t>)</a:t>
            </a:r>
          </a:p>
          <a:p>
            <a:pPr>
              <a:buNone/>
            </a:pPr>
            <a:r>
              <a:rPr lang="en-US" altLang="ko-KR" sz="1400" dirty="0" smtClean="0"/>
              <a:t>		byte b=100;</a:t>
            </a:r>
          </a:p>
          <a:p>
            <a:pPr>
              <a:buNone/>
            </a:pPr>
            <a:r>
              <a:rPr lang="en-US" altLang="ko-KR" sz="1400" dirty="0" smtClean="0"/>
              <a:t>		short s=1000;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int</a:t>
            </a:r>
            <a:r>
              <a:rPr lang="en-US" altLang="ko-KR" sz="1400" dirty="0" smtClean="0"/>
              <a:t>  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=10000;</a:t>
            </a:r>
          </a:p>
          <a:p>
            <a:pPr>
              <a:buNone/>
            </a:pPr>
            <a:r>
              <a:rPr lang="en-US" altLang="ko-KR" sz="1400" dirty="0" smtClean="0"/>
              <a:t>		long  l=10L;    //L</a:t>
            </a:r>
            <a:r>
              <a:rPr lang="ko-KR" altLang="en-US" sz="1400" dirty="0" smtClean="0"/>
              <a:t>은 형 명시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정수형은 </a:t>
            </a:r>
            <a:r>
              <a:rPr lang="en-US" altLang="ko-KR" sz="1400" dirty="0" smtClean="0"/>
              <a:t>L</a:t>
            </a:r>
            <a:r>
              <a:rPr lang="ko-KR" altLang="en-US" sz="1400" dirty="0" smtClean="0"/>
              <a:t>을 빼도 됨</a:t>
            </a:r>
            <a:r>
              <a:rPr lang="en-US" altLang="ko-KR" sz="1400" dirty="0" smtClean="0"/>
              <a:t>)</a:t>
            </a:r>
          </a:p>
          <a:p>
            <a:pPr>
              <a:buNone/>
            </a:pPr>
            <a:r>
              <a:rPr lang="en-US" altLang="ko-KR" sz="1400" dirty="0" smtClean="0"/>
              <a:t>		//</a:t>
            </a:r>
            <a:r>
              <a:rPr lang="ko-KR" altLang="en-US" sz="1400" dirty="0" smtClean="0"/>
              <a:t>변수 선언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문자형</a:t>
            </a:r>
            <a:r>
              <a:rPr lang="en-US" altLang="ko-KR" sz="1400" dirty="0" smtClean="0"/>
              <a:t>)</a:t>
            </a:r>
          </a:p>
          <a:p>
            <a:pPr>
              <a:buNone/>
            </a:pPr>
            <a:r>
              <a:rPr lang="en-US" altLang="ko-KR" sz="1400" dirty="0" smtClean="0"/>
              <a:t>		char c='A';</a:t>
            </a:r>
          </a:p>
          <a:p>
            <a:pPr>
              <a:buNone/>
            </a:pPr>
            <a:r>
              <a:rPr lang="en-US" altLang="ko-KR" sz="1400" dirty="0" smtClean="0"/>
              <a:t>		//</a:t>
            </a:r>
            <a:r>
              <a:rPr lang="ko-KR" altLang="en-US" sz="1400" dirty="0" smtClean="0"/>
              <a:t>변수 선언</a:t>
            </a:r>
            <a:r>
              <a:rPr lang="en-US" altLang="ko-KR" sz="1400" dirty="0" smtClean="0"/>
              <a:t>(</a:t>
            </a:r>
            <a:r>
              <a:rPr lang="ko-KR" altLang="en-US" sz="1400" dirty="0" err="1" smtClean="0"/>
              <a:t>실수형</a:t>
            </a:r>
            <a:r>
              <a:rPr lang="en-US" altLang="ko-KR" sz="1400" dirty="0" smtClean="0"/>
              <a:t>)</a:t>
            </a:r>
          </a:p>
          <a:p>
            <a:pPr>
              <a:buNone/>
            </a:pPr>
            <a:r>
              <a:rPr lang="en-US" altLang="ko-KR" sz="1400" dirty="0" smtClean="0"/>
              <a:t>		float f=3.14f;  //f</a:t>
            </a:r>
            <a:r>
              <a:rPr lang="ko-KR" altLang="en-US" sz="1400" dirty="0" smtClean="0"/>
              <a:t>는 형 명시  </a:t>
            </a:r>
            <a:r>
              <a:rPr lang="en-US" altLang="ko-KR" sz="1400" dirty="0" smtClean="0"/>
              <a:t>==&gt; f</a:t>
            </a:r>
            <a:r>
              <a:rPr lang="ko-KR" altLang="en-US" sz="1400" dirty="0" smtClean="0"/>
              <a:t>를 빼고 테스트 하면 </a:t>
            </a:r>
            <a:r>
              <a:rPr lang="en-US" altLang="ko-KR" sz="1400" dirty="0" smtClean="0"/>
              <a:t>error</a:t>
            </a:r>
            <a:r>
              <a:rPr lang="ko-KR" altLang="en-US" sz="1400" dirty="0" smtClean="0"/>
              <a:t>남</a:t>
            </a:r>
            <a:r>
              <a:rPr lang="en-US" altLang="ko-KR" sz="1400" dirty="0" smtClean="0"/>
              <a:t>.</a:t>
            </a:r>
          </a:p>
          <a:p>
            <a:pPr>
              <a:buNone/>
            </a:pPr>
            <a:r>
              <a:rPr lang="en-US" altLang="ko-KR" sz="1400" dirty="0" smtClean="0"/>
              <a:t>		double db=5.15d; //d</a:t>
            </a:r>
            <a:r>
              <a:rPr lang="ko-KR" altLang="en-US" sz="1400" dirty="0" smtClean="0"/>
              <a:t>는 형 명시 </a:t>
            </a:r>
            <a:r>
              <a:rPr lang="en-US" altLang="ko-KR" sz="1400" dirty="0" smtClean="0"/>
              <a:t>==&gt; d</a:t>
            </a:r>
            <a:r>
              <a:rPr lang="ko-KR" altLang="en-US" sz="1400" dirty="0" smtClean="0"/>
              <a:t>를 빼도 문제 없음</a:t>
            </a:r>
          </a:p>
          <a:p>
            <a:pPr>
              <a:buNone/>
            </a:pPr>
            <a:r>
              <a:rPr lang="ko-KR" altLang="en-US" sz="1400" dirty="0" smtClean="0"/>
              <a:t>		</a:t>
            </a:r>
            <a:endParaRPr lang="en-US" altLang="ko-KR" sz="14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19</a:t>
            </a:fld>
            <a:endParaRPr lang="ko-KR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1196752"/>
            <a:ext cx="4272161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ko-KR" altLang="en-US" sz="1400" dirty="0" smtClean="0"/>
              <a:t>		</a:t>
            </a:r>
            <a:r>
              <a:rPr lang="en-US" altLang="ko-KR" sz="1400" dirty="0" smtClean="0"/>
              <a:t>//</a:t>
            </a:r>
            <a:r>
              <a:rPr lang="ko-KR" altLang="en-US" sz="1400" dirty="0" smtClean="0"/>
              <a:t>변수 선언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boolean</a:t>
            </a:r>
            <a:r>
              <a:rPr lang="ko-KR" altLang="en-US" sz="1400" dirty="0" smtClean="0"/>
              <a:t>형</a:t>
            </a:r>
            <a:r>
              <a:rPr lang="en-US" altLang="ko-KR" sz="1400" dirty="0" smtClean="0"/>
              <a:t>)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boolean</a:t>
            </a:r>
            <a:r>
              <a:rPr lang="en-US" altLang="ko-KR" sz="1400" dirty="0" smtClean="0"/>
              <a:t>  </a:t>
            </a:r>
            <a:r>
              <a:rPr lang="en-US" altLang="ko-KR" sz="1400" dirty="0" err="1" smtClean="0"/>
              <a:t>bo</a:t>
            </a:r>
            <a:r>
              <a:rPr lang="en-US" altLang="ko-KR" sz="1400" dirty="0" smtClean="0"/>
              <a:t>=true;   // ==&gt; true/false</a:t>
            </a:r>
            <a:r>
              <a:rPr lang="ko-KR" altLang="en-US" sz="1400" dirty="0" smtClean="0"/>
              <a:t>를 대문자로 쓰면 </a:t>
            </a:r>
            <a:r>
              <a:rPr lang="en-US" altLang="ko-KR" sz="1400" dirty="0" smtClean="0"/>
              <a:t>error</a:t>
            </a:r>
            <a:r>
              <a:rPr lang="ko-KR" altLang="en-US" sz="1400" dirty="0" smtClean="0"/>
              <a:t>가 난다</a:t>
            </a:r>
            <a:r>
              <a:rPr lang="en-US" altLang="ko-KR" sz="1400" dirty="0" smtClean="0"/>
              <a:t>.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("b=" + b);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("s=" + s);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=" + </a:t>
            </a:r>
            <a:r>
              <a:rPr lang="en-US" altLang="ko-KR" sz="1400" dirty="0" err="1" smtClean="0"/>
              <a:t>i</a:t>
            </a:r>
            <a:r>
              <a:rPr lang="en-US" altLang="ko-KR" sz="1400" dirty="0" smtClean="0"/>
              <a:t>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("l=" + l);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("c=" + c);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("f=" + f);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("db=" + db);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</a:t>
            </a:r>
            <a:r>
              <a:rPr lang="en-US" altLang="ko-KR" sz="1400" dirty="0" err="1" smtClean="0"/>
              <a:t>bo</a:t>
            </a:r>
            <a:r>
              <a:rPr lang="en-US" altLang="ko-KR" sz="1400" dirty="0" smtClean="0"/>
              <a:t>=" + </a:t>
            </a:r>
            <a:r>
              <a:rPr lang="en-US" altLang="ko-KR" sz="1400" dirty="0" err="1" smtClean="0"/>
              <a:t>bo</a:t>
            </a:r>
            <a:r>
              <a:rPr lang="en-US" altLang="ko-KR" sz="1400" dirty="0" smtClean="0"/>
              <a:t>);</a:t>
            </a:r>
          </a:p>
          <a:p>
            <a:pPr>
              <a:buNone/>
            </a:pPr>
            <a:r>
              <a:rPr lang="en-US" altLang="ko-KR" sz="1400" dirty="0" smtClean="0"/>
              <a:t>		//</a:t>
            </a:r>
            <a:r>
              <a:rPr lang="ko-KR" altLang="en-US" sz="1400" dirty="0" smtClean="0"/>
              <a:t>강제 </a:t>
            </a:r>
            <a:r>
              <a:rPr lang="ko-KR" altLang="en-US" sz="1400" dirty="0" err="1" smtClean="0"/>
              <a:t>형변환</a:t>
            </a:r>
            <a:endParaRPr lang="ko-KR" altLang="en-US" sz="1400" dirty="0" smtClean="0"/>
          </a:p>
          <a:p>
            <a:pPr>
              <a:buNone/>
            </a:pPr>
            <a:r>
              <a:rPr lang="ko-KR" altLang="en-US" sz="1400" dirty="0" smtClean="0"/>
              <a:t>		</a:t>
            </a:r>
            <a:r>
              <a:rPr lang="en-US" altLang="ko-KR" sz="1400" dirty="0" smtClean="0"/>
              <a:t>f=(float)1.5;//</a:t>
            </a:r>
            <a:r>
              <a:rPr lang="ko-KR" altLang="en-US" sz="1400" dirty="0" smtClean="0"/>
              <a:t>실수는 기본적으로 </a:t>
            </a:r>
            <a:r>
              <a:rPr lang="en-US" altLang="ko-KR" sz="1400" dirty="0" smtClean="0"/>
              <a:t>double</a:t>
            </a:r>
            <a:r>
              <a:rPr lang="ko-KR" altLang="en-US" sz="1400" dirty="0" smtClean="0"/>
              <a:t>형임</a:t>
            </a:r>
          </a:p>
          <a:p>
            <a:pPr>
              <a:buNone/>
            </a:pPr>
            <a:r>
              <a:rPr lang="ko-KR" altLang="en-US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("f= " + f);</a:t>
            </a:r>
          </a:p>
          <a:p>
            <a:pPr>
              <a:buNone/>
            </a:pPr>
            <a:r>
              <a:rPr lang="en-US" altLang="ko-KR" sz="1400" dirty="0" smtClean="0"/>
              <a:t>		f=(float)db;</a:t>
            </a:r>
          </a:p>
          <a:p>
            <a:pPr>
              <a:buNone/>
            </a:pPr>
            <a:r>
              <a:rPr lang="en-US" altLang="ko-KR" sz="1400" dirty="0" smtClean="0"/>
              <a:t>		</a:t>
            </a:r>
            <a:r>
              <a:rPr lang="en-US" altLang="ko-KR" sz="1400" dirty="0" err="1" smtClean="0"/>
              <a:t>System.out.println</a:t>
            </a:r>
            <a:r>
              <a:rPr lang="en-US" altLang="ko-KR" sz="1400" dirty="0" smtClean="0"/>
              <a:t>("f= " + f);</a:t>
            </a:r>
          </a:p>
          <a:p>
            <a:pPr>
              <a:buNone/>
            </a:pPr>
            <a:r>
              <a:rPr lang="en-US" altLang="ko-KR" sz="1400" dirty="0" smtClean="0"/>
              <a:t>	}</a:t>
            </a:r>
          </a:p>
          <a:p>
            <a:pPr>
              <a:buNone/>
            </a:pPr>
            <a:r>
              <a:rPr lang="en-US" altLang="ko-KR" sz="14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5</a:t>
            </a:r>
            <a:r>
              <a:rPr lang="en-US" altLang="ko-KR" dirty="0" smtClean="0"/>
              <a:t>. </a:t>
            </a:r>
            <a:r>
              <a:rPr lang="ko-KR" altLang="en-US" dirty="0" smtClean="0"/>
              <a:t>진법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altLang="ko-KR" sz="1600" b="1" dirty="0" smtClean="0"/>
              <a:t>10</a:t>
            </a:r>
            <a:r>
              <a:rPr lang="ko-KR" altLang="en-US" sz="1600" b="1" dirty="0" smtClean="0"/>
              <a:t>진수    </a:t>
            </a:r>
            <a:r>
              <a:rPr lang="en-US" altLang="ko-KR" sz="1600" b="1" dirty="0" smtClean="0"/>
              <a:t>	0 1 2 3 4 5 6 7 8 9 </a:t>
            </a:r>
          </a:p>
          <a:p>
            <a:pPr>
              <a:buFont typeface="Wingdings" pitchFamily="2" charset="2"/>
              <a:buChar char="v"/>
            </a:pPr>
            <a:r>
              <a:rPr lang="en-US" altLang="ko-KR" sz="1600" b="1" dirty="0" smtClean="0"/>
              <a:t>8 </a:t>
            </a:r>
            <a:r>
              <a:rPr lang="ko-KR" altLang="en-US" sz="1600" b="1" dirty="0" smtClean="0"/>
              <a:t>진수    </a:t>
            </a:r>
            <a:r>
              <a:rPr lang="en-US" altLang="ko-KR" sz="1600" b="1" dirty="0" smtClean="0"/>
              <a:t>	0 1 2 3 4 5 6 7 </a:t>
            </a:r>
          </a:p>
          <a:p>
            <a:pPr>
              <a:buFont typeface="Wingdings" pitchFamily="2" charset="2"/>
              <a:buChar char="v"/>
            </a:pPr>
            <a:r>
              <a:rPr lang="en-US" altLang="ko-KR" sz="1600" b="1" dirty="0" smtClean="0"/>
              <a:t>16</a:t>
            </a:r>
            <a:r>
              <a:rPr lang="ko-KR" altLang="en-US" sz="1600" b="1" dirty="0" smtClean="0"/>
              <a:t>진수    </a:t>
            </a:r>
            <a:r>
              <a:rPr lang="en-US" altLang="ko-KR" sz="1600" b="1" dirty="0" smtClean="0"/>
              <a:t>	0 1 2 3 4 5 6 7 8 9 A B C D E F </a:t>
            </a:r>
          </a:p>
          <a:p>
            <a:pPr>
              <a:buFont typeface="Wingdings" pitchFamily="2" charset="2"/>
              <a:buChar char="v"/>
            </a:pPr>
            <a:r>
              <a:rPr lang="en-US" altLang="ko-KR" sz="1600" b="1" dirty="0" smtClean="0"/>
              <a:t>2 </a:t>
            </a:r>
            <a:r>
              <a:rPr lang="ko-KR" altLang="en-US" sz="1600" b="1" dirty="0" smtClean="0"/>
              <a:t>진수    </a:t>
            </a:r>
            <a:r>
              <a:rPr lang="en-US" altLang="ko-KR" sz="1600" b="1" dirty="0" smtClean="0"/>
              <a:t>	0 1</a:t>
            </a:r>
          </a:p>
          <a:p>
            <a:pPr>
              <a:buFont typeface="Wingdings" pitchFamily="2" charset="2"/>
              <a:buChar char="v"/>
            </a:pPr>
            <a:endParaRPr lang="en-US" altLang="ko-KR" sz="1600" b="1" dirty="0" smtClean="0"/>
          </a:p>
          <a:p>
            <a:pPr>
              <a:buFont typeface="Wingdings" pitchFamily="2" charset="2"/>
              <a:buChar char="v"/>
            </a:pPr>
            <a:r>
              <a:rPr lang="en-US" altLang="ko-KR" sz="1600" b="1" dirty="0" smtClean="0"/>
              <a:t>8</a:t>
            </a:r>
            <a:r>
              <a:rPr lang="ko-KR" altLang="en-US" sz="1600" b="1" dirty="0" smtClean="0"/>
              <a:t>진수 표시법 </a:t>
            </a:r>
            <a:r>
              <a:rPr lang="en-US" altLang="ko-KR" sz="1600" b="1" dirty="0" smtClean="0"/>
              <a:t>(07): </a:t>
            </a:r>
            <a:r>
              <a:rPr lang="ko-KR" altLang="en-US" sz="1600" b="1" dirty="0" smtClean="0"/>
              <a:t>숫자 앞에 </a:t>
            </a:r>
            <a:r>
              <a:rPr lang="en-US" altLang="ko-KR" sz="1600" b="1" dirty="0" smtClean="0"/>
              <a:t>0</a:t>
            </a:r>
            <a:r>
              <a:rPr lang="ko-KR" altLang="en-US" sz="1600" b="1" dirty="0" smtClean="0"/>
              <a:t>을 붙여서 표기</a:t>
            </a:r>
          </a:p>
          <a:p>
            <a:pPr>
              <a:buFont typeface="Wingdings" pitchFamily="2" charset="2"/>
              <a:buChar char="v"/>
            </a:pPr>
            <a:r>
              <a:rPr lang="en-US" altLang="ko-KR" sz="1600" b="1" dirty="0" smtClean="0"/>
              <a:t>16</a:t>
            </a:r>
            <a:r>
              <a:rPr lang="ko-KR" altLang="en-US" sz="1600" b="1" dirty="0" smtClean="0"/>
              <a:t>진수 표시법</a:t>
            </a:r>
            <a:r>
              <a:rPr lang="en-US" altLang="ko-KR" sz="1600" b="1" dirty="0" smtClean="0"/>
              <a:t>(0xa): </a:t>
            </a:r>
            <a:r>
              <a:rPr lang="ko-KR" altLang="en-US" sz="1600" b="1" dirty="0" smtClean="0"/>
              <a:t>숫자 앞에 </a:t>
            </a:r>
            <a:r>
              <a:rPr lang="en-US" altLang="ko-KR" sz="1600" b="1" dirty="0" smtClean="0"/>
              <a:t>0x</a:t>
            </a:r>
            <a:r>
              <a:rPr lang="ko-KR" altLang="en-US" sz="1600" b="1" dirty="0" smtClean="0"/>
              <a:t>를 붙여서 표기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ko-KR" sz="1600" dirty="0" smtClean="0"/>
              <a:t>public class </a:t>
            </a:r>
            <a:r>
              <a:rPr lang="en-US" altLang="ko-KR" sz="1600" dirty="0" err="1" smtClean="0"/>
              <a:t>SystemWord</a:t>
            </a:r>
            <a:r>
              <a:rPr lang="en-US" altLang="ko-KR" sz="1600" dirty="0" smtClean="0"/>
              <a:t> </a:t>
            </a:r>
          </a:p>
          <a:p>
            <a:pPr>
              <a:buNone/>
            </a:pPr>
            <a:r>
              <a:rPr lang="en-US" altLang="ko-KR" sz="1600" dirty="0" smtClean="0"/>
              <a:t>{</a:t>
            </a:r>
          </a:p>
          <a:p>
            <a:pPr>
              <a:buNone/>
            </a:pPr>
            <a:r>
              <a:rPr lang="en-US" altLang="ko-KR" sz="1600" dirty="0" smtClean="0"/>
              <a:t>	public static void main(String </a:t>
            </a:r>
            <a:r>
              <a:rPr lang="en-US" altLang="ko-KR" sz="1600" dirty="0" err="1" smtClean="0"/>
              <a:t>args</a:t>
            </a:r>
            <a:r>
              <a:rPr lang="en-US" altLang="ko-KR" sz="1600" dirty="0" smtClean="0"/>
              <a:t>[])</a:t>
            </a:r>
          </a:p>
          <a:p>
            <a:pPr>
              <a:buNone/>
            </a:pPr>
            <a:r>
              <a:rPr lang="en-US" altLang="ko-KR" sz="1600" dirty="0" smtClean="0"/>
              <a:t>	{</a:t>
            </a:r>
          </a:p>
          <a:p>
            <a:pPr>
              <a:buNone/>
            </a:pPr>
            <a:r>
              <a:rPr lang="en-US" altLang="ko-KR" sz="1600" dirty="0" smtClean="0"/>
              <a:t>		</a:t>
            </a:r>
            <a:r>
              <a:rPr lang="en-US" altLang="ko-KR" sz="1600" dirty="0" err="1" smtClean="0"/>
              <a:t>System.out.println</a:t>
            </a:r>
            <a:r>
              <a:rPr lang="en-US" altLang="ko-KR" sz="1600" dirty="0" smtClean="0"/>
              <a:t>(12 + 017 + 0xb); //12 + 15 + 11</a:t>
            </a:r>
          </a:p>
          <a:p>
            <a:pPr>
              <a:buNone/>
            </a:pPr>
            <a:r>
              <a:rPr lang="en-US" altLang="ko-KR" sz="1600" dirty="0" smtClean="0"/>
              <a:t>		</a:t>
            </a:r>
            <a:r>
              <a:rPr lang="en-US" altLang="ko-KR" sz="1600" dirty="0" err="1" smtClean="0"/>
              <a:t>int</a:t>
            </a:r>
            <a:r>
              <a:rPr lang="en-US" altLang="ko-KR" sz="1600" dirty="0" smtClean="0"/>
              <a:t> </a:t>
            </a:r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=020;</a:t>
            </a:r>
          </a:p>
          <a:p>
            <a:pPr>
              <a:buNone/>
            </a:pPr>
            <a:r>
              <a:rPr lang="en-US" altLang="ko-KR" sz="1600" dirty="0" smtClean="0"/>
              <a:t>		</a:t>
            </a:r>
            <a:r>
              <a:rPr lang="en-US" altLang="ko-KR" sz="1600" dirty="0" err="1" smtClean="0"/>
              <a:t>int</a:t>
            </a:r>
            <a:r>
              <a:rPr lang="en-US" altLang="ko-KR" sz="1600" dirty="0" smtClean="0"/>
              <a:t> j=0xf;</a:t>
            </a:r>
          </a:p>
          <a:p>
            <a:pPr>
              <a:buNone/>
            </a:pPr>
            <a:r>
              <a:rPr lang="en-US" altLang="ko-KR" sz="1600" dirty="0" smtClean="0"/>
              <a:t>		</a:t>
            </a:r>
            <a:r>
              <a:rPr lang="en-US" altLang="ko-KR" sz="1600" dirty="0" err="1" smtClean="0"/>
              <a:t>System.out.println</a:t>
            </a:r>
            <a:r>
              <a:rPr lang="en-US" altLang="ko-KR" sz="1600" dirty="0" smtClean="0"/>
              <a:t>("</a:t>
            </a:r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=" + </a:t>
            </a:r>
            <a:r>
              <a:rPr lang="en-US" altLang="ko-KR" sz="1600" dirty="0" err="1" smtClean="0"/>
              <a:t>i</a:t>
            </a:r>
            <a:r>
              <a:rPr lang="en-US" altLang="ko-KR" sz="1600" dirty="0" smtClean="0"/>
              <a:t> + '\t' + "j=" +j);   // 16 15 </a:t>
            </a:r>
          </a:p>
          <a:p>
            <a:pPr>
              <a:buNone/>
            </a:pPr>
            <a:r>
              <a:rPr lang="en-US" altLang="ko-KR" sz="1600" dirty="0" smtClean="0"/>
              <a:t>	}</a:t>
            </a:r>
          </a:p>
          <a:p>
            <a:pPr>
              <a:buNone/>
            </a:pPr>
            <a:r>
              <a:rPr lang="en-US" altLang="ko-KR" sz="1600" dirty="0" smtClean="0"/>
              <a:t>}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A5970-03A6-496F-978B-4258F7D373A8}" type="slidenum">
              <a:rPr lang="ko-KR" altLang="en-US" smtClean="0"/>
              <a:pPr/>
              <a:t>22</a:t>
            </a:fld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r="55443" b="62857"/>
          <a:stretch>
            <a:fillRect/>
          </a:stretch>
        </p:blipFill>
        <p:spPr bwMode="auto">
          <a:xfrm>
            <a:off x="1403648" y="4005064"/>
            <a:ext cx="5616624" cy="2433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s01_1">
  <a:themeElements>
    <a:clrScheme name="ms01_1 3">
      <a:dk1>
        <a:srgbClr val="808080"/>
      </a:dk1>
      <a:lt1>
        <a:srgbClr val="FFFFFF"/>
      </a:lt1>
      <a:dk2>
        <a:srgbClr val="FFFFFF"/>
      </a:dk2>
      <a:lt2>
        <a:srgbClr val="B2B2B2"/>
      </a:lt2>
      <a:accent1>
        <a:srgbClr val="058089"/>
      </a:accent1>
      <a:accent2>
        <a:srgbClr val="66BE0E"/>
      </a:accent2>
      <a:accent3>
        <a:srgbClr val="FFFFFF"/>
      </a:accent3>
      <a:accent4>
        <a:srgbClr val="6C6C6C"/>
      </a:accent4>
      <a:accent5>
        <a:srgbClr val="AAC0C4"/>
      </a:accent5>
      <a:accent6>
        <a:srgbClr val="5CAC0C"/>
      </a:accent6>
      <a:hlink>
        <a:srgbClr val="2CA9D0"/>
      </a:hlink>
      <a:folHlink>
        <a:srgbClr val="4841D9"/>
      </a:folHlink>
    </a:clrScheme>
    <a:fontScheme name="ms01_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s01_1 1">
        <a:dk1>
          <a:srgbClr val="1D528D"/>
        </a:dk1>
        <a:lt1>
          <a:srgbClr val="FFFFFF"/>
        </a:lt1>
        <a:dk2>
          <a:srgbClr val="000000"/>
        </a:dk2>
        <a:lt2>
          <a:srgbClr val="CACACA"/>
        </a:lt2>
        <a:accent1>
          <a:srgbClr val="0099CC"/>
        </a:accent1>
        <a:accent2>
          <a:srgbClr val="BFA907"/>
        </a:accent2>
        <a:accent3>
          <a:srgbClr val="FFFFFF"/>
        </a:accent3>
        <a:accent4>
          <a:srgbClr val="174578"/>
        </a:accent4>
        <a:accent5>
          <a:srgbClr val="AACAE2"/>
        </a:accent5>
        <a:accent6>
          <a:srgbClr val="AD9906"/>
        </a:accent6>
        <a:hlink>
          <a:srgbClr val="6E81E0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01_1 2">
        <a:dk1>
          <a:srgbClr val="4E40A4"/>
        </a:dk1>
        <a:lt1>
          <a:srgbClr val="FFFFFF"/>
        </a:lt1>
        <a:dk2>
          <a:srgbClr val="000000"/>
        </a:dk2>
        <a:lt2>
          <a:srgbClr val="CACACA"/>
        </a:lt2>
        <a:accent1>
          <a:srgbClr val="8B65E9"/>
        </a:accent1>
        <a:accent2>
          <a:srgbClr val="008080"/>
        </a:accent2>
        <a:accent3>
          <a:srgbClr val="FFFFFF"/>
        </a:accent3>
        <a:accent4>
          <a:srgbClr val="41358B"/>
        </a:accent4>
        <a:accent5>
          <a:srgbClr val="C4B8F2"/>
        </a:accent5>
        <a:accent6>
          <a:srgbClr val="007373"/>
        </a:accent6>
        <a:hlink>
          <a:srgbClr val="0066CC"/>
        </a:hlink>
        <a:folHlink>
          <a:srgbClr val="8AB15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01_1 3">
        <a:dk1>
          <a:srgbClr val="808080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66BE0E"/>
        </a:accent2>
        <a:accent3>
          <a:srgbClr val="FFFFFF"/>
        </a:accent3>
        <a:accent4>
          <a:srgbClr val="6C6C6C"/>
        </a:accent4>
        <a:accent5>
          <a:srgbClr val="AAC0C4"/>
        </a:accent5>
        <a:accent6>
          <a:srgbClr val="5CAC0C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6230</TotalTime>
  <Words>1146</Words>
  <Application>Microsoft Office PowerPoint</Application>
  <PresentationFormat>화면 슬라이드 쇼(4:3)</PresentationFormat>
  <Paragraphs>358</Paragraphs>
  <Slides>22</Slides>
  <Notes>0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4" baseType="lpstr">
      <vt:lpstr>ms01_1</vt:lpstr>
      <vt:lpstr>Image</vt:lpstr>
      <vt:lpstr>Data Type</vt:lpstr>
      <vt:lpstr>자바 키워드</vt:lpstr>
      <vt:lpstr>1. 자료형</vt:lpstr>
      <vt:lpstr>1. 자료형(Primitive Type)</vt:lpstr>
      <vt:lpstr>1. 자료형(Primitive Type)</vt:lpstr>
      <vt:lpstr>1. 자료형(ReferenceType)</vt:lpstr>
      <vt:lpstr>2. 기본 데이터 형</vt:lpstr>
      <vt:lpstr>실습</vt:lpstr>
      <vt:lpstr>2. 기본 데이터 형</vt:lpstr>
      <vt:lpstr>실습</vt:lpstr>
      <vt:lpstr>2. 기본 데이터 형</vt:lpstr>
      <vt:lpstr>실습</vt:lpstr>
      <vt:lpstr>2. 기본 데이터 형</vt:lpstr>
      <vt:lpstr>실습</vt:lpstr>
      <vt:lpstr>3. Overflow &amp; Underflow</vt:lpstr>
      <vt:lpstr>실습</vt:lpstr>
      <vt:lpstr>4. Type Casting</vt:lpstr>
      <vt:lpstr>4. Type Casting</vt:lpstr>
      <vt:lpstr>실습</vt:lpstr>
      <vt:lpstr>실습</vt:lpstr>
      <vt:lpstr>5. 진법</vt:lpstr>
      <vt:lpstr>실습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Teresa</dc:creator>
  <cp:lastModifiedBy>user</cp:lastModifiedBy>
  <cp:revision>291</cp:revision>
  <dcterms:created xsi:type="dcterms:W3CDTF">2010-03-14T12:09:21Z</dcterms:created>
  <dcterms:modified xsi:type="dcterms:W3CDTF">2013-03-14T23:39:11Z</dcterms:modified>
</cp:coreProperties>
</file>