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Default Extension="vml" ContentType="application/vnd.openxmlformats-officedocument.vmlDrawing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Default Extension="bin" ContentType="application/vnd.openxmlformats-officedocument.oleObject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1"/>
  </p:notesMasterIdLst>
  <p:sldIdLst>
    <p:sldId id="259" r:id="rId2"/>
    <p:sldId id="287" r:id="rId3"/>
    <p:sldId id="288" r:id="rId4"/>
    <p:sldId id="289" r:id="rId5"/>
    <p:sldId id="286" r:id="rId6"/>
    <p:sldId id="290" r:id="rId7"/>
    <p:sldId id="260" r:id="rId8"/>
    <p:sldId id="265" r:id="rId9"/>
    <p:sldId id="266" r:id="rId10"/>
    <p:sldId id="264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8" d="100"/>
          <a:sy n="68" d="100"/>
        </p:scale>
        <p:origin x="-576" y="-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85" d="100"/>
          <a:sy n="85" d="100"/>
        </p:scale>
        <p:origin x="-3198" y="-84"/>
      </p:cViewPr>
      <p:guideLst>
        <p:guide orient="horz" pos="2880"/>
        <p:guide pos="2160"/>
      </p:guideLst>
    </p:cSldViewPr>
  </p:notes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3E55A8-D5CF-4CB6-A127-D1933B95FA4A}" type="datetimeFigureOut">
              <a:rPr lang="ko-KR" altLang="en-US" smtClean="0"/>
              <a:pPr/>
              <a:t>2013-03-15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8817949-EA51-4397-99D6-3B2F4099EE7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xmlns="" val="24772702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1"/>
          <p:cNvSpPr>
            <a:spLocks noChangeArrowheads="1"/>
          </p:cNvSpPr>
          <p:nvPr/>
        </p:nvSpPr>
        <p:spPr bwMode="white">
          <a:xfrm>
            <a:off x="0" y="0"/>
            <a:ext cx="9144000" cy="3279775"/>
          </a:xfrm>
          <a:prstGeom prst="rect">
            <a:avLst/>
          </a:prstGeom>
          <a:gradFill rotWithShape="1">
            <a:gsLst>
              <a:gs pos="0">
                <a:schemeClr val="hlink"/>
              </a:gs>
              <a:gs pos="100000">
                <a:schemeClr val="hlink">
                  <a:gamma/>
                  <a:shade val="46275"/>
                  <a:invGamma/>
                </a:schemeClr>
              </a:gs>
            </a:gsLst>
            <a:lin ang="27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ko-KR" altLang="en-US">
              <a:ea typeface="굴림" charset="-127"/>
            </a:endParaRPr>
          </a:p>
        </p:txBody>
      </p:sp>
      <p:sp>
        <p:nvSpPr>
          <p:cNvPr id="5" name="Freeform 32"/>
          <p:cNvSpPr>
            <a:spLocks/>
          </p:cNvSpPr>
          <p:nvPr/>
        </p:nvSpPr>
        <p:spPr bwMode="gray">
          <a:xfrm>
            <a:off x="1285852" y="2000240"/>
            <a:ext cx="7859737" cy="1271598"/>
          </a:xfrm>
          <a:custGeom>
            <a:avLst/>
            <a:gdLst/>
            <a:ahLst/>
            <a:cxnLst>
              <a:cxn ang="0">
                <a:pos x="0" y="573"/>
              </a:cxn>
              <a:cxn ang="0">
                <a:pos x="4134" y="573"/>
              </a:cxn>
              <a:cxn ang="0">
                <a:pos x="4134" y="1"/>
              </a:cxn>
              <a:cxn ang="0">
                <a:pos x="322" y="0"/>
              </a:cxn>
              <a:cxn ang="0">
                <a:pos x="0" y="573"/>
              </a:cxn>
            </a:cxnLst>
            <a:rect l="0" t="0" r="r" b="b"/>
            <a:pathLst>
              <a:path w="4134" h="573">
                <a:moveTo>
                  <a:pt x="0" y="573"/>
                </a:moveTo>
                <a:lnTo>
                  <a:pt x="4134" y="573"/>
                </a:lnTo>
                <a:lnTo>
                  <a:pt x="4134" y="1"/>
                </a:lnTo>
                <a:lnTo>
                  <a:pt x="322" y="0"/>
                </a:lnTo>
                <a:lnTo>
                  <a:pt x="0" y="573"/>
                </a:lnTo>
                <a:close/>
              </a:path>
            </a:pathLst>
          </a:custGeom>
          <a:gradFill rotWithShape="1">
            <a:gsLst>
              <a:gs pos="0">
                <a:schemeClr val="accent1">
                  <a:gamma/>
                  <a:shade val="12549"/>
                  <a:invGamma/>
                </a:schemeClr>
              </a:gs>
              <a:gs pos="100000">
                <a:schemeClr val="accent1"/>
              </a:gs>
            </a:gsLst>
            <a:lin ang="0" scaled="1"/>
          </a:gradFill>
          <a:ln w="9525">
            <a:noFill/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6" name="Freeform 33"/>
          <p:cNvSpPr>
            <a:spLocks/>
          </p:cNvSpPr>
          <p:nvPr/>
        </p:nvSpPr>
        <p:spPr bwMode="invGray">
          <a:xfrm>
            <a:off x="-6350" y="3273425"/>
            <a:ext cx="1292202" cy="454018"/>
          </a:xfrm>
          <a:custGeom>
            <a:avLst/>
            <a:gdLst>
              <a:gd name="connsiteX0" fmla="*/ 0 w 10000"/>
              <a:gd name="connsiteY0" fmla="*/ 0 h 9965"/>
              <a:gd name="connsiteX1" fmla="*/ 10000 w 10000"/>
              <a:gd name="connsiteY1" fmla="*/ 0 h 9965"/>
              <a:gd name="connsiteX2" fmla="*/ 8341 w 10000"/>
              <a:gd name="connsiteY2" fmla="*/ 9686 h 9965"/>
              <a:gd name="connsiteX3" fmla="*/ 0 w 10000"/>
              <a:gd name="connsiteY3" fmla="*/ 9965 h 9965"/>
              <a:gd name="connsiteX4" fmla="*/ 0 w 10000"/>
              <a:gd name="connsiteY4" fmla="*/ 0 h 99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00" h="9965">
                <a:moveTo>
                  <a:pt x="0" y="0"/>
                </a:moveTo>
                <a:lnTo>
                  <a:pt x="10000" y="0"/>
                </a:lnTo>
                <a:lnTo>
                  <a:pt x="8341" y="9686"/>
                </a:lnTo>
                <a:lnTo>
                  <a:pt x="0" y="996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 w="9525" cap="flat" cmpd="sng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2071670" y="2285992"/>
            <a:ext cx="6715140" cy="685800"/>
          </a:xfrm>
        </p:spPr>
        <p:txBody>
          <a:bodyPr/>
          <a:lstStyle>
            <a:lvl1pPr algn="ctr">
              <a:defRPr sz="4400" b="1" i="0">
                <a:latin typeface="맑은 고딕" pitchFamily="50" charset="-127"/>
                <a:ea typeface="맑은 고딕" pitchFamily="50" charset="-127"/>
              </a:defRPr>
            </a:lvl1pPr>
          </a:lstStyle>
          <a:p>
            <a:r>
              <a:rPr lang="ko-KR" altLang="en-US" smtClean="0"/>
              <a:t>마스터 제목 스타일 편집</a:t>
            </a:r>
            <a:endParaRPr lang="en-US" altLang="ko-KR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2286000" y="5638800"/>
            <a:ext cx="6400800" cy="533400"/>
          </a:xfrm>
        </p:spPr>
        <p:txBody>
          <a:bodyPr/>
          <a:lstStyle>
            <a:lvl1pPr marL="0" indent="0" algn="r">
              <a:buFontTx/>
              <a:buNone/>
              <a:defRPr sz="2800" b="1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defRPr>
            </a:lvl1pPr>
          </a:lstStyle>
          <a:p>
            <a:r>
              <a:rPr lang="ko-KR" altLang="en-US" smtClean="0"/>
              <a:t>마스터 부제목 스타일 편집</a:t>
            </a:r>
            <a:endParaRPr lang="en-US" altLang="ko-KR"/>
          </a:p>
        </p:txBody>
      </p:sp>
      <p:sp>
        <p:nvSpPr>
          <p:cNvPr id="8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400800"/>
            <a:ext cx="2133600" cy="320675"/>
          </a:xfrm>
        </p:spPr>
        <p:txBody>
          <a:bodyPr/>
          <a:lstStyle>
            <a:lvl1pPr>
              <a:defRPr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defRPr>
            </a:lvl1pPr>
          </a:lstStyle>
          <a:p>
            <a:fld id="{ED16AAFA-4550-424F-9D6C-ADABFCF9C3D7}" type="datetimeFigureOut">
              <a:rPr lang="ko-KR" altLang="en-US" smtClean="0"/>
              <a:pPr/>
              <a:t>2013-03-15</a:t>
            </a:fld>
            <a:endParaRPr lang="ko-KR" altLang="en-US"/>
          </a:p>
        </p:txBody>
      </p:sp>
      <p:sp>
        <p:nvSpPr>
          <p:cNvPr id="9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400800"/>
            <a:ext cx="2895600" cy="320675"/>
          </a:xfrm>
        </p:spPr>
        <p:txBody>
          <a:bodyPr/>
          <a:lstStyle>
            <a:lvl1pPr>
              <a:defRPr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defRPr>
            </a:lvl1pPr>
          </a:lstStyle>
          <a:p>
            <a:endParaRPr lang="ko-KR" altLang="en-US"/>
          </a:p>
        </p:txBody>
      </p:sp>
      <p:sp>
        <p:nvSpPr>
          <p:cNvPr id="10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400800"/>
            <a:ext cx="2133600" cy="320675"/>
          </a:xfrm>
        </p:spPr>
        <p:txBody>
          <a:bodyPr/>
          <a:lstStyle>
            <a:lvl1pPr>
              <a:defRPr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defRPr>
            </a:lvl1pPr>
          </a:lstStyle>
          <a:p>
            <a:fld id="{7CEC74C1-0EC0-40F1-AA0B-9171B5E2F166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643174" y="227013"/>
            <a:ext cx="6500826" cy="762000"/>
          </a:xfrm>
        </p:spPr>
        <p:txBody>
          <a:bodyPr/>
          <a:lstStyle>
            <a:lvl1pPr>
              <a:defRPr sz="36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  <a:lvl2pPr>
              <a:defRPr>
                <a:solidFill>
                  <a:srgbClr val="000000"/>
                </a:solidFill>
              </a:defRPr>
            </a:lvl2pPr>
            <a:lvl3pPr>
              <a:defRPr>
                <a:solidFill>
                  <a:srgbClr val="000000"/>
                </a:solidFill>
              </a:defRPr>
            </a:lvl3pPr>
            <a:lvl4pPr>
              <a:defRPr>
                <a:solidFill>
                  <a:srgbClr val="000000"/>
                </a:solidFill>
              </a:defRPr>
            </a:lvl4pPr>
            <a:lvl5pPr>
              <a:defRPr>
                <a:solidFill>
                  <a:srgbClr val="000000"/>
                </a:solidFill>
              </a:defRPr>
            </a:lvl5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defRPr>
            </a:lvl1pPr>
          </a:lstStyle>
          <a:p>
            <a:fld id="{ED16AAFA-4550-424F-9D6C-ADABFCF9C3D7}" type="datetimeFigureOut">
              <a:rPr lang="ko-KR" altLang="en-US" smtClean="0"/>
              <a:pPr/>
              <a:t>2013-03-15</a:t>
            </a:fld>
            <a:endParaRPr lang="ko-KR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defRPr>
            </a:lvl1pPr>
          </a:lstStyle>
          <a:p>
            <a:endParaRPr lang="ko-KR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defRPr>
            </a:lvl1pPr>
          </a:lstStyle>
          <a:p>
            <a:fld id="{7CEC74C1-0EC0-40F1-AA0B-9171B5E2F166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defRPr>
            </a:lvl1pPr>
          </a:lstStyle>
          <a:p>
            <a:fld id="{ED16AAFA-4550-424F-9D6C-ADABFCF9C3D7}" type="datetimeFigureOut">
              <a:rPr lang="ko-KR" altLang="en-US" smtClean="0"/>
              <a:pPr/>
              <a:t>2013-03-15</a:t>
            </a:fld>
            <a:endParaRPr lang="ko-KR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defRPr>
            </a:lvl1pPr>
          </a:lstStyle>
          <a:p>
            <a:endParaRPr lang="ko-KR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defRPr>
            </a:lvl1pPr>
          </a:lstStyle>
          <a:p>
            <a:fld id="{7CEC74C1-0EC0-40F1-AA0B-9171B5E2F166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6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447800"/>
            <a:ext cx="4038600" cy="49498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447800"/>
            <a:ext cx="4038600" cy="49498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defRPr>
            </a:lvl1pPr>
          </a:lstStyle>
          <a:p>
            <a:fld id="{ED16AAFA-4550-424F-9D6C-ADABFCF9C3D7}" type="datetimeFigureOut">
              <a:rPr lang="ko-KR" altLang="en-US" smtClean="0"/>
              <a:pPr/>
              <a:t>2013-03-15</a:t>
            </a:fld>
            <a:endParaRPr lang="ko-KR" alt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defRPr>
            </a:lvl1pPr>
          </a:lstStyle>
          <a:p>
            <a:endParaRPr lang="ko-KR" alt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defRPr>
            </a:lvl1pPr>
          </a:lstStyle>
          <a:p>
            <a:fld id="{7CEC74C1-0EC0-40F1-AA0B-9171B5E2F166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428860" y="71414"/>
            <a:ext cx="6257940" cy="1143000"/>
          </a:xfrm>
        </p:spPr>
        <p:txBody>
          <a:bodyPr/>
          <a:lstStyle>
            <a:lvl1pPr>
              <a:defRPr sz="36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defRPr>
            </a:lvl1pPr>
          </a:lstStyle>
          <a:p>
            <a:fld id="{ED16AAFA-4550-424F-9D6C-ADABFCF9C3D7}" type="datetimeFigureOut">
              <a:rPr lang="ko-KR" altLang="en-US" smtClean="0"/>
              <a:pPr/>
              <a:t>2013-03-15</a:t>
            </a:fld>
            <a:endParaRPr lang="ko-KR" alt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defRPr>
            </a:lvl1pPr>
          </a:lstStyle>
          <a:p>
            <a:endParaRPr lang="ko-KR" alt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defRPr>
            </a:lvl1pPr>
          </a:lstStyle>
          <a:p>
            <a:fld id="{7CEC74C1-0EC0-40F1-AA0B-9171B5E2F166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6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defRPr>
            </a:lvl1pPr>
          </a:lstStyle>
          <a:p>
            <a:fld id="{ED16AAFA-4550-424F-9D6C-ADABFCF9C3D7}" type="datetimeFigureOut">
              <a:rPr lang="ko-KR" altLang="en-US" smtClean="0"/>
              <a:pPr/>
              <a:t>2013-03-15</a:t>
            </a:fld>
            <a:endParaRPr lang="ko-KR" alt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defRPr>
            </a:lvl1pPr>
          </a:lstStyle>
          <a:p>
            <a:endParaRPr lang="ko-KR" alt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defRPr>
            </a:lvl1pPr>
          </a:lstStyle>
          <a:p>
            <a:fld id="{7CEC74C1-0EC0-40F1-AA0B-9171B5E2F166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6" name="직사각형 5"/>
          <p:cNvSpPr/>
          <p:nvPr userDrawn="1"/>
        </p:nvSpPr>
        <p:spPr bwMode="auto">
          <a:xfrm>
            <a:off x="0" y="1500174"/>
            <a:ext cx="9144000" cy="5357826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defRPr>
            </a:lvl1pPr>
          </a:lstStyle>
          <a:p>
            <a:fld id="{ED16AAFA-4550-424F-9D6C-ADABFCF9C3D7}" type="datetimeFigureOut">
              <a:rPr lang="ko-KR" altLang="en-US" smtClean="0"/>
              <a:pPr/>
              <a:t>2013-03-15</a:t>
            </a:fld>
            <a:endParaRPr lang="ko-KR" alt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defRPr>
            </a:lvl1pPr>
          </a:lstStyle>
          <a:p>
            <a:endParaRPr lang="ko-KR" alt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defRPr>
            </a:lvl1pPr>
          </a:lstStyle>
          <a:p>
            <a:fld id="{7CEC74C1-0EC0-40F1-AA0B-9171B5E2F166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defRPr>
            </a:lvl1pPr>
          </a:lstStyle>
          <a:p>
            <a:fld id="{ED16AAFA-4550-424F-9D6C-ADABFCF9C3D7}" type="datetimeFigureOut">
              <a:rPr lang="ko-KR" altLang="en-US" smtClean="0"/>
              <a:pPr/>
              <a:t>2013-03-15</a:t>
            </a:fld>
            <a:endParaRPr lang="ko-KR" alt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defRPr>
            </a:lvl1pPr>
          </a:lstStyle>
          <a:p>
            <a:endParaRPr lang="ko-KR" alt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defRPr>
            </a:lvl1pPr>
          </a:lstStyle>
          <a:p>
            <a:fld id="{7CEC74C1-0EC0-40F1-AA0B-9171B5E2F166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ko-KR" altLang="en-US" noProof="0" smtClean="0"/>
              <a:t>그림을 추가하려면 아이콘을 클릭하십시오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defRPr>
            </a:lvl1pPr>
          </a:lstStyle>
          <a:p>
            <a:fld id="{ED16AAFA-4550-424F-9D6C-ADABFCF9C3D7}" type="datetimeFigureOut">
              <a:rPr lang="ko-KR" altLang="en-US" smtClean="0"/>
              <a:pPr/>
              <a:t>2013-03-15</a:t>
            </a:fld>
            <a:endParaRPr lang="ko-KR" alt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defRPr>
            </a:lvl1pPr>
          </a:lstStyle>
          <a:p>
            <a:endParaRPr lang="ko-KR" alt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defRPr>
            </a:lvl1pPr>
          </a:lstStyle>
          <a:p>
            <a:fld id="{7CEC74C1-0EC0-40F1-AA0B-9171B5E2F166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6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defRPr>
            </a:lvl1pPr>
          </a:lstStyle>
          <a:p>
            <a:fld id="{ED16AAFA-4550-424F-9D6C-ADABFCF9C3D7}" type="datetimeFigureOut">
              <a:rPr lang="ko-KR" altLang="en-US" smtClean="0"/>
              <a:pPr/>
              <a:t>2013-03-15</a:t>
            </a:fld>
            <a:endParaRPr lang="ko-KR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defRPr>
            </a:lvl1pPr>
          </a:lstStyle>
          <a:p>
            <a:endParaRPr lang="ko-KR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defRPr>
            </a:lvl1pPr>
          </a:lstStyle>
          <a:p>
            <a:fld id="{7CEC74C1-0EC0-40F1-AA0B-9171B5E2F166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62738" y="227013"/>
            <a:ext cx="2068512" cy="6170612"/>
          </a:xfrm>
        </p:spPr>
        <p:txBody>
          <a:bodyPr vert="eaVert"/>
          <a:lstStyle>
            <a:lvl1pPr>
              <a:defRPr sz="36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27013"/>
            <a:ext cx="6053138" cy="6170612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defRPr>
            </a:lvl1pPr>
          </a:lstStyle>
          <a:p>
            <a:fld id="{ED16AAFA-4550-424F-9D6C-ADABFCF9C3D7}" type="datetimeFigureOut">
              <a:rPr lang="ko-KR" altLang="en-US" smtClean="0"/>
              <a:pPr/>
              <a:t>2013-03-15</a:t>
            </a:fld>
            <a:endParaRPr lang="ko-KR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defRPr>
            </a:lvl1pPr>
          </a:lstStyle>
          <a:p>
            <a:endParaRPr lang="ko-KR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defRPr>
            </a:lvl1pPr>
          </a:lstStyle>
          <a:p>
            <a:fld id="{7CEC74C1-0EC0-40F1-AA0B-9171B5E2F166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제목 및 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406650" y="227013"/>
            <a:ext cx="6324600" cy="762000"/>
          </a:xfrm>
        </p:spPr>
        <p:txBody>
          <a:bodyPr/>
          <a:lstStyle>
            <a:lvl1pPr>
              <a:defRPr sz="36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표 개체 틀 2"/>
          <p:cNvSpPr>
            <a:spLocks noGrp="1"/>
          </p:cNvSpPr>
          <p:nvPr>
            <p:ph type="tbl" idx="1"/>
          </p:nvPr>
        </p:nvSpPr>
        <p:spPr>
          <a:xfrm>
            <a:off x="457200" y="1447800"/>
            <a:ext cx="8229600" cy="4949825"/>
          </a:xfrm>
        </p:spPr>
        <p:txBody>
          <a:bodyPr/>
          <a:lstStyle/>
          <a:p>
            <a:pPr lvl="0"/>
            <a:r>
              <a:rPr lang="ko-KR" altLang="en-US" noProof="0" smtClean="0"/>
              <a:t>표를 추가하려면 아이콘을 클릭하십시오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defRPr>
            </a:lvl1pPr>
          </a:lstStyle>
          <a:p>
            <a:fld id="{ED16AAFA-4550-424F-9D6C-ADABFCF9C3D7}" type="datetimeFigureOut">
              <a:rPr lang="ko-KR" altLang="en-US" smtClean="0"/>
              <a:pPr/>
              <a:t>2013-03-15</a:t>
            </a:fld>
            <a:endParaRPr lang="ko-KR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defRPr>
            </a:lvl1pPr>
          </a:lstStyle>
          <a:p>
            <a:endParaRPr lang="ko-KR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defRPr>
            </a:lvl1pPr>
          </a:lstStyle>
          <a:p>
            <a:fld id="{7CEC74C1-0EC0-40F1-AA0B-9171B5E2F166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oleObject" Target="../embeddings/oleObject1.bin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vmlDrawing" Target="../drawings/vmlDrawing1.v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chemeClr val="bg1"/>
            </a:gs>
            <a:gs pos="100000">
              <a:schemeClr val="bg1">
                <a:gamma/>
                <a:tint val="39216"/>
                <a:invGamma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31"/>
          <p:cNvSpPr>
            <a:spLocks noChangeArrowheads="1"/>
          </p:cNvSpPr>
          <p:nvPr/>
        </p:nvSpPr>
        <p:spPr bwMode="white">
          <a:xfrm>
            <a:off x="0" y="0"/>
            <a:ext cx="9144000" cy="965200"/>
          </a:xfrm>
          <a:prstGeom prst="rect">
            <a:avLst/>
          </a:prstGeom>
          <a:gradFill rotWithShape="1">
            <a:gsLst>
              <a:gs pos="0">
                <a:schemeClr val="hlink"/>
              </a:gs>
              <a:gs pos="100000">
                <a:schemeClr val="hlink">
                  <a:gamma/>
                  <a:shade val="46275"/>
                  <a:invGamma/>
                </a:schemeClr>
              </a:gs>
            </a:gsLst>
            <a:lin ang="27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ko-KR" altLang="en-US">
              <a:ea typeface="굴림" charset="-127"/>
            </a:endParaRPr>
          </a:p>
        </p:txBody>
      </p:sp>
      <p:graphicFrame>
        <p:nvGraphicFramePr>
          <p:cNvPr id="1026" name="Object 19"/>
          <p:cNvGraphicFramePr>
            <a:graphicFrameLocks noChangeAspect="1"/>
          </p:cNvGraphicFramePr>
          <p:nvPr userDrawn="1"/>
        </p:nvGraphicFramePr>
        <p:xfrm>
          <a:off x="2987675" y="2736850"/>
          <a:ext cx="6156325" cy="4121150"/>
        </p:xfrm>
        <a:graphic>
          <a:graphicData uri="http://schemas.openxmlformats.org/presentationml/2006/ole">
            <p:oleObj spid="_x0000_s1029" name="Image" r:id="rId15" imgW="7949206" imgH="5320635" progId="">
              <p:embed/>
            </p:oleObj>
          </a:graphicData>
        </a:graphic>
      </p:graphicFrame>
      <p:sp>
        <p:nvSpPr>
          <p:cNvPr id="1045" name="Freeform 21"/>
          <p:cNvSpPr>
            <a:spLocks/>
          </p:cNvSpPr>
          <p:nvPr/>
        </p:nvSpPr>
        <p:spPr bwMode="gray">
          <a:xfrm>
            <a:off x="1828800" y="246063"/>
            <a:ext cx="7315200" cy="720725"/>
          </a:xfrm>
          <a:custGeom>
            <a:avLst/>
            <a:gdLst/>
            <a:ahLst/>
            <a:cxnLst>
              <a:cxn ang="0">
                <a:pos x="0" y="454"/>
              </a:cxn>
              <a:cxn ang="0">
                <a:pos x="4798" y="454"/>
              </a:cxn>
              <a:cxn ang="0">
                <a:pos x="4798" y="0"/>
              </a:cxn>
              <a:cxn ang="0">
                <a:pos x="382" y="3"/>
              </a:cxn>
              <a:cxn ang="0">
                <a:pos x="0" y="454"/>
              </a:cxn>
            </a:cxnLst>
            <a:rect l="0" t="0" r="r" b="b"/>
            <a:pathLst>
              <a:path w="4798" h="454">
                <a:moveTo>
                  <a:pt x="0" y="454"/>
                </a:moveTo>
                <a:lnTo>
                  <a:pt x="4798" y="454"/>
                </a:lnTo>
                <a:lnTo>
                  <a:pt x="4798" y="0"/>
                </a:lnTo>
                <a:lnTo>
                  <a:pt x="382" y="3"/>
                </a:lnTo>
                <a:lnTo>
                  <a:pt x="0" y="454"/>
                </a:lnTo>
                <a:close/>
              </a:path>
            </a:pathLst>
          </a:custGeom>
          <a:gradFill rotWithShape="1">
            <a:gsLst>
              <a:gs pos="0">
                <a:schemeClr val="accent1">
                  <a:gamma/>
                  <a:shade val="46275"/>
                  <a:invGamma/>
                </a:schemeClr>
              </a:gs>
              <a:gs pos="100000">
                <a:schemeClr val="accent1"/>
              </a:gs>
            </a:gsLst>
            <a:lin ang="0" scaled="1"/>
          </a:gradFill>
          <a:ln w="9525">
            <a:noFill/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1046" name="Freeform 22"/>
          <p:cNvSpPr>
            <a:spLocks/>
          </p:cNvSpPr>
          <p:nvPr/>
        </p:nvSpPr>
        <p:spPr bwMode="gray">
          <a:xfrm>
            <a:off x="0" y="966788"/>
            <a:ext cx="1828800" cy="288925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1338" y="0"/>
              </a:cxn>
              <a:cxn ang="0">
                <a:pos x="1138" y="182"/>
              </a:cxn>
              <a:cxn ang="0">
                <a:pos x="0" y="181"/>
              </a:cxn>
              <a:cxn ang="0">
                <a:pos x="0" y="0"/>
              </a:cxn>
            </a:cxnLst>
            <a:rect l="0" t="0" r="r" b="b"/>
            <a:pathLst>
              <a:path w="1338" h="182">
                <a:moveTo>
                  <a:pt x="0" y="0"/>
                </a:moveTo>
                <a:lnTo>
                  <a:pt x="1338" y="0"/>
                </a:lnTo>
                <a:lnTo>
                  <a:pt x="1138" y="182"/>
                </a:lnTo>
                <a:lnTo>
                  <a:pt x="0" y="181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 w="9525" cap="flat" cmpd="sng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1031" name="Rectangle 2"/>
          <p:cNvSpPr>
            <a:spLocks noGrp="1" noChangeArrowheads="1"/>
          </p:cNvSpPr>
          <p:nvPr>
            <p:ph type="title"/>
          </p:nvPr>
        </p:nvSpPr>
        <p:spPr bwMode="white">
          <a:xfrm>
            <a:off x="2406650" y="227013"/>
            <a:ext cx="6324600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smtClean="0"/>
              <a:t>마스터 제목 스타일 편집</a:t>
            </a:r>
            <a:endParaRPr lang="en-US" altLang="ko-KR" smtClean="0"/>
          </a:p>
        </p:txBody>
      </p:sp>
      <p:sp>
        <p:nvSpPr>
          <p:cNvPr id="1032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447800"/>
            <a:ext cx="8229600" cy="4949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altLang="ko-KR" smtClean="0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477000"/>
            <a:ext cx="21336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>
                <a:ea typeface="굴림" charset="-127"/>
              </a:defRPr>
            </a:lvl1pPr>
          </a:lstStyle>
          <a:p>
            <a:fld id="{ED16AAFA-4550-424F-9D6C-ADABFCF9C3D7}" type="datetimeFigureOut">
              <a:rPr lang="ko-KR" altLang="en-US" smtClean="0"/>
              <a:pPr/>
              <a:t>2013-03-15</a:t>
            </a:fld>
            <a:endParaRPr lang="ko-KR" alt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477000"/>
            <a:ext cx="28956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>
                <a:ea typeface="굴림" charset="-127"/>
              </a:defRPr>
            </a:lvl1pPr>
          </a:lstStyle>
          <a:p>
            <a:endParaRPr lang="ko-KR" alt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477000"/>
            <a:ext cx="21336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>
                <a:ea typeface="굴림" charset="-127"/>
              </a:defRPr>
            </a:lvl1pPr>
          </a:lstStyle>
          <a:p>
            <a:fld id="{7CEC74C1-0EC0-40F1-AA0B-9171B5E2F166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rtl="0" eaLnBrk="1" fontAlgn="base" latinLnBrk="1" hangingPunct="1">
        <a:spcBef>
          <a:spcPct val="0"/>
        </a:spcBef>
        <a:spcAft>
          <a:spcPct val="0"/>
        </a:spcAft>
        <a:defRPr sz="4000" b="1" i="0">
          <a:solidFill>
            <a:schemeClr val="bg1"/>
          </a:solidFill>
          <a:latin typeface="맑은 고딕" pitchFamily="50" charset="-127"/>
          <a:ea typeface="맑은 고딕" pitchFamily="50" charset="-127"/>
          <a:cs typeface="+mj-cs"/>
        </a:defRPr>
      </a:lvl1pPr>
      <a:lvl2pPr algn="l" rtl="0" eaLnBrk="1" fontAlgn="base" latinLnBrk="1" hangingPunct="1">
        <a:spcBef>
          <a:spcPct val="0"/>
        </a:spcBef>
        <a:spcAft>
          <a:spcPct val="0"/>
        </a:spcAft>
        <a:defRPr sz="4000" i="1">
          <a:solidFill>
            <a:schemeClr val="bg1"/>
          </a:solidFill>
          <a:latin typeface="Arial" charset="0"/>
        </a:defRPr>
      </a:lvl2pPr>
      <a:lvl3pPr algn="l" rtl="0" eaLnBrk="1" fontAlgn="base" latinLnBrk="1" hangingPunct="1">
        <a:spcBef>
          <a:spcPct val="0"/>
        </a:spcBef>
        <a:spcAft>
          <a:spcPct val="0"/>
        </a:spcAft>
        <a:defRPr sz="4000" i="1">
          <a:solidFill>
            <a:schemeClr val="bg1"/>
          </a:solidFill>
          <a:latin typeface="Arial" charset="0"/>
        </a:defRPr>
      </a:lvl3pPr>
      <a:lvl4pPr algn="l" rtl="0" eaLnBrk="1" fontAlgn="base" latinLnBrk="1" hangingPunct="1">
        <a:spcBef>
          <a:spcPct val="0"/>
        </a:spcBef>
        <a:spcAft>
          <a:spcPct val="0"/>
        </a:spcAft>
        <a:defRPr sz="4000" i="1">
          <a:solidFill>
            <a:schemeClr val="bg1"/>
          </a:solidFill>
          <a:latin typeface="Arial" charset="0"/>
        </a:defRPr>
      </a:lvl4pPr>
      <a:lvl5pPr algn="l" rtl="0" eaLnBrk="1" fontAlgn="base" latinLnBrk="1" hangingPunct="1">
        <a:spcBef>
          <a:spcPct val="0"/>
        </a:spcBef>
        <a:spcAft>
          <a:spcPct val="0"/>
        </a:spcAft>
        <a:defRPr sz="4000" i="1">
          <a:solidFill>
            <a:schemeClr val="bg1"/>
          </a:solidFill>
          <a:latin typeface="Arial" charset="0"/>
        </a:defRPr>
      </a:lvl5pPr>
      <a:lvl6pPr marL="457200" algn="l" rtl="0" eaLnBrk="1" fontAlgn="base" latinLnBrk="1" hangingPunct="1">
        <a:spcBef>
          <a:spcPct val="0"/>
        </a:spcBef>
        <a:spcAft>
          <a:spcPct val="0"/>
        </a:spcAft>
        <a:defRPr sz="4000" i="1">
          <a:solidFill>
            <a:schemeClr val="bg1"/>
          </a:solidFill>
          <a:latin typeface="Arial" charset="0"/>
        </a:defRPr>
      </a:lvl6pPr>
      <a:lvl7pPr marL="914400" algn="l" rtl="0" eaLnBrk="1" fontAlgn="base" latinLnBrk="1" hangingPunct="1">
        <a:spcBef>
          <a:spcPct val="0"/>
        </a:spcBef>
        <a:spcAft>
          <a:spcPct val="0"/>
        </a:spcAft>
        <a:defRPr sz="4000" i="1">
          <a:solidFill>
            <a:schemeClr val="bg1"/>
          </a:solidFill>
          <a:latin typeface="Arial" charset="0"/>
        </a:defRPr>
      </a:lvl7pPr>
      <a:lvl8pPr marL="1371600" algn="l" rtl="0" eaLnBrk="1" fontAlgn="base" latinLnBrk="1" hangingPunct="1">
        <a:spcBef>
          <a:spcPct val="0"/>
        </a:spcBef>
        <a:spcAft>
          <a:spcPct val="0"/>
        </a:spcAft>
        <a:defRPr sz="4000" i="1">
          <a:solidFill>
            <a:schemeClr val="bg1"/>
          </a:solidFill>
          <a:latin typeface="Arial" charset="0"/>
        </a:defRPr>
      </a:lvl8pPr>
      <a:lvl9pPr marL="1828800" algn="l" rtl="0" eaLnBrk="1" fontAlgn="base" latinLnBrk="1" hangingPunct="1">
        <a:spcBef>
          <a:spcPct val="0"/>
        </a:spcBef>
        <a:spcAft>
          <a:spcPct val="0"/>
        </a:spcAft>
        <a:defRPr sz="4000" i="1">
          <a:solidFill>
            <a:schemeClr val="bg1"/>
          </a:solidFill>
          <a:latin typeface="Arial" charset="0"/>
        </a:defRPr>
      </a:lvl9pPr>
    </p:titleStyle>
    <p:bodyStyle>
      <a:lvl1pPr marL="342900" indent="-342900" algn="l" rtl="0" eaLnBrk="1" fontAlgn="base" latinLnBrk="1" hangingPunct="1">
        <a:spcBef>
          <a:spcPct val="20000"/>
        </a:spcBef>
        <a:spcAft>
          <a:spcPct val="0"/>
        </a:spcAft>
        <a:buChar char="•"/>
        <a:defRPr sz="3200">
          <a:solidFill>
            <a:srgbClr val="000000"/>
          </a:solidFill>
          <a:latin typeface="맑은 고딕" pitchFamily="50" charset="-127"/>
          <a:ea typeface="맑은 고딕" pitchFamily="50" charset="-127"/>
          <a:cs typeface="+mn-cs"/>
        </a:defRPr>
      </a:lvl1pPr>
      <a:lvl2pPr marL="742950" indent="-285750" algn="l" rtl="0" eaLnBrk="1" fontAlgn="base" latinLnBrk="1" hangingPunct="1">
        <a:spcBef>
          <a:spcPct val="20000"/>
        </a:spcBef>
        <a:spcAft>
          <a:spcPct val="0"/>
        </a:spcAft>
        <a:buChar char="–"/>
        <a:defRPr sz="2800">
          <a:solidFill>
            <a:srgbClr val="000000"/>
          </a:solidFill>
          <a:latin typeface="맑은 고딕" pitchFamily="50" charset="-127"/>
          <a:ea typeface="맑은 고딕" pitchFamily="50" charset="-127"/>
        </a:defRPr>
      </a:lvl2pPr>
      <a:lvl3pPr marL="1143000" indent="-228600" algn="l" rtl="0" eaLnBrk="1" fontAlgn="base" latinLnBrk="1" hangingPunct="1">
        <a:spcBef>
          <a:spcPct val="20000"/>
        </a:spcBef>
        <a:spcAft>
          <a:spcPct val="0"/>
        </a:spcAft>
        <a:buChar char="•"/>
        <a:defRPr sz="2400">
          <a:solidFill>
            <a:srgbClr val="000000"/>
          </a:solidFill>
          <a:latin typeface="맑은 고딕" pitchFamily="50" charset="-127"/>
          <a:ea typeface="맑은 고딕" pitchFamily="50" charset="-127"/>
        </a:defRPr>
      </a:lvl3pPr>
      <a:lvl4pPr marL="1600200" indent="-228600" algn="l" rtl="0" eaLnBrk="1" fontAlgn="base" latinLnBrk="1" hangingPunct="1">
        <a:spcBef>
          <a:spcPct val="20000"/>
        </a:spcBef>
        <a:spcAft>
          <a:spcPct val="0"/>
        </a:spcAft>
        <a:buChar char="–"/>
        <a:defRPr sz="2000">
          <a:solidFill>
            <a:srgbClr val="000000"/>
          </a:solidFill>
          <a:latin typeface="맑은 고딕" pitchFamily="50" charset="-127"/>
          <a:ea typeface="맑은 고딕" pitchFamily="50" charset="-127"/>
        </a:defRPr>
      </a:lvl4pPr>
      <a:lvl5pPr marL="20574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sz="2000">
          <a:solidFill>
            <a:srgbClr val="000000"/>
          </a:solidFill>
          <a:latin typeface="맑은 고딕" pitchFamily="50" charset="-127"/>
          <a:ea typeface="맑은 고딕" pitchFamily="50" charset="-127"/>
        </a:defRPr>
      </a:lvl5pPr>
      <a:lvl6pPr marL="25146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smtClean="0"/>
              <a:t>Operator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BA5970-03A6-496F-978B-4258F7D373A8}" type="slidenum">
              <a:rPr lang="ko-KR" altLang="en-US" smtClean="0"/>
              <a:pPr/>
              <a:t>1</a:t>
            </a:fld>
            <a:endParaRPr lang="ko-KR" altLang="en-US"/>
          </a:p>
        </p:txBody>
      </p:sp>
      <p:sp>
        <p:nvSpPr>
          <p:cNvPr id="5" name="직사각형 4"/>
          <p:cNvSpPr/>
          <p:nvPr/>
        </p:nvSpPr>
        <p:spPr>
          <a:xfrm>
            <a:off x="2627784" y="3573016"/>
            <a:ext cx="352839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b="1" smtClean="0">
                <a:solidFill>
                  <a:srgbClr val="000000"/>
                </a:solidFill>
              </a:rPr>
              <a:t>연산</a:t>
            </a:r>
            <a:r>
              <a:rPr lang="en-US" altLang="ko-KR" b="1" smtClean="0">
                <a:solidFill>
                  <a:srgbClr val="000000"/>
                </a:solidFill>
              </a:rPr>
              <a:t>(</a:t>
            </a:r>
            <a:r>
              <a:rPr lang="ko-KR" altLang="en-US" b="1" smtClean="0">
                <a:solidFill>
                  <a:srgbClr val="000000"/>
                </a:solidFill>
              </a:rPr>
              <a:t>계산</a:t>
            </a:r>
            <a:r>
              <a:rPr lang="en-US" altLang="ko-KR" b="1" smtClean="0">
                <a:solidFill>
                  <a:srgbClr val="000000"/>
                </a:solidFill>
              </a:rPr>
              <a:t>)</a:t>
            </a:r>
            <a:r>
              <a:rPr lang="ko-KR" altLang="en-US" b="1" smtClean="0">
                <a:solidFill>
                  <a:srgbClr val="000000"/>
                </a:solidFill>
              </a:rPr>
              <a:t>을 위해 사용되는 기호</a:t>
            </a:r>
            <a:endParaRPr lang="en-US" altLang="ko-KR" b="1">
              <a:solidFill>
                <a:srgbClr val="0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2518732"/>
            <a:ext cx="8936385" cy="16031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339752" y="227013"/>
            <a:ext cx="6500826" cy="762000"/>
          </a:xfrm>
        </p:spPr>
        <p:txBody>
          <a:bodyPr/>
          <a:lstStyle/>
          <a:p>
            <a:r>
              <a:rPr lang="en-US" altLang="ko-KR" smtClean="0"/>
              <a:t>Scanner </a:t>
            </a:r>
            <a:r>
              <a:rPr lang="ko-KR" altLang="en-US" smtClean="0"/>
              <a:t>클래스를 이용한 입력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altLang="ko-KR" smtClean="0"/>
              <a:t>Scanner </a:t>
            </a:r>
            <a:r>
              <a:rPr lang="ko-KR" altLang="en-US" smtClean="0"/>
              <a:t>클래스</a:t>
            </a:r>
            <a:endParaRPr lang="en-US" altLang="ko-KR" smtClean="0"/>
          </a:p>
          <a:p>
            <a:pPr lvl="1"/>
            <a:r>
              <a:rPr lang="en-US" altLang="ko-KR" err="1" smtClean="0"/>
              <a:t>java.util.Scanner</a:t>
            </a:r>
            <a:r>
              <a:rPr lang="en-US" altLang="ko-KR" smtClean="0"/>
              <a:t> </a:t>
            </a:r>
            <a:r>
              <a:rPr lang="ko-KR" altLang="en-US" smtClean="0"/>
              <a:t>클래스</a:t>
            </a:r>
            <a:endParaRPr lang="en-US" altLang="ko-KR" smtClean="0"/>
          </a:p>
          <a:p>
            <a:pPr lvl="1"/>
            <a:r>
              <a:rPr lang="en-US" altLang="ko-KR" smtClean="0"/>
              <a:t>Scanner </a:t>
            </a:r>
            <a:r>
              <a:rPr lang="ko-KR" altLang="en-US" smtClean="0"/>
              <a:t>객체 생성</a:t>
            </a:r>
            <a:endParaRPr lang="en-US" altLang="ko-KR" smtClean="0"/>
          </a:p>
          <a:p>
            <a:endParaRPr lang="en-US" altLang="ko-KR" smtClean="0"/>
          </a:p>
          <a:p>
            <a:endParaRPr lang="en-US" altLang="ko-KR"/>
          </a:p>
          <a:p>
            <a:endParaRPr lang="en-US" altLang="ko-KR" smtClean="0"/>
          </a:p>
          <a:p>
            <a:pPr lvl="1"/>
            <a:endParaRPr lang="en-US" altLang="ko-KR" smtClean="0"/>
          </a:p>
          <a:p>
            <a:pPr lvl="1"/>
            <a:r>
              <a:rPr lang="en-US" altLang="ko-KR" smtClean="0"/>
              <a:t>import</a:t>
            </a:r>
            <a:r>
              <a:rPr lang="ko-KR" altLang="en-US" smtClean="0"/>
              <a:t>문 필</a:t>
            </a:r>
            <a:r>
              <a:rPr lang="ko-KR" altLang="en-US"/>
              <a:t>요</a:t>
            </a:r>
            <a:endParaRPr lang="en-US" altLang="ko-KR" smtClean="0"/>
          </a:p>
          <a:p>
            <a:pPr lvl="2"/>
            <a:r>
              <a:rPr lang="ko-KR" altLang="en-US" smtClean="0"/>
              <a:t>소스</a:t>
            </a:r>
            <a:r>
              <a:rPr lang="en-US" altLang="ko-KR" smtClean="0"/>
              <a:t> </a:t>
            </a:r>
            <a:r>
              <a:rPr lang="ko-KR" altLang="en-US" smtClean="0"/>
              <a:t>맨 앞줄에 사</a:t>
            </a:r>
            <a:r>
              <a:rPr lang="ko-KR" altLang="en-US"/>
              <a:t>용</a:t>
            </a:r>
            <a:endParaRPr lang="en-US" altLang="ko-KR" smtClean="0"/>
          </a:p>
          <a:p>
            <a:pPr lvl="1"/>
            <a:endParaRPr lang="en-US" altLang="ko-KR" smtClean="0"/>
          </a:p>
          <a:p>
            <a:pPr lvl="1"/>
            <a:r>
              <a:rPr lang="en-US" altLang="ko-KR" smtClean="0"/>
              <a:t>Scanner</a:t>
            </a:r>
            <a:r>
              <a:rPr lang="ko-KR" altLang="en-US" smtClean="0"/>
              <a:t>에서 키 입력 받기</a:t>
            </a:r>
            <a:endParaRPr lang="en-US" altLang="ko-KR"/>
          </a:p>
          <a:p>
            <a:pPr lvl="2"/>
            <a:r>
              <a:rPr lang="en-US" altLang="ko-KR" sz="1800" smtClean="0"/>
              <a:t>Scanner</a:t>
            </a:r>
            <a:r>
              <a:rPr lang="ko-KR" altLang="en-US" smtClean="0"/>
              <a:t>는 입력되는 키 값을 공백으로 구분되는 아이템 </a:t>
            </a:r>
            <a:r>
              <a:rPr lang="ko-KR" altLang="en-US"/>
              <a:t>단위로 </a:t>
            </a:r>
            <a:r>
              <a:rPr lang="ko-KR" altLang="en-US" smtClean="0"/>
              <a:t>읽음</a:t>
            </a:r>
            <a:endParaRPr lang="en-US" altLang="ko-KR" smtClean="0"/>
          </a:p>
          <a:p>
            <a:pPr lvl="2"/>
            <a:r>
              <a:rPr lang="ko-KR" altLang="en-US" smtClean="0"/>
              <a:t>공백 문자 </a:t>
            </a:r>
            <a:r>
              <a:rPr lang="en-US" altLang="ko-KR" smtClean="0"/>
              <a:t>:‘</a:t>
            </a:r>
            <a:r>
              <a:rPr lang="en-US" altLang="ko-KR" sz="1400" smtClean="0"/>
              <a:t>\</a:t>
            </a:r>
            <a:r>
              <a:rPr lang="en-US" altLang="ko-KR" sz="1400"/>
              <a:t>t</a:t>
            </a:r>
            <a:r>
              <a:rPr lang="en-US" altLang="ko-KR"/>
              <a:t>’,‘ </a:t>
            </a:r>
            <a:r>
              <a:rPr lang="en-US" altLang="ko-KR" sz="1400"/>
              <a:t>\f</a:t>
            </a:r>
            <a:r>
              <a:rPr lang="en-US" altLang="ko-KR"/>
              <a:t>’,‘ </a:t>
            </a:r>
            <a:r>
              <a:rPr lang="en-US" altLang="ko-KR" sz="1400"/>
              <a:t>\r</a:t>
            </a:r>
            <a:r>
              <a:rPr lang="ko-KR" altLang="en-US"/>
              <a:t>’</a:t>
            </a:r>
            <a:r>
              <a:rPr lang="en-US" altLang="ko-KR"/>
              <a:t>,‘ ’,‘ </a:t>
            </a:r>
            <a:r>
              <a:rPr lang="en-US" altLang="ko-KR" sz="1400"/>
              <a:t>\</a:t>
            </a:r>
            <a:r>
              <a:rPr lang="en-US" altLang="ko-KR" sz="1400" smtClean="0"/>
              <a:t>n</a:t>
            </a:r>
            <a:r>
              <a:rPr lang="ko-KR" altLang="en-US" smtClean="0"/>
              <a:t>’</a:t>
            </a:r>
            <a:endParaRPr lang="en-US" altLang="ko-KR" smtClean="0"/>
          </a:p>
          <a:p>
            <a:pPr lvl="1">
              <a:buNone/>
            </a:pPr>
            <a:endParaRPr lang="en-US" altLang="ko-KR" smtClean="0"/>
          </a:p>
          <a:p>
            <a:pPr marL="0" indent="0">
              <a:buNone/>
            </a:pPr>
            <a:endParaRPr lang="en-US" altLang="ko-KR" smtClean="0"/>
          </a:p>
          <a:p>
            <a:endParaRPr lang="en-US" altLang="ko-KR" smtClean="0"/>
          </a:p>
          <a:p>
            <a:pPr lvl="1"/>
            <a:endParaRPr lang="ko-KR" altLang="en-US"/>
          </a:p>
        </p:txBody>
      </p:sp>
      <p:sp>
        <p:nvSpPr>
          <p:cNvPr id="4" name="TextBox 3"/>
          <p:cNvSpPr txBox="1"/>
          <p:nvPr/>
        </p:nvSpPr>
        <p:spPr>
          <a:xfrm>
            <a:off x="3779912" y="2235192"/>
            <a:ext cx="4104456" cy="33855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600" b="1" smtClean="0">
                <a:solidFill>
                  <a:srgbClr val="FF0000"/>
                </a:solidFill>
              </a:rPr>
              <a:t>Scanner a = new Scanner(</a:t>
            </a:r>
            <a:r>
              <a:rPr lang="en-US" altLang="ko-KR" sz="1600" b="1" err="1" smtClean="0">
                <a:solidFill>
                  <a:srgbClr val="FF0000"/>
                </a:solidFill>
              </a:rPr>
              <a:t>System.in</a:t>
            </a:r>
            <a:r>
              <a:rPr lang="en-US" altLang="ko-KR" sz="1600" b="1" smtClean="0">
                <a:solidFill>
                  <a:srgbClr val="FF0000"/>
                </a:solidFill>
              </a:rPr>
              <a:t>);</a:t>
            </a:r>
            <a:endParaRPr lang="en-US" altLang="ko-KR" sz="1600" b="1">
              <a:solidFill>
                <a:srgbClr val="FF0000"/>
              </a:solidFill>
            </a:endParaRP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1A6BD2C2-3D3B-4E94-BD92-61B02C5F4DEE}" type="slidenum">
              <a:rPr lang="ko-KR" altLang="en-US" smtClean="0"/>
              <a:pPr/>
              <a:t>2</a:t>
            </a:fld>
            <a:endParaRPr lang="ko-KR" altLang="en-US"/>
          </a:p>
        </p:txBody>
      </p:sp>
      <p:sp>
        <p:nvSpPr>
          <p:cNvPr id="7" name="TextBox 6"/>
          <p:cNvSpPr txBox="1"/>
          <p:nvPr/>
        </p:nvSpPr>
        <p:spPr>
          <a:xfrm>
            <a:off x="4067944" y="4293096"/>
            <a:ext cx="3286148" cy="33855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600" b="1" smtClean="0">
                <a:solidFill>
                  <a:srgbClr val="FF0000"/>
                </a:solidFill>
              </a:rPr>
              <a:t>import </a:t>
            </a:r>
            <a:r>
              <a:rPr lang="en-US" altLang="ko-KR" sz="1600" b="1" err="1" smtClean="0">
                <a:solidFill>
                  <a:srgbClr val="FF0000"/>
                </a:solidFill>
              </a:rPr>
              <a:t>java.util.Scanner</a:t>
            </a:r>
            <a:r>
              <a:rPr lang="en-US" altLang="ko-KR" sz="1600" b="1" smtClean="0">
                <a:solidFill>
                  <a:srgbClr val="FF0000"/>
                </a:solidFill>
              </a:rPr>
              <a:t>;</a:t>
            </a:r>
            <a:endParaRPr lang="en-US" altLang="ko-KR" sz="1600" b="1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4708691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18"/>
          <p:cNvSpPr txBox="1"/>
          <p:nvPr/>
        </p:nvSpPr>
        <p:spPr>
          <a:xfrm>
            <a:off x="1771767" y="1340768"/>
            <a:ext cx="4946564" cy="116955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400" b="1">
                <a:solidFill>
                  <a:srgbClr val="000000"/>
                </a:solidFill>
              </a:rPr>
              <a:t>Scanner </a:t>
            </a:r>
            <a:r>
              <a:rPr lang="en-US" altLang="ko-KR" sz="1400" b="1" err="1">
                <a:solidFill>
                  <a:srgbClr val="000000"/>
                </a:solidFill>
              </a:rPr>
              <a:t>scanner</a:t>
            </a:r>
            <a:r>
              <a:rPr lang="en-US" altLang="ko-KR" sz="1400" b="1">
                <a:solidFill>
                  <a:srgbClr val="000000"/>
                </a:solidFill>
              </a:rPr>
              <a:t> = new Scanner(System.in</a:t>
            </a:r>
            <a:r>
              <a:rPr lang="en-US" altLang="ko-KR" sz="1400" b="1" smtClean="0">
                <a:solidFill>
                  <a:srgbClr val="000000"/>
                </a:solidFill>
              </a:rPr>
              <a:t>);</a:t>
            </a:r>
          </a:p>
          <a:p>
            <a:r>
              <a:rPr lang="en-US" altLang="ko-KR" sz="1400" b="1" smtClean="0">
                <a:solidFill>
                  <a:srgbClr val="000000"/>
                </a:solidFill>
              </a:rPr>
              <a:t>String </a:t>
            </a:r>
            <a:r>
              <a:rPr lang="en-US" altLang="ko-KR" sz="1400" b="1">
                <a:solidFill>
                  <a:srgbClr val="000000"/>
                </a:solidFill>
              </a:rPr>
              <a:t>name = </a:t>
            </a:r>
            <a:r>
              <a:rPr lang="en-US" altLang="ko-KR" sz="1400" b="1" err="1">
                <a:solidFill>
                  <a:srgbClr val="000000"/>
                </a:solidFill>
              </a:rPr>
              <a:t>scanner.next</a:t>
            </a:r>
            <a:r>
              <a:rPr lang="en-US" altLang="ko-KR" sz="1400" b="1">
                <a:solidFill>
                  <a:srgbClr val="000000"/>
                </a:solidFill>
              </a:rPr>
              <a:t>(); </a:t>
            </a:r>
            <a:r>
              <a:rPr lang="en-US" altLang="ko-KR" sz="1400" b="1" smtClean="0">
                <a:solidFill>
                  <a:srgbClr val="000000"/>
                </a:solidFill>
              </a:rPr>
              <a:t>	 	//</a:t>
            </a:r>
            <a:r>
              <a:rPr lang="ko-KR" altLang="en-US" sz="1400" b="1" smtClean="0">
                <a:solidFill>
                  <a:srgbClr val="000000"/>
                </a:solidFill>
              </a:rPr>
              <a:t>문자열</a:t>
            </a:r>
            <a:endParaRPr lang="en-US" altLang="ko-KR" sz="1400" b="1">
              <a:solidFill>
                <a:srgbClr val="000000"/>
              </a:solidFill>
            </a:endParaRPr>
          </a:p>
          <a:p>
            <a:r>
              <a:rPr lang="en-US" altLang="ko-KR" sz="1400" b="1">
                <a:solidFill>
                  <a:srgbClr val="000000"/>
                </a:solidFill>
              </a:rPr>
              <a:t>String </a:t>
            </a:r>
            <a:r>
              <a:rPr lang="en-US" altLang="ko-KR" sz="1400" b="1" err="1">
                <a:solidFill>
                  <a:srgbClr val="000000"/>
                </a:solidFill>
              </a:rPr>
              <a:t>addr</a:t>
            </a:r>
            <a:r>
              <a:rPr lang="en-US" altLang="ko-KR" sz="1400" b="1">
                <a:solidFill>
                  <a:srgbClr val="000000"/>
                </a:solidFill>
              </a:rPr>
              <a:t> = </a:t>
            </a:r>
            <a:r>
              <a:rPr lang="en-US" altLang="ko-KR" sz="1400" b="1" err="1">
                <a:solidFill>
                  <a:srgbClr val="000000"/>
                </a:solidFill>
              </a:rPr>
              <a:t>scanner.next</a:t>
            </a:r>
            <a:r>
              <a:rPr lang="en-US" altLang="ko-KR" sz="1400" b="1">
                <a:solidFill>
                  <a:srgbClr val="000000"/>
                </a:solidFill>
              </a:rPr>
              <a:t>(); </a:t>
            </a:r>
            <a:r>
              <a:rPr lang="en-US" altLang="ko-KR" sz="1400" b="1" smtClean="0">
                <a:solidFill>
                  <a:srgbClr val="000000"/>
                </a:solidFill>
              </a:rPr>
              <a:t>		// </a:t>
            </a:r>
            <a:r>
              <a:rPr lang="ko-KR" altLang="en-US" sz="1400" b="1" smtClean="0">
                <a:solidFill>
                  <a:srgbClr val="000000"/>
                </a:solidFill>
              </a:rPr>
              <a:t>문자열</a:t>
            </a:r>
            <a:endParaRPr lang="en-US" altLang="ko-KR" sz="1400" b="1">
              <a:solidFill>
                <a:srgbClr val="000000"/>
              </a:solidFill>
            </a:endParaRPr>
          </a:p>
          <a:p>
            <a:r>
              <a:rPr lang="en-US" altLang="ko-KR" sz="1400" b="1" err="1">
                <a:solidFill>
                  <a:srgbClr val="000000"/>
                </a:solidFill>
              </a:rPr>
              <a:t>int</a:t>
            </a:r>
            <a:r>
              <a:rPr lang="en-US" altLang="ko-KR" sz="1400" b="1">
                <a:solidFill>
                  <a:srgbClr val="000000"/>
                </a:solidFill>
              </a:rPr>
              <a:t> age = </a:t>
            </a:r>
            <a:r>
              <a:rPr lang="en-US" altLang="ko-KR" sz="1400" b="1" err="1">
                <a:solidFill>
                  <a:srgbClr val="000000"/>
                </a:solidFill>
              </a:rPr>
              <a:t>scanner.nextInt</a:t>
            </a:r>
            <a:r>
              <a:rPr lang="en-US" altLang="ko-KR" sz="1400" b="1">
                <a:solidFill>
                  <a:srgbClr val="000000"/>
                </a:solidFill>
              </a:rPr>
              <a:t>(); </a:t>
            </a:r>
            <a:r>
              <a:rPr lang="en-US" altLang="ko-KR" sz="1400" b="1" smtClean="0">
                <a:solidFill>
                  <a:srgbClr val="000000"/>
                </a:solidFill>
              </a:rPr>
              <a:t>		// </a:t>
            </a:r>
            <a:r>
              <a:rPr lang="ko-KR" altLang="en-US" sz="1400" b="1" smtClean="0">
                <a:solidFill>
                  <a:srgbClr val="000000"/>
                </a:solidFill>
              </a:rPr>
              <a:t>정수</a:t>
            </a:r>
            <a:endParaRPr lang="en-US" altLang="ko-KR" sz="1400" b="1">
              <a:solidFill>
                <a:srgbClr val="000000"/>
              </a:solidFill>
            </a:endParaRPr>
          </a:p>
          <a:p>
            <a:r>
              <a:rPr lang="en-US" altLang="ko-KR" sz="1400" b="1">
                <a:solidFill>
                  <a:srgbClr val="000000"/>
                </a:solidFill>
              </a:rPr>
              <a:t>double weight = </a:t>
            </a:r>
            <a:r>
              <a:rPr lang="en-US" altLang="ko-KR" sz="1400" b="1" err="1">
                <a:solidFill>
                  <a:srgbClr val="000000"/>
                </a:solidFill>
              </a:rPr>
              <a:t>scanner.nextDouble</a:t>
            </a:r>
            <a:r>
              <a:rPr lang="en-US" altLang="ko-KR" sz="1400" b="1">
                <a:solidFill>
                  <a:srgbClr val="000000"/>
                </a:solidFill>
              </a:rPr>
              <a:t>(); </a:t>
            </a:r>
            <a:r>
              <a:rPr lang="en-US" altLang="ko-KR" sz="1400" b="1" smtClean="0">
                <a:solidFill>
                  <a:srgbClr val="000000"/>
                </a:solidFill>
              </a:rPr>
              <a:t>	// </a:t>
            </a:r>
            <a:r>
              <a:rPr lang="ko-KR" altLang="en-US" sz="1400" b="1" smtClean="0">
                <a:solidFill>
                  <a:srgbClr val="000000"/>
                </a:solidFill>
              </a:rPr>
              <a:t>실수</a:t>
            </a:r>
            <a:endParaRPr lang="en-US" altLang="ko-KR" sz="1400" b="1">
              <a:solidFill>
                <a:srgbClr val="000000"/>
              </a:solidFill>
            </a:endParaRP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1A6BD2C2-3D3B-4E94-BD92-61B02C5F4DEE}" type="slidenum">
              <a:rPr lang="ko-KR" altLang="en-US" smtClean="0"/>
              <a:pPr/>
              <a:t>3</a:t>
            </a:fld>
            <a:endParaRPr lang="ko-KR" altLang="en-US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1680" y="2747392"/>
            <a:ext cx="5463456" cy="36250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제목 1"/>
          <p:cNvSpPr>
            <a:spLocks noGrp="1"/>
          </p:cNvSpPr>
          <p:nvPr>
            <p:ph type="title"/>
          </p:nvPr>
        </p:nvSpPr>
        <p:spPr>
          <a:xfrm>
            <a:off x="2339752" y="227013"/>
            <a:ext cx="6500826" cy="762000"/>
          </a:xfrm>
        </p:spPr>
        <p:txBody>
          <a:bodyPr/>
          <a:lstStyle/>
          <a:p>
            <a:r>
              <a:rPr lang="en-US" altLang="ko-KR" smtClean="0"/>
              <a:t>Scanner </a:t>
            </a:r>
            <a:r>
              <a:rPr lang="ko-KR" altLang="en-US" smtClean="0"/>
              <a:t>클래스를 이용한 입력</a:t>
            </a:r>
            <a:endParaRPr lang="ko-KR" altLang="en-US"/>
          </a:p>
        </p:txBody>
      </p:sp>
    </p:spTree>
    <p:extLst>
      <p:ext uri="{BB962C8B-B14F-4D97-AF65-F5344CB8AC3E}">
        <p14:creationId xmlns="" xmlns:p14="http://schemas.microsoft.com/office/powerpoint/2010/main" val="36358250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Scanner</a:t>
            </a:r>
            <a:r>
              <a:rPr lang="ko-KR" altLang="en-US" smtClean="0"/>
              <a:t> 주요 </a:t>
            </a:r>
            <a:r>
              <a:rPr lang="ko-KR" altLang="en-US" err="1" smtClean="0"/>
              <a:t>메소드</a:t>
            </a:r>
            <a:endParaRPr lang="ko-KR" altLang="en-US"/>
          </a:p>
        </p:txBody>
      </p:sp>
      <p:graphicFrame>
        <p:nvGraphicFramePr>
          <p:cNvPr id="4" name="표 3"/>
          <p:cNvGraphicFramePr>
            <a:graphicFrameLocks noGrp="1"/>
          </p:cNvGraphicFramePr>
          <p:nvPr>
            <p:extLst>
              <p:ext uri="{D42A27DB-BD31-4B8C-83A1-F6EECF244321}">
                <p14:modId xmlns="" xmlns:p14="http://schemas.microsoft.com/office/powerpoint/2010/main" val="173867409"/>
              </p:ext>
            </p:extLst>
          </p:nvPr>
        </p:nvGraphicFramePr>
        <p:xfrm>
          <a:off x="1043608" y="1556792"/>
          <a:ext cx="7344816" cy="3048000"/>
        </p:xfrm>
        <a:graphic>
          <a:graphicData uri="http://schemas.openxmlformats.org/drawingml/2006/table">
            <a:tbl>
              <a:tblPr firstRow="1" bandRow="1">
                <a:tableStyleId>{ED083AE6-46FA-4A59-8FB0-9F97EB10719F}</a:tableStyleId>
              </a:tblPr>
              <a:tblGrid>
                <a:gridCol w="2342743"/>
                <a:gridCol w="5002073"/>
              </a:tblGrid>
              <a:tr h="230426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err="1" smtClean="0">
                          <a:solidFill>
                            <a:srgbClr val="000000"/>
                          </a:solidFill>
                        </a:rPr>
                        <a:t>생성</a:t>
                      </a:r>
                      <a:r>
                        <a:rPr lang="ko-KR" altLang="en-US" sz="1400" baseline="0" err="1" smtClean="0">
                          <a:solidFill>
                            <a:srgbClr val="000000"/>
                          </a:solidFill>
                        </a:rPr>
                        <a:t>자</a:t>
                      </a:r>
                      <a:r>
                        <a:rPr lang="en-US" altLang="ko-KR" sz="1400" baseline="0" smtClean="0">
                          <a:solidFill>
                            <a:srgbClr val="000000"/>
                          </a:solidFill>
                        </a:rPr>
                        <a:t>/</a:t>
                      </a:r>
                      <a:r>
                        <a:rPr lang="ko-KR" altLang="en-US" sz="1400" baseline="0" err="1" smtClean="0">
                          <a:solidFill>
                            <a:srgbClr val="000000"/>
                          </a:solidFill>
                        </a:rPr>
                        <a:t>메소드</a:t>
                      </a:r>
                      <a:endParaRPr lang="ko-KR" altLang="en-US" sz="1400">
                        <a:solidFill>
                          <a:srgbClr val="0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smtClean="0">
                          <a:solidFill>
                            <a:srgbClr val="000000"/>
                          </a:solidFill>
                        </a:rPr>
                        <a:t>설명</a:t>
                      </a:r>
                      <a:endParaRPr lang="ko-KR" altLang="en-US" sz="1400">
                        <a:solidFill>
                          <a:srgbClr val="000000"/>
                        </a:solidFill>
                      </a:endParaRPr>
                    </a:p>
                  </a:txBody>
                  <a:tcPr/>
                </a:tc>
              </a:tr>
              <a:tr h="230426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smtClean="0">
                          <a:solidFill>
                            <a:srgbClr val="000000"/>
                          </a:solidFill>
                        </a:rPr>
                        <a:t>String</a:t>
                      </a:r>
                      <a:r>
                        <a:rPr lang="ko-KR" altLang="en-US" sz="1400" smtClean="0">
                          <a:solidFill>
                            <a:srgbClr val="000000"/>
                          </a:solidFill>
                        </a:rPr>
                        <a:t> </a:t>
                      </a:r>
                      <a:r>
                        <a:rPr lang="en-US" altLang="ko-KR" sz="1400" smtClean="0">
                          <a:solidFill>
                            <a:srgbClr val="000000"/>
                          </a:solidFill>
                        </a:rPr>
                        <a:t>next()</a:t>
                      </a:r>
                      <a:endParaRPr lang="ko-KR" altLang="en-US" sz="1400" smtClean="0">
                        <a:solidFill>
                          <a:srgbClr val="0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smtClean="0">
                          <a:solidFill>
                            <a:srgbClr val="000000"/>
                          </a:solidFill>
                        </a:rPr>
                        <a:t>다음</a:t>
                      </a:r>
                      <a:r>
                        <a:rPr lang="en-US" altLang="ko-KR" sz="1400" baseline="0" smtClean="0">
                          <a:solidFill>
                            <a:srgbClr val="000000"/>
                          </a:solidFill>
                        </a:rPr>
                        <a:t> </a:t>
                      </a:r>
                      <a:r>
                        <a:rPr lang="ko-KR" altLang="en-US" sz="1400" baseline="0" smtClean="0">
                          <a:solidFill>
                            <a:srgbClr val="000000"/>
                          </a:solidFill>
                        </a:rPr>
                        <a:t>아이템을 찾아 문자열로 반환</a:t>
                      </a:r>
                      <a:endParaRPr lang="ko-KR" altLang="en-US" sz="1400">
                        <a:solidFill>
                          <a:srgbClr val="000000"/>
                        </a:solidFill>
                      </a:endParaRPr>
                    </a:p>
                  </a:txBody>
                  <a:tcPr/>
                </a:tc>
              </a:tr>
              <a:tr h="230426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err="1" smtClean="0">
                          <a:solidFill>
                            <a:srgbClr val="000000"/>
                          </a:solidFill>
                        </a:rPr>
                        <a:t>boolean</a:t>
                      </a:r>
                      <a:r>
                        <a:rPr lang="en-US" altLang="ko-KR" sz="1400" smtClean="0">
                          <a:solidFill>
                            <a:srgbClr val="000000"/>
                          </a:solidFill>
                        </a:rPr>
                        <a:t> </a:t>
                      </a:r>
                      <a:r>
                        <a:rPr lang="en-US" altLang="ko-KR" sz="1400" err="1" smtClean="0">
                          <a:solidFill>
                            <a:srgbClr val="000000"/>
                          </a:solidFill>
                        </a:rPr>
                        <a:t>nextBoolean</a:t>
                      </a:r>
                      <a:r>
                        <a:rPr lang="en-US" altLang="ko-KR" sz="1400" smtClean="0">
                          <a:solidFill>
                            <a:srgbClr val="000000"/>
                          </a:solidFill>
                        </a:rPr>
                        <a:t>()</a:t>
                      </a:r>
                      <a:endParaRPr lang="ko-KR" altLang="en-US" sz="1400" smtClean="0">
                        <a:solidFill>
                          <a:srgbClr val="0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smtClean="0">
                          <a:solidFill>
                            <a:srgbClr val="000000"/>
                          </a:solidFill>
                        </a:rPr>
                        <a:t>다음</a:t>
                      </a:r>
                      <a:r>
                        <a:rPr lang="en-US" altLang="ko-KR" sz="1400" smtClean="0">
                          <a:solidFill>
                            <a:srgbClr val="000000"/>
                          </a:solidFill>
                        </a:rPr>
                        <a:t> </a:t>
                      </a:r>
                      <a:r>
                        <a:rPr lang="ko-KR" altLang="en-US" sz="1400" smtClean="0">
                          <a:solidFill>
                            <a:srgbClr val="000000"/>
                          </a:solidFill>
                        </a:rPr>
                        <a:t>아이템을 찾아 </a:t>
                      </a:r>
                      <a:r>
                        <a:rPr lang="en-US" altLang="ko-KR" sz="1400" err="1" smtClean="0">
                          <a:solidFill>
                            <a:srgbClr val="000000"/>
                          </a:solidFill>
                        </a:rPr>
                        <a:t>boolean</a:t>
                      </a:r>
                      <a:r>
                        <a:rPr lang="ko-KR" altLang="en-US" sz="1400" smtClean="0">
                          <a:solidFill>
                            <a:srgbClr val="000000"/>
                          </a:solidFill>
                        </a:rPr>
                        <a:t>으로 변환하여 반환</a:t>
                      </a:r>
                      <a:endParaRPr lang="ko-KR" altLang="en-US" sz="1400">
                        <a:solidFill>
                          <a:srgbClr val="000000"/>
                        </a:solidFill>
                      </a:endParaRPr>
                    </a:p>
                  </a:txBody>
                  <a:tcPr/>
                </a:tc>
              </a:tr>
              <a:tr h="230426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smtClean="0">
                          <a:solidFill>
                            <a:srgbClr val="000000"/>
                          </a:solidFill>
                        </a:rPr>
                        <a:t>byte</a:t>
                      </a:r>
                      <a:r>
                        <a:rPr lang="en-US" altLang="ko-KR" sz="1400" baseline="0" smtClean="0">
                          <a:solidFill>
                            <a:srgbClr val="000000"/>
                          </a:solidFill>
                        </a:rPr>
                        <a:t> </a:t>
                      </a:r>
                      <a:r>
                        <a:rPr lang="en-US" altLang="ko-KR" sz="1400" baseline="0" err="1" smtClean="0">
                          <a:solidFill>
                            <a:srgbClr val="000000"/>
                          </a:solidFill>
                        </a:rPr>
                        <a:t>nextByte</a:t>
                      </a:r>
                      <a:r>
                        <a:rPr lang="en-US" altLang="ko-KR" sz="1400" baseline="0" smtClean="0">
                          <a:solidFill>
                            <a:srgbClr val="000000"/>
                          </a:solidFill>
                        </a:rPr>
                        <a:t>()</a:t>
                      </a:r>
                      <a:endParaRPr lang="ko-KR" altLang="en-US" sz="1400" smtClean="0">
                        <a:solidFill>
                          <a:srgbClr val="0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smtClean="0">
                          <a:solidFill>
                            <a:srgbClr val="000000"/>
                          </a:solidFill>
                        </a:rPr>
                        <a:t>다음</a:t>
                      </a:r>
                      <a:r>
                        <a:rPr lang="en-US" altLang="ko-KR" sz="1400" smtClean="0">
                          <a:solidFill>
                            <a:srgbClr val="000000"/>
                          </a:solidFill>
                        </a:rPr>
                        <a:t> </a:t>
                      </a:r>
                      <a:r>
                        <a:rPr lang="ko-KR" altLang="en-US" sz="1400" smtClean="0">
                          <a:solidFill>
                            <a:srgbClr val="000000"/>
                          </a:solidFill>
                        </a:rPr>
                        <a:t>아이템을 찾아 </a:t>
                      </a:r>
                      <a:r>
                        <a:rPr lang="en-US" altLang="ko-KR" sz="1400" smtClean="0">
                          <a:solidFill>
                            <a:srgbClr val="000000"/>
                          </a:solidFill>
                        </a:rPr>
                        <a:t>byte</a:t>
                      </a:r>
                      <a:r>
                        <a:rPr lang="ko-KR" altLang="en-US" sz="1400" smtClean="0">
                          <a:solidFill>
                            <a:srgbClr val="000000"/>
                          </a:solidFill>
                        </a:rPr>
                        <a:t>로 변환하여 반환</a:t>
                      </a:r>
                      <a:endParaRPr lang="ko-KR" altLang="en-US" sz="1400">
                        <a:solidFill>
                          <a:srgbClr val="000000"/>
                        </a:solidFill>
                      </a:endParaRPr>
                    </a:p>
                  </a:txBody>
                  <a:tcPr/>
                </a:tc>
              </a:tr>
              <a:tr h="230426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aseline="0" smtClean="0">
                          <a:solidFill>
                            <a:srgbClr val="000000"/>
                          </a:solidFill>
                        </a:rPr>
                        <a:t>double </a:t>
                      </a:r>
                      <a:r>
                        <a:rPr lang="en-US" altLang="ko-KR" sz="1400" baseline="0" err="1" smtClean="0">
                          <a:solidFill>
                            <a:srgbClr val="000000"/>
                          </a:solidFill>
                        </a:rPr>
                        <a:t>nextDouble</a:t>
                      </a:r>
                      <a:r>
                        <a:rPr lang="en-US" altLang="ko-KR" sz="1400" baseline="0" smtClean="0">
                          <a:solidFill>
                            <a:srgbClr val="000000"/>
                          </a:solidFill>
                        </a:rPr>
                        <a:t>()</a:t>
                      </a:r>
                      <a:endParaRPr lang="ko-KR" altLang="en-US" sz="1400" smtClean="0">
                        <a:solidFill>
                          <a:srgbClr val="0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smtClean="0">
                          <a:solidFill>
                            <a:srgbClr val="000000"/>
                          </a:solidFill>
                        </a:rPr>
                        <a:t>다음</a:t>
                      </a:r>
                      <a:r>
                        <a:rPr lang="en-US" altLang="ko-KR" sz="1400" smtClean="0">
                          <a:solidFill>
                            <a:srgbClr val="000000"/>
                          </a:solidFill>
                        </a:rPr>
                        <a:t> </a:t>
                      </a:r>
                      <a:r>
                        <a:rPr lang="ko-KR" altLang="en-US" sz="1400" smtClean="0">
                          <a:solidFill>
                            <a:srgbClr val="000000"/>
                          </a:solidFill>
                        </a:rPr>
                        <a:t>아이템을 찾아 </a:t>
                      </a:r>
                      <a:r>
                        <a:rPr lang="en-US" altLang="ko-KR" sz="1400" smtClean="0">
                          <a:solidFill>
                            <a:srgbClr val="000000"/>
                          </a:solidFill>
                        </a:rPr>
                        <a:t>double</a:t>
                      </a:r>
                      <a:r>
                        <a:rPr lang="ko-KR" altLang="en-US" sz="1400" smtClean="0">
                          <a:solidFill>
                            <a:srgbClr val="000000"/>
                          </a:solidFill>
                        </a:rPr>
                        <a:t>로 변환하여 반환</a:t>
                      </a:r>
                      <a:endParaRPr lang="ko-KR" altLang="en-US" sz="1400">
                        <a:solidFill>
                          <a:srgbClr val="000000"/>
                        </a:solidFill>
                      </a:endParaRPr>
                    </a:p>
                  </a:txBody>
                  <a:tcPr/>
                </a:tc>
              </a:tr>
              <a:tr h="230426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smtClean="0">
                          <a:solidFill>
                            <a:srgbClr val="000000"/>
                          </a:solidFill>
                        </a:rPr>
                        <a:t>float </a:t>
                      </a:r>
                      <a:r>
                        <a:rPr lang="en-US" altLang="ko-KR" sz="1400" baseline="0" err="1" smtClean="0">
                          <a:solidFill>
                            <a:srgbClr val="000000"/>
                          </a:solidFill>
                        </a:rPr>
                        <a:t>nextFloat</a:t>
                      </a:r>
                      <a:r>
                        <a:rPr lang="en-US" altLang="ko-KR" sz="1400" baseline="0" smtClean="0">
                          <a:solidFill>
                            <a:srgbClr val="000000"/>
                          </a:solidFill>
                        </a:rPr>
                        <a:t>()</a:t>
                      </a:r>
                      <a:endParaRPr lang="ko-KR" altLang="en-US" sz="1400" smtClean="0">
                        <a:solidFill>
                          <a:srgbClr val="0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smtClean="0">
                          <a:solidFill>
                            <a:srgbClr val="000000"/>
                          </a:solidFill>
                        </a:rPr>
                        <a:t>다음</a:t>
                      </a:r>
                      <a:r>
                        <a:rPr lang="en-US" altLang="ko-KR" sz="1400" smtClean="0">
                          <a:solidFill>
                            <a:srgbClr val="000000"/>
                          </a:solidFill>
                        </a:rPr>
                        <a:t> </a:t>
                      </a:r>
                      <a:r>
                        <a:rPr lang="ko-KR" altLang="en-US" sz="1400" smtClean="0">
                          <a:solidFill>
                            <a:srgbClr val="000000"/>
                          </a:solidFill>
                        </a:rPr>
                        <a:t>아이템을 찾아 </a:t>
                      </a:r>
                      <a:r>
                        <a:rPr lang="en-US" altLang="ko-KR" sz="1400" smtClean="0">
                          <a:solidFill>
                            <a:srgbClr val="000000"/>
                          </a:solidFill>
                        </a:rPr>
                        <a:t>float</a:t>
                      </a:r>
                      <a:r>
                        <a:rPr lang="ko-KR" altLang="en-US" sz="1400" smtClean="0">
                          <a:solidFill>
                            <a:srgbClr val="000000"/>
                          </a:solidFill>
                        </a:rPr>
                        <a:t>로 변환하여 반환</a:t>
                      </a:r>
                      <a:endParaRPr lang="ko-KR" altLang="en-US" sz="1400">
                        <a:solidFill>
                          <a:srgbClr val="000000"/>
                        </a:solidFill>
                      </a:endParaRPr>
                    </a:p>
                  </a:txBody>
                  <a:tcPr/>
                </a:tc>
              </a:tr>
              <a:tr h="230426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err="1" smtClean="0">
                          <a:solidFill>
                            <a:srgbClr val="000000"/>
                          </a:solidFill>
                        </a:rPr>
                        <a:t>int</a:t>
                      </a:r>
                      <a:r>
                        <a:rPr lang="en-US" altLang="ko-KR" sz="1400" smtClean="0">
                          <a:solidFill>
                            <a:srgbClr val="000000"/>
                          </a:solidFill>
                        </a:rPr>
                        <a:t> </a:t>
                      </a:r>
                      <a:r>
                        <a:rPr lang="en-US" altLang="ko-KR" sz="1400" baseline="0" err="1" smtClean="0">
                          <a:solidFill>
                            <a:srgbClr val="000000"/>
                          </a:solidFill>
                        </a:rPr>
                        <a:t>nextInt</a:t>
                      </a:r>
                      <a:r>
                        <a:rPr lang="en-US" altLang="ko-KR" sz="1400" baseline="0" smtClean="0">
                          <a:solidFill>
                            <a:srgbClr val="000000"/>
                          </a:solidFill>
                        </a:rPr>
                        <a:t>()</a:t>
                      </a:r>
                      <a:endParaRPr lang="ko-KR" altLang="en-US" sz="1400" smtClean="0">
                        <a:solidFill>
                          <a:srgbClr val="0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smtClean="0">
                          <a:solidFill>
                            <a:srgbClr val="000000"/>
                          </a:solidFill>
                        </a:rPr>
                        <a:t>다음</a:t>
                      </a:r>
                      <a:r>
                        <a:rPr lang="en-US" altLang="ko-KR" sz="1400" smtClean="0">
                          <a:solidFill>
                            <a:srgbClr val="000000"/>
                          </a:solidFill>
                        </a:rPr>
                        <a:t> </a:t>
                      </a:r>
                      <a:r>
                        <a:rPr lang="ko-KR" altLang="en-US" sz="1400" smtClean="0">
                          <a:solidFill>
                            <a:srgbClr val="000000"/>
                          </a:solidFill>
                        </a:rPr>
                        <a:t>아이템을 찾아 </a:t>
                      </a:r>
                      <a:r>
                        <a:rPr lang="en-US" altLang="ko-KR" sz="1400" err="1" smtClean="0">
                          <a:solidFill>
                            <a:srgbClr val="000000"/>
                          </a:solidFill>
                        </a:rPr>
                        <a:t>int</a:t>
                      </a:r>
                      <a:r>
                        <a:rPr lang="ko-KR" altLang="en-US" sz="1400" smtClean="0">
                          <a:solidFill>
                            <a:srgbClr val="000000"/>
                          </a:solidFill>
                        </a:rPr>
                        <a:t>로 변환하여 반환</a:t>
                      </a:r>
                      <a:endParaRPr lang="ko-KR" altLang="en-US" sz="1400">
                        <a:solidFill>
                          <a:srgbClr val="000000"/>
                        </a:solidFill>
                      </a:endParaRPr>
                    </a:p>
                  </a:txBody>
                  <a:tcPr/>
                </a:tc>
              </a:tr>
              <a:tr h="230426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smtClean="0">
                          <a:solidFill>
                            <a:srgbClr val="000000"/>
                          </a:solidFill>
                        </a:rPr>
                        <a:t>long </a:t>
                      </a:r>
                      <a:r>
                        <a:rPr lang="en-US" altLang="ko-KR" sz="1400" baseline="0" err="1" smtClean="0">
                          <a:solidFill>
                            <a:srgbClr val="000000"/>
                          </a:solidFill>
                        </a:rPr>
                        <a:t>nextLong</a:t>
                      </a:r>
                      <a:r>
                        <a:rPr lang="en-US" altLang="ko-KR" sz="1400" baseline="0" smtClean="0">
                          <a:solidFill>
                            <a:srgbClr val="000000"/>
                          </a:solidFill>
                        </a:rPr>
                        <a:t>()</a:t>
                      </a:r>
                      <a:endParaRPr lang="ko-KR" altLang="en-US" sz="1400" smtClean="0">
                        <a:solidFill>
                          <a:srgbClr val="0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smtClean="0">
                          <a:solidFill>
                            <a:srgbClr val="000000"/>
                          </a:solidFill>
                        </a:rPr>
                        <a:t>다음</a:t>
                      </a:r>
                      <a:r>
                        <a:rPr lang="en-US" altLang="ko-KR" sz="1400" smtClean="0">
                          <a:solidFill>
                            <a:srgbClr val="000000"/>
                          </a:solidFill>
                        </a:rPr>
                        <a:t> </a:t>
                      </a:r>
                      <a:r>
                        <a:rPr lang="ko-KR" altLang="en-US" sz="1400" smtClean="0">
                          <a:solidFill>
                            <a:srgbClr val="000000"/>
                          </a:solidFill>
                        </a:rPr>
                        <a:t>아이템을 찾아 </a:t>
                      </a:r>
                      <a:r>
                        <a:rPr lang="en-US" altLang="ko-KR" sz="1400" smtClean="0">
                          <a:solidFill>
                            <a:srgbClr val="000000"/>
                          </a:solidFill>
                        </a:rPr>
                        <a:t>long</a:t>
                      </a:r>
                      <a:r>
                        <a:rPr lang="ko-KR" altLang="en-US" sz="1400" smtClean="0">
                          <a:solidFill>
                            <a:srgbClr val="000000"/>
                          </a:solidFill>
                        </a:rPr>
                        <a:t>으로 변환하여 반환</a:t>
                      </a:r>
                      <a:endParaRPr lang="ko-KR" altLang="en-US" sz="1400">
                        <a:solidFill>
                          <a:srgbClr val="000000"/>
                        </a:solidFill>
                      </a:endParaRPr>
                    </a:p>
                  </a:txBody>
                  <a:tcPr/>
                </a:tc>
              </a:tr>
              <a:tr h="230426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smtClean="0">
                          <a:solidFill>
                            <a:srgbClr val="000000"/>
                          </a:solidFill>
                        </a:rPr>
                        <a:t>short </a:t>
                      </a:r>
                      <a:r>
                        <a:rPr lang="en-US" altLang="ko-KR" sz="1400" err="1" smtClean="0">
                          <a:solidFill>
                            <a:srgbClr val="000000"/>
                          </a:solidFill>
                        </a:rPr>
                        <a:t>nextShort</a:t>
                      </a:r>
                      <a:r>
                        <a:rPr lang="en-US" altLang="ko-KR" sz="1400" smtClean="0">
                          <a:solidFill>
                            <a:srgbClr val="000000"/>
                          </a:solidFill>
                        </a:rPr>
                        <a:t>()</a:t>
                      </a:r>
                      <a:endParaRPr lang="ko-KR" altLang="en-US" sz="1400" smtClean="0">
                        <a:solidFill>
                          <a:srgbClr val="0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smtClean="0">
                          <a:solidFill>
                            <a:srgbClr val="000000"/>
                          </a:solidFill>
                        </a:rPr>
                        <a:t>다음 아이템을 찾아 </a:t>
                      </a:r>
                      <a:r>
                        <a:rPr lang="en-US" altLang="ko-KR" sz="1400" smtClean="0">
                          <a:solidFill>
                            <a:srgbClr val="000000"/>
                          </a:solidFill>
                        </a:rPr>
                        <a:t>short</a:t>
                      </a:r>
                      <a:r>
                        <a:rPr lang="ko-KR" altLang="en-US" sz="1400" smtClean="0">
                          <a:solidFill>
                            <a:srgbClr val="000000"/>
                          </a:solidFill>
                        </a:rPr>
                        <a:t>로 변환하여 반환</a:t>
                      </a:r>
                      <a:endParaRPr lang="ko-KR" altLang="en-US" sz="1400">
                        <a:solidFill>
                          <a:srgbClr val="000000"/>
                        </a:solidFill>
                      </a:endParaRPr>
                    </a:p>
                  </a:txBody>
                  <a:tcPr/>
                </a:tc>
              </a:tr>
              <a:tr h="230426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smtClean="0">
                          <a:solidFill>
                            <a:srgbClr val="000000"/>
                          </a:solidFill>
                        </a:rPr>
                        <a:t>String</a:t>
                      </a:r>
                      <a:r>
                        <a:rPr lang="ko-KR" altLang="en-US" sz="1400" smtClean="0">
                          <a:solidFill>
                            <a:srgbClr val="000000"/>
                          </a:solidFill>
                        </a:rPr>
                        <a:t> </a:t>
                      </a:r>
                      <a:r>
                        <a:rPr lang="en-US" altLang="ko-KR" sz="1400" err="1" smtClean="0">
                          <a:solidFill>
                            <a:srgbClr val="000000"/>
                          </a:solidFill>
                        </a:rPr>
                        <a:t>nextLine</a:t>
                      </a:r>
                      <a:r>
                        <a:rPr lang="en-US" altLang="ko-KR" sz="1400" smtClean="0">
                          <a:solidFill>
                            <a:srgbClr val="000000"/>
                          </a:solidFill>
                        </a:rPr>
                        <a:t>()</a:t>
                      </a:r>
                      <a:endParaRPr lang="ko-KR" altLang="en-US" sz="1400" smtClean="0">
                        <a:solidFill>
                          <a:srgbClr val="0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ko-KR" altLang="en-US" sz="1400" u="none" strike="noStrike" kern="1200" baseline="0" smtClean="0">
                          <a:solidFill>
                            <a:srgbClr val="000000"/>
                          </a:solidFill>
                        </a:rPr>
                        <a:t>한 라인 전체</a:t>
                      </a:r>
                      <a:r>
                        <a:rPr kumimoji="0" lang="en-US" altLang="ko-KR" sz="1400" u="none" strike="noStrike" kern="1200" baseline="0" smtClean="0">
                          <a:solidFill>
                            <a:srgbClr val="000000"/>
                          </a:solidFill>
                        </a:rPr>
                        <a:t>(‘\n’ </a:t>
                      </a:r>
                      <a:r>
                        <a:rPr kumimoji="0" lang="ko-KR" altLang="en-US" sz="1400" u="none" strike="noStrike" kern="1200" baseline="0" smtClean="0">
                          <a:solidFill>
                            <a:srgbClr val="000000"/>
                          </a:solidFill>
                        </a:rPr>
                        <a:t>포함</a:t>
                      </a:r>
                      <a:r>
                        <a:rPr kumimoji="0" lang="en-US" altLang="ko-KR" sz="1400" u="none" strike="noStrike" kern="1200" baseline="0" smtClean="0">
                          <a:solidFill>
                            <a:srgbClr val="000000"/>
                          </a:solidFill>
                        </a:rPr>
                        <a:t>)</a:t>
                      </a:r>
                      <a:r>
                        <a:rPr kumimoji="0" lang="ko-KR" altLang="en-US" sz="1400" u="none" strike="noStrike" kern="1200" baseline="0" smtClean="0">
                          <a:solidFill>
                            <a:srgbClr val="000000"/>
                          </a:solidFill>
                        </a:rPr>
                        <a:t>를 문자열 타입으로 반환</a:t>
                      </a:r>
                      <a:endParaRPr lang="ko-KR" altLang="en-US" sz="1400">
                        <a:solidFill>
                          <a:srgbClr val="000000"/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1A6BD2C2-3D3B-4E94-BD92-61B02C5F4DEE}" type="slidenum">
              <a:rPr lang="ko-KR" altLang="en-US" smtClean="0"/>
              <a:pPr/>
              <a:t>4</a:t>
            </a:fld>
            <a:endParaRPr lang="ko-KR" altLang="en-US"/>
          </a:p>
        </p:txBody>
      </p:sp>
    </p:spTree>
    <p:extLst>
      <p:ext uri="{BB962C8B-B14F-4D97-AF65-F5344CB8AC3E}">
        <p14:creationId xmlns="" xmlns:p14="http://schemas.microsoft.com/office/powerpoint/2010/main" val="42515073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2800" smtClean="0"/>
              <a:t>실습</a:t>
            </a:r>
            <a:r>
              <a:rPr lang="en-US" altLang="ko-KR" sz="2800" smtClean="0"/>
              <a:t>-</a:t>
            </a:r>
            <a:r>
              <a:rPr lang="ko-KR" altLang="en-US" sz="2800" smtClean="0"/>
              <a:t>콘솔 입력</a:t>
            </a:r>
            <a:r>
              <a:rPr lang="en-US" altLang="ko-KR" sz="2800" smtClean="0"/>
              <a:t>(ConsoleInput.java)</a:t>
            </a:r>
            <a:endParaRPr lang="ko-KR" altLang="en-US" sz="280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buNone/>
            </a:pPr>
            <a:r>
              <a:rPr lang="en-US" altLang="ko-KR" sz="1400" smtClean="0"/>
              <a:t>//Scanner </a:t>
            </a:r>
            <a:r>
              <a:rPr lang="ko-KR" altLang="en-US" sz="1400" smtClean="0"/>
              <a:t>클래스를 사용하기 위해서 </a:t>
            </a:r>
            <a:r>
              <a:rPr lang="en-US" altLang="ko-KR" sz="1400" smtClean="0"/>
              <a:t>import</a:t>
            </a:r>
          </a:p>
          <a:p>
            <a:pPr>
              <a:buNone/>
            </a:pPr>
            <a:r>
              <a:rPr lang="en-US" altLang="ko-KR" sz="1400" smtClean="0"/>
              <a:t>import </a:t>
            </a:r>
            <a:r>
              <a:rPr lang="en-US" altLang="ko-KR" sz="1400" err="1" smtClean="0"/>
              <a:t>java.util</a:t>
            </a:r>
            <a:r>
              <a:rPr lang="en-US" altLang="ko-KR" sz="1400" smtClean="0"/>
              <a:t>.*;</a:t>
            </a:r>
          </a:p>
          <a:p>
            <a:pPr>
              <a:buNone/>
            </a:pPr>
            <a:r>
              <a:rPr lang="en-US" altLang="ko-KR" sz="1400" smtClean="0"/>
              <a:t>public class </a:t>
            </a:r>
            <a:r>
              <a:rPr lang="en-US" altLang="ko-KR" sz="1400" err="1" smtClean="0"/>
              <a:t>ConsoleInput</a:t>
            </a:r>
            <a:endParaRPr lang="en-US" altLang="ko-KR" sz="1400" smtClean="0"/>
          </a:p>
          <a:p>
            <a:pPr>
              <a:buNone/>
            </a:pPr>
            <a:r>
              <a:rPr lang="en-US" altLang="ko-KR" sz="1400" smtClean="0"/>
              <a:t>{</a:t>
            </a:r>
          </a:p>
          <a:p>
            <a:pPr>
              <a:buNone/>
            </a:pPr>
            <a:r>
              <a:rPr lang="en-US" altLang="ko-KR" sz="1400" smtClean="0"/>
              <a:t>	public static void main(String[] </a:t>
            </a:r>
            <a:r>
              <a:rPr lang="en-US" altLang="ko-KR" sz="1400" err="1" smtClean="0"/>
              <a:t>args</a:t>
            </a:r>
            <a:r>
              <a:rPr lang="en-US" altLang="ko-KR" sz="1400" smtClean="0"/>
              <a:t>) {</a:t>
            </a:r>
          </a:p>
          <a:p>
            <a:pPr>
              <a:buNone/>
            </a:pPr>
            <a:r>
              <a:rPr lang="en-US" altLang="ko-KR" sz="1400" smtClean="0"/>
              <a:t>		</a:t>
            </a:r>
            <a:r>
              <a:rPr lang="en-US" altLang="ko-KR" sz="1400" err="1" smtClean="0"/>
              <a:t>System.out.print</a:t>
            </a:r>
            <a:r>
              <a:rPr lang="en-US" altLang="ko-KR" sz="1400" smtClean="0"/>
              <a:t>("</a:t>
            </a:r>
            <a:r>
              <a:rPr lang="ko-KR" altLang="en-US" sz="1400" smtClean="0"/>
              <a:t>임의의 숫자를 입력하세요</a:t>
            </a:r>
            <a:r>
              <a:rPr lang="en-US" altLang="ko-KR" sz="1400" smtClean="0"/>
              <a:t>: ");</a:t>
            </a:r>
          </a:p>
          <a:p>
            <a:pPr>
              <a:buNone/>
            </a:pPr>
            <a:r>
              <a:rPr lang="en-US" altLang="ko-KR" sz="1400" smtClean="0"/>
              <a:t>		//</a:t>
            </a:r>
            <a:r>
              <a:rPr lang="ko-KR" altLang="en-US" sz="1400" smtClean="0"/>
              <a:t>키보드로부터 </a:t>
            </a:r>
            <a:r>
              <a:rPr lang="ko-KR" altLang="en-US" sz="1400" err="1" smtClean="0"/>
              <a:t>입력받는</a:t>
            </a:r>
            <a:r>
              <a:rPr lang="ko-KR" altLang="en-US" sz="1400" smtClean="0"/>
              <a:t> </a:t>
            </a:r>
            <a:r>
              <a:rPr lang="en-US" altLang="ko-KR" sz="1400" smtClean="0"/>
              <a:t>Scanner </a:t>
            </a:r>
            <a:r>
              <a:rPr lang="ko-KR" altLang="en-US" sz="1400" smtClean="0"/>
              <a:t>객체를 생성</a:t>
            </a:r>
            <a:endParaRPr lang="en-US" altLang="ko-KR" sz="1400" smtClean="0"/>
          </a:p>
          <a:p>
            <a:pPr>
              <a:buNone/>
            </a:pPr>
            <a:r>
              <a:rPr lang="en-US" altLang="ko-KR" sz="1400" smtClean="0"/>
              <a:t>		Scanner </a:t>
            </a:r>
            <a:r>
              <a:rPr lang="en-US" altLang="ko-KR" sz="1400" err="1" smtClean="0"/>
              <a:t>scanner</a:t>
            </a:r>
            <a:r>
              <a:rPr lang="en-US" altLang="ko-KR" sz="1400" smtClean="0"/>
              <a:t> = new Scanner(</a:t>
            </a:r>
            <a:r>
              <a:rPr lang="en-US" altLang="ko-KR" sz="1400" err="1" smtClean="0"/>
              <a:t>System.in</a:t>
            </a:r>
            <a:r>
              <a:rPr lang="en-US" altLang="ko-KR" sz="1400" smtClean="0"/>
              <a:t>);</a:t>
            </a:r>
          </a:p>
          <a:p>
            <a:pPr>
              <a:buNone/>
            </a:pPr>
            <a:r>
              <a:rPr lang="en-US" altLang="ko-KR" sz="1400" smtClean="0"/>
              <a:t>		//Enter</a:t>
            </a:r>
            <a:r>
              <a:rPr lang="ko-KR" altLang="en-US" sz="1400" smtClean="0"/>
              <a:t>를 누를 때까지의 내용을 정수로 변환해서 </a:t>
            </a:r>
            <a:r>
              <a:rPr lang="en-US" altLang="ko-KR" sz="1400" smtClean="0"/>
              <a:t>n</a:t>
            </a:r>
            <a:r>
              <a:rPr lang="ko-KR" altLang="en-US" sz="1400" smtClean="0"/>
              <a:t>에 대입</a:t>
            </a:r>
            <a:endParaRPr lang="en-US" altLang="ko-KR" sz="1400" smtClean="0"/>
          </a:p>
          <a:p>
            <a:pPr>
              <a:buNone/>
            </a:pPr>
            <a:r>
              <a:rPr lang="en-US" altLang="ko-KR" sz="1400" smtClean="0"/>
              <a:t>		//</a:t>
            </a:r>
            <a:r>
              <a:rPr lang="ko-KR" altLang="en-US" sz="1400" smtClean="0"/>
              <a:t>실수면 </a:t>
            </a:r>
            <a:r>
              <a:rPr lang="en-US" altLang="ko-KR" sz="1400" err="1" smtClean="0"/>
              <a:t>nextFloat</a:t>
            </a:r>
            <a:r>
              <a:rPr lang="en-US" altLang="ko-KR" sz="1400" smtClean="0"/>
              <a:t> </a:t>
            </a:r>
            <a:r>
              <a:rPr lang="ko-KR" altLang="en-US" sz="1400" smtClean="0"/>
              <a:t>이나 </a:t>
            </a:r>
            <a:r>
              <a:rPr lang="en-US" altLang="ko-KR" sz="1400" err="1" smtClean="0"/>
              <a:t>nextDouble</a:t>
            </a:r>
            <a:r>
              <a:rPr lang="en-US" altLang="ko-KR" sz="1400" smtClean="0"/>
              <a:t> </a:t>
            </a:r>
            <a:r>
              <a:rPr lang="ko-KR" altLang="en-US" sz="1400" smtClean="0"/>
              <a:t>문자열이면 </a:t>
            </a:r>
            <a:r>
              <a:rPr lang="en-US" altLang="ko-KR" sz="1400" smtClean="0"/>
              <a:t>next </a:t>
            </a:r>
            <a:r>
              <a:rPr lang="ko-KR" altLang="en-US" sz="1400" smtClean="0"/>
              <a:t>로 변환</a:t>
            </a:r>
          </a:p>
          <a:p>
            <a:pPr>
              <a:buNone/>
            </a:pPr>
            <a:r>
              <a:rPr lang="ko-KR" altLang="en-US" sz="1400" smtClean="0"/>
              <a:t>		</a:t>
            </a:r>
            <a:r>
              <a:rPr lang="en-US" altLang="ko-KR" sz="1400" err="1" smtClean="0"/>
              <a:t>int</a:t>
            </a:r>
            <a:r>
              <a:rPr lang="en-US" altLang="ko-KR" sz="1400" smtClean="0"/>
              <a:t> n = </a:t>
            </a:r>
            <a:r>
              <a:rPr lang="en-US" altLang="ko-KR" sz="1400" err="1" smtClean="0"/>
              <a:t>scanner.nextInt</a:t>
            </a:r>
            <a:r>
              <a:rPr lang="en-US" altLang="ko-KR" sz="1400" smtClean="0"/>
              <a:t>();	</a:t>
            </a:r>
          </a:p>
          <a:p>
            <a:pPr>
              <a:buNone/>
            </a:pPr>
            <a:r>
              <a:rPr lang="en-US" altLang="ko-KR" sz="1400" smtClean="0"/>
              <a:t>		</a:t>
            </a:r>
            <a:r>
              <a:rPr lang="en-US" altLang="ko-KR" sz="1400" err="1" smtClean="0"/>
              <a:t>System.out.println</a:t>
            </a:r>
            <a:r>
              <a:rPr lang="en-US" altLang="ko-KR" sz="1400" smtClean="0"/>
              <a:t>("n:" + n);</a:t>
            </a:r>
          </a:p>
          <a:p>
            <a:pPr>
              <a:buNone/>
            </a:pPr>
            <a:r>
              <a:rPr lang="en-US" altLang="ko-KR" sz="1400" smtClean="0"/>
              <a:t>		</a:t>
            </a:r>
            <a:r>
              <a:rPr lang="en-US" altLang="ko-KR" sz="1400" err="1" smtClean="0"/>
              <a:t>scanner.close</a:t>
            </a:r>
            <a:r>
              <a:rPr lang="en-US" altLang="ko-KR" sz="1400" smtClean="0"/>
              <a:t>();</a:t>
            </a:r>
          </a:p>
          <a:p>
            <a:pPr>
              <a:buNone/>
            </a:pPr>
            <a:r>
              <a:rPr lang="en-US" altLang="ko-KR" sz="1400" smtClean="0"/>
              <a:t>	}</a:t>
            </a:r>
          </a:p>
          <a:p>
            <a:pPr>
              <a:buNone/>
            </a:pPr>
            <a:r>
              <a:rPr lang="en-US" altLang="ko-KR" sz="1400" smtClean="0"/>
              <a:t>}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BA5970-03A6-496F-978B-4258F7D373A8}" type="slidenum">
              <a:rPr lang="ko-KR" altLang="en-US" smtClean="0"/>
              <a:pPr/>
              <a:t>5</a:t>
            </a:fld>
            <a:endParaRPr lang="ko-KR" altLang="en-US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 l="14765" t="74993" r="66926" b="16674"/>
          <a:stretch>
            <a:fillRect/>
          </a:stretch>
        </p:blipFill>
        <p:spPr bwMode="auto">
          <a:xfrm>
            <a:off x="5364088" y="1268760"/>
            <a:ext cx="2952328" cy="15121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실습</a:t>
            </a:r>
            <a:endParaRPr lang="ko-KR" altLang="en-US"/>
          </a:p>
        </p:txBody>
      </p:sp>
      <p:sp>
        <p:nvSpPr>
          <p:cNvPr id="4" name="TextBox 3"/>
          <p:cNvSpPr txBox="1"/>
          <p:nvPr/>
        </p:nvSpPr>
        <p:spPr>
          <a:xfrm>
            <a:off x="899592" y="2203370"/>
            <a:ext cx="7220368" cy="224676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defTabSz="180000"/>
            <a:r>
              <a:rPr lang="en-US" altLang="ko-KR" sz="140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import </a:t>
            </a:r>
            <a:r>
              <a:rPr lang="en-US" altLang="ko-KR" sz="1400" err="1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java.util.Scanner</a:t>
            </a:r>
            <a:r>
              <a:rPr lang="en-US" altLang="ko-KR" sz="140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;</a:t>
            </a:r>
          </a:p>
          <a:p>
            <a:pPr defTabSz="180000"/>
            <a:r>
              <a:rPr lang="en-US" altLang="ko-KR" sz="140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public class </a:t>
            </a:r>
            <a:r>
              <a:rPr lang="en-US" altLang="ko-KR" sz="1400" err="1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ScannerExam</a:t>
            </a:r>
            <a:r>
              <a:rPr lang="en-US" altLang="ko-KR" sz="140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 {</a:t>
            </a:r>
          </a:p>
          <a:p>
            <a:pPr defTabSz="180000"/>
            <a:r>
              <a:rPr lang="en-US" altLang="ko-KR" sz="140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	public </a:t>
            </a:r>
            <a:r>
              <a:rPr lang="en-US" altLang="ko-KR" sz="140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static void main (String </a:t>
            </a:r>
            <a:r>
              <a:rPr lang="en-US" altLang="ko-KR" sz="1400" err="1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args</a:t>
            </a:r>
            <a:r>
              <a:rPr lang="en-US" altLang="ko-KR" sz="140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[]) { </a:t>
            </a:r>
          </a:p>
          <a:p>
            <a:pPr defTabSz="180000"/>
            <a:r>
              <a:rPr lang="en-US" altLang="ko-KR" sz="140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		Scanner </a:t>
            </a:r>
            <a:r>
              <a:rPr lang="en-US" altLang="ko-KR" sz="140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a = new Scanner(System.in);</a:t>
            </a:r>
          </a:p>
          <a:p>
            <a:pPr defTabSz="180000"/>
            <a:r>
              <a:rPr lang="en-US" altLang="ko-KR" sz="140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		</a:t>
            </a:r>
            <a:r>
              <a:rPr lang="en-US" altLang="ko-KR" sz="140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System.out.println</a:t>
            </a:r>
            <a:r>
              <a:rPr lang="en-US" altLang="ko-KR" sz="140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("</a:t>
            </a:r>
            <a:r>
              <a:rPr lang="ko-KR" altLang="en-US" sz="140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나이</a:t>
            </a:r>
            <a:r>
              <a:rPr lang="en-US" altLang="ko-KR" sz="140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, </a:t>
            </a:r>
            <a:r>
              <a:rPr lang="ko-KR" altLang="en-US" sz="140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체중</a:t>
            </a:r>
            <a:r>
              <a:rPr lang="en-US" altLang="ko-KR" sz="140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, </a:t>
            </a:r>
            <a:r>
              <a:rPr lang="ko-KR" altLang="en-US" sz="140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신장을 빈칸으로 분리하여 순서대로 입력하세요</a:t>
            </a:r>
            <a:r>
              <a:rPr lang="en-US" altLang="ko-KR" sz="140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");</a:t>
            </a:r>
            <a:endParaRPr lang="ko-KR" altLang="en-US" sz="140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  <a:p>
            <a:pPr defTabSz="180000"/>
            <a:r>
              <a:rPr lang="en-US" altLang="ko-KR" sz="140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		</a:t>
            </a:r>
            <a:r>
              <a:rPr lang="en-US" altLang="ko-KR" sz="140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System.out.println</a:t>
            </a:r>
            <a:r>
              <a:rPr lang="en-US" altLang="ko-KR" sz="140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("</a:t>
            </a:r>
            <a:r>
              <a:rPr lang="ko-KR" altLang="en-US" sz="140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당신의 나이는 </a:t>
            </a:r>
            <a:r>
              <a:rPr lang="en-US" altLang="ko-KR" sz="140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" + </a:t>
            </a:r>
            <a:r>
              <a:rPr lang="en-US" altLang="ko-KR" sz="1400" err="1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a.nextInt</a:t>
            </a:r>
            <a:r>
              <a:rPr lang="en-US" altLang="ko-KR" sz="140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() + </a:t>
            </a:r>
            <a:r>
              <a:rPr lang="en-US" altLang="ko-KR" sz="140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“</a:t>
            </a:r>
            <a:r>
              <a:rPr lang="ko-KR" altLang="en-US" sz="140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세 입니다</a:t>
            </a:r>
            <a:r>
              <a:rPr lang="en-US" altLang="ko-KR" sz="140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.");</a:t>
            </a:r>
            <a:endParaRPr lang="ko-KR" altLang="en-US" sz="140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  <a:p>
            <a:pPr defTabSz="180000"/>
            <a:r>
              <a:rPr lang="en-US" altLang="ko-KR" sz="140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		</a:t>
            </a:r>
            <a:r>
              <a:rPr lang="en-US" altLang="ko-KR" sz="140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System.out.println</a:t>
            </a:r>
            <a:r>
              <a:rPr lang="en-US" altLang="ko-KR" sz="140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("</a:t>
            </a:r>
            <a:r>
              <a:rPr lang="ko-KR" altLang="en-US" sz="140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당신의 체중은 </a:t>
            </a:r>
            <a:r>
              <a:rPr lang="en-US" altLang="ko-KR" sz="140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" + </a:t>
            </a:r>
            <a:r>
              <a:rPr lang="en-US" altLang="ko-KR" sz="1400" err="1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a.nextDouble</a:t>
            </a:r>
            <a:r>
              <a:rPr lang="en-US" altLang="ko-KR" sz="140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() +"</a:t>
            </a:r>
            <a:r>
              <a:rPr lang="en-US" altLang="ko-KR" sz="140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kg </a:t>
            </a:r>
            <a:r>
              <a:rPr lang="ko-KR" altLang="en-US" sz="140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입니다</a:t>
            </a:r>
            <a:r>
              <a:rPr lang="en-US" altLang="ko-KR" sz="140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.");</a:t>
            </a:r>
            <a:endParaRPr lang="ko-KR" altLang="en-US" sz="140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  <a:p>
            <a:pPr defTabSz="180000"/>
            <a:r>
              <a:rPr lang="en-US" altLang="ko-KR" sz="140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		</a:t>
            </a:r>
            <a:r>
              <a:rPr lang="en-US" altLang="ko-KR" sz="140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System.out.println</a:t>
            </a:r>
            <a:r>
              <a:rPr lang="en-US" altLang="ko-KR" sz="140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("</a:t>
            </a:r>
            <a:r>
              <a:rPr lang="ko-KR" altLang="en-US" sz="140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당신의 신장은 </a:t>
            </a:r>
            <a:r>
              <a:rPr lang="en-US" altLang="ko-KR" sz="140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" + </a:t>
            </a:r>
            <a:r>
              <a:rPr lang="en-US" altLang="ko-KR" sz="1400" err="1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a.nextDouble</a:t>
            </a:r>
            <a:r>
              <a:rPr lang="en-US" altLang="ko-KR" sz="140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()+ </a:t>
            </a:r>
            <a:r>
              <a:rPr lang="en-US" altLang="ko-KR" sz="140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“cm </a:t>
            </a:r>
            <a:r>
              <a:rPr lang="ko-KR" altLang="en-US" sz="140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입니다</a:t>
            </a:r>
            <a:r>
              <a:rPr lang="en-US" altLang="ko-KR" sz="140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.");</a:t>
            </a:r>
            <a:endParaRPr lang="ko-KR" altLang="en-US" sz="140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  <a:p>
            <a:pPr defTabSz="180000"/>
            <a:r>
              <a:rPr lang="en-US" altLang="ko-KR" sz="140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	}</a:t>
            </a:r>
            <a:endParaRPr lang="ko-KR" altLang="en-US" sz="140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  <a:p>
            <a:pPr defTabSz="180000"/>
            <a:r>
              <a:rPr lang="en-US" altLang="ko-KR" sz="140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}</a:t>
            </a:r>
            <a:endParaRPr lang="ko-KR" altLang="en-US" sz="140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3" name="TextBox 12"/>
          <p:cNvSpPr txBox="1"/>
          <p:nvPr/>
        </p:nvSpPr>
        <p:spPr>
          <a:xfrm>
            <a:off x="827584" y="1413023"/>
            <a:ext cx="736611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Scanner</a:t>
            </a:r>
            <a:r>
              <a:rPr lang="ko-KR" altLang="en-US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를 이용하여 나이</a:t>
            </a:r>
            <a:r>
              <a:rPr lang="en-US" altLang="ko-KR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, </a:t>
            </a:r>
            <a:r>
              <a:rPr lang="ko-KR" altLang="en-US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체중</a:t>
            </a:r>
            <a:r>
              <a:rPr lang="en-US" altLang="ko-KR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, </a:t>
            </a:r>
            <a:r>
              <a:rPr lang="ko-KR" altLang="en-US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신장 데이터를 키보드에서 </a:t>
            </a:r>
            <a:r>
              <a:rPr lang="ko-KR" altLang="en-US" smtClean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입력 받아</a:t>
            </a:r>
            <a:endParaRPr lang="en-US" altLang="ko-KR" smtClean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  <a:p>
            <a:r>
              <a:rPr lang="ko-KR" altLang="en-US" smtClean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다시 </a:t>
            </a:r>
            <a:r>
              <a:rPr lang="ko-KR" altLang="en-US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출력하는 프로그램을 </a:t>
            </a:r>
            <a:r>
              <a:rPr lang="ko-KR" altLang="en-US" smtClean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작성</a:t>
            </a:r>
            <a:endParaRPr lang="ko-KR" altLang="en-US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899592" y="4563705"/>
            <a:ext cx="7220368" cy="1169551"/>
          </a:xfrm>
          <a:prstGeom prst="rect">
            <a:avLst/>
          </a:prstGeom>
          <a:solidFill>
            <a:srgbClr val="DAEEC4"/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ko-KR" altLang="en-US" sz="1400" b="1">
                <a:latin typeface="맑은 고딕" pitchFamily="50" charset="-127"/>
                <a:ea typeface="맑은 고딕" pitchFamily="50" charset="-127"/>
              </a:rPr>
              <a:t>나이</a:t>
            </a:r>
            <a:r>
              <a:rPr lang="en-US" altLang="ko-KR" sz="1400" b="1">
                <a:latin typeface="맑은 고딕" pitchFamily="50" charset="-127"/>
                <a:ea typeface="맑은 고딕" pitchFamily="50" charset="-127"/>
              </a:rPr>
              <a:t>, </a:t>
            </a:r>
            <a:r>
              <a:rPr lang="ko-KR" altLang="en-US" sz="1400" b="1">
                <a:latin typeface="맑은 고딕" pitchFamily="50" charset="-127"/>
                <a:ea typeface="맑은 고딕" pitchFamily="50" charset="-127"/>
              </a:rPr>
              <a:t>체중</a:t>
            </a:r>
            <a:r>
              <a:rPr lang="en-US" altLang="ko-KR" sz="1400" b="1">
                <a:latin typeface="맑은 고딕" pitchFamily="50" charset="-127"/>
                <a:ea typeface="맑은 고딕" pitchFamily="50" charset="-127"/>
              </a:rPr>
              <a:t>, </a:t>
            </a:r>
            <a:r>
              <a:rPr lang="ko-KR" altLang="en-US" sz="1400" b="1">
                <a:latin typeface="맑은 고딕" pitchFamily="50" charset="-127"/>
                <a:ea typeface="맑은 고딕" pitchFamily="50" charset="-127"/>
              </a:rPr>
              <a:t>신장을 빈칸으로 분리하여 순서대로 입력하세요</a:t>
            </a:r>
          </a:p>
          <a:p>
            <a:r>
              <a:rPr lang="en-US" altLang="ko-KR" sz="1400" b="1">
                <a:solidFill>
                  <a:srgbClr val="00B050"/>
                </a:solidFill>
                <a:latin typeface="맑은 고딕" pitchFamily="50" charset="-127"/>
                <a:ea typeface="맑은 고딕" pitchFamily="50" charset="-127"/>
              </a:rPr>
              <a:t>35 75 175</a:t>
            </a:r>
          </a:p>
          <a:p>
            <a:r>
              <a:rPr lang="ko-KR" altLang="en-US" sz="1400" b="1">
                <a:latin typeface="맑은 고딕" pitchFamily="50" charset="-127"/>
                <a:ea typeface="맑은 고딕" pitchFamily="50" charset="-127"/>
              </a:rPr>
              <a:t>당신의 나이는 </a:t>
            </a:r>
            <a:r>
              <a:rPr lang="en-US" altLang="ko-KR" sz="1400" b="1">
                <a:latin typeface="맑은 고딕" pitchFamily="50" charset="-127"/>
                <a:ea typeface="맑은 고딕" pitchFamily="50" charset="-127"/>
              </a:rPr>
              <a:t>35</a:t>
            </a:r>
            <a:r>
              <a:rPr lang="ko-KR" altLang="en-US" sz="1400" b="1">
                <a:latin typeface="맑은 고딕" pitchFamily="50" charset="-127"/>
                <a:ea typeface="맑은 고딕" pitchFamily="50" charset="-127"/>
              </a:rPr>
              <a:t>살입니다</a:t>
            </a:r>
            <a:r>
              <a:rPr lang="en-US" altLang="ko-KR" sz="1400" b="1">
                <a:latin typeface="맑은 고딕" pitchFamily="50" charset="-127"/>
                <a:ea typeface="맑은 고딕" pitchFamily="50" charset="-127"/>
              </a:rPr>
              <a:t>.</a:t>
            </a:r>
          </a:p>
          <a:p>
            <a:r>
              <a:rPr lang="ko-KR" altLang="en-US" sz="1400" b="1">
                <a:latin typeface="맑은 고딕" pitchFamily="50" charset="-127"/>
                <a:ea typeface="맑은 고딕" pitchFamily="50" charset="-127"/>
              </a:rPr>
              <a:t>당신의 체중은 </a:t>
            </a:r>
            <a:r>
              <a:rPr lang="en-US" altLang="ko-KR" sz="1400" b="1">
                <a:latin typeface="맑은 고딕" pitchFamily="50" charset="-127"/>
                <a:ea typeface="맑은 고딕" pitchFamily="50" charset="-127"/>
              </a:rPr>
              <a:t>75.0kg</a:t>
            </a:r>
            <a:r>
              <a:rPr lang="ko-KR" altLang="en-US" sz="1400" b="1">
                <a:latin typeface="맑은 고딕" pitchFamily="50" charset="-127"/>
                <a:ea typeface="맑은 고딕" pitchFamily="50" charset="-127"/>
              </a:rPr>
              <a:t>입니다</a:t>
            </a:r>
            <a:r>
              <a:rPr lang="en-US" altLang="ko-KR" sz="1400" b="1">
                <a:latin typeface="맑은 고딕" pitchFamily="50" charset="-127"/>
                <a:ea typeface="맑은 고딕" pitchFamily="50" charset="-127"/>
              </a:rPr>
              <a:t>.</a:t>
            </a:r>
          </a:p>
          <a:p>
            <a:r>
              <a:rPr lang="ko-KR" altLang="en-US" sz="1400" b="1">
                <a:latin typeface="맑은 고딕" pitchFamily="50" charset="-127"/>
                <a:ea typeface="맑은 고딕" pitchFamily="50" charset="-127"/>
              </a:rPr>
              <a:t>당신의 신장은 </a:t>
            </a:r>
            <a:r>
              <a:rPr lang="en-US" altLang="ko-KR" sz="1400" b="1">
                <a:latin typeface="맑은 고딕" pitchFamily="50" charset="-127"/>
                <a:ea typeface="맑은 고딕" pitchFamily="50" charset="-127"/>
              </a:rPr>
              <a:t>175.0cm</a:t>
            </a:r>
            <a:r>
              <a:rPr lang="ko-KR" altLang="en-US" sz="1400" b="1">
                <a:latin typeface="맑은 고딕" pitchFamily="50" charset="-127"/>
                <a:ea typeface="맑은 고딕" pitchFamily="50" charset="-127"/>
              </a:rPr>
              <a:t>입니다</a:t>
            </a:r>
            <a:r>
              <a:rPr lang="en-US" altLang="ko-KR" sz="1400" b="1">
                <a:latin typeface="맑은 고딕" pitchFamily="50" charset="-127"/>
                <a:ea typeface="맑은 고딕" pitchFamily="50" charset="-127"/>
              </a:rPr>
              <a:t>.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1A6BD2C2-3D3B-4E94-BD92-61B02C5F4DEE}" type="slidenum">
              <a:rPr lang="ko-KR" altLang="en-US" smtClean="0"/>
              <a:pPr/>
              <a:t>6</a:t>
            </a:fld>
            <a:endParaRPr lang="ko-KR" altLang="en-US"/>
          </a:p>
        </p:txBody>
      </p:sp>
    </p:spTree>
    <p:extLst>
      <p:ext uri="{BB962C8B-B14F-4D97-AF65-F5344CB8AC3E}">
        <p14:creationId xmlns="" xmlns:p14="http://schemas.microsoft.com/office/powerpoint/2010/main" val="17511699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1. </a:t>
            </a:r>
            <a:r>
              <a:rPr lang="ko-KR" altLang="en-US" smtClean="0"/>
              <a:t>연산자의 우선 순위와 종류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BA5970-03A6-496F-978B-4258F7D373A8}" type="slidenum">
              <a:rPr lang="ko-KR" altLang="en-US" smtClean="0"/>
              <a:pPr/>
              <a:t>7</a:t>
            </a:fld>
            <a:endParaRPr lang="ko-KR" altLang="en-US"/>
          </a:p>
        </p:txBody>
      </p:sp>
      <p:graphicFrame>
        <p:nvGraphicFramePr>
          <p:cNvPr id="6" name="표 5"/>
          <p:cNvGraphicFramePr>
            <a:graphicFrameLocks noGrp="1"/>
          </p:cNvGraphicFramePr>
          <p:nvPr/>
        </p:nvGraphicFramePr>
        <p:xfrm>
          <a:off x="827584" y="2708920"/>
          <a:ext cx="6696744" cy="2664300"/>
        </p:xfrm>
        <a:graphic>
          <a:graphicData uri="http://schemas.openxmlformats.org/drawingml/2006/table">
            <a:tbl>
              <a:tblPr/>
              <a:tblGrid>
                <a:gridCol w="1748411"/>
                <a:gridCol w="3463833"/>
                <a:gridCol w="1484500"/>
              </a:tblGrid>
              <a:tr h="266430"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ko-KR" sz="1400" kern="100">
                          <a:solidFill>
                            <a:srgbClr val="000000"/>
                          </a:solidFill>
                          <a:latin typeface="바탕"/>
                          <a:ea typeface="굴림체"/>
                          <a:cs typeface="굴림체"/>
                        </a:rPr>
                        <a:t>종류</a:t>
                      </a:r>
                      <a:endParaRPr lang="ko-KR" sz="1400" kern="100">
                        <a:solidFill>
                          <a:srgbClr val="000000"/>
                        </a:solidFill>
                        <a:latin typeface="바탕"/>
                        <a:ea typeface="맑은 고딕"/>
                        <a:cs typeface="Courier New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ko-KR" sz="1400" kern="100">
                          <a:solidFill>
                            <a:srgbClr val="000000"/>
                          </a:solidFill>
                          <a:latin typeface="바탕"/>
                          <a:ea typeface="굴림체"/>
                          <a:cs typeface="굴림체"/>
                        </a:rPr>
                        <a:t>연산자</a:t>
                      </a:r>
                      <a:endParaRPr lang="ko-KR" sz="1400" kern="100">
                        <a:solidFill>
                          <a:srgbClr val="000000"/>
                        </a:solidFill>
                        <a:latin typeface="바탕"/>
                        <a:ea typeface="맑은 고딕"/>
                        <a:cs typeface="Courier New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ko-KR" sz="1400" kern="100">
                          <a:solidFill>
                            <a:srgbClr val="000000"/>
                          </a:solidFill>
                          <a:latin typeface="바탕"/>
                          <a:ea typeface="굴림체"/>
                          <a:cs typeface="굴림체"/>
                        </a:rPr>
                        <a:t>결합 방향</a:t>
                      </a:r>
                      <a:endParaRPr lang="ko-KR" sz="1400" kern="100">
                        <a:solidFill>
                          <a:srgbClr val="000000"/>
                        </a:solidFill>
                        <a:latin typeface="바탕"/>
                        <a:ea typeface="맑은 고딕"/>
                        <a:cs typeface="Courier New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6430"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ko-KR" sz="1400" kern="100">
                          <a:solidFill>
                            <a:srgbClr val="000000"/>
                          </a:solidFill>
                          <a:latin typeface="바탕"/>
                          <a:ea typeface="굴림체"/>
                          <a:cs typeface="굴림체"/>
                        </a:rPr>
                        <a:t>최우선</a:t>
                      </a:r>
                      <a:endParaRPr lang="ko-KR" sz="1400" kern="100">
                        <a:solidFill>
                          <a:srgbClr val="000000"/>
                        </a:solidFill>
                        <a:latin typeface="바탕"/>
                        <a:ea typeface="맑은 고딕"/>
                        <a:cs typeface="Courier New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457200" algn="just" latinLnBrk="1">
                        <a:spcAft>
                          <a:spcPts val="0"/>
                        </a:spcAft>
                      </a:pPr>
                      <a:r>
                        <a:rPr lang="en-US" sz="1400" kern="100">
                          <a:solidFill>
                            <a:srgbClr val="000000"/>
                          </a:solidFill>
                          <a:latin typeface="굴림체"/>
                          <a:ea typeface="맑은 고딕"/>
                          <a:cs typeface="굴림체"/>
                        </a:rPr>
                        <a:t>(), []</a:t>
                      </a:r>
                      <a:endParaRPr lang="ko-KR" sz="1400" kern="100">
                        <a:solidFill>
                          <a:srgbClr val="000000"/>
                        </a:solidFill>
                        <a:latin typeface="바탕"/>
                        <a:ea typeface="맑은 고딕"/>
                        <a:cs typeface="Courier New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en-US" sz="1400" kern="100">
                          <a:solidFill>
                            <a:srgbClr val="000000"/>
                          </a:solidFill>
                          <a:latin typeface="굴림체"/>
                          <a:ea typeface="맑은 고딕"/>
                          <a:cs typeface="굴림체"/>
                        </a:rPr>
                        <a:t>-&gt;</a:t>
                      </a:r>
                      <a:endParaRPr lang="ko-KR" sz="1400" kern="100">
                        <a:solidFill>
                          <a:srgbClr val="000000"/>
                        </a:solidFill>
                        <a:latin typeface="바탕"/>
                        <a:ea typeface="맑은 고딕"/>
                        <a:cs typeface="Courier New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6430"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ko-KR" sz="1400" kern="100" err="1">
                          <a:solidFill>
                            <a:srgbClr val="000000"/>
                          </a:solidFill>
                          <a:latin typeface="바탕"/>
                          <a:ea typeface="굴림체"/>
                          <a:cs typeface="굴림체"/>
                        </a:rPr>
                        <a:t>단항</a:t>
                      </a:r>
                      <a:r>
                        <a:rPr lang="ko-KR" sz="1400" kern="100">
                          <a:solidFill>
                            <a:srgbClr val="000000"/>
                          </a:solidFill>
                          <a:latin typeface="바탕"/>
                          <a:ea typeface="굴림체"/>
                          <a:cs typeface="굴림체"/>
                        </a:rPr>
                        <a:t> 연산자</a:t>
                      </a:r>
                      <a:endParaRPr lang="ko-KR" sz="1400" kern="100">
                        <a:solidFill>
                          <a:srgbClr val="000000"/>
                        </a:solidFill>
                        <a:latin typeface="바탕"/>
                        <a:ea typeface="맑은 고딕"/>
                        <a:cs typeface="Courier New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457200" algn="just" latinLnBrk="1">
                        <a:spcAft>
                          <a:spcPts val="0"/>
                        </a:spcAft>
                      </a:pPr>
                      <a:r>
                        <a:rPr lang="en-US" sz="1400" kern="100">
                          <a:solidFill>
                            <a:srgbClr val="000000"/>
                          </a:solidFill>
                          <a:latin typeface="굴림체"/>
                          <a:ea typeface="맑은 고딕"/>
                          <a:cs typeface="굴림체"/>
                        </a:rPr>
                        <a:t>++, --, +, -, (type), !, ~</a:t>
                      </a:r>
                      <a:endParaRPr lang="ko-KR" sz="1400" kern="100">
                        <a:solidFill>
                          <a:srgbClr val="000000"/>
                        </a:solidFill>
                        <a:latin typeface="바탕"/>
                        <a:ea typeface="맑은 고딕"/>
                        <a:cs typeface="Courier New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en-US" sz="1400" kern="100">
                          <a:solidFill>
                            <a:srgbClr val="000000"/>
                          </a:solidFill>
                          <a:latin typeface="굴림체"/>
                          <a:ea typeface="맑은 고딕"/>
                          <a:cs typeface="굴림체"/>
                        </a:rPr>
                        <a:t>&lt;-</a:t>
                      </a:r>
                      <a:endParaRPr lang="ko-KR" sz="1400" kern="100">
                        <a:solidFill>
                          <a:srgbClr val="000000"/>
                        </a:solidFill>
                        <a:latin typeface="바탕"/>
                        <a:ea typeface="맑은 고딕"/>
                        <a:cs typeface="Courier New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6430"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ko-KR" sz="1400" kern="100">
                          <a:solidFill>
                            <a:srgbClr val="000000"/>
                          </a:solidFill>
                          <a:latin typeface="바탕"/>
                          <a:ea typeface="굴림체"/>
                          <a:cs typeface="굴림체"/>
                        </a:rPr>
                        <a:t>산술 연산자</a:t>
                      </a:r>
                      <a:endParaRPr lang="ko-KR" sz="1400" kern="100">
                        <a:solidFill>
                          <a:srgbClr val="000000"/>
                        </a:solidFill>
                        <a:latin typeface="바탕"/>
                        <a:ea typeface="맑은 고딕"/>
                        <a:cs typeface="Courier New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457200" algn="just" latinLnBrk="1">
                        <a:spcAft>
                          <a:spcPts val="0"/>
                        </a:spcAft>
                      </a:pPr>
                      <a:r>
                        <a:rPr lang="en-US" sz="1400" kern="100">
                          <a:solidFill>
                            <a:srgbClr val="000000"/>
                          </a:solidFill>
                          <a:latin typeface="굴림체"/>
                          <a:ea typeface="맑은 고딕"/>
                          <a:cs typeface="굴림체"/>
                        </a:rPr>
                        <a:t>%, /, *, +, -</a:t>
                      </a:r>
                      <a:endParaRPr lang="ko-KR" sz="1400" kern="100">
                        <a:solidFill>
                          <a:srgbClr val="000000"/>
                        </a:solidFill>
                        <a:latin typeface="바탕"/>
                        <a:ea typeface="맑은 고딕"/>
                        <a:cs typeface="Courier New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en-US" sz="1400" kern="100">
                          <a:solidFill>
                            <a:srgbClr val="000000"/>
                          </a:solidFill>
                          <a:latin typeface="굴림체"/>
                          <a:ea typeface="맑은 고딕"/>
                          <a:cs typeface="굴림체"/>
                        </a:rPr>
                        <a:t>-&gt;</a:t>
                      </a:r>
                      <a:endParaRPr lang="ko-KR" sz="1400" kern="100">
                        <a:solidFill>
                          <a:srgbClr val="000000"/>
                        </a:solidFill>
                        <a:latin typeface="바탕"/>
                        <a:ea typeface="맑은 고딕"/>
                        <a:cs typeface="Courier New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6430"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ko-KR" sz="1400" kern="100">
                          <a:solidFill>
                            <a:srgbClr val="000000"/>
                          </a:solidFill>
                          <a:latin typeface="바탕"/>
                          <a:ea typeface="굴림체"/>
                          <a:cs typeface="굴림체"/>
                        </a:rPr>
                        <a:t>시프트 연산자</a:t>
                      </a:r>
                      <a:endParaRPr lang="ko-KR" sz="1400" kern="100">
                        <a:solidFill>
                          <a:srgbClr val="000000"/>
                        </a:solidFill>
                        <a:latin typeface="바탕"/>
                        <a:ea typeface="맑은 고딕"/>
                        <a:cs typeface="Courier New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457200" algn="just" latinLnBrk="1">
                        <a:spcAft>
                          <a:spcPts val="0"/>
                        </a:spcAft>
                      </a:pPr>
                      <a:r>
                        <a:rPr lang="en-US" sz="1400" kern="100">
                          <a:solidFill>
                            <a:srgbClr val="000000"/>
                          </a:solidFill>
                          <a:latin typeface="굴림체"/>
                          <a:ea typeface="맑은 고딕"/>
                          <a:cs typeface="굴림체"/>
                        </a:rPr>
                        <a:t>&gt;&gt;, &lt;&lt;, &gt;&gt;&gt;</a:t>
                      </a:r>
                      <a:endParaRPr lang="ko-KR" sz="1400" kern="100">
                        <a:solidFill>
                          <a:srgbClr val="000000"/>
                        </a:solidFill>
                        <a:latin typeface="바탕"/>
                        <a:ea typeface="맑은 고딕"/>
                        <a:cs typeface="Courier New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en-US" sz="1400" kern="100">
                          <a:solidFill>
                            <a:srgbClr val="000000"/>
                          </a:solidFill>
                          <a:latin typeface="굴림체"/>
                          <a:ea typeface="맑은 고딕"/>
                          <a:cs typeface="굴림체"/>
                        </a:rPr>
                        <a:t>-&gt;</a:t>
                      </a:r>
                      <a:endParaRPr lang="ko-KR" sz="1400" kern="100">
                        <a:solidFill>
                          <a:srgbClr val="000000"/>
                        </a:solidFill>
                        <a:latin typeface="바탕"/>
                        <a:ea typeface="맑은 고딕"/>
                        <a:cs typeface="Courier New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6430"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ko-KR" sz="1400" kern="100">
                          <a:solidFill>
                            <a:srgbClr val="000000"/>
                          </a:solidFill>
                          <a:latin typeface="바탕"/>
                          <a:ea typeface="굴림체"/>
                          <a:cs typeface="굴림체"/>
                        </a:rPr>
                        <a:t>관계 연산자</a:t>
                      </a:r>
                      <a:endParaRPr lang="ko-KR" sz="1400" kern="100">
                        <a:solidFill>
                          <a:srgbClr val="000000"/>
                        </a:solidFill>
                        <a:latin typeface="바탕"/>
                        <a:ea typeface="맑은 고딕"/>
                        <a:cs typeface="Courier New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457200" algn="just" latinLnBrk="1">
                        <a:spcAft>
                          <a:spcPts val="0"/>
                        </a:spcAft>
                      </a:pPr>
                      <a:r>
                        <a:rPr lang="en-US" sz="1400" kern="100">
                          <a:solidFill>
                            <a:srgbClr val="000000"/>
                          </a:solidFill>
                          <a:latin typeface="굴림체"/>
                          <a:ea typeface="맑은 고딕"/>
                          <a:cs typeface="굴림체"/>
                        </a:rPr>
                        <a:t>&lt;, &lt;=, &gt;, &gt;=, ==, !=</a:t>
                      </a:r>
                      <a:endParaRPr lang="ko-KR" sz="1400" kern="100">
                        <a:solidFill>
                          <a:srgbClr val="000000"/>
                        </a:solidFill>
                        <a:latin typeface="바탕"/>
                        <a:ea typeface="맑은 고딕"/>
                        <a:cs typeface="Courier New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en-US" sz="1400" kern="100">
                          <a:solidFill>
                            <a:srgbClr val="000000"/>
                          </a:solidFill>
                          <a:latin typeface="굴림체"/>
                          <a:ea typeface="맑은 고딕"/>
                          <a:cs typeface="굴림체"/>
                        </a:rPr>
                        <a:t>-&gt;</a:t>
                      </a:r>
                      <a:endParaRPr lang="ko-KR" sz="1400" kern="100">
                        <a:solidFill>
                          <a:srgbClr val="000000"/>
                        </a:solidFill>
                        <a:latin typeface="바탕"/>
                        <a:ea typeface="맑은 고딕"/>
                        <a:cs typeface="Courier New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6430"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ko-KR" sz="1400" kern="100">
                          <a:solidFill>
                            <a:srgbClr val="000000"/>
                          </a:solidFill>
                          <a:latin typeface="바탕"/>
                          <a:ea typeface="굴림체"/>
                          <a:cs typeface="굴림체"/>
                        </a:rPr>
                        <a:t>논리 연산자</a:t>
                      </a:r>
                      <a:endParaRPr lang="ko-KR" sz="1400" kern="100">
                        <a:solidFill>
                          <a:srgbClr val="000000"/>
                        </a:solidFill>
                        <a:latin typeface="바탕"/>
                        <a:ea typeface="맑은 고딕"/>
                        <a:cs typeface="Courier New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457200" algn="just" latinLnBrk="1">
                        <a:spcAft>
                          <a:spcPts val="0"/>
                        </a:spcAft>
                      </a:pPr>
                      <a:r>
                        <a:rPr lang="en-US" sz="1400" kern="100">
                          <a:solidFill>
                            <a:srgbClr val="000000"/>
                          </a:solidFill>
                          <a:latin typeface="굴림체"/>
                          <a:ea typeface="맑은 고딕"/>
                          <a:cs typeface="굴림체"/>
                        </a:rPr>
                        <a:t>&amp;, ^, |,, ~ &amp;&amp;, ||</a:t>
                      </a:r>
                      <a:endParaRPr lang="ko-KR" sz="1400" kern="100">
                        <a:solidFill>
                          <a:srgbClr val="000000"/>
                        </a:solidFill>
                        <a:latin typeface="바탕"/>
                        <a:ea typeface="맑은 고딕"/>
                        <a:cs typeface="Courier New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en-US" sz="1400" kern="100">
                          <a:solidFill>
                            <a:srgbClr val="000000"/>
                          </a:solidFill>
                          <a:latin typeface="굴림체"/>
                          <a:ea typeface="맑은 고딕"/>
                          <a:cs typeface="굴림체"/>
                        </a:rPr>
                        <a:t>-&gt;</a:t>
                      </a:r>
                      <a:endParaRPr lang="ko-KR" sz="1400" kern="100">
                        <a:solidFill>
                          <a:srgbClr val="000000"/>
                        </a:solidFill>
                        <a:latin typeface="바탕"/>
                        <a:ea typeface="맑은 고딕"/>
                        <a:cs typeface="Courier New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6430"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ko-KR" sz="1400" kern="100" err="1">
                          <a:solidFill>
                            <a:srgbClr val="000000"/>
                          </a:solidFill>
                          <a:latin typeface="바탕"/>
                          <a:ea typeface="굴림체"/>
                          <a:cs typeface="굴림체"/>
                        </a:rPr>
                        <a:t>삼항</a:t>
                      </a:r>
                      <a:r>
                        <a:rPr lang="ko-KR" sz="1400" kern="100">
                          <a:solidFill>
                            <a:srgbClr val="000000"/>
                          </a:solidFill>
                          <a:latin typeface="바탕"/>
                          <a:ea typeface="굴림체"/>
                          <a:cs typeface="굴림체"/>
                        </a:rPr>
                        <a:t> 연산자</a:t>
                      </a:r>
                      <a:endParaRPr lang="ko-KR" sz="1400" kern="100">
                        <a:solidFill>
                          <a:srgbClr val="000000"/>
                        </a:solidFill>
                        <a:latin typeface="바탕"/>
                        <a:ea typeface="맑은 고딕"/>
                        <a:cs typeface="Courier New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457200" algn="just" latinLnBrk="1">
                        <a:spcAft>
                          <a:spcPts val="0"/>
                        </a:spcAft>
                      </a:pPr>
                      <a:r>
                        <a:rPr lang="en-US" sz="1400" kern="100">
                          <a:solidFill>
                            <a:srgbClr val="000000"/>
                          </a:solidFill>
                          <a:latin typeface="굴림체"/>
                          <a:ea typeface="맑은 고딕"/>
                          <a:cs typeface="굴림체"/>
                        </a:rPr>
                        <a:t>? :</a:t>
                      </a:r>
                      <a:endParaRPr lang="ko-KR" sz="1400" kern="100">
                        <a:solidFill>
                          <a:srgbClr val="000000"/>
                        </a:solidFill>
                        <a:latin typeface="바탕"/>
                        <a:ea typeface="맑은 고딕"/>
                        <a:cs typeface="Courier New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en-US" sz="1400" kern="100">
                          <a:solidFill>
                            <a:srgbClr val="000000"/>
                          </a:solidFill>
                          <a:latin typeface="굴림체"/>
                          <a:ea typeface="맑은 고딕"/>
                          <a:cs typeface="굴림체"/>
                        </a:rPr>
                        <a:t>&lt;-</a:t>
                      </a:r>
                      <a:endParaRPr lang="ko-KR" sz="1400" kern="100">
                        <a:solidFill>
                          <a:srgbClr val="000000"/>
                        </a:solidFill>
                        <a:latin typeface="바탕"/>
                        <a:ea typeface="맑은 고딕"/>
                        <a:cs typeface="Courier New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6430"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ko-KR" sz="1400" kern="100">
                          <a:solidFill>
                            <a:srgbClr val="000000"/>
                          </a:solidFill>
                          <a:latin typeface="바탕"/>
                          <a:ea typeface="굴림체"/>
                          <a:cs typeface="굴림체"/>
                        </a:rPr>
                        <a:t>대입 연산자</a:t>
                      </a:r>
                      <a:endParaRPr lang="ko-KR" sz="1400" kern="100">
                        <a:solidFill>
                          <a:srgbClr val="000000"/>
                        </a:solidFill>
                        <a:latin typeface="바탕"/>
                        <a:ea typeface="맑은 고딕"/>
                        <a:cs typeface="Courier New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457200" algn="just" latinLnBrk="1">
                        <a:spcAft>
                          <a:spcPts val="0"/>
                        </a:spcAft>
                      </a:pPr>
                      <a:r>
                        <a:rPr lang="en-US" sz="1400" kern="100">
                          <a:solidFill>
                            <a:srgbClr val="000000"/>
                          </a:solidFill>
                          <a:latin typeface="굴림체"/>
                          <a:ea typeface="맑은 고딕"/>
                          <a:cs typeface="굴림체"/>
                        </a:rPr>
                        <a:t>=, +=, -=, *=, %=, /=, &gt;&gt;=, &lt;&lt;=</a:t>
                      </a:r>
                      <a:endParaRPr lang="ko-KR" sz="1400" kern="100">
                        <a:solidFill>
                          <a:srgbClr val="000000"/>
                        </a:solidFill>
                        <a:latin typeface="바탕"/>
                        <a:ea typeface="맑은 고딕"/>
                        <a:cs typeface="Courier New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en-US" sz="1400" kern="100">
                          <a:solidFill>
                            <a:srgbClr val="000000"/>
                          </a:solidFill>
                          <a:latin typeface="굴림체"/>
                          <a:ea typeface="맑은 고딕"/>
                          <a:cs typeface="굴림체"/>
                        </a:rPr>
                        <a:t>&lt;-</a:t>
                      </a:r>
                      <a:endParaRPr lang="ko-KR" sz="1400" kern="100">
                        <a:solidFill>
                          <a:srgbClr val="000000"/>
                        </a:solidFill>
                        <a:latin typeface="바탕"/>
                        <a:ea typeface="맑은 고딕"/>
                        <a:cs typeface="Courier New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6430"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ko-KR" sz="1400" kern="100">
                          <a:solidFill>
                            <a:srgbClr val="000000"/>
                          </a:solidFill>
                          <a:latin typeface="바탕"/>
                          <a:ea typeface="굴림체"/>
                          <a:cs typeface="굴림체"/>
                        </a:rPr>
                        <a:t>콤마 연산자</a:t>
                      </a:r>
                      <a:endParaRPr lang="ko-KR" sz="1400" kern="100">
                        <a:solidFill>
                          <a:srgbClr val="000000"/>
                        </a:solidFill>
                        <a:latin typeface="바탕"/>
                        <a:ea typeface="맑은 고딕"/>
                        <a:cs typeface="Courier New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457200" algn="just" latinLnBrk="1">
                        <a:spcAft>
                          <a:spcPts val="0"/>
                        </a:spcAft>
                      </a:pPr>
                      <a:r>
                        <a:rPr lang="en-US" sz="1400" kern="100">
                          <a:solidFill>
                            <a:srgbClr val="000000"/>
                          </a:solidFill>
                          <a:latin typeface="굴림체"/>
                          <a:ea typeface="맑은 고딕"/>
                          <a:cs typeface="굴림체"/>
                        </a:rPr>
                        <a:t>,</a:t>
                      </a:r>
                      <a:endParaRPr lang="ko-KR" sz="1400" kern="100">
                        <a:solidFill>
                          <a:srgbClr val="000000"/>
                        </a:solidFill>
                        <a:latin typeface="바탕"/>
                        <a:ea typeface="맑은 고딕"/>
                        <a:cs typeface="Courier New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endParaRPr lang="en-US" sz="1400" kern="100">
                        <a:solidFill>
                          <a:srgbClr val="000000"/>
                        </a:solidFill>
                        <a:latin typeface="굴림체"/>
                        <a:ea typeface="맑은 고딕"/>
                        <a:cs typeface="굴림체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4577" name="Rectangle 1"/>
          <p:cNvSpPr>
            <a:spLocks noChangeArrowheads="1"/>
          </p:cNvSpPr>
          <p:nvPr/>
        </p:nvSpPr>
        <p:spPr bwMode="auto">
          <a:xfrm>
            <a:off x="755576" y="1190362"/>
            <a:ext cx="6120680" cy="144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ko-KR" sz="1600" b="1" i="0" u="none" strike="noStrike" cap="none" normalizeH="0" baseline="0" smtClean="0">
                <a:ln>
                  <a:noFill/>
                </a:ln>
                <a:solidFill>
                  <a:srgbClr val="000000"/>
                </a:solidFill>
                <a:effectLst/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1) </a:t>
            </a:r>
            <a:r>
              <a:rPr kumimoji="1" lang="ko-KR" altLang="en-US" sz="1600" b="1" i="0" u="none" strike="noStrike" cap="none" normalizeH="0" baseline="0" smtClean="0">
                <a:ln>
                  <a:noFill/>
                </a:ln>
                <a:solidFill>
                  <a:srgbClr val="000000"/>
                </a:solidFill>
                <a:effectLst/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피 연산자의 개수에 따른 연산자의 종류</a:t>
            </a:r>
            <a:endParaRPr kumimoji="1" lang="ko-KR" altLang="en-US" sz="1600" b="0" i="0" u="none" strike="noStrike" cap="none" normalizeH="0" baseline="0" smtClean="0">
              <a:ln>
                <a:noFill/>
              </a:ln>
              <a:solidFill>
                <a:srgbClr val="000000"/>
              </a:solidFill>
              <a:effectLst/>
              <a:latin typeface="맑은 고딕" pitchFamily="50" charset="-127"/>
              <a:ea typeface="맑은 고딕" pitchFamily="50" charset="-127"/>
            </a:endParaRPr>
          </a:p>
          <a:p>
            <a:pPr lvl="1" eaLnBrk="0" fontAlgn="base" latinLnBrk="0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v"/>
            </a:pPr>
            <a:r>
              <a:rPr kumimoji="1" lang="en-US" altLang="ko-KR" sz="1400" b="0" i="0" u="none" strike="noStrike" cap="none" normalizeH="0" baseline="0" smtClean="0">
                <a:ln>
                  <a:noFill/>
                </a:ln>
                <a:solidFill>
                  <a:srgbClr val="000000"/>
                </a:solidFill>
                <a:effectLst/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 </a:t>
            </a:r>
            <a:r>
              <a:rPr kumimoji="1" lang="ko-KR" altLang="en-US" sz="1400" b="0" i="0" u="none" strike="noStrike" cap="none" normalizeH="0" baseline="0" err="1" smtClean="0">
                <a:ln>
                  <a:noFill/>
                </a:ln>
                <a:solidFill>
                  <a:srgbClr val="000000"/>
                </a:solidFill>
                <a:effectLst/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단항</a:t>
            </a:r>
            <a:r>
              <a:rPr kumimoji="1" lang="ko-KR" altLang="en-US" sz="1400" b="0" i="0" u="none" strike="noStrike" cap="none" normalizeH="0" baseline="0" smtClean="0">
                <a:ln>
                  <a:noFill/>
                </a:ln>
                <a:solidFill>
                  <a:srgbClr val="000000"/>
                </a:solidFill>
                <a:effectLst/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 연산자</a:t>
            </a:r>
            <a:r>
              <a:rPr kumimoji="1" lang="en-US" altLang="ko-KR" sz="1400" b="0" i="0" u="none" strike="noStrike" cap="none" normalizeH="0" baseline="0" smtClean="0">
                <a:ln>
                  <a:noFill/>
                </a:ln>
                <a:solidFill>
                  <a:srgbClr val="000000"/>
                </a:solidFill>
                <a:effectLst/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: </a:t>
            </a:r>
            <a:r>
              <a:rPr kumimoji="1" lang="ko-KR" altLang="en-US" sz="1400" b="0" i="0" u="none" strike="noStrike" cap="none" normalizeH="0" baseline="0" err="1" smtClean="0">
                <a:ln>
                  <a:noFill/>
                </a:ln>
                <a:solidFill>
                  <a:srgbClr val="000000"/>
                </a:solidFill>
                <a:effectLst/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피연산자가</a:t>
            </a:r>
            <a:r>
              <a:rPr kumimoji="1" lang="ko-KR" altLang="en-US" sz="1400" b="0" i="0" u="none" strike="noStrike" cap="none" normalizeH="0" baseline="0" smtClean="0">
                <a:ln>
                  <a:noFill/>
                </a:ln>
                <a:solidFill>
                  <a:srgbClr val="000000"/>
                </a:solidFill>
                <a:effectLst/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 </a:t>
            </a:r>
            <a:r>
              <a:rPr kumimoji="1" lang="en-US" altLang="ko-KR" sz="1400" b="0" i="0" u="none" strike="noStrike" cap="none" normalizeH="0" baseline="0" smtClean="0">
                <a:ln>
                  <a:noFill/>
                </a:ln>
                <a:solidFill>
                  <a:srgbClr val="000000"/>
                </a:solidFill>
                <a:effectLst/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1</a:t>
            </a:r>
            <a:r>
              <a:rPr kumimoji="1" lang="ko-KR" altLang="en-US" sz="1400" b="0" i="0" u="none" strike="noStrike" cap="none" normalizeH="0" baseline="0" smtClean="0">
                <a:ln>
                  <a:noFill/>
                </a:ln>
                <a:solidFill>
                  <a:srgbClr val="000000"/>
                </a:solidFill>
                <a:effectLst/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개인 연산자</a:t>
            </a:r>
            <a:endParaRPr kumimoji="1" lang="ko-KR" altLang="en-US" sz="1400" b="0" i="0" u="none" strike="noStrike" cap="none" normalizeH="0" baseline="0" smtClean="0">
              <a:ln>
                <a:noFill/>
              </a:ln>
              <a:solidFill>
                <a:srgbClr val="000000"/>
              </a:solidFill>
              <a:effectLst/>
              <a:latin typeface="맑은 고딕" pitchFamily="50" charset="-127"/>
              <a:ea typeface="맑은 고딕" pitchFamily="50" charset="-127"/>
            </a:endParaRPr>
          </a:p>
          <a:p>
            <a:pPr lvl="1" eaLnBrk="0" fontAlgn="base" latinLnBrk="0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v"/>
            </a:pPr>
            <a:r>
              <a:rPr kumimoji="1" lang="en-US" altLang="ko-KR" sz="1400" b="0" i="0" u="none" strike="noStrike" cap="none" normalizeH="0" baseline="0" smtClean="0">
                <a:ln>
                  <a:noFill/>
                </a:ln>
                <a:solidFill>
                  <a:srgbClr val="000000"/>
                </a:solidFill>
                <a:effectLst/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 </a:t>
            </a:r>
            <a:r>
              <a:rPr kumimoji="1" lang="ko-KR" altLang="en-US" sz="1400" b="0" i="0" u="none" strike="noStrike" cap="none" normalizeH="0" baseline="0" smtClean="0">
                <a:ln>
                  <a:noFill/>
                </a:ln>
                <a:solidFill>
                  <a:srgbClr val="000000"/>
                </a:solidFill>
                <a:effectLst/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이항 연산자</a:t>
            </a:r>
            <a:r>
              <a:rPr kumimoji="1" lang="en-US" altLang="ko-KR" sz="1400" b="0" i="0" u="none" strike="noStrike" cap="none" normalizeH="0" baseline="0" smtClean="0">
                <a:ln>
                  <a:noFill/>
                </a:ln>
                <a:solidFill>
                  <a:srgbClr val="000000"/>
                </a:solidFill>
                <a:effectLst/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: </a:t>
            </a:r>
            <a:r>
              <a:rPr kumimoji="1" lang="ko-KR" altLang="en-US" sz="1400" b="0" i="0" u="none" strike="noStrike" cap="none" normalizeH="0" baseline="0" err="1" smtClean="0">
                <a:ln>
                  <a:noFill/>
                </a:ln>
                <a:solidFill>
                  <a:srgbClr val="000000"/>
                </a:solidFill>
                <a:effectLst/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피연산자가</a:t>
            </a:r>
            <a:r>
              <a:rPr kumimoji="1" lang="ko-KR" altLang="en-US" sz="1400" b="0" i="0" u="none" strike="noStrike" cap="none" normalizeH="0" baseline="0" smtClean="0">
                <a:ln>
                  <a:noFill/>
                </a:ln>
                <a:solidFill>
                  <a:srgbClr val="000000"/>
                </a:solidFill>
                <a:effectLst/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 </a:t>
            </a:r>
            <a:r>
              <a:rPr kumimoji="1" lang="en-US" altLang="ko-KR" sz="1400" b="0" i="0" u="none" strike="noStrike" cap="none" normalizeH="0" baseline="0" smtClean="0">
                <a:ln>
                  <a:noFill/>
                </a:ln>
                <a:solidFill>
                  <a:srgbClr val="000000"/>
                </a:solidFill>
                <a:effectLst/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2</a:t>
            </a:r>
            <a:r>
              <a:rPr kumimoji="1" lang="ko-KR" altLang="en-US" sz="1400" b="0" i="0" u="none" strike="noStrike" cap="none" normalizeH="0" baseline="0" smtClean="0">
                <a:ln>
                  <a:noFill/>
                </a:ln>
                <a:solidFill>
                  <a:srgbClr val="000000"/>
                </a:solidFill>
                <a:effectLst/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개인 연산자</a:t>
            </a:r>
            <a:endParaRPr kumimoji="1" lang="ko-KR" altLang="en-US" sz="1400" b="0" i="0" u="none" strike="noStrike" cap="none" normalizeH="0" baseline="0" smtClean="0">
              <a:ln>
                <a:noFill/>
              </a:ln>
              <a:solidFill>
                <a:srgbClr val="000000"/>
              </a:solidFill>
              <a:effectLst/>
              <a:latin typeface="맑은 고딕" pitchFamily="50" charset="-127"/>
              <a:ea typeface="맑은 고딕" pitchFamily="50" charset="-127"/>
            </a:endParaRPr>
          </a:p>
          <a:p>
            <a:pPr lvl="1" eaLnBrk="0" fontAlgn="base" latinLnBrk="0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v"/>
            </a:pPr>
            <a:r>
              <a:rPr kumimoji="1" lang="en-US" altLang="ko-KR" sz="1400" b="0" i="0" u="none" strike="noStrike" cap="none" normalizeH="0" baseline="0" smtClean="0">
                <a:ln>
                  <a:noFill/>
                </a:ln>
                <a:solidFill>
                  <a:srgbClr val="000000"/>
                </a:solidFill>
                <a:effectLst/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 </a:t>
            </a:r>
            <a:r>
              <a:rPr kumimoji="1" lang="ko-KR" altLang="en-US" sz="1400" b="0" i="0" u="none" strike="noStrike" cap="none" normalizeH="0" baseline="0" err="1" smtClean="0">
                <a:ln>
                  <a:noFill/>
                </a:ln>
                <a:solidFill>
                  <a:srgbClr val="000000"/>
                </a:solidFill>
                <a:effectLst/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삼항</a:t>
            </a:r>
            <a:r>
              <a:rPr kumimoji="1" lang="ko-KR" altLang="en-US" sz="1400" b="0" i="0" u="none" strike="noStrike" cap="none" normalizeH="0" baseline="0" smtClean="0">
                <a:ln>
                  <a:noFill/>
                </a:ln>
                <a:solidFill>
                  <a:srgbClr val="000000"/>
                </a:solidFill>
                <a:effectLst/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 연산자</a:t>
            </a:r>
            <a:r>
              <a:rPr kumimoji="1" lang="en-US" altLang="ko-KR" sz="1400" b="0" i="0" u="none" strike="noStrike" cap="none" normalizeH="0" baseline="0" smtClean="0">
                <a:ln>
                  <a:noFill/>
                </a:ln>
                <a:solidFill>
                  <a:srgbClr val="000000"/>
                </a:solidFill>
                <a:effectLst/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: </a:t>
            </a:r>
            <a:r>
              <a:rPr kumimoji="1" lang="ko-KR" altLang="en-US" sz="1400" b="0" i="0" u="none" strike="noStrike" cap="none" normalizeH="0" baseline="0" err="1" smtClean="0">
                <a:ln>
                  <a:noFill/>
                </a:ln>
                <a:solidFill>
                  <a:srgbClr val="000000"/>
                </a:solidFill>
                <a:effectLst/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피연산자가</a:t>
            </a:r>
            <a:r>
              <a:rPr kumimoji="1" lang="ko-KR" altLang="en-US" sz="1400" b="0" i="0" u="none" strike="noStrike" cap="none" normalizeH="0" baseline="0" smtClean="0">
                <a:ln>
                  <a:noFill/>
                </a:ln>
                <a:solidFill>
                  <a:srgbClr val="000000"/>
                </a:solidFill>
                <a:effectLst/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 </a:t>
            </a:r>
            <a:r>
              <a:rPr kumimoji="1" lang="en-US" altLang="ko-KR" sz="1400" b="0" i="0" u="none" strike="noStrike" cap="none" normalizeH="0" baseline="0" smtClean="0">
                <a:ln>
                  <a:noFill/>
                </a:ln>
                <a:solidFill>
                  <a:srgbClr val="000000"/>
                </a:solidFill>
                <a:effectLst/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3</a:t>
            </a:r>
            <a:r>
              <a:rPr kumimoji="1" lang="ko-KR" altLang="en-US" sz="1400" b="0" i="0" u="none" strike="noStrike" cap="none" normalizeH="0" baseline="0" smtClean="0">
                <a:ln>
                  <a:noFill/>
                </a:ln>
                <a:solidFill>
                  <a:srgbClr val="000000"/>
                </a:solidFill>
                <a:effectLst/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개인 연산자</a:t>
            </a:r>
            <a:endParaRPr kumimoji="1" lang="en-US" altLang="ko-KR" sz="1400" b="0" i="0" u="none" strike="noStrike" cap="none" normalizeH="0" baseline="0" smtClean="0">
              <a:ln>
                <a:noFill/>
              </a:ln>
              <a:solidFill>
                <a:srgbClr val="000000"/>
              </a:solidFill>
              <a:effectLst/>
              <a:latin typeface="맑은 고딕" pitchFamily="50" charset="-127"/>
              <a:ea typeface="맑은 고딕" pitchFamily="50" charset="-127"/>
              <a:cs typeface="굴림체" pitchFamily="49" charset="-127"/>
            </a:endParaRPr>
          </a:p>
          <a:p>
            <a:pPr lvl="1" eaLnBrk="0" fontAlgn="base" latinLnBrk="0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v"/>
            </a:pPr>
            <a:endParaRPr kumimoji="1" lang="ko-KR" altLang="en-US" sz="1400" b="0" i="0" u="none" strike="noStrike" cap="none" normalizeH="0" baseline="0" smtClean="0">
              <a:ln>
                <a:noFill/>
              </a:ln>
              <a:solidFill>
                <a:srgbClr val="000000"/>
              </a:solidFill>
              <a:effectLst/>
              <a:latin typeface="맑은 고딕" pitchFamily="50" charset="-127"/>
              <a:ea typeface="맑은 고딕" pitchFamily="50" charset="-127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ko-KR" sz="1600" b="1" i="0" u="none" strike="noStrike" cap="none" normalizeH="0" baseline="0" smtClean="0">
                <a:ln>
                  <a:noFill/>
                </a:ln>
                <a:solidFill>
                  <a:srgbClr val="000000"/>
                </a:solidFill>
                <a:effectLst/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2) </a:t>
            </a:r>
            <a:r>
              <a:rPr kumimoji="1" lang="ko-KR" altLang="en-US" sz="1600" b="1" i="0" u="none" strike="noStrike" cap="none" normalizeH="0" baseline="0" smtClean="0">
                <a:ln>
                  <a:noFill/>
                </a:ln>
                <a:solidFill>
                  <a:srgbClr val="000000"/>
                </a:solidFill>
                <a:effectLst/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용도에 따른 연산자 우선 순위</a:t>
            </a:r>
            <a:endParaRPr kumimoji="1" lang="ko-KR" altLang="en-US" sz="2400" b="0" i="0" u="none" strike="noStrike" cap="none" normalizeH="0" baseline="0" smtClean="0">
              <a:ln>
                <a:noFill/>
              </a:ln>
              <a:solidFill>
                <a:srgbClr val="000000"/>
              </a:solidFill>
              <a:effectLst/>
              <a:latin typeface="맑은 고딕" pitchFamily="50" charset="-127"/>
              <a:ea typeface="맑은 고딕" pitchFamily="50" charset="-127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2. </a:t>
            </a:r>
            <a:r>
              <a:rPr lang="ko-KR" altLang="en-US" smtClean="0"/>
              <a:t>최우선 연산자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BA5970-03A6-496F-978B-4258F7D373A8}" type="slidenum">
              <a:rPr lang="ko-KR" altLang="en-US" smtClean="0"/>
              <a:pPr/>
              <a:t>8</a:t>
            </a:fld>
            <a:endParaRPr lang="ko-KR" altLang="en-US"/>
          </a:p>
        </p:txBody>
      </p:sp>
      <p:sp>
        <p:nvSpPr>
          <p:cNvPr id="24577" name="Rectangle 1"/>
          <p:cNvSpPr>
            <a:spLocks noChangeArrowheads="1"/>
          </p:cNvSpPr>
          <p:nvPr/>
        </p:nvSpPr>
        <p:spPr bwMode="auto">
          <a:xfrm>
            <a:off x="755576" y="1226462"/>
            <a:ext cx="6120680" cy="12618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600" b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1) () </a:t>
            </a:r>
            <a:r>
              <a:rPr kumimoji="1" lang="ko-KR" altLang="en-US" sz="1600" b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연산자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140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우선 순위 변경을 위해 사용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endParaRPr kumimoji="1" lang="ko-KR" altLang="en-US" sz="1600" b="1" smtClean="0">
              <a:solidFill>
                <a:srgbClr val="000000"/>
              </a:solidFill>
              <a:latin typeface="맑은 고딕" pitchFamily="50" charset="-127"/>
              <a:ea typeface="맑은 고딕" pitchFamily="50" charset="-127"/>
              <a:cs typeface="굴림체" pitchFamily="49" charset="-127"/>
            </a:endParaRP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600" b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2) [] </a:t>
            </a:r>
            <a:r>
              <a:rPr kumimoji="1" lang="ko-KR" altLang="en-US" sz="1600" b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연산자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140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배열의 크기나 첨자를 나타낼 때 사용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3.</a:t>
            </a:r>
            <a:r>
              <a:rPr lang="ko-KR" altLang="en-US" err="1" smtClean="0"/>
              <a:t>단항</a:t>
            </a:r>
            <a:r>
              <a:rPr lang="en-US" altLang="ko-KR" smtClean="0"/>
              <a:t>(Unary) </a:t>
            </a:r>
            <a:r>
              <a:rPr lang="ko-KR" altLang="en-US" smtClean="0"/>
              <a:t>연산자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BA5970-03A6-496F-978B-4258F7D373A8}" type="slidenum">
              <a:rPr lang="ko-KR" altLang="en-US" smtClean="0"/>
              <a:pPr/>
              <a:t>9</a:t>
            </a:fld>
            <a:endParaRPr lang="ko-KR" altLang="en-US"/>
          </a:p>
        </p:txBody>
      </p:sp>
      <p:sp>
        <p:nvSpPr>
          <p:cNvPr id="24577" name="Rectangle 1"/>
          <p:cNvSpPr>
            <a:spLocks noChangeArrowheads="1"/>
          </p:cNvSpPr>
          <p:nvPr/>
        </p:nvSpPr>
        <p:spPr bwMode="auto">
          <a:xfrm>
            <a:off x="755576" y="1340768"/>
            <a:ext cx="6120680" cy="28315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600" b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1)~ </a:t>
            </a:r>
            <a:r>
              <a:rPr kumimoji="1" lang="ko-KR" altLang="en-US" sz="1600" b="1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틸드</a:t>
            </a:r>
            <a:endParaRPr kumimoji="1" lang="ko-KR" altLang="en-US" sz="1600" b="1" smtClean="0">
              <a:solidFill>
                <a:srgbClr val="000000"/>
              </a:solidFill>
              <a:latin typeface="맑은 고딕" pitchFamily="50" charset="-127"/>
              <a:ea typeface="맑은 고딕" pitchFamily="50" charset="-127"/>
              <a:cs typeface="굴림체" pitchFamily="49" charset="-127"/>
            </a:endParaRP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1</a:t>
            </a:r>
            <a:r>
              <a:rPr kumimoji="1" lang="ko-KR" altLang="en-US" sz="140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의 보수를 구해주는 연산자</a:t>
            </a:r>
            <a:r>
              <a:rPr kumimoji="1" lang="en-US" altLang="ko-KR" sz="140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.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140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양수의 </a:t>
            </a:r>
            <a:r>
              <a:rPr kumimoji="1" lang="en-US" altLang="ko-KR" sz="140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1</a:t>
            </a:r>
            <a:r>
              <a:rPr kumimoji="1" lang="ko-KR" altLang="en-US" sz="140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의 보수는 부호는 음수가 되고 절대값은 </a:t>
            </a:r>
            <a:r>
              <a:rPr kumimoji="1" lang="en-US" altLang="ko-KR" sz="140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1</a:t>
            </a:r>
            <a:r>
              <a:rPr kumimoji="1" lang="ko-KR" altLang="en-US" sz="140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증가</a:t>
            </a:r>
            <a:endParaRPr kumimoji="1" lang="en-US" altLang="ko-KR" sz="1400" smtClean="0">
              <a:solidFill>
                <a:srgbClr val="000000"/>
              </a:solidFill>
              <a:latin typeface="맑은 고딕" pitchFamily="50" charset="-127"/>
              <a:ea typeface="맑은 고딕" pitchFamily="50" charset="-127"/>
              <a:cs typeface="굴림체" pitchFamily="49" charset="-127"/>
            </a:endParaRP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140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음수의 </a:t>
            </a:r>
            <a:r>
              <a:rPr kumimoji="1" lang="en-US" altLang="ko-KR" sz="140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1</a:t>
            </a:r>
            <a:r>
              <a:rPr kumimoji="1" lang="ko-KR" altLang="en-US" sz="140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의 보수는 부호는 양수가 되고 절대값은 </a:t>
            </a:r>
            <a:r>
              <a:rPr kumimoji="1" lang="en-US" altLang="ko-KR" sz="140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1</a:t>
            </a:r>
            <a:r>
              <a:rPr kumimoji="1" lang="ko-KR" altLang="en-US" sz="140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감소</a:t>
            </a:r>
            <a:endParaRPr kumimoji="1" lang="en-US" altLang="ko-KR" sz="1400" smtClean="0">
              <a:solidFill>
                <a:srgbClr val="000000"/>
              </a:solidFill>
              <a:latin typeface="맑은 고딕" pitchFamily="50" charset="-127"/>
              <a:ea typeface="맑은 고딕" pitchFamily="50" charset="-127"/>
              <a:cs typeface="굴림체" pitchFamily="49" charset="-127"/>
            </a:endParaRP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endParaRPr kumimoji="1" lang="en-US" altLang="ko-KR" sz="1600" b="1" smtClean="0">
              <a:solidFill>
                <a:srgbClr val="000000"/>
              </a:solidFill>
              <a:latin typeface="맑은 고딕" pitchFamily="50" charset="-127"/>
              <a:ea typeface="맑은 고딕" pitchFamily="50" charset="-127"/>
              <a:cs typeface="굴림체" pitchFamily="49" charset="-127"/>
            </a:endParaRP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600" b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2)! 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NOT(true -&gt; false</a:t>
            </a:r>
            <a:r>
              <a:rPr kumimoji="1" lang="ko-KR" altLang="en-US" sz="140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로 </a:t>
            </a:r>
            <a:r>
              <a:rPr kumimoji="1" lang="en-US" altLang="ko-KR" sz="140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false -&gt; true) 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Java </a:t>
            </a:r>
            <a:r>
              <a:rPr kumimoji="1" lang="ko-KR" altLang="en-US" sz="140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언어 에서는 </a:t>
            </a:r>
            <a:r>
              <a:rPr kumimoji="1" lang="en-US" altLang="ko-KR" sz="140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!true  -&gt; false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endParaRPr kumimoji="1" lang="en-US" altLang="ko-KR" sz="1600" b="1" smtClean="0">
              <a:solidFill>
                <a:srgbClr val="000000"/>
              </a:solidFill>
              <a:latin typeface="맑은 고딕" pitchFamily="50" charset="-127"/>
              <a:ea typeface="맑은 고딕" pitchFamily="50" charset="-127"/>
              <a:cs typeface="굴림체" pitchFamily="49" charset="-127"/>
            </a:endParaRP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600" b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3)</a:t>
            </a:r>
            <a:r>
              <a:rPr kumimoji="1" lang="ko-KR" altLang="en-US" sz="1600" b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부호 </a:t>
            </a:r>
            <a:r>
              <a:rPr kumimoji="1" lang="en-US" altLang="ko-KR" sz="1600" b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+, -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+: </a:t>
            </a:r>
            <a:r>
              <a:rPr kumimoji="1" lang="ko-KR" altLang="en-US" sz="140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형식적으로 제공 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-: 2</a:t>
            </a:r>
            <a:r>
              <a:rPr kumimoji="1" lang="ko-KR" altLang="en-US" sz="140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의 보수 연산자</a:t>
            </a:r>
            <a:r>
              <a:rPr kumimoji="1" lang="en-US" altLang="ko-KR" sz="140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, </a:t>
            </a:r>
            <a:r>
              <a:rPr kumimoji="1" lang="ko-KR" altLang="en-US" sz="140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부호 바꿈 연산자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mtClean="0"/>
              <a:t>실습</a:t>
            </a:r>
            <a:r>
              <a:rPr lang="en-US" altLang="ko-KR" smtClean="0"/>
              <a:t>(Unary.java)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altLang="ko-KR" sz="1400" smtClean="0"/>
              <a:t>public class Unary {</a:t>
            </a:r>
          </a:p>
          <a:p>
            <a:pPr>
              <a:buNone/>
            </a:pPr>
            <a:r>
              <a:rPr lang="en-US" altLang="ko-KR" sz="1400" smtClean="0"/>
              <a:t>	public static void main(String </a:t>
            </a:r>
            <a:r>
              <a:rPr lang="en-US" altLang="ko-KR" sz="1400" err="1" smtClean="0"/>
              <a:t>args</a:t>
            </a:r>
            <a:r>
              <a:rPr lang="en-US" altLang="ko-KR" sz="1400" smtClean="0"/>
              <a:t>[]) {</a:t>
            </a:r>
          </a:p>
          <a:p>
            <a:pPr>
              <a:buNone/>
            </a:pPr>
            <a:r>
              <a:rPr lang="en-US" altLang="ko-KR" sz="1400" smtClean="0"/>
              <a:t>		</a:t>
            </a:r>
            <a:r>
              <a:rPr lang="en-US" altLang="ko-KR" sz="1400" err="1" smtClean="0"/>
              <a:t>int</a:t>
            </a:r>
            <a:r>
              <a:rPr lang="en-US" altLang="ko-KR" sz="1400" smtClean="0"/>
              <a:t> a = 10, b = -10;</a:t>
            </a:r>
          </a:p>
          <a:p>
            <a:pPr>
              <a:buNone/>
            </a:pPr>
            <a:r>
              <a:rPr lang="en-US" altLang="ko-KR" sz="1400" smtClean="0"/>
              <a:t>		</a:t>
            </a:r>
            <a:r>
              <a:rPr lang="en-US" altLang="ko-KR" sz="1400" err="1" smtClean="0"/>
              <a:t>boolean</a:t>
            </a:r>
            <a:r>
              <a:rPr lang="en-US" altLang="ko-KR" sz="1400" smtClean="0"/>
              <a:t> c = true, d = false;</a:t>
            </a:r>
          </a:p>
          <a:p>
            <a:pPr>
              <a:buNone/>
            </a:pPr>
            <a:r>
              <a:rPr lang="en-US" altLang="ko-KR" sz="1400" smtClean="0"/>
              <a:t>		</a:t>
            </a:r>
            <a:r>
              <a:rPr lang="en-US" altLang="ko-KR" sz="1400" err="1" smtClean="0"/>
              <a:t>System.out.println</a:t>
            </a:r>
            <a:r>
              <a:rPr lang="en-US" altLang="ko-KR" sz="1400" smtClean="0"/>
              <a:t>("a= " + a + "\t b=" + b + "\t c=" + c + "\t d=" + d);</a:t>
            </a:r>
          </a:p>
          <a:p>
            <a:pPr>
              <a:buNone/>
            </a:pPr>
            <a:r>
              <a:rPr lang="en-US" altLang="ko-KR" sz="1400" smtClean="0"/>
              <a:t>		</a:t>
            </a:r>
            <a:r>
              <a:rPr lang="en-US" altLang="ko-KR" sz="1400" err="1" smtClean="0"/>
              <a:t>System.out.println</a:t>
            </a:r>
            <a:r>
              <a:rPr lang="en-US" altLang="ko-KR" sz="1400" smtClean="0"/>
              <a:t>("~a=" + ~a);</a:t>
            </a:r>
          </a:p>
          <a:p>
            <a:pPr>
              <a:buNone/>
            </a:pPr>
            <a:r>
              <a:rPr lang="en-US" altLang="ko-KR" sz="1400" smtClean="0"/>
              <a:t>		// -11 1</a:t>
            </a:r>
            <a:r>
              <a:rPr lang="ko-KR" altLang="en-US" sz="1400" smtClean="0"/>
              <a:t>의 보수 연산</a:t>
            </a:r>
            <a:r>
              <a:rPr lang="en-US" altLang="ko-KR" sz="1400" smtClean="0"/>
              <a:t>(</a:t>
            </a:r>
            <a:r>
              <a:rPr lang="ko-KR" altLang="en-US" sz="1400" smtClean="0"/>
              <a:t>양수</a:t>
            </a:r>
            <a:r>
              <a:rPr lang="en-US" altLang="ko-KR" sz="1400" smtClean="0"/>
              <a:t>-&gt; </a:t>
            </a:r>
            <a:r>
              <a:rPr lang="ko-KR" altLang="en-US" sz="1400" smtClean="0"/>
              <a:t>음수 부호가 바뀌고 </a:t>
            </a:r>
            <a:r>
              <a:rPr lang="en-US" altLang="ko-KR" sz="1400" smtClean="0"/>
              <a:t>1</a:t>
            </a:r>
            <a:r>
              <a:rPr lang="ko-KR" altLang="en-US" sz="1400" smtClean="0"/>
              <a:t>증가됨</a:t>
            </a:r>
            <a:r>
              <a:rPr lang="en-US" altLang="ko-KR" sz="1400" smtClean="0"/>
              <a:t>)</a:t>
            </a:r>
          </a:p>
          <a:p>
            <a:pPr>
              <a:buNone/>
            </a:pPr>
            <a:r>
              <a:rPr lang="en-US" altLang="ko-KR" sz="1400" smtClean="0"/>
              <a:t>		</a:t>
            </a:r>
            <a:r>
              <a:rPr lang="en-US" altLang="ko-KR" sz="1400" err="1" smtClean="0"/>
              <a:t>System.out.println</a:t>
            </a:r>
            <a:r>
              <a:rPr lang="en-US" altLang="ko-KR" sz="1400" smtClean="0"/>
              <a:t>("~b=" + ~b);</a:t>
            </a:r>
          </a:p>
          <a:p>
            <a:pPr>
              <a:buNone/>
            </a:pPr>
            <a:r>
              <a:rPr lang="en-US" altLang="ko-KR" sz="1400" smtClean="0"/>
              <a:t>		// 9 </a:t>
            </a:r>
            <a:r>
              <a:rPr lang="ko-KR" altLang="en-US" sz="1400" smtClean="0"/>
              <a:t>음수</a:t>
            </a:r>
            <a:r>
              <a:rPr lang="en-US" altLang="ko-KR" sz="1400" smtClean="0"/>
              <a:t>-&gt; </a:t>
            </a:r>
            <a:r>
              <a:rPr lang="ko-KR" altLang="en-US" sz="1400" smtClean="0"/>
              <a:t>양수 부호가 바뀌고 </a:t>
            </a:r>
            <a:r>
              <a:rPr lang="en-US" altLang="ko-KR" sz="1400" smtClean="0"/>
              <a:t>1</a:t>
            </a:r>
            <a:r>
              <a:rPr lang="ko-KR" altLang="en-US" sz="1400" smtClean="0"/>
              <a:t>감소됨</a:t>
            </a:r>
          </a:p>
          <a:p>
            <a:pPr>
              <a:buNone/>
            </a:pPr>
            <a:r>
              <a:rPr lang="ko-KR" altLang="en-US" sz="1400" smtClean="0"/>
              <a:t>		</a:t>
            </a:r>
            <a:r>
              <a:rPr lang="en-US" altLang="ko-KR" sz="1400" err="1" smtClean="0"/>
              <a:t>System.out.println</a:t>
            </a:r>
            <a:r>
              <a:rPr lang="en-US" altLang="ko-KR" sz="1400" smtClean="0"/>
              <a:t>(“!c=" + (!c) + "\t !d = " + (!d));</a:t>
            </a:r>
          </a:p>
          <a:p>
            <a:pPr>
              <a:buNone/>
            </a:pPr>
            <a:r>
              <a:rPr lang="en-US" altLang="ko-KR" sz="1400" smtClean="0"/>
              <a:t>		</a:t>
            </a:r>
            <a:r>
              <a:rPr lang="en-US" altLang="ko-KR" sz="1400" err="1" smtClean="0"/>
              <a:t>System.out.println</a:t>
            </a:r>
            <a:r>
              <a:rPr lang="en-US" altLang="ko-KR" sz="1400" smtClean="0"/>
              <a:t>("+a=" + (+a) + "\t +b = " + (+b));</a:t>
            </a:r>
          </a:p>
          <a:p>
            <a:pPr>
              <a:buNone/>
            </a:pPr>
            <a:r>
              <a:rPr lang="en-US" altLang="ko-KR" sz="1400" smtClean="0"/>
              <a:t>		</a:t>
            </a:r>
            <a:r>
              <a:rPr lang="en-US" altLang="ko-KR" sz="1400" err="1" smtClean="0"/>
              <a:t>System.out.println</a:t>
            </a:r>
            <a:r>
              <a:rPr lang="en-US" altLang="ko-KR" sz="1400" smtClean="0"/>
              <a:t>("-a= " + (-a) + "\t -b = " + (-b));</a:t>
            </a:r>
          </a:p>
          <a:p>
            <a:pPr>
              <a:buNone/>
            </a:pPr>
            <a:r>
              <a:rPr lang="en-US" altLang="ko-KR" sz="1400" smtClean="0"/>
              <a:t>	}</a:t>
            </a:r>
          </a:p>
          <a:p>
            <a:pPr>
              <a:buNone/>
            </a:pPr>
            <a:r>
              <a:rPr lang="en-US" altLang="ko-KR" sz="1400" smtClean="0"/>
              <a:t>}</a:t>
            </a:r>
            <a:endParaRPr lang="en-US" altLang="ko-KR" sz="1050" smtClean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BA5970-03A6-496F-978B-4258F7D373A8}" type="slidenum">
              <a:rPr lang="ko-KR" altLang="en-US" smtClean="0"/>
              <a:pPr/>
              <a:t>10</a:t>
            </a:fld>
            <a:endParaRPr lang="ko-KR" altLang="en-US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 l="25101" t="57056" r="48321" b="26642"/>
          <a:stretch>
            <a:fillRect/>
          </a:stretch>
        </p:blipFill>
        <p:spPr bwMode="auto">
          <a:xfrm>
            <a:off x="4283968" y="4869160"/>
            <a:ext cx="3816424" cy="16561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3.</a:t>
            </a:r>
            <a:r>
              <a:rPr lang="ko-KR" altLang="en-US" err="1" smtClean="0"/>
              <a:t>단항</a:t>
            </a:r>
            <a:r>
              <a:rPr lang="en-US" altLang="ko-KR" smtClean="0"/>
              <a:t>(Unary) </a:t>
            </a:r>
            <a:r>
              <a:rPr lang="ko-KR" altLang="en-US" smtClean="0"/>
              <a:t>연산자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BA5970-03A6-496F-978B-4258F7D373A8}" type="slidenum">
              <a:rPr lang="ko-KR" altLang="en-US" smtClean="0"/>
              <a:pPr/>
              <a:t>11</a:t>
            </a:fld>
            <a:endParaRPr lang="ko-KR" altLang="en-US"/>
          </a:p>
        </p:txBody>
      </p:sp>
      <p:sp>
        <p:nvSpPr>
          <p:cNvPr id="24577" name="Rectangle 1"/>
          <p:cNvSpPr>
            <a:spLocks noChangeArrowheads="1"/>
          </p:cNvSpPr>
          <p:nvPr/>
        </p:nvSpPr>
        <p:spPr bwMode="auto">
          <a:xfrm>
            <a:off x="755576" y="1377062"/>
            <a:ext cx="7704856" cy="28161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fontAlgn="base">
              <a:spcBef>
                <a:spcPct val="0"/>
              </a:spcBef>
              <a:spcAft>
                <a:spcPts val="600"/>
              </a:spcAft>
            </a:pPr>
            <a:r>
              <a:rPr kumimoji="1" lang="en-US" altLang="ko-KR" sz="1600" b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4) </a:t>
            </a:r>
            <a:r>
              <a:rPr kumimoji="1" lang="ko-KR" altLang="en-US" sz="1600" b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증감연산자</a:t>
            </a:r>
            <a:r>
              <a:rPr kumimoji="1" lang="en-US" altLang="ko-KR" sz="1600" b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:  ++, -- </a:t>
            </a:r>
          </a:p>
          <a:p>
            <a:pPr lvl="0" fontAlgn="base">
              <a:spcBef>
                <a:spcPct val="0"/>
              </a:spcBef>
              <a:spcAft>
                <a:spcPts val="600"/>
              </a:spcAft>
              <a:buFont typeface="Wingdings" pitchFamily="2" charset="2"/>
              <a:buChar char="v"/>
            </a:pPr>
            <a:r>
              <a:rPr kumimoji="1" lang="ko-KR" altLang="en-US" sz="140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일반적으로 </a:t>
            </a:r>
            <a:r>
              <a:rPr kumimoji="1" lang="ko-KR" altLang="en-US" sz="140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단항</a:t>
            </a:r>
            <a:r>
              <a:rPr kumimoji="1" lang="ko-KR" altLang="en-US" sz="140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 연산자는 피 연산자의 오른쪽에 위치하지만</a:t>
            </a:r>
            <a:r>
              <a:rPr kumimoji="1" lang="en-US" altLang="ko-KR" sz="140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 ++</a:t>
            </a:r>
            <a:r>
              <a:rPr kumimoji="1" lang="ko-KR" altLang="en-US" sz="140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와 </a:t>
            </a:r>
            <a:r>
              <a:rPr kumimoji="1" lang="en-US" altLang="ko-KR" sz="140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–</a:t>
            </a:r>
            <a:r>
              <a:rPr kumimoji="1" lang="ko-KR" altLang="en-US" sz="140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연산자는 왼쪽과 오른쪽 모두 가능</a:t>
            </a:r>
            <a:endParaRPr kumimoji="1" lang="en-US" altLang="ko-KR" sz="1400" smtClean="0">
              <a:solidFill>
                <a:srgbClr val="000000"/>
              </a:solidFill>
              <a:latin typeface="맑은 고딕" pitchFamily="50" charset="-127"/>
              <a:ea typeface="맑은 고딕" pitchFamily="50" charset="-127"/>
              <a:cs typeface="굴림체" pitchFamily="49" charset="-127"/>
            </a:endParaRPr>
          </a:p>
          <a:p>
            <a:pPr lvl="0" fontAlgn="base">
              <a:spcBef>
                <a:spcPct val="0"/>
              </a:spcBef>
              <a:spcAft>
                <a:spcPts val="600"/>
              </a:spcAft>
              <a:buFont typeface="Wingdings" pitchFamily="2" charset="2"/>
              <a:buChar char="v"/>
            </a:pPr>
            <a:r>
              <a:rPr kumimoji="1" lang="en-US" altLang="ko-KR" sz="140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++: </a:t>
            </a:r>
            <a:r>
              <a:rPr kumimoji="1" lang="ko-KR" altLang="en-US" sz="140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피 연산자</a:t>
            </a:r>
            <a:r>
              <a:rPr kumimoji="1" lang="en-US" altLang="ko-KR" sz="140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(operand)</a:t>
            </a:r>
            <a:r>
              <a:rPr kumimoji="1" lang="ko-KR" altLang="en-US" sz="140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의 값을 </a:t>
            </a:r>
            <a:r>
              <a:rPr kumimoji="1" lang="en-US" altLang="ko-KR" sz="140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1 </a:t>
            </a:r>
            <a:r>
              <a:rPr kumimoji="1" lang="ko-KR" altLang="en-US" sz="140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증가</a:t>
            </a:r>
            <a:endParaRPr kumimoji="1" lang="en-US" altLang="ko-KR" sz="1400" smtClean="0">
              <a:solidFill>
                <a:srgbClr val="000000"/>
              </a:solidFill>
              <a:latin typeface="맑은 고딕" pitchFamily="50" charset="-127"/>
              <a:ea typeface="맑은 고딕" pitchFamily="50" charset="-127"/>
              <a:cs typeface="굴림체" pitchFamily="49" charset="-127"/>
            </a:endParaRPr>
          </a:p>
          <a:p>
            <a:pPr lvl="0" fontAlgn="base">
              <a:spcBef>
                <a:spcPct val="0"/>
              </a:spcBef>
              <a:spcAft>
                <a:spcPts val="600"/>
              </a:spcAft>
              <a:buFont typeface="Wingdings" pitchFamily="2" charset="2"/>
              <a:buChar char="v"/>
            </a:pPr>
            <a:r>
              <a:rPr kumimoji="1" lang="en-US" altLang="ko-KR" sz="140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--: </a:t>
            </a:r>
            <a:r>
              <a:rPr kumimoji="1" lang="ko-KR" altLang="en-US" sz="140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피 연산자</a:t>
            </a:r>
            <a:r>
              <a:rPr kumimoji="1" lang="en-US" altLang="ko-KR" sz="140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(operand)</a:t>
            </a:r>
            <a:r>
              <a:rPr kumimoji="1" lang="ko-KR" altLang="en-US" sz="140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의 값을 </a:t>
            </a:r>
            <a:r>
              <a:rPr kumimoji="1" lang="en-US" altLang="ko-KR" sz="140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1 </a:t>
            </a:r>
            <a:r>
              <a:rPr kumimoji="1" lang="ko-KR" altLang="en-US" sz="140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감소</a:t>
            </a:r>
            <a:endParaRPr kumimoji="1" lang="en-US" altLang="ko-KR" sz="1400" smtClean="0">
              <a:solidFill>
                <a:srgbClr val="000000"/>
              </a:solidFill>
              <a:latin typeface="맑은 고딕" pitchFamily="50" charset="-127"/>
              <a:ea typeface="맑은 고딕" pitchFamily="50" charset="-127"/>
              <a:cs typeface="굴림체" pitchFamily="49" charset="-127"/>
            </a:endParaRPr>
          </a:p>
          <a:p>
            <a:pPr lvl="0" fontAlgn="base">
              <a:spcBef>
                <a:spcPct val="0"/>
              </a:spcBef>
              <a:spcAft>
                <a:spcPts val="600"/>
              </a:spcAft>
              <a:buFont typeface="Wingdings" pitchFamily="2" charset="2"/>
              <a:buChar char="v"/>
            </a:pPr>
            <a:r>
              <a:rPr kumimoji="1" lang="ko-KR" altLang="en-US" sz="140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증감 연산자는 어느 위치에 놓는가에 따라서 연산결과가 달라질 수 있습니다</a:t>
            </a:r>
            <a:r>
              <a:rPr kumimoji="1" lang="en-US" altLang="ko-KR" sz="140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. </a:t>
            </a:r>
          </a:p>
          <a:p>
            <a:pPr lvl="0" fontAlgn="base">
              <a:spcBef>
                <a:spcPct val="0"/>
              </a:spcBef>
              <a:spcAft>
                <a:spcPts val="600"/>
              </a:spcAft>
              <a:buFont typeface="Wingdings" pitchFamily="2" charset="2"/>
              <a:buChar char="v"/>
            </a:pPr>
            <a:r>
              <a:rPr kumimoji="1" lang="ko-KR" altLang="en-US" sz="140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증감 연산자를 앞에 놓으면 전위 연산이라 하고 뒤에 놓으면 후위 연산이라고 합니다</a:t>
            </a:r>
            <a:r>
              <a:rPr kumimoji="1" lang="en-US" altLang="ko-KR" sz="140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.</a:t>
            </a:r>
          </a:p>
          <a:p>
            <a:pPr lvl="0" fontAlgn="base">
              <a:spcBef>
                <a:spcPct val="0"/>
              </a:spcBef>
              <a:spcAft>
                <a:spcPts val="600"/>
              </a:spcAft>
              <a:buFont typeface="Wingdings" pitchFamily="2" charset="2"/>
              <a:buChar char="v"/>
            </a:pPr>
            <a:r>
              <a:rPr kumimoji="1" lang="ko-KR" altLang="en-US" sz="140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전위 연산은 증감을 먼저 하고 명령을 수행하게 되며 후위 연산은 명령을 수행한 후에 증감을 하게 됩니다</a:t>
            </a:r>
            <a:r>
              <a:rPr kumimoji="1" lang="en-US" altLang="ko-KR" sz="140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.</a:t>
            </a:r>
          </a:p>
          <a:p>
            <a:pPr lvl="0" fontAlgn="base">
              <a:spcBef>
                <a:spcPct val="0"/>
              </a:spcBef>
              <a:spcAft>
                <a:spcPts val="600"/>
              </a:spcAft>
              <a:buFont typeface="Wingdings" pitchFamily="2" charset="2"/>
              <a:buChar char="v"/>
            </a:pPr>
            <a:endParaRPr kumimoji="1" lang="en-US" altLang="ko-KR" sz="1400" smtClean="0">
              <a:solidFill>
                <a:srgbClr val="000000"/>
              </a:solidFill>
              <a:latin typeface="맑은 고딕" pitchFamily="50" charset="-127"/>
              <a:ea typeface="맑은 고딕" pitchFamily="50" charset="-127"/>
              <a:cs typeface="굴림체" pitchFamily="49" charset="-127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mtClean="0"/>
              <a:t>실습</a:t>
            </a:r>
            <a:r>
              <a:rPr lang="en-US" altLang="ko-KR" smtClean="0"/>
              <a:t>(Fix1.java)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altLang="ko-KR" sz="1400" smtClean="0"/>
              <a:t>public class Fix1 {</a:t>
            </a:r>
          </a:p>
          <a:p>
            <a:pPr>
              <a:buNone/>
            </a:pPr>
            <a:r>
              <a:rPr lang="en-US" altLang="ko-KR" sz="1400" smtClean="0"/>
              <a:t>	public static void main(String </a:t>
            </a:r>
            <a:r>
              <a:rPr lang="en-US" altLang="ko-KR" sz="1400" err="1" smtClean="0"/>
              <a:t>args</a:t>
            </a:r>
            <a:r>
              <a:rPr lang="en-US" altLang="ko-KR" sz="1400" smtClean="0"/>
              <a:t>[]) {</a:t>
            </a:r>
          </a:p>
          <a:p>
            <a:pPr>
              <a:buNone/>
            </a:pPr>
            <a:r>
              <a:rPr lang="en-US" altLang="ko-KR" sz="1400" smtClean="0"/>
              <a:t>		</a:t>
            </a:r>
            <a:r>
              <a:rPr lang="en-US" altLang="ko-KR" sz="1400" err="1" smtClean="0"/>
              <a:t>int</a:t>
            </a:r>
            <a:r>
              <a:rPr lang="en-US" altLang="ko-KR" sz="1400" smtClean="0"/>
              <a:t> a = 10, b = 5;</a:t>
            </a:r>
          </a:p>
          <a:p>
            <a:pPr>
              <a:buNone/>
            </a:pPr>
            <a:r>
              <a:rPr lang="en-US" altLang="ko-KR" sz="1400" smtClean="0"/>
              <a:t>		</a:t>
            </a:r>
            <a:r>
              <a:rPr lang="en-US" altLang="ko-KR" sz="1400" err="1" smtClean="0"/>
              <a:t>System.out.println</a:t>
            </a:r>
            <a:r>
              <a:rPr lang="en-US" altLang="ko-KR" sz="1400" smtClean="0"/>
              <a:t>("a = " + a + "\t b = " + b);</a:t>
            </a:r>
          </a:p>
          <a:p>
            <a:pPr>
              <a:buNone/>
            </a:pPr>
            <a:r>
              <a:rPr lang="en-US" altLang="ko-KR" sz="1400" smtClean="0"/>
              <a:t>		// </a:t>
            </a:r>
            <a:r>
              <a:rPr lang="ko-KR" altLang="en-US" sz="1400" smtClean="0"/>
              <a:t>전위 연산</a:t>
            </a:r>
          </a:p>
          <a:p>
            <a:pPr>
              <a:buNone/>
            </a:pPr>
            <a:r>
              <a:rPr lang="ko-KR" altLang="en-US" sz="1400" smtClean="0"/>
              <a:t>		</a:t>
            </a:r>
            <a:r>
              <a:rPr lang="en-US" altLang="ko-KR" sz="1400" smtClean="0"/>
              <a:t>++a; // 11</a:t>
            </a:r>
          </a:p>
          <a:p>
            <a:pPr>
              <a:buNone/>
            </a:pPr>
            <a:r>
              <a:rPr lang="en-US" altLang="ko-KR" sz="1400" smtClean="0"/>
              <a:t>		--b; // 4</a:t>
            </a:r>
          </a:p>
          <a:p>
            <a:pPr>
              <a:buNone/>
            </a:pPr>
            <a:r>
              <a:rPr lang="en-US" altLang="ko-KR" sz="1400" smtClean="0"/>
              <a:t>		</a:t>
            </a:r>
            <a:r>
              <a:rPr lang="en-US" altLang="ko-KR" sz="1400" err="1" smtClean="0"/>
              <a:t>System.out.println</a:t>
            </a:r>
            <a:r>
              <a:rPr lang="en-US" altLang="ko-KR" sz="1400" smtClean="0"/>
              <a:t>("</a:t>
            </a:r>
            <a:r>
              <a:rPr lang="ko-KR" altLang="en-US" sz="1400" smtClean="0"/>
              <a:t>전위 연산 </a:t>
            </a:r>
            <a:r>
              <a:rPr lang="en-US" altLang="ko-KR" sz="1400" smtClean="0"/>
              <a:t>a = " + a + "\t b = " + b);</a:t>
            </a:r>
          </a:p>
          <a:p>
            <a:pPr>
              <a:buNone/>
            </a:pPr>
            <a:r>
              <a:rPr lang="en-US" altLang="ko-KR" sz="1400" smtClean="0"/>
              <a:t>		// </a:t>
            </a:r>
            <a:r>
              <a:rPr lang="ko-KR" altLang="en-US" sz="1400" smtClean="0"/>
              <a:t>후위 연산</a:t>
            </a:r>
          </a:p>
          <a:p>
            <a:pPr>
              <a:buNone/>
            </a:pPr>
            <a:r>
              <a:rPr lang="ko-KR" altLang="en-US" sz="1400" smtClean="0"/>
              <a:t>		</a:t>
            </a:r>
            <a:r>
              <a:rPr lang="en-US" altLang="ko-KR" sz="1400" smtClean="0"/>
              <a:t>a++; // 12</a:t>
            </a:r>
          </a:p>
          <a:p>
            <a:pPr>
              <a:buNone/>
            </a:pPr>
            <a:r>
              <a:rPr lang="en-US" altLang="ko-KR" sz="1400" smtClean="0"/>
              <a:t>		b--; // 3</a:t>
            </a:r>
          </a:p>
          <a:p>
            <a:pPr>
              <a:buNone/>
            </a:pPr>
            <a:r>
              <a:rPr lang="en-US" altLang="ko-KR" sz="1400" smtClean="0"/>
              <a:t>		</a:t>
            </a:r>
            <a:r>
              <a:rPr lang="en-US" altLang="ko-KR" sz="1400" err="1" smtClean="0"/>
              <a:t>System.out.println</a:t>
            </a:r>
            <a:r>
              <a:rPr lang="en-US" altLang="ko-KR" sz="1400" smtClean="0"/>
              <a:t>("</a:t>
            </a:r>
            <a:r>
              <a:rPr lang="ko-KR" altLang="en-US" sz="1400" smtClean="0"/>
              <a:t>후위 연산 </a:t>
            </a:r>
            <a:r>
              <a:rPr lang="en-US" altLang="ko-KR" sz="1400" smtClean="0"/>
              <a:t>a = " + a + "\t b = " + b);</a:t>
            </a:r>
          </a:p>
          <a:p>
            <a:pPr>
              <a:buNone/>
            </a:pPr>
            <a:r>
              <a:rPr lang="en-US" altLang="ko-KR" sz="1400" smtClean="0"/>
              <a:t>	}</a:t>
            </a:r>
          </a:p>
          <a:p>
            <a:pPr>
              <a:buNone/>
            </a:pPr>
            <a:r>
              <a:rPr lang="en-US" altLang="ko-KR" sz="1400" smtClean="0"/>
              <a:t>}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BA5970-03A6-496F-978B-4258F7D373A8}" type="slidenum">
              <a:rPr lang="ko-KR" altLang="en-US" smtClean="0"/>
              <a:pPr/>
              <a:t>12</a:t>
            </a:fld>
            <a:endParaRPr lang="ko-KR" altLang="en-US"/>
          </a:p>
        </p:txBody>
      </p:sp>
      <p:pic>
        <p:nvPicPr>
          <p:cNvPr id="64514" name="Picture 2"/>
          <p:cNvPicPr>
            <a:picLocks noChangeAspect="1" noChangeArrowheads="1"/>
          </p:cNvPicPr>
          <p:nvPr/>
        </p:nvPicPr>
        <p:blipFill>
          <a:blip r:embed="rId2" cstate="print"/>
          <a:srcRect r="78082" b="71429"/>
          <a:stretch>
            <a:fillRect/>
          </a:stretch>
        </p:blipFill>
        <p:spPr bwMode="auto">
          <a:xfrm>
            <a:off x="5724128" y="1196752"/>
            <a:ext cx="3240360" cy="20522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mtClean="0"/>
              <a:t>실습</a:t>
            </a:r>
            <a:r>
              <a:rPr lang="en-US" altLang="ko-KR" smtClean="0"/>
              <a:t>(Fix2.java)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altLang="ko-KR" sz="1400" smtClean="0"/>
              <a:t>public class Fix2 {</a:t>
            </a:r>
          </a:p>
          <a:p>
            <a:pPr>
              <a:buNone/>
            </a:pPr>
            <a:r>
              <a:rPr lang="en-US" altLang="ko-KR" sz="1400" smtClean="0"/>
              <a:t>	public static void main(String </a:t>
            </a:r>
            <a:r>
              <a:rPr lang="en-US" altLang="ko-KR" sz="1400" err="1" smtClean="0"/>
              <a:t>args</a:t>
            </a:r>
            <a:r>
              <a:rPr lang="en-US" altLang="ko-KR" sz="1400" smtClean="0"/>
              <a:t>[]) {</a:t>
            </a:r>
          </a:p>
          <a:p>
            <a:pPr>
              <a:buNone/>
            </a:pPr>
            <a:r>
              <a:rPr lang="en-US" altLang="ko-KR" sz="1400" smtClean="0"/>
              <a:t>		</a:t>
            </a:r>
            <a:r>
              <a:rPr lang="en-US" altLang="ko-KR" sz="1400" err="1" smtClean="0"/>
              <a:t>int</a:t>
            </a:r>
            <a:r>
              <a:rPr lang="en-US" altLang="ko-KR" sz="1400" smtClean="0"/>
              <a:t> a=10;</a:t>
            </a:r>
          </a:p>
          <a:p>
            <a:pPr>
              <a:buNone/>
            </a:pPr>
            <a:r>
              <a:rPr lang="en-US" altLang="ko-KR" sz="1400" smtClean="0"/>
              <a:t>		</a:t>
            </a:r>
            <a:r>
              <a:rPr lang="en-US" altLang="ko-KR" sz="1400" err="1" smtClean="0"/>
              <a:t>System.out.println</a:t>
            </a:r>
            <a:r>
              <a:rPr lang="en-US" altLang="ko-KR" sz="1400" smtClean="0"/>
              <a:t>("a = " + a);</a:t>
            </a:r>
          </a:p>
          <a:p>
            <a:pPr>
              <a:buNone/>
            </a:pPr>
            <a:r>
              <a:rPr lang="en-US" altLang="ko-KR" sz="1400" smtClean="0"/>
              <a:t>		</a:t>
            </a:r>
            <a:r>
              <a:rPr lang="en-US" altLang="ko-KR" sz="1400" err="1" smtClean="0"/>
              <a:t>System.out.println</a:t>
            </a:r>
            <a:r>
              <a:rPr lang="en-US" altLang="ko-KR" sz="1400" smtClean="0"/>
              <a:t>("</a:t>
            </a:r>
            <a:r>
              <a:rPr lang="ko-KR" altLang="en-US" sz="1400" smtClean="0"/>
              <a:t>후위 연산 </a:t>
            </a:r>
            <a:r>
              <a:rPr lang="en-US" altLang="ko-KR" sz="1400" smtClean="0"/>
              <a:t>a = " + a++);</a:t>
            </a:r>
          </a:p>
          <a:p>
            <a:pPr>
              <a:buNone/>
            </a:pPr>
            <a:r>
              <a:rPr lang="en-US" altLang="ko-KR" sz="1400" smtClean="0"/>
              <a:t>		// </a:t>
            </a:r>
            <a:r>
              <a:rPr lang="ko-KR" altLang="en-US" sz="1400" smtClean="0"/>
              <a:t>증감을 하기 전에 명령문을 먼저 처리하므로 </a:t>
            </a:r>
            <a:r>
              <a:rPr lang="en-US" altLang="ko-KR" sz="1400" smtClean="0"/>
              <a:t>10 </a:t>
            </a:r>
            <a:r>
              <a:rPr lang="ko-KR" altLang="en-US" sz="1400" smtClean="0"/>
              <a:t>출력</a:t>
            </a:r>
          </a:p>
          <a:p>
            <a:pPr>
              <a:buNone/>
            </a:pPr>
            <a:r>
              <a:rPr lang="ko-KR" altLang="en-US" sz="1400" smtClean="0"/>
              <a:t>		</a:t>
            </a:r>
            <a:r>
              <a:rPr lang="en-US" altLang="ko-KR" sz="1400" smtClean="0"/>
              <a:t>a = 10;</a:t>
            </a:r>
          </a:p>
          <a:p>
            <a:pPr>
              <a:buNone/>
            </a:pPr>
            <a:r>
              <a:rPr lang="en-US" altLang="ko-KR" sz="1400" smtClean="0"/>
              <a:t>		</a:t>
            </a:r>
            <a:r>
              <a:rPr lang="en-US" altLang="ko-KR" sz="1400" err="1" smtClean="0"/>
              <a:t>System.out.println</a:t>
            </a:r>
            <a:r>
              <a:rPr lang="en-US" altLang="ko-KR" sz="1400" smtClean="0"/>
              <a:t>("</a:t>
            </a:r>
            <a:r>
              <a:rPr lang="ko-KR" altLang="en-US" sz="1400" smtClean="0"/>
              <a:t>전위 연산 </a:t>
            </a:r>
            <a:r>
              <a:rPr lang="en-US" altLang="ko-KR" sz="1400" smtClean="0"/>
              <a:t>a = " + ++a);</a:t>
            </a:r>
          </a:p>
          <a:p>
            <a:pPr>
              <a:buNone/>
            </a:pPr>
            <a:r>
              <a:rPr lang="en-US" altLang="ko-KR" sz="1400" smtClean="0"/>
              <a:t>		// </a:t>
            </a:r>
            <a:r>
              <a:rPr lang="ko-KR" altLang="en-US" sz="1400" smtClean="0"/>
              <a:t>증감을 한 후에 명령문을 처리하므로 </a:t>
            </a:r>
            <a:r>
              <a:rPr lang="en-US" altLang="ko-KR" sz="1400" smtClean="0"/>
              <a:t>11 </a:t>
            </a:r>
            <a:r>
              <a:rPr lang="ko-KR" altLang="en-US" sz="1400" smtClean="0"/>
              <a:t>출력</a:t>
            </a:r>
          </a:p>
          <a:p>
            <a:pPr>
              <a:buNone/>
            </a:pPr>
            <a:r>
              <a:rPr lang="ko-KR" altLang="en-US" sz="1400" smtClean="0"/>
              <a:t>	</a:t>
            </a:r>
            <a:r>
              <a:rPr lang="en-US" altLang="ko-KR" sz="1400" smtClean="0"/>
              <a:t>}</a:t>
            </a:r>
          </a:p>
          <a:p>
            <a:pPr>
              <a:buNone/>
            </a:pPr>
            <a:r>
              <a:rPr lang="en-US" altLang="ko-KR" sz="1400" smtClean="0"/>
              <a:t>}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BA5970-03A6-496F-978B-4258F7D373A8}" type="slidenum">
              <a:rPr lang="ko-KR" altLang="en-US" smtClean="0"/>
              <a:pPr/>
              <a:t>13</a:t>
            </a:fld>
            <a:endParaRPr lang="ko-KR" altLang="en-US"/>
          </a:p>
        </p:txBody>
      </p:sp>
      <p:pic>
        <p:nvPicPr>
          <p:cNvPr id="65538" name="Picture 2"/>
          <p:cNvPicPr>
            <a:picLocks noChangeAspect="1" noChangeArrowheads="1"/>
          </p:cNvPicPr>
          <p:nvPr/>
        </p:nvPicPr>
        <p:blipFill>
          <a:blip r:embed="rId2" cstate="print"/>
          <a:srcRect l="25839" t="55124" r="49798" b="32079"/>
          <a:stretch>
            <a:fillRect/>
          </a:stretch>
        </p:blipFill>
        <p:spPr bwMode="auto">
          <a:xfrm>
            <a:off x="5796136" y="1196752"/>
            <a:ext cx="3168352" cy="12961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4.</a:t>
            </a:r>
            <a:r>
              <a:rPr lang="ko-KR" altLang="en-US" smtClean="0"/>
              <a:t>산술 연산자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BA5970-03A6-496F-978B-4258F7D373A8}" type="slidenum">
              <a:rPr lang="ko-KR" altLang="en-US" smtClean="0"/>
              <a:pPr/>
              <a:t>14</a:t>
            </a:fld>
            <a:endParaRPr lang="ko-KR" altLang="en-US"/>
          </a:p>
        </p:txBody>
      </p:sp>
      <p:sp>
        <p:nvSpPr>
          <p:cNvPr id="24577" name="Rectangle 1"/>
          <p:cNvSpPr>
            <a:spLocks noChangeArrowheads="1"/>
          </p:cNvSpPr>
          <p:nvPr/>
        </p:nvSpPr>
        <p:spPr bwMode="auto">
          <a:xfrm>
            <a:off x="755576" y="1606148"/>
            <a:ext cx="7704856" cy="30469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fontAlgn="base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v"/>
            </a:pPr>
            <a:r>
              <a:rPr kumimoji="1" lang="ko-KR" altLang="en-US" sz="1600" b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사칙연산자</a:t>
            </a:r>
            <a:r>
              <a:rPr kumimoji="1" lang="en-US" altLang="ko-KR" sz="1600" b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(+, -, *, /), </a:t>
            </a:r>
            <a:r>
              <a:rPr kumimoji="1" lang="ko-KR" altLang="en-US" sz="1600" b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나머지 연산자</a:t>
            </a:r>
            <a:r>
              <a:rPr kumimoji="1" lang="en-US" altLang="ko-KR" sz="1600" b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(%)</a:t>
            </a:r>
            <a:r>
              <a:rPr kumimoji="1" lang="ko-KR" altLang="en-US" sz="1600" b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는 두 개의 피연산자를 가지는 이항연산자이며</a:t>
            </a:r>
            <a:r>
              <a:rPr kumimoji="1" lang="en-US" altLang="ko-KR" sz="1600" b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 </a:t>
            </a:r>
            <a:r>
              <a:rPr kumimoji="1" lang="ko-KR" altLang="en-US" sz="1600" b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산술 연산자는 피 연산자의 크기가 </a:t>
            </a:r>
            <a:r>
              <a:rPr kumimoji="1" lang="en-US" altLang="ko-KR" sz="1600" b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4byte</a:t>
            </a:r>
            <a:r>
              <a:rPr kumimoji="1" lang="ko-KR" altLang="en-US" sz="1600" b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보다 작으면 </a:t>
            </a:r>
            <a:r>
              <a:rPr kumimoji="1" lang="en-US" altLang="ko-KR" sz="1600" b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4byte(</a:t>
            </a:r>
            <a:r>
              <a:rPr kumimoji="1" lang="en-US" altLang="ko-KR" sz="1600" b="1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int</a:t>
            </a:r>
            <a:r>
              <a:rPr kumimoji="1" lang="ko-KR" altLang="en-US" sz="1600" b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형</a:t>
            </a:r>
            <a:r>
              <a:rPr kumimoji="1" lang="en-US" altLang="ko-KR" sz="1600" b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)</a:t>
            </a:r>
            <a:r>
              <a:rPr kumimoji="1" lang="ko-KR" altLang="en-US" sz="1600" b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로 변환한 다음에 연산을 수행</a:t>
            </a:r>
            <a:endParaRPr kumimoji="1" lang="en-US" altLang="ko-KR" sz="1600" b="1" smtClean="0">
              <a:solidFill>
                <a:srgbClr val="000000"/>
              </a:solidFill>
              <a:latin typeface="맑은 고딕" pitchFamily="50" charset="-127"/>
              <a:ea typeface="맑은 고딕" pitchFamily="50" charset="-127"/>
              <a:cs typeface="굴림체" pitchFamily="49" charset="-127"/>
            </a:endParaRP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endParaRPr kumimoji="1" lang="en-US" altLang="ko-KR" sz="1600" b="1" smtClean="0">
              <a:solidFill>
                <a:srgbClr val="000000"/>
              </a:solidFill>
              <a:latin typeface="맑은 고딕" pitchFamily="50" charset="-127"/>
              <a:ea typeface="맑은 고딕" pitchFamily="50" charset="-127"/>
              <a:cs typeface="굴림체" pitchFamily="49" charset="-127"/>
            </a:endParaRPr>
          </a:p>
          <a:p>
            <a:pPr lvl="0" fontAlgn="base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v"/>
            </a:pPr>
            <a:r>
              <a:rPr kumimoji="1" lang="ko-KR" altLang="en-US" sz="1600" b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산술 연산자는 연산을 수행하기 전에 피 연산자들의 데이터 형을 일치 시킨 후 연산을 합니다</a:t>
            </a:r>
            <a:r>
              <a:rPr kumimoji="1" lang="en-US" altLang="ko-KR" sz="1600" b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.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v"/>
            </a:pPr>
            <a:endParaRPr kumimoji="1" lang="en-US" altLang="ko-KR" sz="1600" b="1" smtClean="0">
              <a:solidFill>
                <a:srgbClr val="000000"/>
              </a:solidFill>
              <a:latin typeface="맑은 고딕" pitchFamily="50" charset="-127"/>
              <a:ea typeface="맑은 고딕" pitchFamily="50" charset="-127"/>
              <a:cs typeface="굴림체" pitchFamily="49" charset="-127"/>
            </a:endParaRPr>
          </a:p>
          <a:p>
            <a:pPr lvl="0" fontAlgn="base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v"/>
            </a:pPr>
            <a:r>
              <a:rPr kumimoji="1" lang="ko-KR" altLang="en-US" sz="1600" b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서로 다른 </a:t>
            </a:r>
            <a:r>
              <a:rPr kumimoji="1" lang="ko-KR" altLang="en-US" sz="1600" b="1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자료형</a:t>
            </a:r>
            <a:r>
              <a:rPr kumimoji="1" lang="ko-KR" altLang="en-US" sz="1600" b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 사이의 연산의 경우에는 더 큰 </a:t>
            </a:r>
            <a:r>
              <a:rPr kumimoji="1" lang="ko-KR" altLang="en-US" sz="1600" b="1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자료형으로</a:t>
            </a:r>
            <a:r>
              <a:rPr kumimoji="1" lang="ko-KR" altLang="en-US" sz="1600" b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 </a:t>
            </a:r>
            <a:r>
              <a:rPr kumimoji="1" lang="ko-KR" altLang="en-US" sz="1600" b="1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자료형을</a:t>
            </a:r>
            <a:r>
              <a:rPr kumimoji="1" lang="ko-KR" altLang="en-US" sz="1600" b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 변경해서 연산을 수행합니다</a:t>
            </a:r>
            <a:r>
              <a:rPr kumimoji="1" lang="en-US" altLang="ko-KR" sz="1600" b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.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v"/>
            </a:pPr>
            <a:endParaRPr kumimoji="1" lang="en-US" altLang="ko-KR" sz="1600" b="1" smtClean="0">
              <a:solidFill>
                <a:srgbClr val="000000"/>
              </a:solidFill>
              <a:latin typeface="맑은 고딕" pitchFamily="50" charset="-127"/>
              <a:ea typeface="맑은 고딕" pitchFamily="50" charset="-127"/>
              <a:cs typeface="굴림체" pitchFamily="49" charset="-127"/>
            </a:endParaRPr>
          </a:p>
          <a:p>
            <a:pPr lvl="0" fontAlgn="base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v"/>
            </a:pPr>
            <a:r>
              <a:rPr kumimoji="1" lang="ko-KR" altLang="en-US" sz="1600" b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정수와 정수의 나눗셈을 하면 결과가 정수로 나와야 하므로 몫만 나오게 되며 소수는 버려지게 됩니다</a:t>
            </a:r>
            <a:r>
              <a:rPr kumimoji="1" lang="en-US" altLang="ko-KR" sz="1600" b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.</a:t>
            </a:r>
            <a:endParaRPr kumimoji="1" lang="en-US" altLang="ko-KR" sz="1400" smtClean="0">
              <a:solidFill>
                <a:srgbClr val="000000"/>
              </a:solidFill>
              <a:latin typeface="맑은 고딕" pitchFamily="50" charset="-127"/>
              <a:ea typeface="맑은 고딕" pitchFamily="50" charset="-127"/>
              <a:cs typeface="굴림체" pitchFamily="49" charset="-127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mtClean="0"/>
              <a:t>실습</a:t>
            </a:r>
            <a:r>
              <a:rPr lang="en-US" altLang="ko-KR" smtClean="0"/>
              <a:t>(Error.java)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altLang="ko-KR" sz="1400" smtClean="0"/>
              <a:t>public class Error {</a:t>
            </a:r>
          </a:p>
          <a:p>
            <a:pPr>
              <a:buNone/>
            </a:pPr>
            <a:r>
              <a:rPr lang="en-US" altLang="ko-KR" sz="1400" smtClean="0"/>
              <a:t>	public static void main(String[] </a:t>
            </a:r>
            <a:r>
              <a:rPr lang="en-US" altLang="ko-KR" sz="1400" err="1" smtClean="0"/>
              <a:t>args</a:t>
            </a:r>
            <a:r>
              <a:rPr lang="en-US" altLang="ko-KR" sz="1400" smtClean="0"/>
              <a:t>) {</a:t>
            </a:r>
          </a:p>
          <a:p>
            <a:pPr>
              <a:buNone/>
            </a:pPr>
            <a:r>
              <a:rPr lang="en-US" altLang="ko-KR" sz="1400" smtClean="0"/>
              <a:t>		byte a = 10;</a:t>
            </a:r>
          </a:p>
          <a:p>
            <a:pPr>
              <a:buNone/>
            </a:pPr>
            <a:r>
              <a:rPr lang="en-US" altLang="ko-KR" sz="1400" smtClean="0"/>
              <a:t>		byte b = 20;</a:t>
            </a:r>
          </a:p>
          <a:p>
            <a:pPr>
              <a:buNone/>
            </a:pPr>
            <a:r>
              <a:rPr lang="en-US" altLang="ko-KR" sz="1400" smtClean="0"/>
              <a:t>		byte c = a + b;</a:t>
            </a:r>
          </a:p>
          <a:p>
            <a:pPr>
              <a:buNone/>
            </a:pPr>
            <a:r>
              <a:rPr lang="en-US" altLang="ko-KR" sz="1400" smtClean="0"/>
              <a:t>		// </a:t>
            </a:r>
            <a:r>
              <a:rPr lang="ko-KR" altLang="en-US" sz="1400" smtClean="0"/>
              <a:t>이 때 </a:t>
            </a:r>
            <a:r>
              <a:rPr lang="en-US" altLang="ko-KR" sz="1400" smtClean="0"/>
              <a:t>a </a:t>
            </a:r>
            <a:r>
              <a:rPr lang="ko-KR" altLang="en-US" sz="1400" smtClean="0"/>
              <a:t>와 </a:t>
            </a:r>
            <a:r>
              <a:rPr lang="en-US" altLang="ko-KR" sz="1400" smtClean="0"/>
              <a:t>b</a:t>
            </a:r>
            <a:r>
              <a:rPr lang="ko-KR" altLang="en-US" sz="1400" smtClean="0"/>
              <a:t>가 모두 </a:t>
            </a:r>
            <a:r>
              <a:rPr lang="en-US" altLang="ko-KR" sz="1400" err="1" smtClean="0"/>
              <a:t>int</a:t>
            </a:r>
            <a:r>
              <a:rPr lang="en-US" altLang="ko-KR" sz="1400" smtClean="0"/>
              <a:t> </a:t>
            </a:r>
            <a:r>
              <a:rPr lang="ko-KR" altLang="en-US" sz="1400" smtClean="0"/>
              <a:t>형으로 변환되어 연산하고</a:t>
            </a:r>
          </a:p>
          <a:p>
            <a:pPr>
              <a:buNone/>
            </a:pPr>
            <a:r>
              <a:rPr lang="ko-KR" altLang="en-US" sz="1400" smtClean="0"/>
              <a:t>		</a:t>
            </a:r>
            <a:r>
              <a:rPr lang="en-US" altLang="ko-KR" sz="1400" smtClean="0"/>
              <a:t>// </a:t>
            </a:r>
            <a:r>
              <a:rPr lang="ko-KR" altLang="en-US" sz="1400" smtClean="0"/>
              <a:t>따라서 연산의 결과도 </a:t>
            </a:r>
            <a:r>
              <a:rPr lang="en-US" altLang="ko-KR" sz="1400" err="1" smtClean="0"/>
              <a:t>int</a:t>
            </a:r>
            <a:r>
              <a:rPr lang="en-US" altLang="ko-KR" sz="1400" smtClean="0"/>
              <a:t> </a:t>
            </a:r>
            <a:r>
              <a:rPr lang="ko-KR" altLang="en-US" sz="1400" smtClean="0"/>
              <a:t>형이 되므로 대입 불가능</a:t>
            </a:r>
          </a:p>
          <a:p>
            <a:pPr>
              <a:buNone/>
            </a:pPr>
            <a:r>
              <a:rPr lang="ko-KR" altLang="en-US" sz="1400" smtClean="0"/>
              <a:t>		</a:t>
            </a:r>
            <a:r>
              <a:rPr lang="en-US" altLang="ko-KR" sz="1400" smtClean="0"/>
              <a:t>// byte c = (byte)(a + b); </a:t>
            </a:r>
            <a:r>
              <a:rPr lang="ko-KR" altLang="en-US" sz="1400" smtClean="0"/>
              <a:t>으로 수정하던지</a:t>
            </a:r>
          </a:p>
          <a:p>
            <a:pPr>
              <a:buNone/>
            </a:pPr>
            <a:r>
              <a:rPr lang="ko-KR" altLang="en-US" sz="1400" smtClean="0"/>
              <a:t>		</a:t>
            </a:r>
            <a:r>
              <a:rPr lang="en-US" altLang="ko-KR" sz="1400" smtClean="0"/>
              <a:t>// </a:t>
            </a:r>
            <a:r>
              <a:rPr lang="en-US" altLang="ko-KR" sz="1400" err="1" smtClean="0"/>
              <a:t>int</a:t>
            </a:r>
            <a:r>
              <a:rPr lang="en-US" altLang="ko-KR" sz="1400" smtClean="0"/>
              <a:t> c = a + b;</a:t>
            </a:r>
            <a:r>
              <a:rPr lang="ko-KR" altLang="en-US" sz="1400" smtClean="0"/>
              <a:t>로 수정하면 에러가 없어짐</a:t>
            </a:r>
          </a:p>
          <a:p>
            <a:pPr>
              <a:buNone/>
            </a:pPr>
            <a:r>
              <a:rPr lang="ko-KR" altLang="en-US" sz="1400" smtClean="0"/>
              <a:t>		</a:t>
            </a:r>
            <a:r>
              <a:rPr lang="en-US" altLang="ko-KR" sz="1400" err="1" smtClean="0"/>
              <a:t>System.out.println</a:t>
            </a:r>
            <a:r>
              <a:rPr lang="en-US" altLang="ko-KR" sz="1400" smtClean="0"/>
              <a:t>(c);</a:t>
            </a:r>
          </a:p>
          <a:p>
            <a:pPr>
              <a:buNone/>
            </a:pPr>
            <a:r>
              <a:rPr lang="en-US" altLang="ko-KR" sz="1400" smtClean="0"/>
              <a:t>	}</a:t>
            </a:r>
          </a:p>
          <a:p>
            <a:pPr>
              <a:buNone/>
            </a:pPr>
            <a:r>
              <a:rPr lang="en-US" altLang="ko-KR" sz="1400" smtClean="0"/>
              <a:t>}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BA5970-03A6-496F-978B-4258F7D373A8}" type="slidenum">
              <a:rPr lang="ko-KR" altLang="en-US" smtClean="0"/>
              <a:pPr/>
              <a:t>15</a:t>
            </a:fld>
            <a:endParaRPr lang="ko-KR" altLang="en-US"/>
          </a:p>
        </p:txBody>
      </p:sp>
      <p:pic>
        <p:nvPicPr>
          <p:cNvPr id="66562" name="Picture 2"/>
          <p:cNvPicPr>
            <a:picLocks noChangeAspect="1" noChangeArrowheads="1"/>
          </p:cNvPicPr>
          <p:nvPr/>
        </p:nvPicPr>
        <p:blipFill>
          <a:blip r:embed="rId2" cstate="print"/>
          <a:srcRect l="25839" t="13781" r="23220" b="55704"/>
          <a:stretch>
            <a:fillRect/>
          </a:stretch>
        </p:blipFill>
        <p:spPr bwMode="auto">
          <a:xfrm>
            <a:off x="5868144" y="1124744"/>
            <a:ext cx="2808312" cy="18511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mtClean="0"/>
              <a:t>실습</a:t>
            </a:r>
            <a:r>
              <a:rPr lang="en-US" altLang="ko-KR" smtClean="0"/>
              <a:t>(Arithmetic.java)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altLang="ko-KR" sz="1400" smtClean="0"/>
              <a:t>public class Arithmetic {</a:t>
            </a:r>
          </a:p>
          <a:p>
            <a:pPr>
              <a:buNone/>
            </a:pPr>
            <a:r>
              <a:rPr lang="en-US" altLang="ko-KR" sz="1400" smtClean="0"/>
              <a:t>	public static void main(String </a:t>
            </a:r>
            <a:r>
              <a:rPr lang="en-US" altLang="ko-KR" sz="1400" err="1" smtClean="0"/>
              <a:t>args</a:t>
            </a:r>
            <a:r>
              <a:rPr lang="en-US" altLang="ko-KR" sz="1400" smtClean="0"/>
              <a:t>[]) {</a:t>
            </a:r>
          </a:p>
          <a:p>
            <a:pPr>
              <a:buNone/>
            </a:pPr>
            <a:r>
              <a:rPr lang="en-US" altLang="ko-KR" sz="1400" smtClean="0"/>
              <a:t>		</a:t>
            </a:r>
            <a:r>
              <a:rPr lang="en-US" altLang="ko-KR" sz="1400" err="1" smtClean="0"/>
              <a:t>int</a:t>
            </a:r>
            <a:r>
              <a:rPr lang="en-US" altLang="ko-KR" sz="1400" smtClean="0"/>
              <a:t> a = 11, b = 2;</a:t>
            </a:r>
          </a:p>
          <a:p>
            <a:pPr>
              <a:buNone/>
            </a:pPr>
            <a:r>
              <a:rPr lang="en-US" altLang="ko-KR" sz="1400" smtClean="0"/>
              <a:t>		</a:t>
            </a:r>
            <a:r>
              <a:rPr lang="en-US" altLang="ko-KR" sz="1400" err="1" smtClean="0"/>
              <a:t>int</a:t>
            </a:r>
            <a:r>
              <a:rPr lang="en-US" altLang="ko-KR" sz="1400" smtClean="0"/>
              <a:t> add = a + b;</a:t>
            </a:r>
          </a:p>
          <a:p>
            <a:pPr>
              <a:buNone/>
            </a:pPr>
            <a:r>
              <a:rPr lang="en-US" altLang="ko-KR" sz="1400" smtClean="0"/>
              <a:t>		</a:t>
            </a:r>
            <a:r>
              <a:rPr lang="en-US" altLang="ko-KR" sz="1400" err="1" smtClean="0"/>
              <a:t>int</a:t>
            </a:r>
            <a:r>
              <a:rPr lang="en-US" altLang="ko-KR" sz="1400" smtClean="0"/>
              <a:t> sub = a - b;</a:t>
            </a:r>
          </a:p>
          <a:p>
            <a:pPr>
              <a:buNone/>
            </a:pPr>
            <a:r>
              <a:rPr lang="en-US" altLang="ko-KR" sz="1400" smtClean="0"/>
              <a:t>		</a:t>
            </a:r>
            <a:r>
              <a:rPr lang="en-US" altLang="ko-KR" sz="1400" err="1" smtClean="0"/>
              <a:t>int</a:t>
            </a:r>
            <a:r>
              <a:rPr lang="en-US" altLang="ko-KR" sz="1400" smtClean="0"/>
              <a:t> </a:t>
            </a:r>
            <a:r>
              <a:rPr lang="en-US" altLang="ko-KR" sz="1400" err="1" smtClean="0"/>
              <a:t>mul</a:t>
            </a:r>
            <a:r>
              <a:rPr lang="en-US" altLang="ko-KR" sz="1400" smtClean="0"/>
              <a:t> = a * b;</a:t>
            </a:r>
          </a:p>
          <a:p>
            <a:pPr>
              <a:buNone/>
            </a:pPr>
            <a:r>
              <a:rPr lang="en-US" altLang="ko-KR" sz="1400" smtClean="0"/>
              <a:t>		</a:t>
            </a:r>
            <a:r>
              <a:rPr lang="en-US" altLang="ko-KR" sz="1400" err="1" smtClean="0"/>
              <a:t>int</a:t>
            </a:r>
            <a:r>
              <a:rPr lang="en-US" altLang="ko-KR" sz="1400" smtClean="0"/>
              <a:t> div = a / b;</a:t>
            </a:r>
          </a:p>
          <a:p>
            <a:pPr>
              <a:buNone/>
            </a:pPr>
            <a:r>
              <a:rPr lang="en-US" altLang="ko-KR" sz="1400" smtClean="0"/>
              <a:t>		</a:t>
            </a:r>
            <a:r>
              <a:rPr lang="en-US" altLang="ko-KR" sz="1400" err="1" smtClean="0"/>
              <a:t>int</a:t>
            </a:r>
            <a:r>
              <a:rPr lang="en-US" altLang="ko-KR" sz="1400" smtClean="0"/>
              <a:t> mod = a % b;</a:t>
            </a:r>
          </a:p>
          <a:p>
            <a:pPr>
              <a:buNone/>
            </a:pPr>
            <a:endParaRPr lang="en-US" altLang="ko-KR" sz="1400" smtClean="0"/>
          </a:p>
          <a:p>
            <a:pPr>
              <a:buNone/>
            </a:pPr>
            <a:r>
              <a:rPr lang="en-US" altLang="ko-KR" sz="1400" smtClean="0"/>
              <a:t>		</a:t>
            </a:r>
            <a:r>
              <a:rPr lang="en-US" altLang="ko-KR" sz="1400" err="1" smtClean="0"/>
              <a:t>System.out.println</a:t>
            </a:r>
            <a:r>
              <a:rPr lang="en-US" altLang="ko-KR" sz="1400" smtClean="0"/>
              <a:t>("</a:t>
            </a:r>
            <a:r>
              <a:rPr lang="en-US" altLang="ko-KR" sz="1400" err="1" smtClean="0"/>
              <a:t>a+b</a:t>
            </a:r>
            <a:r>
              <a:rPr lang="en-US" altLang="ko-KR" sz="1400" smtClean="0"/>
              <a:t>=" + add);</a:t>
            </a:r>
          </a:p>
          <a:p>
            <a:pPr>
              <a:buNone/>
            </a:pPr>
            <a:r>
              <a:rPr lang="en-US" altLang="ko-KR" sz="1400" smtClean="0"/>
              <a:t>		</a:t>
            </a:r>
            <a:r>
              <a:rPr lang="en-US" altLang="ko-KR" sz="1400" err="1" smtClean="0"/>
              <a:t>System.out.println</a:t>
            </a:r>
            <a:r>
              <a:rPr lang="en-US" altLang="ko-KR" sz="1400" smtClean="0"/>
              <a:t>("a-b=" + sub);</a:t>
            </a:r>
          </a:p>
          <a:p>
            <a:pPr>
              <a:buNone/>
            </a:pPr>
            <a:r>
              <a:rPr lang="en-US" altLang="ko-KR" sz="1400" smtClean="0"/>
              <a:t>		</a:t>
            </a:r>
            <a:r>
              <a:rPr lang="en-US" altLang="ko-KR" sz="1400" err="1" smtClean="0"/>
              <a:t>System.out.println</a:t>
            </a:r>
            <a:r>
              <a:rPr lang="en-US" altLang="ko-KR" sz="1400" smtClean="0"/>
              <a:t>("a*b=" + </a:t>
            </a:r>
            <a:r>
              <a:rPr lang="en-US" altLang="ko-KR" sz="1400" err="1" smtClean="0"/>
              <a:t>mul</a:t>
            </a:r>
            <a:r>
              <a:rPr lang="en-US" altLang="ko-KR" sz="1400" smtClean="0"/>
              <a:t>);</a:t>
            </a:r>
          </a:p>
          <a:p>
            <a:pPr>
              <a:buNone/>
            </a:pPr>
            <a:r>
              <a:rPr lang="en-US" altLang="ko-KR" sz="1400" smtClean="0"/>
              <a:t>		</a:t>
            </a:r>
            <a:r>
              <a:rPr lang="en-US" altLang="ko-KR" sz="1400" err="1" smtClean="0"/>
              <a:t>System.out.println</a:t>
            </a:r>
            <a:r>
              <a:rPr lang="en-US" altLang="ko-KR" sz="1400" smtClean="0"/>
              <a:t>("a/b=" + div);</a:t>
            </a:r>
          </a:p>
          <a:p>
            <a:pPr>
              <a:buNone/>
            </a:pPr>
            <a:r>
              <a:rPr lang="en-US" altLang="ko-KR" sz="1400" smtClean="0"/>
              <a:t>		</a:t>
            </a:r>
            <a:r>
              <a:rPr lang="en-US" altLang="ko-KR" sz="1400" err="1" smtClean="0"/>
              <a:t>System.out.println</a:t>
            </a:r>
            <a:r>
              <a:rPr lang="en-US" altLang="ko-KR" sz="1400" smtClean="0"/>
              <a:t>("a/b=" + (float) a / b);</a:t>
            </a:r>
          </a:p>
          <a:p>
            <a:pPr>
              <a:buNone/>
            </a:pPr>
            <a:r>
              <a:rPr lang="en-US" altLang="ko-KR" sz="1400" smtClean="0"/>
              <a:t>		</a:t>
            </a:r>
            <a:r>
              <a:rPr lang="en-US" altLang="ko-KR" sz="1400" err="1" smtClean="0"/>
              <a:t>System.out.println</a:t>
            </a:r>
            <a:r>
              <a:rPr lang="en-US" altLang="ko-KR" sz="1400" smtClean="0"/>
              <a:t>("</a:t>
            </a:r>
            <a:r>
              <a:rPr lang="en-US" altLang="ko-KR" sz="1400" err="1" smtClean="0"/>
              <a:t>a%b</a:t>
            </a:r>
            <a:r>
              <a:rPr lang="en-US" altLang="ko-KR" sz="1400" smtClean="0"/>
              <a:t>=" + mod);</a:t>
            </a:r>
          </a:p>
          <a:p>
            <a:pPr>
              <a:buNone/>
            </a:pPr>
            <a:r>
              <a:rPr lang="en-US" altLang="ko-KR" sz="1400" smtClean="0"/>
              <a:t>	}</a:t>
            </a:r>
          </a:p>
          <a:p>
            <a:pPr>
              <a:buNone/>
            </a:pPr>
            <a:r>
              <a:rPr lang="en-US" altLang="ko-KR" sz="1400" smtClean="0"/>
              <a:t>}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BA5970-03A6-496F-978B-4258F7D373A8}" type="slidenum">
              <a:rPr lang="ko-KR" altLang="en-US" smtClean="0"/>
              <a:pPr/>
              <a:t>16</a:t>
            </a:fld>
            <a:endParaRPr lang="ko-KR" altLang="en-US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 l="25839" t="55124" r="57181" b="22236"/>
          <a:stretch>
            <a:fillRect/>
          </a:stretch>
        </p:blipFill>
        <p:spPr bwMode="auto">
          <a:xfrm>
            <a:off x="6156176" y="1196752"/>
            <a:ext cx="2448272" cy="26642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5.Shift</a:t>
            </a:r>
            <a:r>
              <a:rPr lang="ko-KR" altLang="en-US" smtClean="0"/>
              <a:t> 연산자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BA5970-03A6-496F-978B-4258F7D373A8}" type="slidenum">
              <a:rPr lang="ko-KR" altLang="en-US" smtClean="0"/>
              <a:pPr/>
              <a:t>17</a:t>
            </a:fld>
            <a:endParaRPr lang="ko-KR" altLang="en-US"/>
          </a:p>
        </p:txBody>
      </p:sp>
      <p:sp>
        <p:nvSpPr>
          <p:cNvPr id="24577" name="Rectangle 1"/>
          <p:cNvSpPr>
            <a:spLocks noChangeArrowheads="1"/>
          </p:cNvSpPr>
          <p:nvPr/>
        </p:nvSpPr>
        <p:spPr bwMode="auto">
          <a:xfrm>
            <a:off x="755576" y="1412776"/>
            <a:ext cx="7704856" cy="41857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fontAlgn="base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v"/>
            </a:pPr>
            <a:r>
              <a:rPr kumimoji="1" lang="en-US" altLang="ko-KR" sz="1400" b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&lt;&lt;, &gt;&gt;, &gt;&gt;&gt; 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v"/>
            </a:pPr>
            <a:r>
              <a:rPr kumimoji="1" lang="en-US" altLang="ko-KR" sz="1400" b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Shift </a:t>
            </a:r>
            <a:r>
              <a:rPr kumimoji="1" lang="ko-KR" altLang="en-US" sz="1400" b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연산자는 정수형 데이터에만 사용할 수 있는데</a:t>
            </a:r>
            <a:r>
              <a:rPr kumimoji="1" lang="en-US" altLang="ko-KR" sz="1400" b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 </a:t>
            </a:r>
            <a:r>
              <a:rPr kumimoji="1" lang="ko-KR" altLang="en-US" sz="1400" b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피 연산자의 각 자리</a:t>
            </a:r>
            <a:r>
              <a:rPr kumimoji="1" lang="en-US" altLang="ko-KR" sz="1400" b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(2</a:t>
            </a:r>
            <a:r>
              <a:rPr kumimoji="1" lang="ko-KR" altLang="en-US" sz="1400" b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진수로 표현했을 때</a:t>
            </a:r>
            <a:r>
              <a:rPr kumimoji="1" lang="en-US" altLang="ko-KR" sz="1400" b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)</a:t>
            </a:r>
            <a:r>
              <a:rPr kumimoji="1" lang="ko-KR" altLang="en-US" sz="1400" b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를 오른쪽 또는 왼쪽으로 이동</a:t>
            </a:r>
            <a:r>
              <a:rPr kumimoji="1" lang="en-US" altLang="ko-KR" sz="1400" b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(shift)</a:t>
            </a:r>
            <a:r>
              <a:rPr kumimoji="1" lang="ko-KR" altLang="en-US" sz="1400" b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한다고 해서 </a:t>
            </a:r>
            <a:r>
              <a:rPr kumimoji="1" lang="en-US" altLang="ko-KR" sz="1400" b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Shift </a:t>
            </a:r>
            <a:r>
              <a:rPr kumimoji="1" lang="ko-KR" altLang="en-US" sz="1400" b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연산자</a:t>
            </a:r>
            <a:r>
              <a:rPr kumimoji="1" lang="en-US" altLang="ko-KR" sz="1400" b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(shift operator)</a:t>
            </a:r>
            <a:r>
              <a:rPr kumimoji="1" lang="ko-KR" altLang="en-US" sz="1400" b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라고 합니다</a:t>
            </a:r>
            <a:r>
              <a:rPr kumimoji="1" lang="en-US" altLang="ko-KR" sz="1400" b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. 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v"/>
            </a:pPr>
            <a:r>
              <a:rPr kumimoji="1" lang="ko-KR" altLang="en-US" sz="1400" b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오른쪽으로 </a:t>
            </a:r>
            <a:r>
              <a:rPr kumimoji="1" lang="en-US" altLang="ko-KR" sz="1400" b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n </a:t>
            </a:r>
            <a:r>
              <a:rPr kumimoji="1" lang="ko-KR" altLang="en-US" sz="1400" b="1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비트를</a:t>
            </a:r>
            <a:r>
              <a:rPr kumimoji="1" lang="ko-KR" altLang="en-US" sz="1400" b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 이동하면</a:t>
            </a:r>
            <a:r>
              <a:rPr kumimoji="1" lang="en-US" altLang="ko-KR" sz="1400" b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 </a:t>
            </a:r>
            <a:r>
              <a:rPr kumimoji="1" lang="ko-KR" altLang="en-US" sz="1400" b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피 연산자를 </a:t>
            </a:r>
            <a:r>
              <a:rPr kumimoji="1" lang="en-US" altLang="ko-KR" sz="1400" b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2</a:t>
            </a:r>
            <a:r>
              <a:rPr kumimoji="1" lang="ko-KR" altLang="en-US" sz="1400" b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의 </a:t>
            </a:r>
            <a:r>
              <a:rPr kumimoji="1" lang="en-US" altLang="ko-KR" sz="1400" b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n</a:t>
            </a:r>
            <a:r>
              <a:rPr kumimoji="1" lang="ko-KR" altLang="en-US" sz="1400" b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승으로 나눈 것과 같은 결과를 얻을 수 있고</a:t>
            </a:r>
            <a:r>
              <a:rPr kumimoji="1" lang="en-US" altLang="ko-KR" sz="1400" b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 </a:t>
            </a:r>
            <a:r>
              <a:rPr kumimoji="1" lang="ko-KR" altLang="en-US" sz="1400" b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왼쪽으로 </a:t>
            </a:r>
            <a:r>
              <a:rPr kumimoji="1" lang="en-US" altLang="ko-KR" sz="1400" b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n</a:t>
            </a:r>
            <a:r>
              <a:rPr kumimoji="1" lang="ko-KR" altLang="en-US" sz="1400" b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자리를 이동하면 </a:t>
            </a:r>
            <a:r>
              <a:rPr kumimoji="1" lang="en-US" altLang="ko-KR" sz="1400" b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2</a:t>
            </a:r>
            <a:r>
              <a:rPr kumimoji="1" lang="ko-KR" altLang="en-US" sz="1400" b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의 </a:t>
            </a:r>
            <a:r>
              <a:rPr kumimoji="1" lang="en-US" altLang="ko-KR" sz="1400" b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n</a:t>
            </a:r>
            <a:r>
              <a:rPr kumimoji="1" lang="ko-KR" altLang="en-US" sz="1400" b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승으로 곱한 것과 같은 결과를 얻을 수 있습니다</a:t>
            </a:r>
            <a:r>
              <a:rPr kumimoji="1" lang="en-US" altLang="ko-KR" sz="1400" b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. 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v"/>
            </a:pPr>
            <a:r>
              <a:rPr kumimoji="1" lang="en-US" altLang="ko-KR" sz="1400" b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"&lt;&lt;"</a:t>
            </a:r>
            <a:r>
              <a:rPr kumimoji="1" lang="ko-KR" altLang="en-US" sz="1400" b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연산자의 경우</a:t>
            </a:r>
            <a:r>
              <a:rPr kumimoji="1" lang="en-US" altLang="ko-KR" sz="1400" b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, </a:t>
            </a:r>
            <a:r>
              <a:rPr kumimoji="1" lang="ko-KR" altLang="en-US" sz="1400" b="1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피연산자의</a:t>
            </a:r>
            <a:r>
              <a:rPr kumimoji="1" lang="ko-KR" altLang="en-US" sz="1400" b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 부호에 상관없이 자리를 왼쪽으로 이동시키며 빈칸을 </a:t>
            </a:r>
            <a:r>
              <a:rPr kumimoji="1" lang="en-US" altLang="ko-KR" sz="1400" b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0</a:t>
            </a:r>
            <a:r>
              <a:rPr kumimoji="1" lang="ko-KR" altLang="en-US" sz="1400" b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으로만 채우면 되지만</a:t>
            </a:r>
            <a:r>
              <a:rPr kumimoji="1" lang="en-US" altLang="ko-KR" sz="1400" b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, "&gt;&gt;"</a:t>
            </a:r>
            <a:r>
              <a:rPr kumimoji="1" lang="ko-KR" altLang="en-US" sz="1400" b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연산자는 음수인 경우 부호를 유지시켜주기 위해서 음수인 경우 빈자리를 </a:t>
            </a:r>
            <a:r>
              <a:rPr kumimoji="1" lang="en-US" altLang="ko-KR" sz="1400" b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1</a:t>
            </a:r>
            <a:r>
              <a:rPr kumimoji="1" lang="ko-KR" altLang="en-US" sz="1400" b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로 채우게 됩니다</a:t>
            </a:r>
            <a:r>
              <a:rPr kumimoji="1" lang="en-US" altLang="ko-KR" sz="1400" b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. 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v"/>
            </a:pPr>
            <a:r>
              <a:rPr kumimoji="1" lang="ko-KR" altLang="en-US" sz="1400" b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반면에 </a:t>
            </a:r>
            <a:r>
              <a:rPr kumimoji="1" lang="en-US" altLang="ko-KR" sz="1400" b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"&gt;&gt;&gt;"</a:t>
            </a:r>
            <a:r>
              <a:rPr kumimoji="1" lang="ko-KR" altLang="en-US" sz="1400" b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연산자는 부호에 상관없이 항상 </a:t>
            </a:r>
            <a:r>
              <a:rPr kumimoji="1" lang="en-US" altLang="ko-KR" sz="1400" b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0</a:t>
            </a:r>
            <a:r>
              <a:rPr kumimoji="1" lang="ko-KR" altLang="en-US" sz="1400" b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으로 빈자리를 채워줍니다</a:t>
            </a:r>
            <a:r>
              <a:rPr kumimoji="1" lang="en-US" altLang="ko-KR" sz="1400" b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.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v"/>
            </a:pPr>
            <a:r>
              <a:rPr kumimoji="1" lang="ko-KR" altLang="en-US" sz="1400" b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그렇기 때문에</a:t>
            </a:r>
            <a:r>
              <a:rPr kumimoji="1" lang="en-US" altLang="ko-KR" sz="1400" b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, </a:t>
            </a:r>
            <a:r>
              <a:rPr kumimoji="1" lang="ko-KR" altLang="en-US" sz="1400" b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음수에 </a:t>
            </a:r>
            <a:r>
              <a:rPr kumimoji="1" lang="en-US" altLang="ko-KR" sz="1400" b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"&gt;&gt;&gt;"</a:t>
            </a:r>
            <a:r>
              <a:rPr kumimoji="1" lang="ko-KR" altLang="en-US" sz="1400" b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연산을 행한 후</a:t>
            </a:r>
            <a:r>
              <a:rPr kumimoji="1" lang="en-US" altLang="ko-KR" sz="1400" b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, 10</a:t>
            </a:r>
            <a:r>
              <a:rPr kumimoji="1" lang="ko-KR" altLang="en-US" sz="1400" b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진수로 변환해 보면</a:t>
            </a:r>
            <a:r>
              <a:rPr kumimoji="1" lang="en-US" altLang="ko-KR" sz="1400" b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, </a:t>
            </a:r>
            <a:r>
              <a:rPr kumimoji="1" lang="ko-KR" altLang="en-US" sz="1400" b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뜻밖의 결과를 얻게 될 것입니다</a:t>
            </a:r>
            <a:r>
              <a:rPr kumimoji="1" lang="en-US" altLang="ko-KR" sz="1400" b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.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v"/>
            </a:pPr>
            <a:r>
              <a:rPr kumimoji="1" lang="en-US" altLang="ko-KR" sz="1400" b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"&lt;&lt;", "&gt;&gt;"</a:t>
            </a:r>
            <a:r>
              <a:rPr kumimoji="1" lang="ko-KR" altLang="en-US" sz="1400" b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연산자와는 달리 </a:t>
            </a:r>
            <a:r>
              <a:rPr kumimoji="1" lang="en-US" altLang="ko-KR" sz="1400" b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"&gt;&gt;&gt;"</a:t>
            </a:r>
            <a:r>
              <a:rPr kumimoji="1" lang="ko-KR" altLang="en-US" sz="1400" b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연산자의 결과는 </a:t>
            </a:r>
            <a:r>
              <a:rPr kumimoji="1" lang="en-US" altLang="ko-KR" sz="1400" b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10</a:t>
            </a:r>
            <a:r>
              <a:rPr kumimoji="1" lang="ko-KR" altLang="en-US" sz="1400" b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진수 보다는 </a:t>
            </a:r>
            <a:r>
              <a:rPr kumimoji="1" lang="en-US" altLang="ko-KR" sz="1400" b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2</a:t>
            </a:r>
            <a:r>
              <a:rPr kumimoji="1" lang="ko-KR" altLang="en-US" sz="1400" b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진수로 표현했을 때 기호로서 더 의미를 가지므로</a:t>
            </a:r>
            <a:r>
              <a:rPr kumimoji="1" lang="en-US" altLang="ko-KR" sz="1400" b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, 10</a:t>
            </a:r>
            <a:r>
              <a:rPr kumimoji="1" lang="ko-KR" altLang="en-US" sz="1400" b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진 연산보다는 비트연산</a:t>
            </a:r>
            <a:r>
              <a:rPr kumimoji="1" lang="en-US" altLang="ko-KR" sz="1400" b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(2</a:t>
            </a:r>
            <a:r>
              <a:rPr kumimoji="1" lang="ko-KR" altLang="en-US" sz="1400" b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진 연산</a:t>
            </a:r>
            <a:r>
              <a:rPr kumimoji="1" lang="en-US" altLang="ko-KR" sz="1400" b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)</a:t>
            </a:r>
            <a:r>
              <a:rPr kumimoji="1" lang="ko-KR" altLang="en-US" sz="1400" b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에 주로 사용됩니다</a:t>
            </a:r>
            <a:r>
              <a:rPr kumimoji="1" lang="en-US" altLang="ko-KR" sz="1400" b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.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v"/>
            </a:pPr>
            <a:endParaRPr kumimoji="1" lang="en-US" altLang="ko-KR" sz="1400" b="1" smtClean="0">
              <a:solidFill>
                <a:srgbClr val="000000"/>
              </a:solidFill>
              <a:latin typeface="맑은 고딕" pitchFamily="50" charset="-127"/>
              <a:ea typeface="맑은 고딕" pitchFamily="50" charset="-127"/>
              <a:cs typeface="굴림체" pitchFamily="49" charset="-127"/>
            </a:endParaRPr>
          </a:p>
          <a:p>
            <a:pPr lvl="0" fontAlgn="base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v"/>
            </a:pPr>
            <a:r>
              <a:rPr kumimoji="1" lang="en-US" altLang="ko-KR" sz="1400" b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[</a:t>
            </a:r>
            <a:r>
              <a:rPr kumimoji="1" lang="ko-KR" altLang="en-US" sz="1400" b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참고</a:t>
            </a:r>
            <a:r>
              <a:rPr kumimoji="1" lang="en-US" altLang="ko-KR" sz="1400" b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]</a:t>
            </a:r>
            <a:r>
              <a:rPr kumimoji="1" lang="ko-KR" altLang="en-US" sz="1400" b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여기서 숫자 </a:t>
            </a:r>
            <a:r>
              <a:rPr kumimoji="1" lang="en-US" altLang="ko-KR" sz="1400" b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n</a:t>
            </a:r>
            <a:r>
              <a:rPr kumimoji="1" lang="ko-KR" altLang="en-US" sz="1400" b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의 값이 자료형의 </a:t>
            </a:r>
            <a:r>
              <a:rPr kumimoji="1" lang="en-US" altLang="ko-KR" sz="1400" b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bit</a:t>
            </a:r>
            <a:r>
              <a:rPr kumimoji="1" lang="ko-KR" altLang="en-US" sz="1400" b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수 보다 크면</a:t>
            </a:r>
            <a:r>
              <a:rPr kumimoji="1" lang="en-US" altLang="ko-KR" sz="1400" b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 </a:t>
            </a:r>
            <a:r>
              <a:rPr kumimoji="1" lang="ko-KR" altLang="en-US" sz="1400" b="1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자료형의</a:t>
            </a:r>
            <a:r>
              <a:rPr kumimoji="1" lang="ko-KR" altLang="en-US" sz="1400" b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 </a:t>
            </a:r>
            <a:r>
              <a:rPr kumimoji="1" lang="en-US" altLang="ko-KR" sz="1400" b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bit</a:t>
            </a:r>
            <a:r>
              <a:rPr kumimoji="1" lang="ko-KR" altLang="en-US" sz="1400" b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수로 나눈 나머지만큼만 이동합니다</a:t>
            </a:r>
            <a:r>
              <a:rPr kumimoji="1" lang="en-US" altLang="ko-KR" sz="1400" b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. 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v"/>
            </a:pPr>
            <a:r>
              <a:rPr kumimoji="1" lang="ko-KR" altLang="en-US" sz="1400" b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예를 들어 </a:t>
            </a:r>
            <a:r>
              <a:rPr kumimoji="1" lang="en-US" altLang="ko-KR" sz="1400" b="1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int</a:t>
            </a:r>
            <a:r>
              <a:rPr kumimoji="1" lang="ko-KR" altLang="en-US" sz="1400" b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형의 경우</a:t>
            </a:r>
            <a:r>
              <a:rPr kumimoji="1" lang="en-US" altLang="ko-KR" sz="1400" b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, 4byte(32bit)</a:t>
            </a:r>
            <a:r>
              <a:rPr kumimoji="1" lang="ko-KR" altLang="en-US" sz="1400" b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이므로 자리수를 </a:t>
            </a:r>
            <a:r>
              <a:rPr kumimoji="1" lang="en-US" altLang="ko-KR" sz="1400" b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32</a:t>
            </a:r>
            <a:r>
              <a:rPr kumimoji="1" lang="ko-KR" altLang="en-US" sz="1400" b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번 바꾸면 결국 제자리로 돌아오기 때문에</a:t>
            </a:r>
            <a:r>
              <a:rPr kumimoji="1" lang="en-US" altLang="ko-KR" sz="1400" b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, 1000 &gt;&gt; 32</a:t>
            </a:r>
            <a:r>
              <a:rPr kumimoji="1" lang="ko-KR" altLang="en-US" sz="1400" b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는 수행하면 아무 일도 하지 않아도 됩니다</a:t>
            </a:r>
            <a:r>
              <a:rPr kumimoji="1" lang="en-US" altLang="ko-KR" sz="1400" b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. 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v"/>
            </a:pPr>
            <a:r>
              <a:rPr kumimoji="1" lang="en-US" altLang="ko-KR" sz="1400" b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1000 &gt;&gt; 35</a:t>
            </a:r>
            <a:r>
              <a:rPr kumimoji="1" lang="ko-KR" altLang="en-US" sz="1400" b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는 </a:t>
            </a:r>
            <a:r>
              <a:rPr kumimoji="1" lang="en-US" altLang="ko-KR" sz="1400" b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35</a:t>
            </a:r>
            <a:r>
              <a:rPr kumimoji="1" lang="ko-KR" altLang="en-US" sz="1400" b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를 </a:t>
            </a:r>
            <a:r>
              <a:rPr kumimoji="1" lang="en-US" altLang="ko-KR" sz="1400" b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32</a:t>
            </a:r>
            <a:r>
              <a:rPr kumimoji="1" lang="ko-KR" altLang="en-US" sz="1400" b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로 나눈 나머지인 </a:t>
            </a:r>
            <a:r>
              <a:rPr kumimoji="1" lang="en-US" altLang="ko-KR" sz="1400" b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3</a:t>
            </a:r>
            <a:r>
              <a:rPr kumimoji="1" lang="ko-KR" altLang="en-US" sz="1400" b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만큼만 이동하는 </a:t>
            </a:r>
            <a:r>
              <a:rPr kumimoji="1" lang="en-US" altLang="ko-KR" sz="1400" b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1000 &gt;&gt; 3</a:t>
            </a:r>
            <a:r>
              <a:rPr kumimoji="1" lang="ko-KR" altLang="en-US" sz="1400" b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을 수행합니다</a:t>
            </a:r>
            <a:r>
              <a:rPr kumimoji="1" lang="en-US" altLang="ko-KR" sz="1400" b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mtClean="0"/>
              <a:t>실습</a:t>
            </a:r>
            <a:r>
              <a:rPr lang="en-US" altLang="ko-KR" smtClean="0"/>
              <a:t>(Shift.java)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buNone/>
            </a:pPr>
            <a:r>
              <a:rPr lang="en-US" altLang="ko-KR" sz="1400" smtClean="0"/>
              <a:t>public class Shift </a:t>
            </a:r>
          </a:p>
          <a:p>
            <a:pPr>
              <a:buNone/>
            </a:pPr>
            <a:r>
              <a:rPr lang="en-US" altLang="ko-KR" sz="1400" smtClean="0"/>
              <a:t>{ </a:t>
            </a:r>
          </a:p>
          <a:p>
            <a:pPr>
              <a:buNone/>
            </a:pPr>
            <a:r>
              <a:rPr lang="en-US" altLang="ko-KR" sz="1400" smtClean="0"/>
              <a:t>	public static void main(String </a:t>
            </a:r>
            <a:r>
              <a:rPr lang="en-US" altLang="ko-KR" sz="1400" err="1" smtClean="0"/>
              <a:t>args</a:t>
            </a:r>
            <a:r>
              <a:rPr lang="en-US" altLang="ko-KR" sz="1400" smtClean="0"/>
              <a:t>[]) </a:t>
            </a:r>
          </a:p>
          <a:p>
            <a:pPr>
              <a:buNone/>
            </a:pPr>
            <a:r>
              <a:rPr lang="en-US" altLang="ko-KR" sz="1400" smtClean="0"/>
              <a:t>	{ </a:t>
            </a:r>
          </a:p>
          <a:p>
            <a:pPr>
              <a:buNone/>
            </a:pPr>
            <a:r>
              <a:rPr lang="en-US" altLang="ko-KR" sz="1400" smtClean="0"/>
              <a:t>        </a:t>
            </a:r>
            <a:r>
              <a:rPr lang="en-US" altLang="ko-KR" sz="1400" err="1" smtClean="0"/>
              <a:t>int</a:t>
            </a:r>
            <a:r>
              <a:rPr lang="en-US" altLang="ko-KR" sz="1400" smtClean="0"/>
              <a:t> temp;                         // </a:t>
            </a:r>
            <a:r>
              <a:rPr lang="ko-KR" altLang="en-US" sz="1400" smtClean="0"/>
              <a:t>계산 결과를 담기 위한 변수 </a:t>
            </a:r>
          </a:p>
          <a:p>
            <a:pPr>
              <a:buNone/>
            </a:pPr>
            <a:r>
              <a:rPr lang="ko-KR" altLang="en-US" sz="1400" smtClean="0"/>
              <a:t>		</a:t>
            </a:r>
            <a:r>
              <a:rPr lang="en-US" altLang="ko-KR" sz="1400" err="1" smtClean="0"/>
              <a:t>System.out.println</a:t>
            </a:r>
            <a:r>
              <a:rPr lang="en-US" altLang="ko-KR" sz="1400" smtClean="0"/>
              <a:t>(-8); </a:t>
            </a:r>
          </a:p>
          <a:p>
            <a:pPr>
              <a:buNone/>
            </a:pPr>
            <a:r>
              <a:rPr lang="en-US" altLang="ko-KR" sz="1400" smtClean="0"/>
              <a:t>        </a:t>
            </a:r>
            <a:r>
              <a:rPr lang="en-US" altLang="ko-KR" sz="1400" err="1" smtClean="0"/>
              <a:t>System.out.println</a:t>
            </a:r>
            <a:r>
              <a:rPr lang="en-US" altLang="ko-KR" sz="1400" smtClean="0"/>
              <a:t>(</a:t>
            </a:r>
            <a:r>
              <a:rPr lang="en-US" altLang="ko-KR" sz="1400" err="1" smtClean="0"/>
              <a:t>Integer.toBinaryString</a:t>
            </a:r>
            <a:r>
              <a:rPr lang="en-US" altLang="ko-KR" sz="1400" smtClean="0"/>
              <a:t>(-8)); </a:t>
            </a:r>
          </a:p>
          <a:p>
            <a:pPr>
              <a:buNone/>
            </a:pPr>
            <a:r>
              <a:rPr lang="en-US" altLang="ko-KR" sz="1400" smtClean="0"/>
              <a:t>// </a:t>
            </a:r>
            <a:r>
              <a:rPr lang="en-US" altLang="ko-KR" sz="1400" err="1" smtClean="0"/>
              <a:t>Integer.toBinaryString</a:t>
            </a:r>
            <a:r>
              <a:rPr lang="ko-KR" altLang="en-US" sz="1400" smtClean="0"/>
              <a:t>은 매개변수를 </a:t>
            </a:r>
            <a:r>
              <a:rPr lang="en-US" altLang="ko-KR" sz="1400" smtClean="0"/>
              <a:t>2</a:t>
            </a:r>
            <a:r>
              <a:rPr lang="ko-KR" altLang="en-US" sz="1400" smtClean="0"/>
              <a:t>진 문자열로 변경해주는 </a:t>
            </a:r>
            <a:r>
              <a:rPr lang="ko-KR" altLang="en-US" sz="1400" err="1" smtClean="0"/>
              <a:t>메소드</a:t>
            </a:r>
            <a:r>
              <a:rPr lang="ko-KR" altLang="en-US" sz="1400" smtClean="0"/>
              <a:t> 입니다</a:t>
            </a:r>
            <a:r>
              <a:rPr lang="en-US" altLang="ko-KR" sz="1400" smtClean="0"/>
              <a:t>.</a:t>
            </a:r>
          </a:p>
          <a:p>
            <a:pPr>
              <a:buNone/>
            </a:pPr>
            <a:r>
              <a:rPr lang="en-US" altLang="ko-KR" sz="1400" smtClean="0"/>
              <a:t> </a:t>
            </a:r>
          </a:p>
          <a:p>
            <a:pPr>
              <a:buNone/>
            </a:pPr>
            <a:r>
              <a:rPr lang="en-US" altLang="ko-KR" sz="1400" smtClean="0"/>
              <a:t>        temp = -8 &lt;&lt; 2; </a:t>
            </a:r>
          </a:p>
          <a:p>
            <a:pPr>
              <a:buNone/>
            </a:pPr>
            <a:r>
              <a:rPr lang="en-US" altLang="ko-KR" sz="1400" smtClean="0"/>
              <a:t>        </a:t>
            </a:r>
            <a:r>
              <a:rPr lang="en-US" altLang="ko-KR" sz="1400" err="1" smtClean="0"/>
              <a:t>System.out.println</a:t>
            </a:r>
            <a:r>
              <a:rPr lang="en-US" altLang="ko-KR" sz="1400" smtClean="0"/>
              <a:t>( "-8 &lt;&lt; 2 = " + temp); </a:t>
            </a:r>
          </a:p>
          <a:p>
            <a:pPr>
              <a:buNone/>
            </a:pPr>
            <a:r>
              <a:rPr lang="en-US" altLang="ko-KR" sz="1400" smtClean="0"/>
              <a:t>        </a:t>
            </a:r>
            <a:r>
              <a:rPr lang="en-US" altLang="ko-KR" sz="1400" err="1" smtClean="0"/>
              <a:t>System.out.println</a:t>
            </a:r>
            <a:r>
              <a:rPr lang="en-US" altLang="ko-KR" sz="1400" smtClean="0"/>
              <a:t>(</a:t>
            </a:r>
            <a:r>
              <a:rPr lang="en-US" altLang="ko-KR" sz="1400" err="1" smtClean="0"/>
              <a:t>Integer.toBinaryString</a:t>
            </a:r>
            <a:r>
              <a:rPr lang="en-US" altLang="ko-KR" sz="1400" smtClean="0"/>
              <a:t>(temp)); </a:t>
            </a:r>
          </a:p>
          <a:p>
            <a:pPr>
              <a:buNone/>
            </a:pPr>
            <a:endParaRPr lang="en-US" altLang="ko-KR" sz="1400" smtClean="0"/>
          </a:p>
          <a:p>
            <a:pPr>
              <a:buNone/>
            </a:pPr>
            <a:r>
              <a:rPr lang="en-US" altLang="ko-KR" sz="1400" smtClean="0"/>
              <a:t>        </a:t>
            </a:r>
            <a:r>
              <a:rPr lang="en-US" altLang="ko-KR" sz="1400" err="1" smtClean="0"/>
              <a:t>System.out.println</a:t>
            </a:r>
            <a:r>
              <a:rPr lang="en-US" altLang="ko-KR" sz="1400" smtClean="0"/>
              <a:t>(-8); </a:t>
            </a:r>
          </a:p>
          <a:p>
            <a:pPr>
              <a:buNone/>
            </a:pPr>
            <a:r>
              <a:rPr lang="en-US" altLang="ko-KR" sz="1400" smtClean="0"/>
              <a:t>        </a:t>
            </a:r>
            <a:r>
              <a:rPr lang="en-US" altLang="ko-KR" sz="1400" err="1" smtClean="0"/>
              <a:t>System.out.println</a:t>
            </a:r>
            <a:r>
              <a:rPr lang="en-US" altLang="ko-KR" sz="1400" smtClean="0"/>
              <a:t>(</a:t>
            </a:r>
            <a:r>
              <a:rPr lang="en-US" altLang="ko-KR" sz="1400" err="1" smtClean="0"/>
              <a:t>Integer.toBinaryString</a:t>
            </a:r>
            <a:r>
              <a:rPr lang="en-US" altLang="ko-KR" sz="1400" smtClean="0"/>
              <a:t>(-8)); </a:t>
            </a:r>
          </a:p>
          <a:p>
            <a:pPr>
              <a:buNone/>
            </a:pPr>
            <a:r>
              <a:rPr lang="en-US" altLang="ko-KR" sz="1400" smtClean="0"/>
              <a:t> </a:t>
            </a:r>
          </a:p>
          <a:p>
            <a:pPr>
              <a:buNone/>
            </a:pPr>
            <a:r>
              <a:rPr lang="en-US" altLang="ko-KR" sz="1400" smtClean="0"/>
              <a:t>        temp = -8 &gt;&gt; 2; </a:t>
            </a:r>
          </a:p>
          <a:p>
            <a:pPr>
              <a:buNone/>
            </a:pPr>
            <a:r>
              <a:rPr lang="en-US" altLang="ko-KR" sz="1400" smtClean="0"/>
              <a:t>        </a:t>
            </a:r>
            <a:r>
              <a:rPr lang="en-US" altLang="ko-KR" sz="1400" err="1" smtClean="0"/>
              <a:t>System.out.println</a:t>
            </a:r>
            <a:r>
              <a:rPr lang="en-US" altLang="ko-KR" sz="1400" smtClean="0"/>
              <a:t>( "-8 &gt;&gt; 2 = " + temp); </a:t>
            </a:r>
          </a:p>
          <a:p>
            <a:pPr>
              <a:buNone/>
            </a:pPr>
            <a:r>
              <a:rPr lang="en-US" altLang="ko-KR" sz="1400" smtClean="0"/>
              <a:t>        </a:t>
            </a:r>
            <a:r>
              <a:rPr lang="en-US" altLang="ko-KR" sz="1400" err="1" smtClean="0"/>
              <a:t>System.out.println</a:t>
            </a:r>
            <a:r>
              <a:rPr lang="en-US" altLang="ko-KR" sz="1400" smtClean="0"/>
              <a:t>(</a:t>
            </a:r>
            <a:r>
              <a:rPr lang="en-US" altLang="ko-KR" sz="1400" err="1" smtClean="0"/>
              <a:t>Integer.toBinaryString</a:t>
            </a:r>
            <a:r>
              <a:rPr lang="en-US" altLang="ko-KR" sz="1400" smtClean="0"/>
              <a:t>(temp)); </a:t>
            </a:r>
          </a:p>
          <a:p>
            <a:pPr>
              <a:buNone/>
            </a:pPr>
            <a:endParaRPr lang="en-US" altLang="ko-KR" sz="1400" smtClean="0"/>
          </a:p>
          <a:p>
            <a:pPr>
              <a:buNone/>
            </a:pPr>
            <a:r>
              <a:rPr lang="en-US" altLang="ko-KR" sz="1400" smtClean="0"/>
              <a:t>		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BA5970-03A6-496F-978B-4258F7D373A8}" type="slidenum">
              <a:rPr lang="ko-KR" altLang="en-US" smtClean="0"/>
              <a:pPr/>
              <a:t>18</a:t>
            </a:fld>
            <a:endParaRPr lang="ko-KR" altLang="en-US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 l="25839" t="55124" r="46137" b="10423"/>
          <a:stretch>
            <a:fillRect/>
          </a:stretch>
        </p:blipFill>
        <p:spPr bwMode="auto">
          <a:xfrm>
            <a:off x="6618660" y="1124745"/>
            <a:ext cx="2342852" cy="21602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mtClean="0"/>
              <a:t>실습</a:t>
            </a:r>
            <a:r>
              <a:rPr lang="en-US" altLang="ko-KR" smtClean="0"/>
              <a:t>(Shift.java)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buNone/>
            </a:pPr>
            <a:r>
              <a:rPr lang="en-US" altLang="ko-KR" sz="1400" smtClean="0"/>
              <a:t>	  </a:t>
            </a:r>
            <a:r>
              <a:rPr lang="en-US" altLang="ko-KR" sz="1400" err="1" smtClean="0"/>
              <a:t>System.out.println</a:t>
            </a:r>
            <a:r>
              <a:rPr lang="en-US" altLang="ko-KR" sz="1400" smtClean="0"/>
              <a:t>(-8); </a:t>
            </a:r>
          </a:p>
          <a:p>
            <a:pPr>
              <a:buNone/>
            </a:pPr>
            <a:r>
              <a:rPr lang="en-US" altLang="ko-KR" sz="1400" smtClean="0"/>
              <a:t>        </a:t>
            </a:r>
            <a:r>
              <a:rPr lang="en-US" altLang="ko-KR" sz="1400" err="1" smtClean="0"/>
              <a:t>System.out.println</a:t>
            </a:r>
            <a:r>
              <a:rPr lang="en-US" altLang="ko-KR" sz="1400" smtClean="0"/>
              <a:t>(</a:t>
            </a:r>
            <a:r>
              <a:rPr lang="en-US" altLang="ko-KR" sz="1400" err="1" smtClean="0"/>
              <a:t>Integer.toBinaryString</a:t>
            </a:r>
            <a:r>
              <a:rPr lang="en-US" altLang="ko-KR" sz="1400" smtClean="0"/>
              <a:t>(-8)); </a:t>
            </a:r>
          </a:p>
          <a:p>
            <a:pPr>
              <a:buNone/>
            </a:pPr>
            <a:endParaRPr lang="en-US" altLang="ko-KR" sz="1400" smtClean="0"/>
          </a:p>
          <a:p>
            <a:pPr>
              <a:buNone/>
            </a:pPr>
            <a:r>
              <a:rPr lang="en-US" altLang="ko-KR" sz="1400" smtClean="0"/>
              <a:t>        temp = -8 &gt;&gt;&gt; 2; </a:t>
            </a:r>
          </a:p>
          <a:p>
            <a:pPr>
              <a:buNone/>
            </a:pPr>
            <a:r>
              <a:rPr lang="en-US" altLang="ko-KR" sz="1400" smtClean="0"/>
              <a:t>        </a:t>
            </a:r>
            <a:r>
              <a:rPr lang="en-US" altLang="ko-KR" sz="1400" err="1" smtClean="0"/>
              <a:t>System.out.println</a:t>
            </a:r>
            <a:r>
              <a:rPr lang="en-US" altLang="ko-KR" sz="1400" smtClean="0"/>
              <a:t>( "-8 &gt;&gt;&gt; 2 = " + temp); </a:t>
            </a:r>
          </a:p>
          <a:p>
            <a:pPr>
              <a:buNone/>
            </a:pPr>
            <a:r>
              <a:rPr lang="en-US" altLang="ko-KR" sz="1400" smtClean="0"/>
              <a:t>        </a:t>
            </a:r>
            <a:r>
              <a:rPr lang="en-US" altLang="ko-KR" sz="1400" err="1" smtClean="0"/>
              <a:t>System.out.println</a:t>
            </a:r>
            <a:r>
              <a:rPr lang="en-US" altLang="ko-KR" sz="1400" smtClean="0"/>
              <a:t>(</a:t>
            </a:r>
            <a:r>
              <a:rPr lang="en-US" altLang="ko-KR" sz="1400" err="1" smtClean="0"/>
              <a:t>Integer.toBinaryString</a:t>
            </a:r>
            <a:r>
              <a:rPr lang="en-US" altLang="ko-KR" sz="1400" smtClean="0"/>
              <a:t>(temp)); </a:t>
            </a:r>
          </a:p>
          <a:p>
            <a:pPr>
              <a:buNone/>
            </a:pPr>
            <a:r>
              <a:rPr lang="en-US" altLang="ko-KR" sz="1400" smtClean="0"/>
              <a:t>	} </a:t>
            </a:r>
          </a:p>
          <a:p>
            <a:pPr>
              <a:buNone/>
            </a:pPr>
            <a:r>
              <a:rPr lang="en-US" altLang="ko-KR" sz="1400" smtClean="0"/>
              <a:t>}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BA5970-03A6-496F-978B-4258F7D373A8}" type="slidenum">
              <a:rPr lang="ko-KR" altLang="en-US" smtClean="0"/>
              <a:pPr/>
              <a:t>19</a:t>
            </a:fld>
            <a:endParaRPr lang="ko-KR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6.</a:t>
            </a:r>
            <a:r>
              <a:rPr lang="ko-KR" altLang="en-US" smtClean="0"/>
              <a:t> 관계 연산자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BA5970-03A6-496F-978B-4258F7D373A8}" type="slidenum">
              <a:rPr lang="ko-KR" altLang="en-US" smtClean="0"/>
              <a:pPr/>
              <a:t>20</a:t>
            </a:fld>
            <a:endParaRPr lang="ko-KR" altLang="en-US"/>
          </a:p>
        </p:txBody>
      </p:sp>
      <p:sp>
        <p:nvSpPr>
          <p:cNvPr id="24577" name="Rectangle 1"/>
          <p:cNvSpPr>
            <a:spLocks noChangeArrowheads="1"/>
          </p:cNvSpPr>
          <p:nvPr/>
        </p:nvSpPr>
        <p:spPr bwMode="auto">
          <a:xfrm>
            <a:off x="755576" y="1366609"/>
            <a:ext cx="7704856" cy="42780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fontAlgn="base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v"/>
            </a:pPr>
            <a:r>
              <a:rPr kumimoji="1" lang="ko-KR" altLang="en-US" sz="1600" b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관계 연산자는 이항 연산자로 피 연산자의 크기를 비교하는 연산자</a:t>
            </a:r>
            <a:endParaRPr kumimoji="1" lang="en-US" altLang="ko-KR" sz="1600" b="1" smtClean="0">
              <a:solidFill>
                <a:srgbClr val="000000"/>
              </a:solidFill>
              <a:latin typeface="맑은 고딕" pitchFamily="50" charset="-127"/>
              <a:ea typeface="맑은 고딕" pitchFamily="50" charset="-127"/>
              <a:cs typeface="굴림체" pitchFamily="49" charset="-127"/>
            </a:endParaRPr>
          </a:p>
          <a:p>
            <a:pPr lvl="0" fontAlgn="base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v"/>
            </a:pPr>
            <a:r>
              <a:rPr kumimoji="1" lang="ko-KR" altLang="en-US" sz="1600" b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연산의 결과는 </a:t>
            </a:r>
            <a:r>
              <a:rPr kumimoji="1" lang="en-US" altLang="ko-KR" sz="1600" b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true </a:t>
            </a:r>
            <a:r>
              <a:rPr kumimoji="1" lang="ko-KR" altLang="en-US" sz="1600" b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아니면 </a:t>
            </a:r>
            <a:r>
              <a:rPr kumimoji="1" lang="en-US" altLang="ko-KR" sz="1600" b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false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v"/>
            </a:pPr>
            <a:r>
              <a:rPr kumimoji="1" lang="en-US" altLang="ko-KR" sz="1600" b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&lt;, &gt;, &lt;=, &gt;= </a:t>
            </a:r>
          </a:p>
          <a:p>
            <a:pPr lvl="1" fontAlgn="base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v"/>
            </a:pPr>
            <a:r>
              <a:rPr kumimoji="1" lang="ko-KR" altLang="en-US" sz="1600" b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두 </a:t>
            </a:r>
            <a:r>
              <a:rPr kumimoji="1" lang="ko-KR" altLang="en-US" sz="1600" b="1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피연산자의</a:t>
            </a:r>
            <a:r>
              <a:rPr kumimoji="1" lang="ko-KR" altLang="en-US" sz="1600" b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 크기를 비교하는 연산자입니다</a:t>
            </a:r>
            <a:r>
              <a:rPr kumimoji="1" lang="en-US" altLang="ko-KR" sz="1600" b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. </a:t>
            </a:r>
          </a:p>
          <a:p>
            <a:pPr lvl="1" fontAlgn="base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v"/>
            </a:pPr>
            <a:r>
              <a:rPr kumimoji="1" lang="ko-KR" altLang="en-US" sz="1600" b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기본형 중에서는 </a:t>
            </a:r>
            <a:r>
              <a:rPr kumimoji="1" lang="en-US" altLang="ko-KR" sz="1600" b="1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boolean</a:t>
            </a:r>
            <a:r>
              <a:rPr kumimoji="1" lang="ko-KR" altLang="en-US" sz="1600" b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형을 제외한 나머지 </a:t>
            </a:r>
            <a:r>
              <a:rPr kumimoji="1" lang="ko-KR" altLang="en-US" sz="1600" b="1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자료형에</a:t>
            </a:r>
            <a:r>
              <a:rPr kumimoji="1" lang="ko-KR" altLang="en-US" sz="1600" b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 다 사용할 수 있고</a:t>
            </a:r>
            <a:r>
              <a:rPr kumimoji="1" lang="en-US" altLang="ko-KR" sz="1600" b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, </a:t>
            </a:r>
            <a:r>
              <a:rPr kumimoji="1" lang="ko-KR" altLang="en-US" sz="1600" b="1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참조형에는</a:t>
            </a:r>
            <a:r>
              <a:rPr kumimoji="1" lang="ko-KR" altLang="en-US" sz="1600" b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 사용할 수 없습니다</a:t>
            </a:r>
            <a:r>
              <a:rPr kumimoji="1" lang="en-US" altLang="ko-KR" sz="1600" b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.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v"/>
            </a:pPr>
            <a:endParaRPr kumimoji="1" lang="en-US" altLang="ko-KR" sz="1600" b="1" smtClean="0">
              <a:solidFill>
                <a:srgbClr val="000000"/>
              </a:solidFill>
              <a:latin typeface="맑은 고딕" pitchFamily="50" charset="-127"/>
              <a:ea typeface="맑은 고딕" pitchFamily="50" charset="-127"/>
              <a:cs typeface="굴림체" pitchFamily="49" charset="-127"/>
            </a:endParaRPr>
          </a:p>
          <a:p>
            <a:pPr lvl="0" fontAlgn="base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v"/>
            </a:pPr>
            <a:r>
              <a:rPr kumimoji="1" lang="en-US" altLang="ko-KR" sz="1600" b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==, !=</a:t>
            </a:r>
          </a:p>
          <a:p>
            <a:pPr lvl="1" fontAlgn="base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v"/>
            </a:pPr>
            <a:r>
              <a:rPr kumimoji="1" lang="ko-KR" altLang="en-US" sz="1600" b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두 </a:t>
            </a:r>
            <a:r>
              <a:rPr kumimoji="1" lang="ko-KR" altLang="en-US" sz="1600" b="1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피연산자에</a:t>
            </a:r>
            <a:r>
              <a:rPr kumimoji="1" lang="ko-KR" altLang="en-US" sz="1600" b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 저장되어 있는 값이 같은지</a:t>
            </a:r>
            <a:r>
              <a:rPr kumimoji="1" lang="en-US" altLang="ko-KR" sz="1600" b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,</a:t>
            </a:r>
            <a:r>
              <a:rPr kumimoji="1" lang="ko-KR" altLang="en-US" sz="1600" b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또는 다른지를 비교하는 연산자입니다</a:t>
            </a:r>
            <a:r>
              <a:rPr kumimoji="1" lang="en-US" altLang="ko-KR" sz="1600" b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. </a:t>
            </a:r>
          </a:p>
          <a:p>
            <a:pPr lvl="1" fontAlgn="base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v"/>
            </a:pPr>
            <a:r>
              <a:rPr kumimoji="1" lang="ko-KR" altLang="en-US" sz="1600" b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대소비교연산자</a:t>
            </a:r>
            <a:r>
              <a:rPr kumimoji="1" lang="en-US" altLang="ko-KR" sz="1600" b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(&lt;, &gt;, &lt;=, &gt;=)</a:t>
            </a:r>
            <a:r>
              <a:rPr kumimoji="1" lang="ko-KR" altLang="en-US" sz="1600" b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와는 달리</a:t>
            </a:r>
            <a:r>
              <a:rPr kumimoji="1" lang="en-US" altLang="ko-KR" sz="1600" b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 </a:t>
            </a:r>
            <a:r>
              <a:rPr kumimoji="1" lang="ko-KR" altLang="en-US" sz="1600" b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기본형은 물론 </a:t>
            </a:r>
            <a:r>
              <a:rPr kumimoji="1" lang="ko-KR" altLang="en-US" sz="1600" b="1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참조형에</a:t>
            </a:r>
            <a:r>
              <a:rPr kumimoji="1" lang="ko-KR" altLang="en-US" sz="1600" b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 사용할 수 있습니다</a:t>
            </a:r>
            <a:r>
              <a:rPr kumimoji="1" lang="en-US" altLang="ko-KR" sz="1600" b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. </a:t>
            </a:r>
          </a:p>
          <a:p>
            <a:pPr lvl="1" fontAlgn="base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v"/>
            </a:pPr>
            <a:r>
              <a:rPr kumimoji="1" lang="ko-KR" altLang="en-US" sz="1600" b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기본형의 경우 변수에 저장되어 있는 값이 같은지를 알 수 있고</a:t>
            </a:r>
            <a:r>
              <a:rPr kumimoji="1" lang="en-US" altLang="ko-KR" sz="1600" b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 </a:t>
            </a:r>
            <a:r>
              <a:rPr kumimoji="1" lang="ko-KR" altLang="en-US" sz="1600" b="1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참조형의</a:t>
            </a:r>
            <a:r>
              <a:rPr kumimoji="1" lang="ko-KR" altLang="en-US" sz="1600" b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 경우 객체의 주소</a:t>
            </a:r>
            <a:r>
              <a:rPr kumimoji="1" lang="en-US" altLang="ko-KR" sz="1600" b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(</a:t>
            </a:r>
            <a:r>
              <a:rPr kumimoji="1" lang="ko-KR" altLang="en-US" sz="1600" b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해시</a:t>
            </a:r>
            <a:r>
              <a:rPr kumimoji="1" lang="en-US" altLang="ko-KR" sz="1600" b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)</a:t>
            </a:r>
            <a:r>
              <a:rPr kumimoji="1" lang="ko-KR" altLang="en-US" sz="1600" b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 값을 저장하기 때문에 두 개의 </a:t>
            </a:r>
            <a:r>
              <a:rPr kumimoji="1" lang="ko-KR" altLang="en-US" sz="1600" b="1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피연산자</a:t>
            </a:r>
            <a:r>
              <a:rPr kumimoji="1" lang="en-US" altLang="ko-KR" sz="1600" b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(</a:t>
            </a:r>
            <a:r>
              <a:rPr kumimoji="1" lang="ko-KR" altLang="en-US" sz="1600" b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참조변수</a:t>
            </a:r>
            <a:r>
              <a:rPr kumimoji="1" lang="en-US" altLang="ko-KR" sz="1600" b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)</a:t>
            </a:r>
            <a:r>
              <a:rPr kumimoji="1" lang="ko-KR" altLang="en-US" sz="1600" b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가 같은 메모리의 주소를 가리키는 지 알 수 있습니다</a:t>
            </a:r>
            <a:r>
              <a:rPr kumimoji="1" lang="en-US" altLang="ko-KR" sz="1600" b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.</a:t>
            </a:r>
          </a:p>
          <a:p>
            <a:pPr lvl="1" fontAlgn="base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v"/>
            </a:pPr>
            <a:r>
              <a:rPr kumimoji="1" lang="ko-KR" altLang="en-US" sz="1600" b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기본형과 </a:t>
            </a:r>
            <a:r>
              <a:rPr kumimoji="1" lang="ko-KR" altLang="en-US" sz="1600" b="1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참조형</a:t>
            </a:r>
            <a:r>
              <a:rPr kumimoji="1" lang="ko-KR" altLang="en-US" sz="1600" b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 간에는 저장되는 데이터가 다르기 때문에 등가비교 연산자</a:t>
            </a:r>
            <a:r>
              <a:rPr kumimoji="1" lang="en-US" altLang="ko-KR" sz="1600" b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(==,!=)</a:t>
            </a:r>
            <a:r>
              <a:rPr kumimoji="1" lang="ko-KR" altLang="en-US" sz="1600" b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의 피연산자로 기본형과 </a:t>
            </a:r>
            <a:r>
              <a:rPr kumimoji="1" lang="ko-KR" altLang="en-US" sz="1600" b="1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참조형을</a:t>
            </a:r>
            <a:r>
              <a:rPr kumimoji="1" lang="ko-KR" altLang="en-US" sz="1600" b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 함께 사용할 수는 없습니다</a:t>
            </a:r>
            <a:r>
              <a:rPr kumimoji="1" lang="en-US" altLang="ko-KR" sz="1600" b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mtClean="0"/>
              <a:t>실습</a:t>
            </a:r>
            <a:r>
              <a:rPr lang="en-US" altLang="ko-KR" smtClean="0"/>
              <a:t>(Relation.java)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buNone/>
            </a:pPr>
            <a:r>
              <a:rPr lang="en-US" altLang="ko-KR" sz="1400" smtClean="0"/>
              <a:t>public class Relation</a:t>
            </a:r>
          </a:p>
          <a:p>
            <a:pPr>
              <a:buNone/>
            </a:pPr>
            <a:r>
              <a:rPr lang="en-US" altLang="ko-KR" sz="1400" smtClean="0"/>
              <a:t>{ </a:t>
            </a:r>
          </a:p>
          <a:p>
            <a:pPr>
              <a:buNone/>
            </a:pPr>
            <a:r>
              <a:rPr lang="en-US" altLang="ko-KR" sz="1400" smtClean="0"/>
              <a:t>      public static void main(String[] </a:t>
            </a:r>
            <a:r>
              <a:rPr lang="en-US" altLang="ko-KR" sz="1400" err="1" smtClean="0"/>
              <a:t>args</a:t>
            </a:r>
            <a:r>
              <a:rPr lang="en-US" altLang="ko-KR" sz="1400" smtClean="0"/>
              <a:t>) </a:t>
            </a:r>
          </a:p>
          <a:p>
            <a:pPr>
              <a:buNone/>
            </a:pPr>
            <a:r>
              <a:rPr lang="en-US" altLang="ko-KR" sz="1400" smtClean="0"/>
              <a:t>      { </a:t>
            </a:r>
          </a:p>
          <a:p>
            <a:pPr>
              <a:buNone/>
            </a:pPr>
            <a:r>
              <a:rPr lang="en-US" altLang="ko-KR" sz="1400" smtClean="0"/>
              <a:t>		</a:t>
            </a:r>
            <a:r>
              <a:rPr lang="en-US" altLang="ko-KR" sz="1400" err="1" smtClean="0"/>
              <a:t>boolean</a:t>
            </a:r>
            <a:r>
              <a:rPr lang="en-US" altLang="ko-KR" sz="1400" smtClean="0"/>
              <a:t> pan;</a:t>
            </a:r>
          </a:p>
          <a:p>
            <a:pPr>
              <a:buNone/>
            </a:pPr>
            <a:r>
              <a:rPr lang="en-US" altLang="ko-KR" sz="1400" smtClean="0"/>
              <a:t>		pan = 10 &gt; 3;</a:t>
            </a:r>
          </a:p>
          <a:p>
            <a:pPr>
              <a:buNone/>
            </a:pPr>
            <a:r>
              <a:rPr lang="en-US" altLang="ko-KR" sz="1400" smtClean="0"/>
              <a:t>		</a:t>
            </a:r>
            <a:r>
              <a:rPr lang="en-US" altLang="ko-KR" sz="1400" err="1" smtClean="0"/>
              <a:t>System.out.println</a:t>
            </a:r>
            <a:r>
              <a:rPr lang="en-US" altLang="ko-KR" sz="1400" smtClean="0"/>
              <a:t>("pan:" + pan);</a:t>
            </a:r>
          </a:p>
          <a:p>
            <a:pPr>
              <a:buNone/>
            </a:pPr>
            <a:r>
              <a:rPr lang="en-US" altLang="ko-KR" sz="1400" smtClean="0"/>
              <a:t>		pan = 10 == 3;</a:t>
            </a:r>
          </a:p>
          <a:p>
            <a:pPr>
              <a:buNone/>
            </a:pPr>
            <a:r>
              <a:rPr lang="en-US" altLang="ko-KR" sz="1400" smtClean="0"/>
              <a:t>		</a:t>
            </a:r>
            <a:r>
              <a:rPr lang="en-US" altLang="ko-KR" sz="1400" err="1" smtClean="0"/>
              <a:t>System.out.println</a:t>
            </a:r>
            <a:r>
              <a:rPr lang="en-US" altLang="ko-KR" sz="1400" smtClean="0"/>
              <a:t>("pan:" + pan);</a:t>
            </a:r>
          </a:p>
          <a:p>
            <a:pPr>
              <a:buNone/>
            </a:pPr>
            <a:r>
              <a:rPr lang="en-US" altLang="ko-KR" sz="1400" smtClean="0"/>
              <a:t>	  }</a:t>
            </a:r>
          </a:p>
          <a:p>
            <a:pPr>
              <a:buNone/>
            </a:pPr>
            <a:r>
              <a:rPr lang="en-US" altLang="ko-KR" sz="1400" smtClean="0"/>
              <a:t>}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BA5970-03A6-496F-978B-4258F7D373A8}" type="slidenum">
              <a:rPr lang="ko-KR" altLang="en-US" smtClean="0"/>
              <a:pPr/>
              <a:t>21</a:t>
            </a:fld>
            <a:endParaRPr lang="ko-KR" altLang="en-US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/>
          <a:srcRect l="25362" t="56726" r="29253" b="23096"/>
          <a:stretch>
            <a:fillRect/>
          </a:stretch>
        </p:blipFill>
        <p:spPr bwMode="auto">
          <a:xfrm>
            <a:off x="4572000" y="1340768"/>
            <a:ext cx="3672408" cy="20162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7.</a:t>
            </a:r>
            <a:r>
              <a:rPr lang="ko-KR" altLang="en-US" smtClean="0"/>
              <a:t>논리 연산자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BA5970-03A6-496F-978B-4258F7D373A8}" type="slidenum">
              <a:rPr lang="ko-KR" altLang="en-US" smtClean="0"/>
              <a:pPr/>
              <a:t>22</a:t>
            </a:fld>
            <a:endParaRPr lang="ko-KR" altLang="en-US"/>
          </a:p>
        </p:txBody>
      </p:sp>
      <p:sp>
        <p:nvSpPr>
          <p:cNvPr id="24577" name="Rectangle 1"/>
          <p:cNvSpPr>
            <a:spLocks noChangeArrowheads="1"/>
          </p:cNvSpPr>
          <p:nvPr/>
        </p:nvSpPr>
        <p:spPr bwMode="auto">
          <a:xfrm>
            <a:off x="755576" y="1305054"/>
            <a:ext cx="7704856" cy="29854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fontAlgn="base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v"/>
            </a:pPr>
            <a:r>
              <a:rPr kumimoji="1" lang="ko-KR" altLang="en-US" sz="1600" b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논리 연산자는 이항 연산자로 조건의 참</a:t>
            </a:r>
            <a:r>
              <a:rPr kumimoji="1" lang="en-US" altLang="ko-KR" sz="1600" b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, </a:t>
            </a:r>
            <a:r>
              <a:rPr kumimoji="1" lang="ko-KR" altLang="en-US" sz="1600" b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거짓을 비교하는 조건 논리 연산자와 비트 단위로 연산을 수행하는 비트 논리 연산자로 나뉘게 됩니다</a:t>
            </a:r>
            <a:r>
              <a:rPr kumimoji="1" lang="en-US" altLang="ko-KR" sz="1600" b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.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v"/>
            </a:pPr>
            <a:r>
              <a:rPr kumimoji="1" lang="en-US" altLang="ko-KR" sz="1600" b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||, &amp;&amp; </a:t>
            </a:r>
            <a:r>
              <a:rPr kumimoji="1" lang="ko-KR" altLang="en-US" sz="1600" b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연산자</a:t>
            </a:r>
            <a:r>
              <a:rPr kumimoji="1" lang="en-US" altLang="ko-KR" sz="1600" b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(</a:t>
            </a:r>
            <a:r>
              <a:rPr kumimoji="1" lang="ko-KR" altLang="en-US" sz="1600" b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조건 논리 연산자</a:t>
            </a:r>
            <a:r>
              <a:rPr kumimoji="1" lang="en-US" altLang="ko-KR" sz="1600" b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)</a:t>
            </a:r>
            <a:endParaRPr kumimoji="1" lang="ko-KR" altLang="en-US" sz="1600" b="1" smtClean="0">
              <a:solidFill>
                <a:srgbClr val="000000"/>
              </a:solidFill>
              <a:latin typeface="맑은 고딕" pitchFamily="50" charset="-127"/>
              <a:ea typeface="맑은 고딕" pitchFamily="50" charset="-127"/>
              <a:cs typeface="굴림체" pitchFamily="49" charset="-127"/>
            </a:endParaRPr>
          </a:p>
          <a:p>
            <a:pPr lvl="1" fontAlgn="base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v"/>
            </a:pPr>
            <a:r>
              <a:rPr kumimoji="1" lang="en-US" altLang="ko-KR" sz="1400" b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||, &amp;&amp; </a:t>
            </a:r>
            <a:r>
              <a:rPr kumimoji="1" lang="ko-KR" altLang="en-US" sz="1400" b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연산자는 </a:t>
            </a:r>
            <a:r>
              <a:rPr kumimoji="1" lang="ko-KR" altLang="en-US" sz="1400" b="1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피연산자로</a:t>
            </a:r>
            <a:r>
              <a:rPr kumimoji="1" lang="ko-KR" altLang="en-US" sz="1400" b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 </a:t>
            </a:r>
            <a:r>
              <a:rPr kumimoji="1" lang="en-US" altLang="ko-KR" sz="1400" b="1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boolean</a:t>
            </a:r>
            <a:r>
              <a:rPr kumimoji="1" lang="ko-KR" altLang="en-US" sz="1400" b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형 또는 </a:t>
            </a:r>
            <a:r>
              <a:rPr kumimoji="1" lang="en-US" altLang="ko-KR" sz="1400" b="1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boolean</a:t>
            </a:r>
            <a:r>
              <a:rPr kumimoji="1" lang="ko-KR" altLang="en-US" sz="1400" b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형 값을 결과로 하는 </a:t>
            </a:r>
            <a:r>
              <a:rPr kumimoji="1" lang="ko-KR" altLang="en-US" sz="1400" b="1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조건식</a:t>
            </a:r>
            <a:r>
              <a:rPr kumimoji="1" lang="ko-KR" altLang="en-US" sz="1400" b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 만을 허용</a:t>
            </a:r>
            <a:endParaRPr kumimoji="1" lang="en-US" altLang="ko-KR" sz="1400" b="1" smtClean="0">
              <a:solidFill>
                <a:srgbClr val="000000"/>
              </a:solidFill>
              <a:latin typeface="맑은 고딕" pitchFamily="50" charset="-127"/>
              <a:ea typeface="맑은 고딕" pitchFamily="50" charset="-127"/>
              <a:cs typeface="굴림체" pitchFamily="49" charset="-127"/>
            </a:endParaRPr>
          </a:p>
          <a:p>
            <a:pPr lvl="1" fontAlgn="base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v"/>
            </a:pPr>
            <a:r>
              <a:rPr kumimoji="1" lang="ko-KR" altLang="en-US" sz="1400" b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조건문과 </a:t>
            </a:r>
            <a:r>
              <a:rPr kumimoji="1" lang="ko-KR" altLang="en-US" sz="1400" b="1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반복문에서</a:t>
            </a:r>
            <a:r>
              <a:rPr kumimoji="1" lang="ko-KR" altLang="en-US" sz="1400" b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 조건식간의 결합에 사용</a:t>
            </a:r>
            <a:endParaRPr kumimoji="1" lang="en-US" altLang="ko-KR" sz="1400" b="1" smtClean="0">
              <a:solidFill>
                <a:srgbClr val="000000"/>
              </a:solidFill>
              <a:latin typeface="맑은 고딕" pitchFamily="50" charset="-127"/>
              <a:ea typeface="맑은 고딕" pitchFamily="50" charset="-127"/>
              <a:cs typeface="굴림체" pitchFamily="49" charset="-127"/>
            </a:endParaRPr>
          </a:p>
          <a:p>
            <a:pPr lvl="1" fontAlgn="base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v"/>
            </a:pPr>
            <a:r>
              <a:rPr kumimoji="1" lang="ko-KR" altLang="en-US" sz="1400" b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그리고</a:t>
            </a:r>
            <a:r>
              <a:rPr kumimoji="1" lang="en-US" altLang="ko-KR" sz="1400" b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, "&amp;&amp;"</a:t>
            </a:r>
            <a:r>
              <a:rPr kumimoji="1" lang="ko-KR" altLang="en-US" sz="1400" b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가 </a:t>
            </a:r>
            <a:r>
              <a:rPr kumimoji="1" lang="en-US" altLang="ko-KR" sz="1400" b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"||" </a:t>
            </a:r>
            <a:r>
              <a:rPr kumimoji="1" lang="ko-KR" altLang="en-US" sz="1400" b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연산보다 우선순위가 높으므로 한 </a:t>
            </a:r>
            <a:r>
              <a:rPr kumimoji="1" lang="ko-KR" altLang="en-US" sz="1400" b="1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조건식에</a:t>
            </a:r>
            <a:r>
              <a:rPr kumimoji="1" lang="ko-KR" altLang="en-US" sz="1400" b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 </a:t>
            </a:r>
            <a:r>
              <a:rPr kumimoji="1" lang="en-US" altLang="ko-KR" sz="1400" b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"&amp;&amp;"</a:t>
            </a:r>
            <a:r>
              <a:rPr kumimoji="1" lang="ko-KR" altLang="en-US" sz="1400" b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와 </a:t>
            </a:r>
            <a:r>
              <a:rPr kumimoji="1" lang="en-US" altLang="ko-KR" sz="1400" b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"||" </a:t>
            </a:r>
            <a:r>
              <a:rPr kumimoji="1" lang="ko-KR" altLang="en-US" sz="1400" b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가 함께 사용될 때는 괄호를 사용해서 우선순위를 명확히 해주는 것이 좋습니다</a:t>
            </a:r>
            <a:r>
              <a:rPr kumimoji="1" lang="en-US" altLang="ko-KR" sz="1400" b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. </a:t>
            </a:r>
          </a:p>
          <a:p>
            <a:pPr lvl="1" fontAlgn="base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v"/>
            </a:pPr>
            <a:r>
              <a:rPr kumimoji="1" lang="en-US" altLang="ko-KR" sz="1400" b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|| (OR</a:t>
            </a:r>
            <a:r>
              <a:rPr kumimoji="1" lang="ko-KR" altLang="en-US" sz="1400" b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결합</a:t>
            </a:r>
            <a:r>
              <a:rPr kumimoji="1" lang="en-US" altLang="ko-KR" sz="1400" b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) - </a:t>
            </a:r>
            <a:r>
              <a:rPr kumimoji="1" lang="ko-KR" altLang="en-US" sz="1400" b="1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피연산자</a:t>
            </a:r>
            <a:r>
              <a:rPr kumimoji="1" lang="ko-KR" altLang="en-US" sz="1400" b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 중 한 쪽만 </a:t>
            </a:r>
            <a:r>
              <a:rPr kumimoji="1" lang="en-US" altLang="ko-KR" sz="1400" b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true</a:t>
            </a:r>
            <a:r>
              <a:rPr kumimoji="1" lang="ko-KR" altLang="en-US" sz="1400" b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이면 </a:t>
            </a:r>
            <a:r>
              <a:rPr kumimoji="1" lang="en-US" altLang="ko-KR" sz="1400" b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true</a:t>
            </a:r>
            <a:r>
              <a:rPr kumimoji="1" lang="ko-KR" altLang="en-US" sz="1400" b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를 결과로 얻게 됩니다</a:t>
            </a:r>
            <a:r>
              <a:rPr kumimoji="1" lang="en-US" altLang="ko-KR" sz="1400" b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.</a:t>
            </a:r>
          </a:p>
          <a:p>
            <a:pPr lvl="1" fontAlgn="base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v"/>
            </a:pPr>
            <a:r>
              <a:rPr kumimoji="1" lang="en-US" altLang="ko-KR" sz="1400" b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&amp;&amp;(AND</a:t>
            </a:r>
            <a:r>
              <a:rPr kumimoji="1" lang="ko-KR" altLang="en-US" sz="1400" b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결합</a:t>
            </a:r>
            <a:r>
              <a:rPr kumimoji="1" lang="en-US" altLang="ko-KR" sz="1400" b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) - </a:t>
            </a:r>
            <a:r>
              <a:rPr kumimoji="1" lang="ko-KR" altLang="en-US" sz="1400" b="1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피연산자</a:t>
            </a:r>
            <a:r>
              <a:rPr kumimoji="1" lang="ko-KR" altLang="en-US" sz="1400" b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 양쪽 모두 </a:t>
            </a:r>
            <a:r>
              <a:rPr kumimoji="1" lang="en-US" altLang="ko-KR" sz="1400" b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true</a:t>
            </a:r>
            <a:r>
              <a:rPr kumimoji="1" lang="ko-KR" altLang="en-US" sz="1400" b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이어야 </a:t>
            </a:r>
            <a:r>
              <a:rPr kumimoji="1" lang="en-US" altLang="ko-KR" sz="1400" b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true</a:t>
            </a:r>
            <a:r>
              <a:rPr kumimoji="1" lang="ko-KR" altLang="en-US" sz="1400" b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를 결과로 얻게 됩니다</a:t>
            </a:r>
            <a:r>
              <a:rPr kumimoji="1" lang="en-US" altLang="ko-KR" sz="1400" b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.</a:t>
            </a:r>
          </a:p>
          <a:p>
            <a:pPr lvl="1" fontAlgn="base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v"/>
            </a:pPr>
            <a:r>
              <a:rPr kumimoji="1" lang="en-US" altLang="ko-KR" sz="1400" b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Dead Code: </a:t>
            </a:r>
            <a:r>
              <a:rPr kumimoji="1" lang="ko-KR" altLang="en-US" sz="1400" b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결코 수행될 수 없는 코드로 </a:t>
            </a:r>
            <a:r>
              <a:rPr kumimoji="1" lang="en-US" altLang="ko-KR" sz="1400" b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||</a:t>
            </a:r>
            <a:r>
              <a:rPr kumimoji="1" lang="ko-KR" altLang="en-US" sz="1400" b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의 앞쪽 조건이 참이되면 뒤의 조건은 조사할 필요가 없어지며 </a:t>
            </a:r>
            <a:r>
              <a:rPr kumimoji="1" lang="en-US" altLang="ko-KR" sz="1400" b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&amp;&amp;</a:t>
            </a:r>
            <a:r>
              <a:rPr kumimoji="1" lang="ko-KR" altLang="en-US" sz="1400" b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의 앞쪽 조건이 거짓이면 뒤의 조건은 조사할 필요가 없어집니다</a:t>
            </a:r>
            <a:r>
              <a:rPr kumimoji="1" lang="en-US" altLang="ko-KR" sz="1400" b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. Don’t Care</a:t>
            </a:r>
            <a:r>
              <a:rPr kumimoji="1" lang="ko-KR" altLang="en-US" sz="1400" b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라고도 합니다</a:t>
            </a:r>
            <a:r>
              <a:rPr kumimoji="1" lang="en-US" altLang="ko-KR" sz="1400" b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mtClean="0"/>
              <a:t>실습</a:t>
            </a:r>
            <a:r>
              <a:rPr lang="en-US" altLang="ko-KR" smtClean="0"/>
              <a:t>(Logical.java)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buNone/>
            </a:pPr>
            <a:r>
              <a:rPr lang="en-US" altLang="ko-KR" sz="1400" smtClean="0"/>
              <a:t>public class Logical</a:t>
            </a:r>
          </a:p>
          <a:p>
            <a:pPr>
              <a:buNone/>
            </a:pPr>
            <a:r>
              <a:rPr lang="en-US" altLang="ko-KR" sz="1400" smtClean="0"/>
              <a:t>{ </a:t>
            </a:r>
          </a:p>
          <a:p>
            <a:pPr>
              <a:buNone/>
            </a:pPr>
            <a:r>
              <a:rPr lang="en-US" altLang="ko-KR" sz="1400" smtClean="0"/>
              <a:t>      public static void main(String[] </a:t>
            </a:r>
            <a:r>
              <a:rPr lang="en-US" altLang="ko-KR" sz="1400" err="1" smtClean="0"/>
              <a:t>args</a:t>
            </a:r>
            <a:r>
              <a:rPr lang="en-US" altLang="ko-KR" sz="1400" smtClean="0"/>
              <a:t>) </a:t>
            </a:r>
          </a:p>
          <a:p>
            <a:pPr>
              <a:buNone/>
            </a:pPr>
            <a:r>
              <a:rPr lang="en-US" altLang="ko-KR" sz="1400" smtClean="0"/>
              <a:t>      { </a:t>
            </a:r>
          </a:p>
          <a:p>
            <a:pPr>
              <a:buNone/>
            </a:pPr>
            <a:r>
              <a:rPr lang="en-US" altLang="ko-KR" sz="1400" smtClean="0"/>
              <a:t>		</a:t>
            </a:r>
            <a:r>
              <a:rPr lang="en-US" altLang="ko-KR" sz="1400" err="1" smtClean="0"/>
              <a:t>boolean</a:t>
            </a:r>
            <a:r>
              <a:rPr lang="en-US" altLang="ko-KR" sz="1400" smtClean="0"/>
              <a:t> pan;</a:t>
            </a:r>
          </a:p>
          <a:p>
            <a:pPr>
              <a:buNone/>
            </a:pPr>
            <a:r>
              <a:rPr lang="en-US" altLang="ko-KR" sz="1400" smtClean="0"/>
              <a:t>		pan = 10 &gt; 3 &amp;&amp; 3 &lt; 10;</a:t>
            </a:r>
          </a:p>
          <a:p>
            <a:pPr>
              <a:buNone/>
            </a:pPr>
            <a:r>
              <a:rPr lang="en-US" altLang="ko-KR" sz="1400" smtClean="0"/>
              <a:t>		</a:t>
            </a:r>
            <a:r>
              <a:rPr lang="en-US" altLang="ko-KR" sz="1400" err="1" smtClean="0"/>
              <a:t>System.out.println</a:t>
            </a:r>
            <a:r>
              <a:rPr lang="en-US" altLang="ko-KR" sz="1400" smtClean="0"/>
              <a:t>("pan:" + pan);</a:t>
            </a:r>
          </a:p>
          <a:p>
            <a:pPr>
              <a:buNone/>
            </a:pPr>
            <a:r>
              <a:rPr lang="en-US" altLang="ko-KR" sz="1400" smtClean="0"/>
              <a:t>		pan = 10 &gt; 3 || 3 &lt; 10;</a:t>
            </a:r>
          </a:p>
          <a:p>
            <a:pPr>
              <a:buNone/>
            </a:pPr>
            <a:r>
              <a:rPr lang="en-US" altLang="ko-KR" sz="1400" smtClean="0"/>
              <a:t>		</a:t>
            </a:r>
            <a:r>
              <a:rPr lang="en-US" altLang="ko-KR" sz="1400" err="1" smtClean="0"/>
              <a:t>System.out.println</a:t>
            </a:r>
            <a:r>
              <a:rPr lang="en-US" altLang="ko-KR" sz="1400" smtClean="0"/>
              <a:t>("pan:" + pan);</a:t>
            </a:r>
          </a:p>
          <a:p>
            <a:pPr>
              <a:buNone/>
            </a:pPr>
            <a:r>
              <a:rPr lang="en-US" altLang="ko-KR" sz="1400" smtClean="0"/>
              <a:t>	  }</a:t>
            </a:r>
          </a:p>
          <a:p>
            <a:pPr>
              <a:buNone/>
            </a:pPr>
            <a:r>
              <a:rPr lang="en-US" altLang="ko-KR" sz="1400" smtClean="0"/>
              <a:t>}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BA5970-03A6-496F-978B-4258F7D373A8}" type="slidenum">
              <a:rPr lang="ko-KR" altLang="en-US" smtClean="0"/>
              <a:pPr/>
              <a:t>23</a:t>
            </a:fld>
            <a:endParaRPr lang="ko-KR" altLang="en-US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 cstate="print"/>
          <a:srcRect l="26659" t="55381" r="30549" b="23096"/>
          <a:stretch>
            <a:fillRect/>
          </a:stretch>
        </p:blipFill>
        <p:spPr bwMode="auto">
          <a:xfrm>
            <a:off x="5004048" y="1052736"/>
            <a:ext cx="3384376" cy="17281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7.</a:t>
            </a:r>
            <a:r>
              <a:rPr lang="ko-KR" altLang="en-US" smtClean="0"/>
              <a:t>논리 연산자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BA5970-03A6-496F-978B-4258F7D373A8}" type="slidenum">
              <a:rPr lang="ko-KR" altLang="en-US" smtClean="0"/>
              <a:pPr/>
              <a:t>24</a:t>
            </a:fld>
            <a:endParaRPr lang="ko-KR" altLang="en-US"/>
          </a:p>
        </p:txBody>
      </p:sp>
      <p:sp>
        <p:nvSpPr>
          <p:cNvPr id="24577" name="Rectangle 1"/>
          <p:cNvSpPr>
            <a:spLocks noChangeArrowheads="1"/>
          </p:cNvSpPr>
          <p:nvPr/>
        </p:nvSpPr>
        <p:spPr bwMode="auto">
          <a:xfrm>
            <a:off x="755576" y="1340768"/>
            <a:ext cx="7704856" cy="22775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fontAlgn="base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v"/>
            </a:pPr>
            <a:r>
              <a:rPr kumimoji="1" lang="en-US" altLang="ko-KR" sz="1600" b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|, &amp;, ^, ~ </a:t>
            </a:r>
            <a:r>
              <a:rPr kumimoji="1" lang="ko-KR" altLang="en-US" sz="1600" b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연산자</a:t>
            </a:r>
            <a:r>
              <a:rPr kumimoji="1" lang="en-US" altLang="ko-KR" sz="1600" b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(</a:t>
            </a:r>
            <a:r>
              <a:rPr kumimoji="1" lang="ko-KR" altLang="en-US" sz="1600" b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비트 논리 연산자</a:t>
            </a:r>
            <a:r>
              <a:rPr kumimoji="1" lang="en-US" altLang="ko-KR" sz="1600" b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)</a:t>
            </a:r>
            <a:endParaRPr kumimoji="1" lang="ko-KR" altLang="en-US" sz="1600" b="1" smtClean="0">
              <a:solidFill>
                <a:srgbClr val="000000"/>
              </a:solidFill>
              <a:latin typeface="맑은 고딕" pitchFamily="50" charset="-127"/>
              <a:ea typeface="맑은 고딕" pitchFamily="50" charset="-127"/>
              <a:cs typeface="굴림체" pitchFamily="49" charset="-127"/>
            </a:endParaRPr>
          </a:p>
          <a:p>
            <a:pPr lvl="1" fontAlgn="base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v"/>
            </a:pPr>
            <a:r>
              <a:rPr kumimoji="1" lang="ko-KR" altLang="en-US" sz="1400" b="1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피연산자끼리</a:t>
            </a:r>
            <a:r>
              <a:rPr kumimoji="1" lang="ko-KR" altLang="en-US" sz="1400" b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 이진 비트연산을 수행해서 결과를 정수로 돌려주는 연산자</a:t>
            </a:r>
            <a:endParaRPr kumimoji="1" lang="en-US" altLang="ko-KR" sz="1400" b="1" smtClean="0">
              <a:solidFill>
                <a:srgbClr val="000000"/>
              </a:solidFill>
              <a:latin typeface="맑은 고딕" pitchFamily="50" charset="-127"/>
              <a:ea typeface="맑은 고딕" pitchFamily="50" charset="-127"/>
              <a:cs typeface="굴림체" pitchFamily="49" charset="-127"/>
            </a:endParaRPr>
          </a:p>
          <a:p>
            <a:pPr lvl="1" fontAlgn="base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v"/>
            </a:pPr>
            <a:r>
              <a:rPr kumimoji="1" lang="ko-KR" altLang="en-US" sz="1400" b="1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실수형인</a:t>
            </a:r>
            <a:r>
              <a:rPr kumimoji="1" lang="ko-KR" altLang="en-US" sz="1400" b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 </a:t>
            </a:r>
            <a:r>
              <a:rPr kumimoji="1" lang="en-US" altLang="ko-KR" sz="1400" b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float</a:t>
            </a:r>
            <a:r>
              <a:rPr kumimoji="1" lang="ko-KR" altLang="en-US" sz="1400" b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와 </a:t>
            </a:r>
            <a:r>
              <a:rPr kumimoji="1" lang="en-US" altLang="ko-KR" sz="1400" b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double</a:t>
            </a:r>
            <a:r>
              <a:rPr kumimoji="1" lang="ko-KR" altLang="en-US" sz="1400" b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을 제외한 모든 숫자형</a:t>
            </a:r>
            <a:r>
              <a:rPr kumimoji="1" lang="en-US" altLang="ko-KR" sz="1400" b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(</a:t>
            </a:r>
            <a:r>
              <a:rPr kumimoji="1" lang="ko-KR" altLang="en-US" sz="1400" b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정수형</a:t>
            </a:r>
            <a:r>
              <a:rPr kumimoji="1" lang="en-US" altLang="ko-KR" sz="1400" b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)</a:t>
            </a:r>
            <a:r>
              <a:rPr kumimoji="1" lang="ko-KR" altLang="en-US" sz="1400" b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에 사용가능</a:t>
            </a:r>
            <a:endParaRPr kumimoji="1" lang="en-US" altLang="ko-KR" sz="1400" b="1" smtClean="0">
              <a:solidFill>
                <a:srgbClr val="000000"/>
              </a:solidFill>
              <a:latin typeface="맑은 고딕" pitchFamily="50" charset="-127"/>
              <a:ea typeface="맑은 고딕" pitchFamily="50" charset="-127"/>
              <a:cs typeface="굴림체" pitchFamily="49" charset="-127"/>
            </a:endParaRPr>
          </a:p>
          <a:p>
            <a:pPr lvl="1" fontAlgn="base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v"/>
            </a:pPr>
            <a:r>
              <a:rPr kumimoji="1" lang="en-US" altLang="ko-KR" sz="1400" b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|(OR</a:t>
            </a:r>
            <a:r>
              <a:rPr kumimoji="1" lang="ko-KR" altLang="en-US" sz="1400" b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연산자</a:t>
            </a:r>
            <a:r>
              <a:rPr kumimoji="1" lang="en-US" altLang="ko-KR" sz="1400" b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) - </a:t>
            </a:r>
            <a:r>
              <a:rPr kumimoji="1" lang="ko-KR" altLang="en-US" sz="1400" b="1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피연산자</a:t>
            </a:r>
            <a:r>
              <a:rPr kumimoji="1" lang="ko-KR" altLang="en-US" sz="1400" b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 중 한 쪽의 값이 </a:t>
            </a:r>
            <a:r>
              <a:rPr kumimoji="1" lang="en-US" altLang="ko-KR" sz="1400" b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1</a:t>
            </a:r>
            <a:r>
              <a:rPr kumimoji="1" lang="ko-KR" altLang="en-US" sz="1400" b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이면</a:t>
            </a:r>
            <a:r>
              <a:rPr kumimoji="1" lang="en-US" altLang="ko-KR" sz="1400" b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, 1</a:t>
            </a:r>
            <a:r>
              <a:rPr kumimoji="1" lang="ko-KR" altLang="en-US" sz="1400" b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을 결과로 </a:t>
            </a:r>
            <a:r>
              <a:rPr kumimoji="1" lang="en-US" altLang="ko-KR" sz="1400" b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1</a:t>
            </a:r>
            <a:r>
              <a:rPr kumimoji="1" lang="ko-KR" altLang="en-US" sz="1400" b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을 얻고 그 외에는 </a:t>
            </a:r>
            <a:r>
              <a:rPr kumimoji="1" lang="en-US" altLang="ko-KR" sz="1400" b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0</a:t>
            </a:r>
            <a:r>
              <a:rPr kumimoji="1" lang="ko-KR" altLang="en-US" sz="1400" b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을 얻게됩니다</a:t>
            </a:r>
            <a:r>
              <a:rPr kumimoji="1" lang="en-US" altLang="ko-KR" sz="1400" b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. </a:t>
            </a:r>
          </a:p>
          <a:p>
            <a:pPr lvl="1" fontAlgn="base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v"/>
            </a:pPr>
            <a:r>
              <a:rPr kumimoji="1" lang="en-US" altLang="ko-KR" sz="1400" b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&amp;(AND</a:t>
            </a:r>
            <a:r>
              <a:rPr kumimoji="1" lang="ko-KR" altLang="en-US" sz="1400" b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연산자</a:t>
            </a:r>
            <a:r>
              <a:rPr kumimoji="1" lang="en-US" altLang="ko-KR" sz="1400" b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) - </a:t>
            </a:r>
            <a:r>
              <a:rPr kumimoji="1" lang="ko-KR" altLang="en-US" sz="1400" b="1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피연산자</a:t>
            </a:r>
            <a:r>
              <a:rPr kumimoji="1" lang="ko-KR" altLang="en-US" sz="1400" b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 양 쪽이 모두 </a:t>
            </a:r>
            <a:r>
              <a:rPr kumimoji="1" lang="en-US" altLang="ko-KR" sz="1400" b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1</a:t>
            </a:r>
            <a:r>
              <a:rPr kumimoji="1" lang="ko-KR" altLang="en-US" sz="1400" b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이어야 </a:t>
            </a:r>
            <a:r>
              <a:rPr kumimoji="1" lang="en-US" altLang="ko-KR" sz="1400" b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1</a:t>
            </a:r>
            <a:r>
              <a:rPr kumimoji="1" lang="ko-KR" altLang="en-US" sz="1400" b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을 결과로 얻고 그 외에는 </a:t>
            </a:r>
            <a:r>
              <a:rPr kumimoji="1" lang="en-US" altLang="ko-KR" sz="1400" b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0</a:t>
            </a:r>
            <a:r>
              <a:rPr kumimoji="1" lang="ko-KR" altLang="en-US" sz="1400" b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을 얻게 됩니다</a:t>
            </a:r>
            <a:r>
              <a:rPr kumimoji="1" lang="en-US" altLang="ko-KR" sz="1400" b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.</a:t>
            </a:r>
          </a:p>
          <a:p>
            <a:pPr lvl="1" fontAlgn="base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v"/>
            </a:pPr>
            <a:r>
              <a:rPr kumimoji="1" lang="en-US" altLang="ko-KR" sz="1400" b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^(XOR</a:t>
            </a:r>
            <a:r>
              <a:rPr kumimoji="1" lang="ko-KR" altLang="en-US" sz="1400" b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연산자</a:t>
            </a:r>
            <a:r>
              <a:rPr kumimoji="1" lang="en-US" altLang="ko-KR" sz="1400" b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) - </a:t>
            </a:r>
            <a:r>
              <a:rPr kumimoji="1" lang="ko-KR" altLang="en-US" sz="1400" b="1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피연산자의</a:t>
            </a:r>
            <a:r>
              <a:rPr kumimoji="1" lang="ko-KR" altLang="en-US" sz="1400" b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 값이 서로 다를 때만 </a:t>
            </a:r>
            <a:r>
              <a:rPr kumimoji="1" lang="en-US" altLang="ko-KR" sz="1400" b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1</a:t>
            </a:r>
            <a:r>
              <a:rPr kumimoji="1" lang="ko-KR" altLang="en-US" sz="1400" b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을 결과로 얻고 그 외에는 </a:t>
            </a:r>
            <a:r>
              <a:rPr kumimoji="1" lang="en-US" altLang="ko-KR" sz="1400" b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0</a:t>
            </a:r>
            <a:r>
              <a:rPr kumimoji="1" lang="ko-KR" altLang="en-US" sz="1400" b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을 얻게 됩니다</a:t>
            </a:r>
            <a:r>
              <a:rPr kumimoji="1" lang="en-US" altLang="ko-KR" sz="1400" b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.</a:t>
            </a:r>
          </a:p>
          <a:p>
            <a:pPr lvl="1" fontAlgn="base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v"/>
            </a:pPr>
            <a:r>
              <a:rPr kumimoji="1" lang="en-US" altLang="ko-KR" sz="1400" b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~(NOT </a:t>
            </a:r>
            <a:r>
              <a:rPr kumimoji="1" lang="ko-KR" altLang="en-US" sz="1400" b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연산자</a:t>
            </a:r>
            <a:r>
              <a:rPr kumimoji="1" lang="en-US" altLang="ko-KR" sz="1400" b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) – 1</a:t>
            </a:r>
            <a:r>
              <a:rPr kumimoji="1" lang="ko-KR" altLang="en-US" sz="1400" b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의 보수를 구해주는 연산자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mtClean="0"/>
              <a:t>실습</a:t>
            </a:r>
            <a:r>
              <a:rPr lang="en-US" altLang="ko-KR" smtClean="0"/>
              <a:t>(Bit.java)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buNone/>
            </a:pPr>
            <a:r>
              <a:rPr lang="en-US" altLang="ko-KR" sz="1400" smtClean="0"/>
              <a:t>public class Bit</a:t>
            </a:r>
          </a:p>
          <a:p>
            <a:pPr>
              <a:buNone/>
            </a:pPr>
            <a:r>
              <a:rPr lang="en-US" altLang="ko-KR" sz="1400" smtClean="0"/>
              <a:t>{ </a:t>
            </a:r>
          </a:p>
          <a:p>
            <a:pPr>
              <a:buNone/>
            </a:pPr>
            <a:r>
              <a:rPr lang="en-US" altLang="ko-KR" sz="1400" smtClean="0"/>
              <a:t>      public static void main(String[] </a:t>
            </a:r>
            <a:r>
              <a:rPr lang="en-US" altLang="ko-KR" sz="1400" err="1" smtClean="0"/>
              <a:t>args</a:t>
            </a:r>
            <a:r>
              <a:rPr lang="en-US" altLang="ko-KR" sz="1400" smtClean="0"/>
              <a:t>) </a:t>
            </a:r>
          </a:p>
          <a:p>
            <a:pPr>
              <a:buNone/>
            </a:pPr>
            <a:r>
              <a:rPr lang="en-US" altLang="ko-KR" sz="1400" smtClean="0"/>
              <a:t>      { </a:t>
            </a:r>
          </a:p>
          <a:p>
            <a:pPr>
              <a:buNone/>
            </a:pPr>
            <a:r>
              <a:rPr lang="en-US" altLang="ko-KR" sz="1400" smtClean="0"/>
              <a:t>            </a:t>
            </a:r>
            <a:r>
              <a:rPr lang="en-US" altLang="ko-KR" sz="1400" err="1" smtClean="0"/>
              <a:t>int</a:t>
            </a:r>
            <a:r>
              <a:rPr lang="en-US" altLang="ko-KR" sz="1400" smtClean="0"/>
              <a:t> x = 3; </a:t>
            </a:r>
          </a:p>
          <a:p>
            <a:pPr>
              <a:buNone/>
            </a:pPr>
            <a:r>
              <a:rPr lang="en-US" altLang="ko-KR" sz="1400" smtClean="0"/>
              <a:t>            </a:t>
            </a:r>
            <a:r>
              <a:rPr lang="en-US" altLang="ko-KR" sz="1400" err="1" smtClean="0"/>
              <a:t>int</a:t>
            </a:r>
            <a:r>
              <a:rPr lang="en-US" altLang="ko-KR" sz="1400" smtClean="0"/>
              <a:t> y = 5; </a:t>
            </a:r>
          </a:p>
          <a:p>
            <a:pPr>
              <a:buNone/>
            </a:pPr>
            <a:r>
              <a:rPr lang="en-US" altLang="ko-KR" sz="1400" smtClean="0"/>
              <a:t>            </a:t>
            </a:r>
            <a:r>
              <a:rPr lang="en-US" altLang="ko-KR" sz="1400" err="1" smtClean="0"/>
              <a:t>System.out.println</a:t>
            </a:r>
            <a:r>
              <a:rPr lang="en-US" altLang="ko-KR" sz="1400" smtClean="0"/>
              <a:t>("x</a:t>
            </a:r>
            <a:r>
              <a:rPr lang="ko-KR" altLang="en-US" sz="1400" smtClean="0"/>
              <a:t>는 </a:t>
            </a:r>
            <a:r>
              <a:rPr lang="en-US" altLang="ko-KR" sz="1400" smtClean="0"/>
              <a:t>" + x + "</a:t>
            </a:r>
            <a:r>
              <a:rPr lang="ko-KR" altLang="en-US" sz="1400" smtClean="0"/>
              <a:t>이고</a:t>
            </a:r>
            <a:r>
              <a:rPr lang="en-US" altLang="ko-KR" sz="1400" smtClean="0"/>
              <a:t>, y</a:t>
            </a:r>
            <a:r>
              <a:rPr lang="ko-KR" altLang="en-US" sz="1400" smtClean="0"/>
              <a:t>는 </a:t>
            </a:r>
            <a:r>
              <a:rPr lang="en-US" altLang="ko-KR" sz="1400" smtClean="0"/>
              <a:t>" + y +"</a:t>
            </a:r>
            <a:r>
              <a:rPr lang="ko-KR" altLang="en-US" sz="1400" smtClean="0"/>
              <a:t>일 때</a:t>
            </a:r>
            <a:r>
              <a:rPr lang="en-US" altLang="ko-KR" sz="1400" smtClean="0"/>
              <a:t>, "); </a:t>
            </a:r>
          </a:p>
          <a:p>
            <a:pPr>
              <a:buNone/>
            </a:pPr>
            <a:r>
              <a:rPr lang="en-US" altLang="ko-KR" sz="1400" smtClean="0"/>
              <a:t>            </a:t>
            </a:r>
            <a:r>
              <a:rPr lang="en-US" altLang="ko-KR" sz="1400" err="1" smtClean="0"/>
              <a:t>System.out.println</a:t>
            </a:r>
            <a:r>
              <a:rPr lang="en-US" altLang="ko-KR" sz="1400" smtClean="0"/>
              <a:t>("x | y = " + (</a:t>
            </a:r>
            <a:r>
              <a:rPr lang="en-US" altLang="ko-KR" sz="1400" err="1" smtClean="0"/>
              <a:t>x|y</a:t>
            </a:r>
            <a:r>
              <a:rPr lang="en-US" altLang="ko-KR" sz="1400" smtClean="0"/>
              <a:t>)); </a:t>
            </a:r>
          </a:p>
          <a:p>
            <a:pPr>
              <a:buNone/>
            </a:pPr>
            <a:r>
              <a:rPr lang="en-US" altLang="ko-KR" sz="1400" smtClean="0"/>
              <a:t>            </a:t>
            </a:r>
            <a:r>
              <a:rPr lang="en-US" altLang="ko-KR" sz="1400" err="1" smtClean="0"/>
              <a:t>System.out.println</a:t>
            </a:r>
            <a:r>
              <a:rPr lang="en-US" altLang="ko-KR" sz="1400" smtClean="0"/>
              <a:t>("x &amp; y = " + (</a:t>
            </a:r>
            <a:r>
              <a:rPr lang="en-US" altLang="ko-KR" sz="1400" err="1" smtClean="0"/>
              <a:t>x&amp;y</a:t>
            </a:r>
            <a:r>
              <a:rPr lang="en-US" altLang="ko-KR" sz="1400" smtClean="0"/>
              <a:t>)); </a:t>
            </a:r>
          </a:p>
          <a:p>
            <a:pPr>
              <a:buNone/>
            </a:pPr>
            <a:r>
              <a:rPr lang="en-US" altLang="ko-KR" sz="1400" smtClean="0"/>
              <a:t>            </a:t>
            </a:r>
            <a:r>
              <a:rPr lang="en-US" altLang="ko-KR" sz="1400" err="1" smtClean="0"/>
              <a:t>System.out.println</a:t>
            </a:r>
            <a:r>
              <a:rPr lang="en-US" altLang="ko-KR" sz="1400" smtClean="0"/>
              <a:t>("x ^ y = " + (</a:t>
            </a:r>
            <a:r>
              <a:rPr lang="en-US" altLang="ko-KR" sz="1400" err="1" smtClean="0"/>
              <a:t>x^y</a:t>
            </a:r>
            <a:r>
              <a:rPr lang="en-US" altLang="ko-KR" sz="1400" smtClean="0"/>
              <a:t>));</a:t>
            </a:r>
          </a:p>
          <a:p>
            <a:pPr>
              <a:buNone/>
            </a:pPr>
            <a:r>
              <a:rPr lang="en-US" altLang="ko-KR" sz="1400" smtClean="0"/>
              <a:t>            </a:t>
            </a:r>
            <a:r>
              <a:rPr lang="en-US" altLang="ko-KR" sz="1400" err="1" smtClean="0"/>
              <a:t>System.out.println</a:t>
            </a:r>
            <a:r>
              <a:rPr lang="en-US" altLang="ko-KR" sz="1400" smtClean="0"/>
              <a:t>("~x  = " + ~x);</a:t>
            </a:r>
          </a:p>
          <a:p>
            <a:pPr>
              <a:buNone/>
            </a:pPr>
            <a:endParaRPr lang="en-US" altLang="ko-KR" sz="1400" smtClean="0"/>
          </a:p>
          <a:p>
            <a:pPr>
              <a:buNone/>
            </a:pPr>
            <a:r>
              <a:rPr lang="en-US" altLang="ko-KR" sz="1400" smtClean="0"/>
              <a:t>            </a:t>
            </a:r>
            <a:r>
              <a:rPr lang="en-US" altLang="ko-KR" sz="1400" err="1" smtClean="0"/>
              <a:t>System.out.println</a:t>
            </a:r>
            <a:r>
              <a:rPr lang="en-US" altLang="ko-KR" sz="1400" smtClean="0"/>
              <a:t>("true | false = " + (</a:t>
            </a:r>
            <a:r>
              <a:rPr lang="en-US" altLang="ko-KR" sz="1400" err="1" smtClean="0"/>
              <a:t>true|false</a:t>
            </a:r>
            <a:r>
              <a:rPr lang="en-US" altLang="ko-KR" sz="1400" smtClean="0"/>
              <a:t>)); </a:t>
            </a:r>
          </a:p>
          <a:p>
            <a:pPr>
              <a:buNone/>
            </a:pPr>
            <a:r>
              <a:rPr lang="en-US" altLang="ko-KR" sz="1400" smtClean="0"/>
              <a:t>            </a:t>
            </a:r>
            <a:r>
              <a:rPr lang="en-US" altLang="ko-KR" sz="1400" err="1" smtClean="0"/>
              <a:t>System.out.println</a:t>
            </a:r>
            <a:r>
              <a:rPr lang="en-US" altLang="ko-KR" sz="1400" smtClean="0"/>
              <a:t>("true &amp; false = " + (</a:t>
            </a:r>
            <a:r>
              <a:rPr lang="en-US" altLang="ko-KR" sz="1400" err="1" smtClean="0"/>
              <a:t>true&amp;false</a:t>
            </a:r>
            <a:r>
              <a:rPr lang="en-US" altLang="ko-KR" sz="1400" smtClean="0"/>
              <a:t>)); </a:t>
            </a:r>
          </a:p>
          <a:p>
            <a:pPr>
              <a:buNone/>
            </a:pPr>
            <a:r>
              <a:rPr lang="en-US" altLang="ko-KR" sz="1400" smtClean="0"/>
              <a:t>            </a:t>
            </a:r>
            <a:r>
              <a:rPr lang="en-US" altLang="ko-KR" sz="1400" err="1" smtClean="0"/>
              <a:t>System.out.println</a:t>
            </a:r>
            <a:r>
              <a:rPr lang="en-US" altLang="ko-KR" sz="1400" smtClean="0"/>
              <a:t>("true ^ false = " + (</a:t>
            </a:r>
            <a:r>
              <a:rPr lang="en-US" altLang="ko-KR" sz="1400" err="1" smtClean="0"/>
              <a:t>true^false</a:t>
            </a:r>
            <a:r>
              <a:rPr lang="en-US" altLang="ko-KR" sz="1400" smtClean="0"/>
              <a:t>)); </a:t>
            </a:r>
          </a:p>
          <a:p>
            <a:pPr>
              <a:buNone/>
            </a:pPr>
            <a:r>
              <a:rPr lang="en-US" altLang="ko-KR" sz="1400" smtClean="0"/>
              <a:t>      } </a:t>
            </a:r>
          </a:p>
          <a:p>
            <a:pPr>
              <a:buNone/>
            </a:pPr>
            <a:r>
              <a:rPr lang="en-US" altLang="ko-KR" sz="1400" smtClean="0"/>
              <a:t>}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BA5970-03A6-496F-978B-4258F7D373A8}" type="slidenum">
              <a:rPr lang="ko-KR" altLang="en-US" smtClean="0"/>
              <a:pPr/>
              <a:t>25</a:t>
            </a:fld>
            <a:endParaRPr lang="ko-KR" altLang="en-US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 cstate="print"/>
          <a:srcRect l="26114" t="55526" r="33280" b="13527"/>
          <a:stretch>
            <a:fillRect/>
          </a:stretch>
        </p:blipFill>
        <p:spPr bwMode="auto">
          <a:xfrm>
            <a:off x="5148064" y="1124744"/>
            <a:ext cx="3528392" cy="17281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8.</a:t>
            </a:r>
            <a:r>
              <a:rPr lang="ko-KR" altLang="en-US" err="1" smtClean="0"/>
              <a:t>삼항</a:t>
            </a:r>
            <a:r>
              <a:rPr lang="ko-KR" altLang="en-US" smtClean="0"/>
              <a:t> 연산자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BA5970-03A6-496F-978B-4258F7D373A8}" type="slidenum">
              <a:rPr lang="ko-KR" altLang="en-US" smtClean="0"/>
              <a:pPr/>
              <a:t>26</a:t>
            </a:fld>
            <a:endParaRPr lang="ko-KR" altLang="en-US"/>
          </a:p>
        </p:txBody>
      </p:sp>
      <p:sp>
        <p:nvSpPr>
          <p:cNvPr id="24577" name="Rectangle 1"/>
          <p:cNvSpPr>
            <a:spLocks noChangeArrowheads="1"/>
          </p:cNvSpPr>
          <p:nvPr/>
        </p:nvSpPr>
        <p:spPr bwMode="auto">
          <a:xfrm>
            <a:off x="755576" y="1340768"/>
            <a:ext cx="7704856" cy="15696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fontAlgn="base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v"/>
            </a:pPr>
            <a:r>
              <a:rPr kumimoji="1" lang="ko-KR" altLang="en-US" sz="1600" b="1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삼항</a:t>
            </a:r>
            <a:r>
              <a:rPr kumimoji="1" lang="ko-KR" altLang="en-US" sz="1600" b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 연산자는 조건 연산자라고도 하며 </a:t>
            </a:r>
            <a:r>
              <a:rPr kumimoji="1" lang="en-US" altLang="ko-KR" sz="1600" b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3</a:t>
            </a:r>
            <a:r>
              <a:rPr kumimoji="1" lang="ko-KR" altLang="en-US" sz="1600" b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개의 </a:t>
            </a:r>
            <a:r>
              <a:rPr kumimoji="1" lang="ko-KR" altLang="en-US" sz="1600" b="1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피연산자를</a:t>
            </a:r>
            <a:r>
              <a:rPr kumimoji="1" lang="ko-KR" altLang="en-US" sz="1600" b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 필요로 하게 되는데 첫 번째 </a:t>
            </a:r>
            <a:r>
              <a:rPr kumimoji="1" lang="ko-KR" altLang="en-US" sz="1600" b="1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피연산자는</a:t>
            </a:r>
            <a:r>
              <a:rPr kumimoji="1" lang="ko-KR" altLang="en-US" sz="1600" b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 조건이며 두 번째 </a:t>
            </a:r>
            <a:r>
              <a:rPr kumimoji="1" lang="ko-KR" altLang="en-US" sz="1600" b="1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피연산자는</a:t>
            </a:r>
            <a:r>
              <a:rPr kumimoji="1" lang="ko-KR" altLang="en-US" sz="1600" b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 조건이 </a:t>
            </a:r>
            <a:r>
              <a:rPr kumimoji="1" lang="en-US" altLang="ko-KR" sz="1600" b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true</a:t>
            </a:r>
            <a:r>
              <a:rPr kumimoji="1" lang="ko-KR" altLang="en-US" sz="1600" b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일 때 반환 값 세 번째 피연산자는 조건이 </a:t>
            </a:r>
            <a:r>
              <a:rPr kumimoji="1" lang="en-US" altLang="ko-KR" sz="1600" b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false</a:t>
            </a:r>
            <a:r>
              <a:rPr kumimoji="1" lang="ko-KR" altLang="en-US" sz="1600" b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일 때 반환 값입니다</a:t>
            </a:r>
            <a:r>
              <a:rPr kumimoji="1" lang="en-US" altLang="ko-KR" sz="1600" b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.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v"/>
            </a:pPr>
            <a:endParaRPr kumimoji="1" lang="en-US" altLang="ko-KR" sz="1600" b="1" smtClean="0">
              <a:solidFill>
                <a:srgbClr val="000000"/>
              </a:solidFill>
              <a:latin typeface="맑은 고딕" pitchFamily="50" charset="-127"/>
              <a:ea typeface="맑은 고딕" pitchFamily="50" charset="-127"/>
              <a:cs typeface="굴림체" pitchFamily="49" charset="-127"/>
            </a:endParaRPr>
          </a:p>
          <a:p>
            <a:pPr lvl="0" fontAlgn="base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v"/>
            </a:pPr>
            <a:r>
              <a:rPr kumimoji="1" lang="ko-KR" altLang="en-US" sz="1600" b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기본형식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1600" b="1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조건식</a:t>
            </a:r>
            <a:r>
              <a:rPr kumimoji="1" lang="en-US" altLang="ko-KR" sz="1600" b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? </a:t>
            </a:r>
            <a:r>
              <a:rPr kumimoji="1" lang="ko-KR" altLang="en-US" sz="1600" b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식</a:t>
            </a:r>
            <a:r>
              <a:rPr kumimoji="1" lang="en-US" altLang="ko-KR" sz="1600" b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1: </a:t>
            </a:r>
            <a:r>
              <a:rPr kumimoji="1" lang="ko-KR" altLang="en-US" sz="1600" b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식</a:t>
            </a:r>
            <a:r>
              <a:rPr kumimoji="1" lang="en-US" altLang="ko-KR" sz="1600" b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2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mtClean="0"/>
              <a:t>실습</a:t>
            </a:r>
            <a:r>
              <a:rPr lang="en-US" altLang="ko-KR" smtClean="0"/>
              <a:t>(Condition.java)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buNone/>
            </a:pPr>
            <a:r>
              <a:rPr lang="en-US" altLang="ko-KR" sz="1400" smtClean="0"/>
              <a:t>public class Condition {</a:t>
            </a:r>
          </a:p>
          <a:p>
            <a:pPr>
              <a:buNone/>
            </a:pPr>
            <a:r>
              <a:rPr lang="en-US" altLang="ko-KR" sz="1400" smtClean="0"/>
              <a:t>	public static void main(String[] </a:t>
            </a:r>
            <a:r>
              <a:rPr lang="en-US" altLang="ko-KR" sz="1400" err="1" smtClean="0"/>
              <a:t>args</a:t>
            </a:r>
            <a:r>
              <a:rPr lang="en-US" altLang="ko-KR" sz="1400" smtClean="0"/>
              <a:t>) {</a:t>
            </a:r>
          </a:p>
          <a:p>
            <a:pPr>
              <a:buNone/>
            </a:pPr>
            <a:r>
              <a:rPr lang="en-US" altLang="ko-KR" sz="1400" smtClean="0"/>
              <a:t>		</a:t>
            </a:r>
            <a:r>
              <a:rPr lang="en-US" altLang="ko-KR" sz="1400" err="1" smtClean="0"/>
              <a:t>int</a:t>
            </a:r>
            <a:r>
              <a:rPr lang="en-US" altLang="ko-KR" sz="1400" smtClean="0"/>
              <a:t> a = 10, b = 11;</a:t>
            </a:r>
          </a:p>
          <a:p>
            <a:pPr>
              <a:buNone/>
            </a:pPr>
            <a:r>
              <a:rPr lang="en-US" altLang="ko-KR" sz="1400" smtClean="0"/>
              <a:t>		</a:t>
            </a:r>
            <a:r>
              <a:rPr lang="en-US" altLang="ko-KR" sz="1400" err="1" smtClean="0"/>
              <a:t>int</a:t>
            </a:r>
            <a:r>
              <a:rPr lang="en-US" altLang="ko-KR" sz="1400" smtClean="0"/>
              <a:t> max, min;</a:t>
            </a:r>
          </a:p>
          <a:p>
            <a:pPr>
              <a:buNone/>
            </a:pPr>
            <a:r>
              <a:rPr lang="en-US" altLang="ko-KR" sz="1400" smtClean="0"/>
              <a:t>		max = a &gt; b ? a : b;</a:t>
            </a:r>
          </a:p>
          <a:p>
            <a:pPr>
              <a:buNone/>
            </a:pPr>
            <a:r>
              <a:rPr lang="en-US" altLang="ko-KR" sz="1400" smtClean="0"/>
              <a:t>		min = a &lt; b ? a : b;</a:t>
            </a:r>
          </a:p>
          <a:p>
            <a:pPr>
              <a:buNone/>
            </a:pPr>
            <a:r>
              <a:rPr lang="en-US" altLang="ko-KR" sz="1400" smtClean="0"/>
              <a:t>		</a:t>
            </a:r>
            <a:r>
              <a:rPr lang="en-US" altLang="ko-KR" sz="1400" err="1" smtClean="0"/>
              <a:t>System.out.println</a:t>
            </a:r>
            <a:r>
              <a:rPr lang="en-US" altLang="ko-KR" sz="1400" smtClean="0"/>
              <a:t>("</a:t>
            </a:r>
            <a:r>
              <a:rPr lang="ko-KR" altLang="en-US" sz="1400" smtClean="0"/>
              <a:t>두 수 중 큰 값</a:t>
            </a:r>
            <a:r>
              <a:rPr lang="en-US" altLang="ko-KR" sz="1400" smtClean="0"/>
              <a:t>:" + max);</a:t>
            </a:r>
          </a:p>
          <a:p>
            <a:pPr>
              <a:buNone/>
            </a:pPr>
            <a:r>
              <a:rPr lang="en-US" altLang="ko-KR" sz="1400" smtClean="0"/>
              <a:t>		</a:t>
            </a:r>
            <a:r>
              <a:rPr lang="en-US" altLang="ko-KR" sz="1400" err="1" smtClean="0"/>
              <a:t>System.out.println</a:t>
            </a:r>
            <a:r>
              <a:rPr lang="en-US" altLang="ko-KR" sz="1400" smtClean="0"/>
              <a:t>("</a:t>
            </a:r>
            <a:r>
              <a:rPr lang="ko-KR" altLang="en-US" sz="1400" smtClean="0"/>
              <a:t>두 수 중 작은 값</a:t>
            </a:r>
            <a:r>
              <a:rPr lang="en-US" altLang="ko-KR" sz="1400" smtClean="0"/>
              <a:t>:" + min);</a:t>
            </a:r>
          </a:p>
          <a:p>
            <a:pPr>
              <a:buNone/>
            </a:pPr>
            <a:r>
              <a:rPr lang="en-US" altLang="ko-KR" sz="1400" smtClean="0"/>
              <a:t>	}</a:t>
            </a:r>
          </a:p>
          <a:p>
            <a:pPr>
              <a:buNone/>
            </a:pPr>
            <a:r>
              <a:rPr lang="en-US" altLang="ko-KR" sz="1400" smtClean="0"/>
              <a:t>}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BA5970-03A6-496F-978B-4258F7D373A8}" type="slidenum">
              <a:rPr lang="ko-KR" altLang="en-US" smtClean="0"/>
              <a:pPr/>
              <a:t>27</a:t>
            </a:fld>
            <a:endParaRPr lang="ko-KR" altLang="en-US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 cstate="print"/>
          <a:srcRect l="26114" t="55526" r="41640" b="25685"/>
          <a:stretch>
            <a:fillRect/>
          </a:stretch>
        </p:blipFill>
        <p:spPr bwMode="auto">
          <a:xfrm>
            <a:off x="5724128" y="1196752"/>
            <a:ext cx="2664296" cy="16561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9. </a:t>
            </a:r>
            <a:r>
              <a:rPr lang="ko-KR" altLang="en-US" smtClean="0"/>
              <a:t>대입 연산자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BA5970-03A6-496F-978B-4258F7D373A8}" type="slidenum">
              <a:rPr lang="ko-KR" altLang="en-US" smtClean="0"/>
              <a:pPr/>
              <a:t>28</a:t>
            </a:fld>
            <a:endParaRPr lang="ko-KR" altLang="en-US"/>
          </a:p>
        </p:txBody>
      </p:sp>
      <p:sp>
        <p:nvSpPr>
          <p:cNvPr id="24577" name="Rectangle 1"/>
          <p:cNvSpPr>
            <a:spLocks noChangeArrowheads="1"/>
          </p:cNvSpPr>
          <p:nvPr/>
        </p:nvSpPr>
        <p:spPr bwMode="auto">
          <a:xfrm>
            <a:off x="755576" y="1607894"/>
            <a:ext cx="7704856" cy="23083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fontAlgn="base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v"/>
            </a:pPr>
            <a:r>
              <a:rPr kumimoji="1" lang="ko-KR" altLang="en-US" sz="1600" b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대입 연산자는 변수에 값 또는 수식의 연산결과를 저장하는데 사용됩니다</a:t>
            </a:r>
            <a:r>
              <a:rPr kumimoji="1" lang="en-US" altLang="ko-KR" sz="1600" b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. 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v"/>
            </a:pPr>
            <a:r>
              <a:rPr kumimoji="1" lang="ko-KR" altLang="en-US" sz="1600" b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대입연산자의 왼쪽에는 반드시 변수가 위치해야 하며</a:t>
            </a:r>
            <a:r>
              <a:rPr kumimoji="1" lang="en-US" altLang="ko-KR" sz="1600" b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, </a:t>
            </a:r>
            <a:r>
              <a:rPr kumimoji="1" lang="ko-KR" altLang="en-US" sz="1600" b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오른쪽에는 </a:t>
            </a:r>
            <a:r>
              <a:rPr kumimoji="1" lang="ko-KR" altLang="en-US" sz="1600" b="1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리터럴이나</a:t>
            </a:r>
            <a:r>
              <a:rPr kumimoji="1" lang="ko-KR" altLang="en-US" sz="1600" b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 변수 또는 수식이 올 수 있습니다</a:t>
            </a:r>
            <a:r>
              <a:rPr kumimoji="1" lang="en-US" altLang="ko-KR" sz="1600" b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.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v"/>
            </a:pPr>
            <a:r>
              <a:rPr kumimoji="1" lang="ko-KR" altLang="en-US" sz="1600" b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대입 연산자는 모든 연산자들 중에서 가장 낮은 연산순위를 가지고 있기 때문에 제일 마지막에 수행됩니다</a:t>
            </a:r>
            <a:r>
              <a:rPr kumimoji="1" lang="en-US" altLang="ko-KR" sz="1600" b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. 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v"/>
            </a:pPr>
            <a:r>
              <a:rPr kumimoji="1" lang="ko-KR" altLang="en-US" sz="1600" b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연산진행방향이 오른쪽에서 왼쪽이기 때문에 </a:t>
            </a:r>
            <a:r>
              <a:rPr kumimoji="1" lang="en-US" altLang="ko-KR" sz="1600" b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x=y=3; </a:t>
            </a:r>
            <a:r>
              <a:rPr kumimoji="1" lang="ko-KR" altLang="en-US" sz="1600" b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에서 </a:t>
            </a:r>
            <a:r>
              <a:rPr kumimoji="1" lang="en-US" altLang="ko-KR" sz="1600" b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y=3</a:t>
            </a:r>
            <a:r>
              <a:rPr kumimoji="1" lang="ko-KR" altLang="en-US" sz="1600" b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이 먼저 수행되고 그 다음에 </a:t>
            </a:r>
            <a:r>
              <a:rPr kumimoji="1" lang="en-US" altLang="ko-KR" sz="1600" b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x=y</a:t>
            </a:r>
            <a:r>
              <a:rPr kumimoji="1" lang="ko-KR" altLang="en-US" sz="1600" b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가 수행됩니다</a:t>
            </a:r>
            <a:r>
              <a:rPr kumimoji="1" lang="en-US" altLang="ko-KR" sz="1600" b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.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v"/>
            </a:pPr>
            <a:r>
              <a:rPr kumimoji="1" lang="ko-KR" altLang="en-US" sz="1600" b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대입연산자는 다른 연산자와 결합하여 </a:t>
            </a:r>
            <a:r>
              <a:rPr kumimoji="1" lang="en-US" altLang="ko-KR" sz="1600" b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"op="</a:t>
            </a:r>
            <a:r>
              <a:rPr kumimoji="1" lang="ko-KR" altLang="en-US" sz="1600" b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와 같은 방식으로 사용될 수 있다</a:t>
            </a:r>
            <a:r>
              <a:rPr kumimoji="1" lang="en-US" altLang="ko-KR" sz="1600" b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. </a:t>
            </a:r>
            <a:r>
              <a:rPr kumimoji="1" lang="ko-KR" altLang="en-US" sz="1600" b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예를 들면</a:t>
            </a:r>
            <a:r>
              <a:rPr kumimoji="1" lang="en-US" altLang="ko-KR" sz="1600" b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, </a:t>
            </a:r>
            <a:r>
              <a:rPr kumimoji="1" lang="en-US" altLang="ko-KR" sz="1600" b="1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i</a:t>
            </a:r>
            <a:r>
              <a:rPr kumimoji="1" lang="en-US" altLang="ko-KR" sz="1600" b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 = </a:t>
            </a:r>
            <a:r>
              <a:rPr kumimoji="1" lang="en-US" altLang="ko-KR" sz="1600" b="1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i</a:t>
            </a:r>
            <a:r>
              <a:rPr kumimoji="1" lang="en-US" altLang="ko-KR" sz="1600" b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 + 3</a:t>
            </a:r>
            <a:r>
              <a:rPr kumimoji="1" lang="ko-KR" altLang="en-US" sz="1600" b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은 </a:t>
            </a:r>
            <a:r>
              <a:rPr kumimoji="1" lang="en-US" altLang="ko-KR" sz="1600" b="1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i</a:t>
            </a:r>
            <a:r>
              <a:rPr kumimoji="1" lang="en-US" altLang="ko-KR" sz="1600" b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 +=3</a:t>
            </a:r>
            <a:r>
              <a:rPr kumimoji="1" lang="ko-KR" altLang="en-US" sz="1600" b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과 같이 표현될 수 있습니다</a:t>
            </a:r>
            <a:r>
              <a:rPr kumimoji="1" lang="en-US" altLang="ko-KR" sz="1600" b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.</a:t>
            </a:r>
            <a:endParaRPr kumimoji="1" lang="en-US" altLang="ko-KR" sz="1600" b="1" err="1" smtClean="0">
              <a:solidFill>
                <a:srgbClr val="000000"/>
              </a:solidFill>
              <a:latin typeface="맑은 고딕" pitchFamily="50" charset="-127"/>
              <a:ea typeface="맑은 고딕" pitchFamily="50" charset="-127"/>
              <a:cs typeface="굴림체" pitchFamily="49" charset="-127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mtClean="0"/>
              <a:t>실습</a:t>
            </a:r>
            <a:r>
              <a:rPr lang="en-US" altLang="ko-KR" smtClean="0"/>
              <a:t>(Assign.java)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buNone/>
            </a:pPr>
            <a:r>
              <a:rPr lang="en-US" altLang="ko-KR" sz="1400" smtClean="0"/>
              <a:t>public class Assign</a:t>
            </a:r>
          </a:p>
          <a:p>
            <a:pPr>
              <a:buNone/>
            </a:pPr>
            <a:r>
              <a:rPr lang="en-US" altLang="ko-KR" sz="1400" smtClean="0"/>
              <a:t>{ </a:t>
            </a:r>
          </a:p>
          <a:p>
            <a:pPr>
              <a:buNone/>
            </a:pPr>
            <a:r>
              <a:rPr lang="en-US" altLang="ko-KR" sz="1400" smtClean="0"/>
              <a:t>      public static void main(String[] </a:t>
            </a:r>
            <a:r>
              <a:rPr lang="en-US" altLang="ko-KR" sz="1400" err="1" smtClean="0"/>
              <a:t>args</a:t>
            </a:r>
            <a:r>
              <a:rPr lang="en-US" altLang="ko-KR" sz="1400" smtClean="0"/>
              <a:t>) </a:t>
            </a:r>
          </a:p>
          <a:p>
            <a:pPr>
              <a:buNone/>
            </a:pPr>
            <a:r>
              <a:rPr lang="en-US" altLang="ko-KR" sz="1400" smtClean="0"/>
              <a:t>      { </a:t>
            </a:r>
          </a:p>
          <a:p>
            <a:pPr>
              <a:buNone/>
            </a:pPr>
            <a:r>
              <a:rPr lang="en-US" altLang="ko-KR" sz="1400" smtClean="0"/>
              <a:t>        </a:t>
            </a:r>
            <a:r>
              <a:rPr lang="en-US" altLang="ko-KR" sz="1400" err="1" smtClean="0"/>
              <a:t>int</a:t>
            </a:r>
            <a:r>
              <a:rPr lang="en-US" altLang="ko-KR" sz="1400" smtClean="0"/>
              <a:t> </a:t>
            </a:r>
            <a:r>
              <a:rPr lang="en-US" altLang="ko-KR" sz="1400" err="1" smtClean="0"/>
              <a:t>add,sub,mul</a:t>
            </a:r>
            <a:r>
              <a:rPr lang="en-US" altLang="ko-KR" sz="1400" smtClean="0"/>
              <a:t>, div;</a:t>
            </a:r>
          </a:p>
          <a:p>
            <a:pPr>
              <a:buNone/>
            </a:pPr>
            <a:r>
              <a:rPr lang="en-US" altLang="ko-KR" sz="1400" smtClean="0"/>
              <a:t>		add = sub = </a:t>
            </a:r>
            <a:r>
              <a:rPr lang="en-US" altLang="ko-KR" sz="1400" err="1" smtClean="0"/>
              <a:t>mul</a:t>
            </a:r>
            <a:r>
              <a:rPr lang="en-US" altLang="ko-KR" sz="1400" smtClean="0"/>
              <a:t> = div =10;</a:t>
            </a:r>
          </a:p>
          <a:p>
            <a:pPr>
              <a:buNone/>
            </a:pPr>
            <a:r>
              <a:rPr lang="en-US" altLang="ko-KR" sz="1400" smtClean="0"/>
              <a:t>		add +=10;</a:t>
            </a:r>
          </a:p>
          <a:p>
            <a:pPr>
              <a:buNone/>
            </a:pPr>
            <a:r>
              <a:rPr lang="en-US" altLang="ko-KR" sz="1400" smtClean="0"/>
              <a:t>		sub -=10;</a:t>
            </a:r>
          </a:p>
          <a:p>
            <a:pPr>
              <a:buNone/>
            </a:pPr>
            <a:r>
              <a:rPr lang="en-US" altLang="ko-KR" sz="1400" smtClean="0"/>
              <a:t>		</a:t>
            </a:r>
            <a:r>
              <a:rPr lang="en-US" altLang="ko-KR" sz="1400" err="1" smtClean="0"/>
              <a:t>mul</a:t>
            </a:r>
            <a:r>
              <a:rPr lang="en-US" altLang="ko-KR" sz="1400" smtClean="0"/>
              <a:t> *=10;</a:t>
            </a:r>
          </a:p>
          <a:p>
            <a:pPr>
              <a:buNone/>
            </a:pPr>
            <a:r>
              <a:rPr lang="en-US" altLang="ko-KR" sz="1400" smtClean="0"/>
              <a:t>		div /=10;</a:t>
            </a:r>
          </a:p>
          <a:p>
            <a:pPr>
              <a:buNone/>
            </a:pPr>
            <a:r>
              <a:rPr lang="en-US" altLang="ko-KR" sz="1400" smtClean="0"/>
              <a:t>		</a:t>
            </a:r>
            <a:r>
              <a:rPr lang="en-US" altLang="ko-KR" sz="1400" err="1" smtClean="0"/>
              <a:t>System.out.println</a:t>
            </a:r>
            <a:r>
              <a:rPr lang="en-US" altLang="ko-KR" sz="1400" smtClean="0"/>
              <a:t>("add:" + add);</a:t>
            </a:r>
          </a:p>
          <a:p>
            <a:pPr>
              <a:buNone/>
            </a:pPr>
            <a:r>
              <a:rPr lang="en-US" altLang="ko-KR" sz="1400" smtClean="0"/>
              <a:t>		</a:t>
            </a:r>
            <a:r>
              <a:rPr lang="en-US" altLang="ko-KR" sz="1400" err="1" smtClean="0"/>
              <a:t>System.out.println</a:t>
            </a:r>
            <a:r>
              <a:rPr lang="en-US" altLang="ko-KR" sz="1400" smtClean="0"/>
              <a:t>("sub:" + sub);</a:t>
            </a:r>
          </a:p>
          <a:p>
            <a:pPr>
              <a:buNone/>
            </a:pPr>
            <a:r>
              <a:rPr lang="en-US" altLang="ko-KR" sz="1400" smtClean="0"/>
              <a:t>		</a:t>
            </a:r>
            <a:r>
              <a:rPr lang="en-US" altLang="ko-KR" sz="1400" err="1" smtClean="0"/>
              <a:t>System.out.println</a:t>
            </a:r>
            <a:r>
              <a:rPr lang="en-US" altLang="ko-KR" sz="1400" smtClean="0"/>
              <a:t>("</a:t>
            </a:r>
            <a:r>
              <a:rPr lang="en-US" altLang="ko-KR" sz="1400" err="1" smtClean="0"/>
              <a:t>mul</a:t>
            </a:r>
            <a:r>
              <a:rPr lang="en-US" altLang="ko-KR" sz="1400" smtClean="0"/>
              <a:t>:" + </a:t>
            </a:r>
            <a:r>
              <a:rPr lang="en-US" altLang="ko-KR" sz="1400" err="1" smtClean="0"/>
              <a:t>mul</a:t>
            </a:r>
            <a:r>
              <a:rPr lang="en-US" altLang="ko-KR" sz="1400" smtClean="0"/>
              <a:t>);</a:t>
            </a:r>
          </a:p>
          <a:p>
            <a:pPr>
              <a:buNone/>
            </a:pPr>
            <a:r>
              <a:rPr lang="en-US" altLang="ko-KR" sz="1400" smtClean="0"/>
              <a:t>		</a:t>
            </a:r>
            <a:r>
              <a:rPr lang="en-US" altLang="ko-KR" sz="1400" err="1" smtClean="0"/>
              <a:t>System.out.println</a:t>
            </a:r>
            <a:r>
              <a:rPr lang="en-US" altLang="ko-KR" sz="1400" smtClean="0"/>
              <a:t>("div:" + div);</a:t>
            </a:r>
          </a:p>
          <a:p>
            <a:pPr>
              <a:buNone/>
            </a:pPr>
            <a:r>
              <a:rPr lang="en-US" altLang="ko-KR" sz="1400" smtClean="0"/>
              <a:t>      } </a:t>
            </a:r>
          </a:p>
          <a:p>
            <a:pPr>
              <a:buNone/>
            </a:pPr>
            <a:r>
              <a:rPr lang="en-US" altLang="ko-KR" sz="1400" smtClean="0"/>
              <a:t>}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BA5970-03A6-496F-978B-4258F7D373A8}" type="slidenum">
              <a:rPr lang="ko-KR" altLang="en-US" smtClean="0"/>
              <a:pPr/>
              <a:t>29</a:t>
            </a:fld>
            <a:endParaRPr lang="ko-KR" altLang="en-US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 cstate="print"/>
          <a:srcRect l="26114" t="55526" r="35668" b="22369"/>
          <a:stretch>
            <a:fillRect/>
          </a:stretch>
        </p:blipFill>
        <p:spPr bwMode="auto">
          <a:xfrm>
            <a:off x="5292080" y="1052736"/>
            <a:ext cx="3384376" cy="23042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ms01_1">
  <a:themeElements>
    <a:clrScheme name="ms01_1 3">
      <a:dk1>
        <a:srgbClr val="808080"/>
      </a:dk1>
      <a:lt1>
        <a:srgbClr val="FFFFFF"/>
      </a:lt1>
      <a:dk2>
        <a:srgbClr val="FFFFFF"/>
      </a:dk2>
      <a:lt2>
        <a:srgbClr val="B2B2B2"/>
      </a:lt2>
      <a:accent1>
        <a:srgbClr val="058089"/>
      </a:accent1>
      <a:accent2>
        <a:srgbClr val="66BE0E"/>
      </a:accent2>
      <a:accent3>
        <a:srgbClr val="FFFFFF"/>
      </a:accent3>
      <a:accent4>
        <a:srgbClr val="6C6C6C"/>
      </a:accent4>
      <a:accent5>
        <a:srgbClr val="AAC0C4"/>
      </a:accent5>
      <a:accent6>
        <a:srgbClr val="5CAC0C"/>
      </a:accent6>
      <a:hlink>
        <a:srgbClr val="2CA9D0"/>
      </a:hlink>
      <a:folHlink>
        <a:srgbClr val="4841D9"/>
      </a:folHlink>
    </a:clrScheme>
    <a:fontScheme name="ms01_1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ms01_1 1">
        <a:dk1>
          <a:srgbClr val="1D528D"/>
        </a:dk1>
        <a:lt1>
          <a:srgbClr val="FFFFFF"/>
        </a:lt1>
        <a:dk2>
          <a:srgbClr val="000000"/>
        </a:dk2>
        <a:lt2>
          <a:srgbClr val="CACACA"/>
        </a:lt2>
        <a:accent1>
          <a:srgbClr val="0099CC"/>
        </a:accent1>
        <a:accent2>
          <a:srgbClr val="BFA907"/>
        </a:accent2>
        <a:accent3>
          <a:srgbClr val="FFFFFF"/>
        </a:accent3>
        <a:accent4>
          <a:srgbClr val="174578"/>
        </a:accent4>
        <a:accent5>
          <a:srgbClr val="AACAE2"/>
        </a:accent5>
        <a:accent6>
          <a:srgbClr val="AD9906"/>
        </a:accent6>
        <a:hlink>
          <a:srgbClr val="6E81E0"/>
        </a:hlink>
        <a:folHlink>
          <a:srgbClr val="0099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s01_1 2">
        <a:dk1>
          <a:srgbClr val="4E40A4"/>
        </a:dk1>
        <a:lt1>
          <a:srgbClr val="FFFFFF"/>
        </a:lt1>
        <a:dk2>
          <a:srgbClr val="000000"/>
        </a:dk2>
        <a:lt2>
          <a:srgbClr val="CACACA"/>
        </a:lt2>
        <a:accent1>
          <a:srgbClr val="8B65E9"/>
        </a:accent1>
        <a:accent2>
          <a:srgbClr val="008080"/>
        </a:accent2>
        <a:accent3>
          <a:srgbClr val="FFFFFF"/>
        </a:accent3>
        <a:accent4>
          <a:srgbClr val="41358B"/>
        </a:accent4>
        <a:accent5>
          <a:srgbClr val="C4B8F2"/>
        </a:accent5>
        <a:accent6>
          <a:srgbClr val="007373"/>
        </a:accent6>
        <a:hlink>
          <a:srgbClr val="0066CC"/>
        </a:hlink>
        <a:folHlink>
          <a:srgbClr val="8AB151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s01_1 3">
        <a:dk1>
          <a:srgbClr val="808080"/>
        </a:dk1>
        <a:lt1>
          <a:srgbClr val="FFFFFF"/>
        </a:lt1>
        <a:dk2>
          <a:srgbClr val="FFFFFF"/>
        </a:dk2>
        <a:lt2>
          <a:srgbClr val="B2B2B2"/>
        </a:lt2>
        <a:accent1>
          <a:srgbClr val="058089"/>
        </a:accent1>
        <a:accent2>
          <a:srgbClr val="66BE0E"/>
        </a:accent2>
        <a:accent3>
          <a:srgbClr val="FFFFFF"/>
        </a:accent3>
        <a:accent4>
          <a:srgbClr val="6C6C6C"/>
        </a:accent4>
        <a:accent5>
          <a:srgbClr val="AAC0C4"/>
        </a:accent5>
        <a:accent6>
          <a:srgbClr val="5CAC0C"/>
        </a:accent6>
        <a:hlink>
          <a:srgbClr val="2CA9D0"/>
        </a:hlink>
        <a:folHlink>
          <a:srgbClr val="4841D9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7083</TotalTime>
  <Words>1679</Words>
  <Application>Microsoft Office PowerPoint</Application>
  <PresentationFormat>화면 슬라이드 쇼(4:3)</PresentationFormat>
  <Paragraphs>407</Paragraphs>
  <Slides>29</Slides>
  <Notes>0</Notes>
  <HiddenSlides>0</HiddenSlides>
  <MMClips>0</MMClips>
  <ScaleCrop>false</ScaleCrop>
  <HeadingPairs>
    <vt:vector size="6" baseType="variant">
      <vt:variant>
        <vt:lpstr>테마</vt:lpstr>
      </vt:variant>
      <vt:variant>
        <vt:i4>1</vt:i4>
      </vt:variant>
      <vt:variant>
        <vt:lpstr>포함된 OLE 서버</vt:lpstr>
      </vt:variant>
      <vt:variant>
        <vt:i4>1</vt:i4>
      </vt:variant>
      <vt:variant>
        <vt:lpstr>슬라이드 제목</vt:lpstr>
      </vt:variant>
      <vt:variant>
        <vt:i4>29</vt:i4>
      </vt:variant>
    </vt:vector>
  </HeadingPairs>
  <TitlesOfParts>
    <vt:vector size="31" baseType="lpstr">
      <vt:lpstr>ms01_1</vt:lpstr>
      <vt:lpstr>Image</vt:lpstr>
      <vt:lpstr>Operator</vt:lpstr>
      <vt:lpstr>Scanner 클래스를 이용한 입력</vt:lpstr>
      <vt:lpstr>Scanner 클래스를 이용한 입력</vt:lpstr>
      <vt:lpstr>Scanner 주요 메소드</vt:lpstr>
      <vt:lpstr>실습-콘솔 입력(ConsoleInput.java)</vt:lpstr>
      <vt:lpstr>실습</vt:lpstr>
      <vt:lpstr>1. 연산자의 우선 순위와 종류</vt:lpstr>
      <vt:lpstr>2. 최우선 연산자</vt:lpstr>
      <vt:lpstr>3.단항(Unary) 연산자</vt:lpstr>
      <vt:lpstr>실습(Unary.java)</vt:lpstr>
      <vt:lpstr>3.단항(Unary) 연산자</vt:lpstr>
      <vt:lpstr>실습(Fix1.java)</vt:lpstr>
      <vt:lpstr>실습(Fix2.java)</vt:lpstr>
      <vt:lpstr>4.산술 연산자</vt:lpstr>
      <vt:lpstr>실습(Error.java)</vt:lpstr>
      <vt:lpstr>실습(Arithmetic.java)</vt:lpstr>
      <vt:lpstr>5.Shift 연산자</vt:lpstr>
      <vt:lpstr>실습(Shift.java)</vt:lpstr>
      <vt:lpstr>실습(Shift.java)</vt:lpstr>
      <vt:lpstr>6. 관계 연산자</vt:lpstr>
      <vt:lpstr>실습(Relation.java)</vt:lpstr>
      <vt:lpstr>7.논리 연산자</vt:lpstr>
      <vt:lpstr>실습(Logical.java)</vt:lpstr>
      <vt:lpstr>7.논리 연산자</vt:lpstr>
      <vt:lpstr>실습(Bit.java)</vt:lpstr>
      <vt:lpstr>8.삼항 연산자</vt:lpstr>
      <vt:lpstr>실습(Condition.java)</vt:lpstr>
      <vt:lpstr>9. 대입 연산자</vt:lpstr>
      <vt:lpstr>실습(Assign.java)</vt:lpstr>
    </vt:vector>
  </TitlesOfParts>
  <Company>Home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Teresa</dc:creator>
  <cp:lastModifiedBy>user</cp:lastModifiedBy>
  <cp:revision>308</cp:revision>
  <dcterms:created xsi:type="dcterms:W3CDTF">2010-03-14T12:09:21Z</dcterms:created>
  <dcterms:modified xsi:type="dcterms:W3CDTF">2013-03-15T08:36:18Z</dcterms:modified>
</cp:coreProperties>
</file>