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9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8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8" r:id="rId20"/>
    <p:sldId id="277" r:id="rId21"/>
    <p:sldId id="279" r:id="rId22"/>
    <p:sldId id="280" r:id="rId23"/>
    <p:sldId id="281" r:id="rId24"/>
    <p:sldId id="282" r:id="rId25"/>
    <p:sldId id="283" r:id="rId26"/>
    <p:sldId id="286" r:id="rId27"/>
    <p:sldId id="284" r:id="rId28"/>
    <p:sldId id="285" r:id="rId29"/>
    <p:sldId id="287" r:id="rId3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98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E55A8-D5CF-4CB6-A127-D1933B95FA4A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17949-EA51-4397-99D6-3B2F4099EE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7727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white">
          <a:xfrm>
            <a:off x="0" y="0"/>
            <a:ext cx="9144000" cy="3279775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5" name="Freeform 32"/>
          <p:cNvSpPr>
            <a:spLocks/>
          </p:cNvSpPr>
          <p:nvPr/>
        </p:nvSpPr>
        <p:spPr bwMode="gray">
          <a:xfrm>
            <a:off x="1285852" y="2000240"/>
            <a:ext cx="7859737" cy="1271598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12549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reeform 33"/>
          <p:cNvSpPr>
            <a:spLocks/>
          </p:cNvSpPr>
          <p:nvPr/>
        </p:nvSpPr>
        <p:spPr bwMode="invGray">
          <a:xfrm>
            <a:off x="-6350" y="3273425"/>
            <a:ext cx="1292202" cy="454018"/>
          </a:xfrm>
          <a:custGeom>
            <a:avLst/>
            <a:gdLst>
              <a:gd name="connsiteX0" fmla="*/ 0 w 10000"/>
              <a:gd name="connsiteY0" fmla="*/ 0 h 9965"/>
              <a:gd name="connsiteX1" fmla="*/ 10000 w 10000"/>
              <a:gd name="connsiteY1" fmla="*/ 0 h 9965"/>
              <a:gd name="connsiteX2" fmla="*/ 8341 w 10000"/>
              <a:gd name="connsiteY2" fmla="*/ 9686 h 9965"/>
              <a:gd name="connsiteX3" fmla="*/ 0 w 10000"/>
              <a:gd name="connsiteY3" fmla="*/ 9965 h 9965"/>
              <a:gd name="connsiteX4" fmla="*/ 0 w 10000"/>
              <a:gd name="connsiteY4" fmla="*/ 0 h 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965">
                <a:moveTo>
                  <a:pt x="0" y="0"/>
                </a:moveTo>
                <a:lnTo>
                  <a:pt x="10000" y="0"/>
                </a:lnTo>
                <a:lnTo>
                  <a:pt x="8341" y="9686"/>
                </a:lnTo>
                <a:lnTo>
                  <a:pt x="0" y="9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71670" y="2285992"/>
            <a:ext cx="6715140" cy="685800"/>
          </a:xfrm>
        </p:spPr>
        <p:txBody>
          <a:bodyPr/>
          <a:lstStyle>
            <a:lvl1pPr algn="ctr">
              <a:defRPr sz="4400" b="1" i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638800"/>
            <a:ext cx="6400800" cy="533400"/>
          </a:xfrm>
        </p:spPr>
        <p:txBody>
          <a:bodyPr/>
          <a:lstStyle>
            <a:lvl1pPr marL="0" indent="0" algn="r">
              <a:buFontTx/>
              <a:buNone/>
              <a:defRPr sz="2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43174" y="227013"/>
            <a:ext cx="6500826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28860" y="71414"/>
            <a:ext cx="625794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0" y="1500174"/>
            <a:ext cx="9144000" cy="53578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62738" y="227013"/>
            <a:ext cx="2068512" cy="6170612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7013"/>
            <a:ext cx="6053138" cy="617061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06650" y="227013"/>
            <a:ext cx="6324600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1"/>
          <p:cNvSpPr>
            <a:spLocks noChangeArrowheads="1"/>
          </p:cNvSpPr>
          <p:nvPr/>
        </p:nvSpPr>
        <p:spPr bwMode="white">
          <a:xfrm>
            <a:off x="0" y="0"/>
            <a:ext cx="9144000" cy="965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graphicFrame>
        <p:nvGraphicFramePr>
          <p:cNvPr id="1026" name="Object 19"/>
          <p:cNvGraphicFramePr>
            <a:graphicFrameLocks noChangeAspect="1"/>
          </p:cNvGraphicFramePr>
          <p:nvPr userDrawn="1"/>
        </p:nvGraphicFramePr>
        <p:xfrm>
          <a:off x="2987675" y="2736850"/>
          <a:ext cx="6156325" cy="4121150"/>
        </p:xfrm>
        <a:graphic>
          <a:graphicData uri="http://schemas.openxmlformats.org/presentationml/2006/ole">
            <p:oleObj spid="_x0000_s1029" name="Image" r:id="rId15" imgW="7949206" imgH="5320635" progId="">
              <p:embed/>
            </p:oleObj>
          </a:graphicData>
        </a:graphic>
      </p:graphicFrame>
      <p:sp>
        <p:nvSpPr>
          <p:cNvPr id="1045" name="Freeform 21"/>
          <p:cNvSpPr>
            <a:spLocks/>
          </p:cNvSpPr>
          <p:nvPr/>
        </p:nvSpPr>
        <p:spPr bwMode="gray">
          <a:xfrm>
            <a:off x="1828800" y="246063"/>
            <a:ext cx="7315200" cy="720725"/>
          </a:xfrm>
          <a:custGeom>
            <a:avLst/>
            <a:gdLst/>
            <a:ahLst/>
            <a:cxnLst>
              <a:cxn ang="0">
                <a:pos x="0" y="454"/>
              </a:cxn>
              <a:cxn ang="0">
                <a:pos x="4798" y="454"/>
              </a:cxn>
              <a:cxn ang="0">
                <a:pos x="4798" y="0"/>
              </a:cxn>
              <a:cxn ang="0">
                <a:pos x="382" y="3"/>
              </a:cxn>
              <a:cxn ang="0">
                <a:pos x="0" y="454"/>
              </a:cxn>
            </a:cxnLst>
            <a:rect l="0" t="0" r="r" b="b"/>
            <a:pathLst>
              <a:path w="4798" h="454">
                <a:moveTo>
                  <a:pt x="0" y="454"/>
                </a:moveTo>
                <a:lnTo>
                  <a:pt x="4798" y="454"/>
                </a:lnTo>
                <a:lnTo>
                  <a:pt x="4798" y="0"/>
                </a:lnTo>
                <a:lnTo>
                  <a:pt x="382" y="3"/>
                </a:lnTo>
                <a:lnTo>
                  <a:pt x="0" y="454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46" name="Freeform 22"/>
          <p:cNvSpPr>
            <a:spLocks/>
          </p:cNvSpPr>
          <p:nvPr/>
        </p:nvSpPr>
        <p:spPr bwMode="gray">
          <a:xfrm>
            <a:off x="0" y="966788"/>
            <a:ext cx="1828800" cy="288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38" y="0"/>
              </a:cxn>
              <a:cxn ang="0">
                <a:pos x="1138" y="182"/>
              </a:cxn>
              <a:cxn ang="0">
                <a:pos x="0" y="181"/>
              </a:cxn>
              <a:cxn ang="0">
                <a:pos x="0" y="0"/>
              </a:cxn>
            </a:cxnLst>
            <a:rect l="0" t="0" r="r" b="b"/>
            <a:pathLst>
              <a:path w="1338" h="182">
                <a:moveTo>
                  <a:pt x="0" y="0"/>
                </a:moveTo>
                <a:lnTo>
                  <a:pt x="1338" y="0"/>
                </a:lnTo>
                <a:lnTo>
                  <a:pt x="1138" y="182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2406650" y="227013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굴림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2013-03-19</a:t>
            </a:fld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굴림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b="1" i="0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제어문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제어문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340768"/>
            <a:ext cx="7776864" cy="3368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자바 인터프리터는 기본적으로 위에서 아래로 오른쪽에서 왼쪽으로 프로그램을 읽어나갑니다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제어문은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프로그램의 흐름을 변경하는 명령어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제어 구조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프로그램의 흐름을 변경시킬 수 있는 명령 구조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순차 처리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위에서 아래로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선택 처리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 분기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if,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if~else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switch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등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무조건 분기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goto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자바에서는 사용할 수 없는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예약어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반복 처리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(Loop): for, while, </a:t>
            </a: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do~while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선택 처리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조건 분기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666534"/>
            <a:ext cx="7776864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단일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문장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문장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2;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조건문의 결과가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 }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안의 문장을 수행한 후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 }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바깥쪽 문장을 처리하며 조건 문이 거짓이면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 }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안의 문장을 수행하지 않고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 }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바깥쪽 문장을 처리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조건문은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반드시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에 입력해야 하고 조건문 다음에 처리해야 할 문장이 여러 줄이라면 반드시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 }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해야 하고 한 줄이면 하지 않아도 되고 해도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 </a:t>
            </a:r>
            <a:r>
              <a:rPr lang="en-US" altLang="ko-KR" sz="2800" dirty="0" smtClean="0"/>
              <a:t>TestIf.java)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TestIf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= 80;  </a:t>
            </a:r>
          </a:p>
          <a:p>
            <a:pPr>
              <a:buNone/>
            </a:pPr>
            <a:r>
              <a:rPr lang="en-US" altLang="ko-KR" sz="1400" dirty="0" smtClean="0"/>
              <a:t>		if(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&gt;= 60) </a:t>
            </a:r>
          </a:p>
          <a:p>
            <a:pPr>
              <a:buNone/>
            </a:pPr>
            <a:r>
              <a:rPr lang="en-US" altLang="ko-KR" sz="1400" dirty="0" smtClean="0"/>
              <a:t>		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당신은 합격입니다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당신의 점수는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+ "</a:t>
            </a:r>
            <a:r>
              <a:rPr lang="ko-KR" altLang="en-US" sz="1400" dirty="0" smtClean="0"/>
              <a:t>입니다</a:t>
            </a:r>
            <a:r>
              <a:rPr lang="en-US" altLang="ko-KR" sz="1400" dirty="0" smtClean="0"/>
              <a:t>" 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74811" r="63087" b="12392"/>
          <a:stretch>
            <a:fillRect/>
          </a:stretch>
        </p:blipFill>
        <p:spPr bwMode="auto">
          <a:xfrm>
            <a:off x="5436096" y="1196752"/>
            <a:ext cx="2880320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선택 처리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조건 분기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789644"/>
            <a:ext cx="7776864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~ else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else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조건문의 결과가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처리하고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false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이면 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처리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(TestIfElse.java)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TestIfElse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= 40;  </a:t>
            </a:r>
          </a:p>
          <a:p>
            <a:pPr>
              <a:buNone/>
            </a:pPr>
            <a:r>
              <a:rPr lang="en-US" altLang="ko-KR" sz="1400" dirty="0" smtClean="0"/>
              <a:t>		if(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&gt;= 60) </a:t>
            </a:r>
          </a:p>
          <a:p>
            <a:pPr>
              <a:buNone/>
            </a:pPr>
            <a:r>
              <a:rPr lang="en-US" altLang="ko-KR" sz="1400" dirty="0" smtClean="0"/>
              <a:t>		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당신은 합격입니다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else</a:t>
            </a:r>
          </a:p>
          <a:p>
            <a:pPr>
              <a:buNone/>
            </a:pPr>
            <a:r>
              <a:rPr lang="en-US" altLang="ko-KR" sz="1400" dirty="0" smtClean="0"/>
              <a:t>		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당신은 불합격입니다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당신의 점수는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+ "</a:t>
            </a:r>
            <a:r>
              <a:rPr lang="ko-KR" altLang="en-US" sz="1400" dirty="0" smtClean="0"/>
              <a:t>입니다</a:t>
            </a:r>
            <a:r>
              <a:rPr lang="en-US" altLang="ko-KR" sz="1400" dirty="0" smtClean="0"/>
              <a:t>" 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4862" t="74993" r="70963" b="15619"/>
          <a:stretch>
            <a:fillRect/>
          </a:stretch>
        </p:blipFill>
        <p:spPr bwMode="auto">
          <a:xfrm>
            <a:off x="6300192" y="1340768"/>
            <a:ext cx="1728192" cy="8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선택 처리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조건 분기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484784"/>
            <a:ext cx="7776864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다중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~ else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	{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1; 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else if (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	{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2; 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else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	{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3; }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 참이면 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수행하고 그렇지 않으면 조건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검사해서 참이면 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를 처리하고 그렇지 않으면 처리내용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3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처리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else if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개수에 상관없이 작성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else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생략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문이 중첩되는 경우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else if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else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는 가장 가까운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와 쌍으로 연결됩니다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(ElseIfTest.java)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200" dirty="0" smtClean="0"/>
              <a:t>public class </a:t>
            </a:r>
            <a:r>
              <a:rPr lang="en-US" altLang="ko-KR" sz="1200" dirty="0" err="1" smtClean="0"/>
              <a:t>ElseIfTest</a:t>
            </a:r>
            <a:r>
              <a:rPr lang="en-US" altLang="ko-KR" sz="1200" dirty="0" smtClean="0"/>
              <a:t>{</a:t>
            </a:r>
          </a:p>
          <a:p>
            <a:pPr>
              <a:buNone/>
            </a:pPr>
            <a:r>
              <a:rPr lang="en-US" altLang="ko-KR" sz="1200" dirty="0" smtClean="0"/>
              <a:t>	public static void main(String </a:t>
            </a:r>
            <a:r>
              <a:rPr lang="en-US" altLang="ko-KR" sz="1200" dirty="0" err="1" smtClean="0"/>
              <a:t>args</a:t>
            </a:r>
            <a:r>
              <a:rPr lang="en-US" altLang="ko-KR" sz="1200" dirty="0" smtClean="0"/>
              <a:t>[]) {</a:t>
            </a:r>
          </a:p>
          <a:p>
            <a:pPr>
              <a:buNone/>
            </a:pPr>
            <a:r>
              <a:rPr lang="en-US" altLang="ko-KR" sz="1200" dirty="0" smtClean="0"/>
              <a:t>		</a:t>
            </a:r>
            <a:r>
              <a:rPr lang="en-US" altLang="ko-KR" sz="1200" dirty="0" err="1" smtClean="0"/>
              <a:t>int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= 140;  //</a:t>
            </a:r>
            <a:r>
              <a:rPr lang="ko-KR" altLang="en-US" sz="1200" dirty="0" smtClean="0"/>
              <a:t>자신의 나이</a:t>
            </a:r>
          </a:p>
          <a:p>
            <a:pPr>
              <a:buNone/>
            </a:pPr>
            <a:r>
              <a:rPr lang="ko-KR" altLang="en-US" sz="1200" dirty="0" smtClean="0"/>
              <a:t>		</a:t>
            </a:r>
            <a:r>
              <a:rPr lang="en-US" altLang="ko-KR" sz="1200" dirty="0" smtClean="0"/>
              <a:t>if(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&gt;= 90 &amp;&amp; 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&lt;= 100) {</a:t>
            </a:r>
          </a:p>
          <a:p>
            <a:pPr>
              <a:buNone/>
            </a:pPr>
            <a:r>
              <a:rPr lang="en-US" altLang="ko-KR" sz="1200" dirty="0" smtClean="0"/>
              <a:t>			</a:t>
            </a:r>
            <a:r>
              <a:rPr lang="en-US" altLang="ko-KR" sz="1200" dirty="0" err="1" smtClean="0"/>
              <a:t>System.out.println</a:t>
            </a:r>
            <a:r>
              <a:rPr lang="en-US" altLang="ko-KR" sz="1200" dirty="0" smtClean="0"/>
              <a:t>("</a:t>
            </a:r>
            <a:r>
              <a:rPr lang="ko-KR" altLang="en-US" sz="1200" dirty="0" smtClean="0"/>
              <a:t>당신은 학점은 </a:t>
            </a:r>
            <a:r>
              <a:rPr lang="en-US" altLang="ko-KR" sz="1200" dirty="0" smtClean="0"/>
              <a:t>A</a:t>
            </a:r>
            <a:r>
              <a:rPr lang="ko-KR" altLang="en-US" sz="1200" dirty="0" smtClean="0"/>
              <a:t>입니다</a:t>
            </a:r>
            <a:r>
              <a:rPr lang="en-US" altLang="ko-KR" sz="1200" dirty="0" smtClean="0"/>
              <a:t>.");</a:t>
            </a:r>
          </a:p>
          <a:p>
            <a:pPr>
              <a:buNone/>
            </a:pPr>
            <a:r>
              <a:rPr lang="en-US" altLang="ko-KR" sz="1200" dirty="0" smtClean="0"/>
              <a:t>		}</a:t>
            </a:r>
          </a:p>
          <a:p>
            <a:pPr>
              <a:buNone/>
            </a:pPr>
            <a:r>
              <a:rPr lang="en-US" altLang="ko-KR" sz="1200" dirty="0" smtClean="0"/>
              <a:t>		else if(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&gt;= 80 &amp;&amp; 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&lt; 90) {</a:t>
            </a:r>
          </a:p>
          <a:p>
            <a:pPr>
              <a:buNone/>
            </a:pPr>
            <a:r>
              <a:rPr lang="en-US" altLang="ko-KR" sz="1200" dirty="0" smtClean="0"/>
              <a:t>			</a:t>
            </a:r>
            <a:r>
              <a:rPr lang="en-US" altLang="ko-KR" sz="1200" dirty="0" err="1" smtClean="0"/>
              <a:t>System.out.println</a:t>
            </a:r>
            <a:r>
              <a:rPr lang="en-US" altLang="ko-KR" sz="1200" dirty="0" smtClean="0"/>
              <a:t>("</a:t>
            </a:r>
            <a:r>
              <a:rPr lang="ko-KR" altLang="en-US" sz="1200" dirty="0" smtClean="0"/>
              <a:t>당신은 학점은 </a:t>
            </a:r>
            <a:r>
              <a:rPr lang="en-US" altLang="ko-KR" sz="1200" dirty="0" smtClean="0"/>
              <a:t>B</a:t>
            </a:r>
            <a:r>
              <a:rPr lang="ko-KR" altLang="en-US" sz="1200" dirty="0" smtClean="0"/>
              <a:t>입니다</a:t>
            </a:r>
            <a:r>
              <a:rPr lang="en-US" altLang="ko-KR" sz="1200" dirty="0" smtClean="0"/>
              <a:t>.");</a:t>
            </a:r>
          </a:p>
          <a:p>
            <a:pPr>
              <a:buNone/>
            </a:pPr>
            <a:r>
              <a:rPr lang="en-US" altLang="ko-KR" sz="1200" dirty="0" smtClean="0"/>
              <a:t>		}</a:t>
            </a:r>
          </a:p>
          <a:p>
            <a:pPr>
              <a:buNone/>
            </a:pPr>
            <a:r>
              <a:rPr lang="en-US" altLang="ko-KR" sz="1200" dirty="0" smtClean="0"/>
              <a:t>		else if(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&gt;= 70 &amp;&amp; 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&lt; 80) {</a:t>
            </a:r>
          </a:p>
          <a:p>
            <a:pPr>
              <a:buNone/>
            </a:pPr>
            <a:r>
              <a:rPr lang="en-US" altLang="ko-KR" sz="1200" dirty="0" smtClean="0"/>
              <a:t>			</a:t>
            </a:r>
            <a:r>
              <a:rPr lang="en-US" altLang="ko-KR" sz="1200" dirty="0" err="1" smtClean="0"/>
              <a:t>System.out.println</a:t>
            </a:r>
            <a:r>
              <a:rPr lang="en-US" altLang="ko-KR" sz="1200" dirty="0" smtClean="0"/>
              <a:t>("</a:t>
            </a:r>
            <a:r>
              <a:rPr lang="ko-KR" altLang="en-US" sz="1200" dirty="0" smtClean="0"/>
              <a:t>당신은 학점은 </a:t>
            </a:r>
            <a:r>
              <a:rPr lang="en-US" altLang="ko-KR" sz="1200" dirty="0" smtClean="0"/>
              <a:t>C</a:t>
            </a:r>
            <a:r>
              <a:rPr lang="ko-KR" altLang="en-US" sz="1200" dirty="0" smtClean="0"/>
              <a:t>입니다</a:t>
            </a:r>
            <a:r>
              <a:rPr lang="en-US" altLang="ko-KR" sz="1200" dirty="0" smtClean="0"/>
              <a:t>.");</a:t>
            </a:r>
          </a:p>
          <a:p>
            <a:pPr>
              <a:buNone/>
            </a:pPr>
            <a:r>
              <a:rPr lang="en-US" altLang="ko-KR" sz="1200" dirty="0" smtClean="0"/>
              <a:t>		}</a:t>
            </a:r>
          </a:p>
          <a:p>
            <a:pPr>
              <a:buNone/>
            </a:pPr>
            <a:r>
              <a:rPr lang="en-US" altLang="ko-KR" sz="1200" dirty="0" smtClean="0"/>
              <a:t>		else if(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&gt;= 60 &amp;&amp; 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&lt; 70) {</a:t>
            </a:r>
          </a:p>
          <a:p>
            <a:pPr>
              <a:buNone/>
            </a:pPr>
            <a:r>
              <a:rPr lang="en-US" altLang="ko-KR" sz="1200" dirty="0" smtClean="0"/>
              <a:t>			</a:t>
            </a:r>
            <a:r>
              <a:rPr lang="en-US" altLang="ko-KR" sz="1200" dirty="0" err="1" smtClean="0"/>
              <a:t>System.out.println</a:t>
            </a:r>
            <a:r>
              <a:rPr lang="en-US" altLang="ko-KR" sz="1200" dirty="0" smtClean="0"/>
              <a:t>("</a:t>
            </a:r>
            <a:r>
              <a:rPr lang="ko-KR" altLang="en-US" sz="1200" dirty="0" smtClean="0"/>
              <a:t>당신은 학점은 </a:t>
            </a:r>
            <a:r>
              <a:rPr lang="en-US" altLang="ko-KR" sz="1200" dirty="0" smtClean="0"/>
              <a:t>D</a:t>
            </a:r>
            <a:r>
              <a:rPr lang="ko-KR" altLang="en-US" sz="1200" dirty="0" smtClean="0"/>
              <a:t>입니다</a:t>
            </a:r>
            <a:r>
              <a:rPr lang="en-US" altLang="ko-KR" sz="1200" dirty="0" smtClean="0"/>
              <a:t>.");</a:t>
            </a:r>
          </a:p>
          <a:p>
            <a:pPr>
              <a:buNone/>
            </a:pPr>
            <a:r>
              <a:rPr lang="en-US" altLang="ko-KR" sz="1200" dirty="0" smtClean="0"/>
              <a:t>		}</a:t>
            </a:r>
          </a:p>
          <a:p>
            <a:pPr>
              <a:buNone/>
            </a:pPr>
            <a:r>
              <a:rPr lang="en-US" altLang="ko-KR" sz="1200" dirty="0" smtClean="0"/>
              <a:t>		else if(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&gt;= 0 &amp;&amp; </a:t>
            </a:r>
            <a:r>
              <a:rPr lang="en-US" altLang="ko-KR" sz="1200" dirty="0" err="1" smtClean="0"/>
              <a:t>jumsu</a:t>
            </a:r>
            <a:r>
              <a:rPr lang="en-US" altLang="ko-KR" sz="1200" dirty="0" smtClean="0"/>
              <a:t> &lt; 60) {</a:t>
            </a:r>
          </a:p>
          <a:p>
            <a:pPr>
              <a:buNone/>
            </a:pPr>
            <a:r>
              <a:rPr lang="en-US" altLang="ko-KR" sz="1200" dirty="0" smtClean="0"/>
              <a:t>			</a:t>
            </a:r>
            <a:r>
              <a:rPr lang="en-US" altLang="ko-KR" sz="1200" dirty="0" err="1" smtClean="0"/>
              <a:t>System.out.println</a:t>
            </a:r>
            <a:r>
              <a:rPr lang="en-US" altLang="ko-KR" sz="1200" dirty="0" smtClean="0"/>
              <a:t>("</a:t>
            </a:r>
            <a:r>
              <a:rPr lang="ko-KR" altLang="en-US" sz="1200" dirty="0" smtClean="0"/>
              <a:t>당신은 학점은 </a:t>
            </a:r>
            <a:r>
              <a:rPr lang="en-US" altLang="ko-KR" sz="1200" dirty="0" smtClean="0"/>
              <a:t>F</a:t>
            </a:r>
            <a:r>
              <a:rPr lang="ko-KR" altLang="en-US" sz="1200" dirty="0" smtClean="0"/>
              <a:t>입니다</a:t>
            </a:r>
            <a:r>
              <a:rPr lang="en-US" altLang="ko-KR" sz="1200" dirty="0" smtClean="0"/>
              <a:t>.");</a:t>
            </a:r>
          </a:p>
          <a:p>
            <a:pPr>
              <a:buNone/>
            </a:pPr>
            <a:r>
              <a:rPr lang="en-US" altLang="ko-KR" sz="1200" dirty="0" smtClean="0"/>
              <a:t>		}</a:t>
            </a:r>
          </a:p>
          <a:p>
            <a:pPr>
              <a:buNone/>
            </a:pPr>
            <a:r>
              <a:rPr lang="en-US" altLang="ko-KR" sz="1200" dirty="0" smtClean="0"/>
              <a:t>		else {</a:t>
            </a:r>
          </a:p>
          <a:p>
            <a:pPr>
              <a:buNone/>
            </a:pPr>
            <a:r>
              <a:rPr lang="en-US" altLang="ko-KR" sz="1200" dirty="0" smtClean="0"/>
              <a:t>			</a:t>
            </a:r>
            <a:r>
              <a:rPr lang="en-US" altLang="ko-KR" sz="1200" dirty="0" err="1" smtClean="0"/>
              <a:t>System.out.println</a:t>
            </a:r>
            <a:r>
              <a:rPr lang="en-US" altLang="ko-KR" sz="1200" dirty="0" smtClean="0"/>
              <a:t>("</a:t>
            </a:r>
            <a:r>
              <a:rPr lang="ko-KR" altLang="en-US" sz="1200" dirty="0" smtClean="0"/>
              <a:t>잘못된 점수입니다</a:t>
            </a:r>
            <a:r>
              <a:rPr lang="en-US" altLang="ko-KR" sz="1200" dirty="0" smtClean="0"/>
              <a:t>.");</a:t>
            </a:r>
          </a:p>
          <a:p>
            <a:pPr>
              <a:buNone/>
            </a:pPr>
            <a:r>
              <a:rPr lang="en-US" altLang="ko-KR" sz="1200" dirty="0" smtClean="0"/>
              <a:t>		}		</a:t>
            </a:r>
          </a:p>
          <a:p>
            <a:pPr>
              <a:buNone/>
            </a:pPr>
            <a:r>
              <a:rPr lang="en-US" altLang="ko-KR" sz="1200" dirty="0" smtClean="0"/>
              <a:t>	}</a:t>
            </a:r>
          </a:p>
          <a:p>
            <a:pPr>
              <a:buNone/>
            </a:pPr>
            <a:r>
              <a:rPr lang="en-US" altLang="ko-KR" sz="12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74235" r="71060" b="17144"/>
          <a:stretch>
            <a:fillRect/>
          </a:stretch>
        </p:blipFill>
        <p:spPr bwMode="auto">
          <a:xfrm>
            <a:off x="5580112" y="1052736"/>
            <a:ext cx="3096344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선택 처리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조건 분기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384315"/>
            <a:ext cx="7776864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swich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-case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switch(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수식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case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값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1;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break;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case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값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2;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break;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default: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break;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주의 사항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수식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(expression) –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결과가 정수형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문자형 포함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이어야 함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,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논리형 사용 못 함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case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문의 값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오로지 한 개의 값 사용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처리내용이 여러 개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중괄호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({ })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사용 안 함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break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- switch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블록을 빠져 나오게 되며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없으면 다음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case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문으로 계속 넘어 감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default 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 </a:t>
            </a: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– case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문에서 일치하는 값이 없을 경우 수행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if ~ else</a:t>
            </a:r>
            <a:r>
              <a:rPr kumimoji="1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로 변환 가능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(SwitchTest.java)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import </a:t>
            </a:r>
            <a:r>
              <a:rPr lang="en-US" altLang="ko-KR" sz="1400" dirty="0" err="1" smtClean="0"/>
              <a:t>java.util</a:t>
            </a:r>
            <a:r>
              <a:rPr lang="en-US" altLang="ko-KR" sz="1400" dirty="0" smtClean="0"/>
              <a:t>.*;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class </a:t>
            </a:r>
            <a:r>
              <a:rPr lang="en-US" altLang="ko-KR" sz="1400" dirty="0" err="1" smtClean="0"/>
              <a:t>SwitchTest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= 0;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	Scanner </a:t>
            </a:r>
            <a:r>
              <a:rPr lang="en-US" altLang="ko-KR" sz="1400" dirty="0" err="1" smtClean="0"/>
              <a:t>scanner</a:t>
            </a:r>
            <a:r>
              <a:rPr lang="en-US" altLang="ko-KR" sz="1400" dirty="0" smtClean="0"/>
              <a:t> = new Scanner(</a:t>
            </a:r>
            <a:r>
              <a:rPr lang="en-US" altLang="ko-KR" sz="1400" dirty="0" err="1" smtClean="0"/>
              <a:t>System.in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임의의 숫자를 입력하세요</a:t>
            </a:r>
            <a:r>
              <a:rPr lang="en-US" altLang="ko-KR" sz="1400" dirty="0" smtClean="0"/>
              <a:t>: ");</a:t>
            </a:r>
          </a:p>
          <a:p>
            <a:pPr>
              <a:buNone/>
            </a:pPr>
            <a:r>
              <a:rPr lang="en-US" altLang="ko-KR" sz="1400" dirty="0" smtClean="0"/>
              <a:t>		// Enter</a:t>
            </a:r>
            <a:r>
              <a:rPr lang="ko-KR" altLang="en-US" sz="1400" dirty="0" smtClean="0"/>
              <a:t>를 누를 때까지의 내용을 정수로 변환해서 </a:t>
            </a:r>
            <a:r>
              <a:rPr lang="en-US" altLang="ko-KR" sz="1400" dirty="0" smtClean="0"/>
              <a:t>n</a:t>
            </a:r>
            <a:r>
              <a:rPr lang="ko-KR" altLang="en-US" sz="1400" dirty="0" smtClean="0"/>
              <a:t>에 대입</a:t>
            </a:r>
          </a:p>
          <a:p>
            <a:pPr>
              <a:buNone/>
            </a:pPr>
            <a:r>
              <a:rPr lang="ko-KR" altLang="en-US" sz="1400" dirty="0" smtClean="0"/>
              <a:t>		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= </a:t>
            </a:r>
            <a:r>
              <a:rPr lang="en-US" altLang="ko-KR" sz="1400" dirty="0" err="1" smtClean="0"/>
              <a:t>scanner.nextInt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점수</a:t>
            </a:r>
            <a:r>
              <a:rPr lang="en-US" altLang="ko-KR" sz="1400" dirty="0" smtClean="0"/>
              <a:t>:" +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scanner.close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15356" t="77265" r="65154" b="14402"/>
          <a:stretch>
            <a:fillRect/>
          </a:stretch>
        </p:blipFill>
        <p:spPr bwMode="auto">
          <a:xfrm>
            <a:off x="5580112" y="1556792"/>
            <a:ext cx="2880320" cy="149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(SwitchTest.java)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		char grade;</a:t>
            </a:r>
          </a:p>
          <a:p>
            <a:pPr>
              <a:buNone/>
            </a:pPr>
            <a:r>
              <a:rPr lang="en-US" altLang="ko-KR" sz="1400" dirty="0" smtClean="0"/>
              <a:t>		switch (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/ 10) {</a:t>
            </a:r>
          </a:p>
          <a:p>
            <a:pPr>
              <a:buNone/>
            </a:pPr>
            <a:r>
              <a:rPr lang="en-US" altLang="ko-KR" sz="1400" dirty="0" smtClean="0"/>
              <a:t>		case 10:</a:t>
            </a:r>
          </a:p>
          <a:p>
            <a:pPr>
              <a:buNone/>
            </a:pPr>
            <a:r>
              <a:rPr lang="en-US" altLang="ko-KR" sz="1400" dirty="0" smtClean="0"/>
              <a:t>		case 9:</a:t>
            </a:r>
          </a:p>
          <a:p>
            <a:pPr>
              <a:buNone/>
            </a:pPr>
            <a:r>
              <a:rPr lang="en-US" altLang="ko-KR" sz="1400" dirty="0" smtClean="0"/>
              <a:t>			grade = 'A';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입력된 점수 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+ "</a:t>
            </a:r>
            <a:r>
              <a:rPr lang="ko-KR" altLang="en-US" sz="1400" dirty="0" smtClean="0"/>
              <a:t>점은  </a:t>
            </a:r>
            <a:r>
              <a:rPr lang="en-US" altLang="ko-KR" sz="1400" dirty="0" smtClean="0"/>
              <a:t>" + grade + "</a:t>
            </a:r>
            <a:r>
              <a:rPr lang="ko-KR" altLang="en-US" sz="1400" dirty="0" smtClean="0"/>
              <a:t>학점 입니다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		break;</a:t>
            </a:r>
          </a:p>
          <a:p>
            <a:pPr>
              <a:buNone/>
            </a:pPr>
            <a:r>
              <a:rPr lang="en-US" altLang="ko-KR" sz="1400" dirty="0" smtClean="0"/>
              <a:t>		case 8:</a:t>
            </a:r>
          </a:p>
          <a:p>
            <a:pPr>
              <a:buNone/>
            </a:pPr>
            <a:r>
              <a:rPr lang="en-US" altLang="ko-KR" sz="1400" dirty="0" smtClean="0"/>
              <a:t>			grade = 'B';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입력된 점수 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+ "</a:t>
            </a:r>
            <a:r>
              <a:rPr lang="ko-KR" altLang="en-US" sz="1400" dirty="0" smtClean="0"/>
              <a:t>점은  </a:t>
            </a:r>
            <a:r>
              <a:rPr lang="en-US" altLang="ko-KR" sz="1400" dirty="0" smtClean="0"/>
              <a:t>" + grade + "</a:t>
            </a:r>
            <a:r>
              <a:rPr lang="ko-KR" altLang="en-US" sz="1400" dirty="0" smtClean="0"/>
              <a:t>학점 입니다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		break;</a:t>
            </a:r>
          </a:p>
          <a:p>
            <a:pPr>
              <a:buNone/>
            </a:pPr>
            <a:r>
              <a:rPr lang="en-US" altLang="ko-KR" sz="1400" dirty="0" smtClean="0"/>
              <a:t>		case 7:</a:t>
            </a:r>
          </a:p>
          <a:p>
            <a:pPr>
              <a:buNone/>
            </a:pPr>
            <a:r>
              <a:rPr lang="en-US" altLang="ko-KR" sz="1400" dirty="0" smtClean="0"/>
              <a:t>			grade = 'C';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입력된 점수 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+ "</a:t>
            </a:r>
            <a:r>
              <a:rPr lang="ko-KR" altLang="en-US" sz="1400" dirty="0" smtClean="0"/>
              <a:t>점은  </a:t>
            </a:r>
            <a:r>
              <a:rPr lang="en-US" altLang="ko-KR" sz="1400" dirty="0" smtClean="0"/>
              <a:t>" + grade + "</a:t>
            </a:r>
            <a:r>
              <a:rPr lang="ko-KR" altLang="en-US" sz="1400" dirty="0" smtClean="0"/>
              <a:t>학점 입니다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		break;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(SwitchTest.java)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20087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		case 6:</a:t>
            </a:r>
          </a:p>
          <a:p>
            <a:pPr>
              <a:buNone/>
            </a:pPr>
            <a:r>
              <a:rPr lang="en-US" altLang="ko-KR" sz="1400" dirty="0" smtClean="0"/>
              <a:t>			grade = 'D';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입력된 점수 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+ "</a:t>
            </a:r>
            <a:r>
              <a:rPr lang="ko-KR" altLang="en-US" sz="1400" dirty="0" smtClean="0"/>
              <a:t>점은  </a:t>
            </a:r>
            <a:r>
              <a:rPr lang="en-US" altLang="ko-KR" sz="1400" dirty="0" smtClean="0"/>
              <a:t>" + grade + "</a:t>
            </a:r>
            <a:r>
              <a:rPr lang="ko-KR" altLang="en-US" sz="1400" dirty="0" smtClean="0"/>
              <a:t>학점 입니다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		break;</a:t>
            </a:r>
          </a:p>
          <a:p>
            <a:pPr>
              <a:buNone/>
            </a:pPr>
            <a:r>
              <a:rPr lang="en-US" altLang="ko-KR" sz="1400" dirty="0" smtClean="0"/>
              <a:t>		case 5:</a:t>
            </a:r>
          </a:p>
          <a:p>
            <a:pPr>
              <a:buNone/>
            </a:pPr>
            <a:r>
              <a:rPr lang="en-US" altLang="ko-KR" sz="1400" dirty="0" smtClean="0"/>
              <a:t>		case 4:</a:t>
            </a:r>
          </a:p>
          <a:p>
            <a:pPr>
              <a:buNone/>
            </a:pPr>
            <a:r>
              <a:rPr lang="en-US" altLang="ko-KR" sz="1400" dirty="0" smtClean="0"/>
              <a:t>		case 3:</a:t>
            </a:r>
          </a:p>
          <a:p>
            <a:pPr>
              <a:buNone/>
            </a:pPr>
            <a:r>
              <a:rPr lang="en-US" altLang="ko-KR" sz="1400" dirty="0" smtClean="0"/>
              <a:t>		case 2:</a:t>
            </a:r>
          </a:p>
          <a:p>
            <a:pPr>
              <a:buNone/>
            </a:pPr>
            <a:r>
              <a:rPr lang="en-US" altLang="ko-KR" sz="1400" dirty="0" smtClean="0"/>
              <a:t>		case 1:</a:t>
            </a:r>
          </a:p>
          <a:p>
            <a:pPr>
              <a:buNone/>
            </a:pPr>
            <a:r>
              <a:rPr lang="en-US" altLang="ko-KR" sz="1400" dirty="0" smtClean="0"/>
              <a:t>		case 0:</a:t>
            </a:r>
          </a:p>
          <a:p>
            <a:pPr>
              <a:buNone/>
            </a:pPr>
            <a:r>
              <a:rPr lang="en-US" altLang="ko-KR" sz="1400" dirty="0" smtClean="0"/>
              <a:t>			grade = 'F';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입력된 점수 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jumsu</a:t>
            </a:r>
            <a:r>
              <a:rPr lang="en-US" altLang="ko-KR" sz="1400" dirty="0" smtClean="0"/>
              <a:t> + "</a:t>
            </a:r>
            <a:r>
              <a:rPr lang="ko-KR" altLang="en-US" sz="1400" dirty="0" smtClean="0"/>
              <a:t>점은  </a:t>
            </a:r>
            <a:r>
              <a:rPr lang="en-US" altLang="ko-KR" sz="1400" dirty="0" smtClean="0"/>
              <a:t>" + grade + "</a:t>
            </a:r>
            <a:r>
              <a:rPr lang="ko-KR" altLang="en-US" sz="1400" dirty="0" smtClean="0"/>
              <a:t>학점 입니다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		break;</a:t>
            </a:r>
          </a:p>
          <a:p>
            <a:pPr>
              <a:buNone/>
            </a:pPr>
            <a:r>
              <a:rPr lang="en-US" altLang="ko-KR" sz="1400" dirty="0" smtClean="0"/>
              <a:t>		default: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잘못된 점수 입력입니다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반복</a:t>
            </a:r>
            <a:r>
              <a:rPr lang="en-US" altLang="ko-KR" dirty="0" smtClean="0"/>
              <a:t>(Loop)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463878"/>
            <a:ext cx="7776864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while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while(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처리 내용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 경우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Block({ })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내의 처리 내용을 실행하고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조건식으로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이동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false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 경우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Block({ })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내의 처리 내용을 처리하지 않고 빠져 나옴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  <a:endParaRPr kumimoji="1" lang="en-US" altLang="ko-KR" sz="1600" b="1" dirty="0" err="1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(WhileTest.java)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WhileTest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a=0;</a:t>
            </a:r>
          </a:p>
          <a:p>
            <a:pPr>
              <a:buNone/>
            </a:pPr>
            <a:r>
              <a:rPr lang="en-US" altLang="ko-KR" sz="1400" dirty="0" smtClean="0"/>
              <a:t>		while(a &lt; 10)</a:t>
            </a:r>
          </a:p>
          <a:p>
            <a:pPr>
              <a:buNone/>
            </a:pPr>
            <a:r>
              <a:rPr lang="en-US" altLang="ko-KR" sz="1400" dirty="0" smtClean="0"/>
              <a:t>		{</a:t>
            </a:r>
          </a:p>
          <a:p>
            <a:pPr>
              <a:buNone/>
            </a:pPr>
            <a:r>
              <a:rPr lang="en-US" altLang="ko-KR" sz="1400" dirty="0" smtClean="0"/>
              <a:t>			a++;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("a=" + a);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49995" r="78738" b="28037"/>
          <a:stretch>
            <a:fillRect/>
          </a:stretch>
        </p:blipFill>
        <p:spPr bwMode="auto">
          <a:xfrm>
            <a:off x="5436096" y="1412776"/>
            <a:ext cx="2448272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반복</a:t>
            </a:r>
            <a:r>
              <a:rPr lang="en-US" altLang="ko-KR" dirty="0" smtClean="0"/>
              <a:t>(Loop)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827584" y="1556792"/>
            <a:ext cx="7776864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do while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do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문장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   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문장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while(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적어도 한번은 무조건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Block({ })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내의 문장을 실행합니다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true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 경우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Block({ })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내의 처음으로 이동해서 문장을 수행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조건식이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false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일 경우 빠져 나오게 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while(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뒤에 반듯이 세미콜론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(;)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을 해야 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(DoWhileTest.java)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DoWhileTest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a=0;</a:t>
            </a:r>
          </a:p>
          <a:p>
            <a:pPr>
              <a:buNone/>
            </a:pPr>
            <a:r>
              <a:rPr lang="en-US" altLang="ko-KR" sz="1400" dirty="0" smtClean="0"/>
              <a:t>		do</a:t>
            </a:r>
          </a:p>
          <a:p>
            <a:pPr>
              <a:buNone/>
            </a:pPr>
            <a:r>
              <a:rPr lang="en-US" altLang="ko-KR" sz="1400" dirty="0" smtClean="0"/>
              <a:t>		{</a:t>
            </a:r>
          </a:p>
          <a:p>
            <a:pPr>
              <a:buNone/>
            </a:pPr>
            <a:r>
              <a:rPr lang="en-US" altLang="ko-KR" sz="1400" dirty="0" smtClean="0"/>
              <a:t>			a++;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("a=" + a);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while(a &lt; 10);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49995" r="78738" b="28037"/>
          <a:stretch>
            <a:fillRect/>
          </a:stretch>
        </p:blipFill>
        <p:spPr bwMode="auto">
          <a:xfrm>
            <a:off x="5436096" y="1412776"/>
            <a:ext cx="2448272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반복</a:t>
            </a:r>
            <a:r>
              <a:rPr lang="en-US" altLang="ko-KR" dirty="0" smtClean="0"/>
              <a:t>(Loop)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827584" y="1552716"/>
            <a:ext cx="777686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for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 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형식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for (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초기식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증감식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)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{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문장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   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문장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}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초기식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: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맨 처음 한번만 수행하고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조건식으로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이동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조건식을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만족하면 블록내의 문장들을 처리하고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증감식에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따라 증감한 후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조건식을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다시 비교해서 참이면 블록내의 문장을 처리하고 그렇지 않으면 블록내의 문장을 처리하지 않습니다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모든 식은 생략 가능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(ForTest.java)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ForTest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for(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a=1;a&lt;=10;a++)</a:t>
            </a:r>
          </a:p>
          <a:p>
            <a:pPr>
              <a:buNone/>
            </a:pPr>
            <a:r>
              <a:rPr lang="en-US" altLang="ko-KR" sz="1400" dirty="0" smtClean="0"/>
              <a:t>		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("a=" + a);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49995" r="78738" b="28037"/>
          <a:stretch>
            <a:fillRect/>
          </a:stretch>
        </p:blipFill>
        <p:spPr bwMode="auto">
          <a:xfrm>
            <a:off x="5436096" y="1412776"/>
            <a:ext cx="2448272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반복</a:t>
            </a:r>
            <a:r>
              <a:rPr lang="en-US" altLang="ko-KR" dirty="0" smtClean="0"/>
              <a:t>(Loop)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755576" y="1484784"/>
            <a:ext cx="777686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무한 반복 만들기</a:t>
            </a:r>
            <a:endParaRPr kumimoji="1" lang="en-US" altLang="ko-KR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while(true){ }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do{ }while(true)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for(; ; ){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4. </a:t>
            </a:r>
            <a:r>
              <a:rPr lang="ko-KR" altLang="en-US" dirty="0" smtClean="0"/>
              <a:t>기타 </a:t>
            </a:r>
            <a:r>
              <a:rPr lang="ko-KR" altLang="en-US" dirty="0" err="1" smtClean="0"/>
              <a:t>제어문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827584" y="1628800"/>
            <a:ext cx="7776864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제어문은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중첩해서 사용할 수 있습니다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제어문이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중첩되면 안쪽의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제어문이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먼저 수행되고 바깥쪽의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제어문이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나중에 수행됩니다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반복문의 경우 라벨을 설정한 후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break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나 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continue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뒤에 라벨 이름을 입력해서 특정 라벨의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반복문을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중지시키거나 반복을 계속 수행할 수 있도록 할 수 있습니다</a:t>
            </a: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break: switch 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문이나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반복문에서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탈출하는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제어문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1" lang="en-US" altLang="ko-KR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continue: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반복문에서</a:t>
            </a:r>
            <a:r>
              <a:rPr kumimoji="1" lang="ko-KR" altLang="en-US" sz="16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 이하 문장을 수행하지 않고 다음 반복으로 건너 뛰는 </a:t>
            </a:r>
            <a:r>
              <a:rPr kumimoji="1" lang="ko-KR" altLang="en-US" sz="1600" b="1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굴림체" pitchFamily="49" charset="-127"/>
              </a:rPr>
              <a:t>제어문</a:t>
            </a:r>
            <a:endParaRPr kumimoji="1" lang="ko-KR" altLang="en-US" sz="1600" b="1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굴림체" pitchFamily="49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(BreakContinue.java)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</a:t>
            </a:r>
            <a:r>
              <a:rPr lang="en-US" altLang="ko-KR" sz="1400" dirty="0" err="1" smtClean="0"/>
              <a:t>public</a:t>
            </a:r>
            <a:r>
              <a:rPr lang="en-US" altLang="ko-KR" sz="1400" dirty="0" smtClean="0"/>
              <a:t> class </a:t>
            </a:r>
            <a:r>
              <a:rPr lang="en-US" altLang="ko-KR" sz="1400" dirty="0" err="1" smtClean="0"/>
              <a:t>BreakContinue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sum = 0;</a:t>
            </a:r>
          </a:p>
          <a:p>
            <a:pPr>
              <a:buNone/>
            </a:pPr>
            <a:r>
              <a:rPr lang="en-US" altLang="ko-KR" sz="1400" dirty="0" smtClean="0"/>
              <a:t>		for(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=1;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&lt;=10;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++){</a:t>
            </a:r>
          </a:p>
          <a:p>
            <a:pPr>
              <a:buNone/>
            </a:pPr>
            <a:r>
              <a:rPr lang="en-US" altLang="ko-KR" sz="1400" dirty="0" smtClean="0"/>
              <a:t>			if(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% 3 == 0){</a:t>
            </a:r>
          </a:p>
          <a:p>
            <a:pPr>
              <a:buNone/>
            </a:pPr>
            <a:r>
              <a:rPr lang="en-US" altLang="ko-KR" sz="1400" dirty="0" smtClean="0"/>
              <a:t>				break;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	sum = sum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("Break Sum</a:t>
            </a:r>
            <a:r>
              <a:rPr lang="ko-KR" altLang="en-US" sz="1400" dirty="0" smtClean="0"/>
              <a:t>의 합</a:t>
            </a:r>
            <a:r>
              <a:rPr lang="en-US" altLang="ko-KR" sz="1400" dirty="0" smtClean="0"/>
              <a:t>" + sum);</a:t>
            </a:r>
          </a:p>
          <a:p>
            <a:pPr>
              <a:buNone/>
            </a:pPr>
            <a:r>
              <a:rPr lang="en-US" altLang="ko-KR" sz="1400" dirty="0" smtClean="0"/>
              <a:t>		sum = 0;</a:t>
            </a:r>
          </a:p>
          <a:p>
            <a:pPr>
              <a:buNone/>
            </a:pPr>
            <a:r>
              <a:rPr lang="en-US" altLang="ko-KR" sz="1400" dirty="0" smtClean="0"/>
              <a:t>		for(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=1;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&lt;=10;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++){</a:t>
            </a:r>
          </a:p>
          <a:p>
            <a:pPr>
              <a:buNone/>
            </a:pPr>
            <a:r>
              <a:rPr lang="en-US" altLang="ko-KR" sz="1400" dirty="0" smtClean="0"/>
              <a:t>			if(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% 3 == 0){</a:t>
            </a:r>
          </a:p>
          <a:p>
            <a:pPr>
              <a:buNone/>
            </a:pPr>
            <a:r>
              <a:rPr lang="en-US" altLang="ko-KR" sz="1400" dirty="0" smtClean="0"/>
              <a:t>				continue;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	sum = sum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("Continue Sum</a:t>
            </a:r>
            <a:r>
              <a:rPr lang="ko-KR" altLang="en-US" sz="1400" dirty="0" smtClean="0"/>
              <a:t>의 합</a:t>
            </a:r>
            <a:r>
              <a:rPr lang="en-US" altLang="ko-KR" sz="1400" dirty="0" smtClean="0"/>
              <a:t>" + sum);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49995" r="71060" b="40915"/>
          <a:stretch>
            <a:fillRect/>
          </a:stretch>
        </p:blipFill>
        <p:spPr bwMode="auto">
          <a:xfrm>
            <a:off x="4499992" y="1484784"/>
            <a:ext cx="3672408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(Gugudan.java)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Gugudan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for(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dan</a:t>
            </a:r>
            <a:r>
              <a:rPr lang="en-US" altLang="ko-KR" sz="1400" dirty="0" smtClean="0"/>
              <a:t>=2; </a:t>
            </a:r>
            <a:r>
              <a:rPr lang="en-US" altLang="ko-KR" sz="1400" dirty="0" err="1" smtClean="0"/>
              <a:t>dan</a:t>
            </a:r>
            <a:r>
              <a:rPr lang="en-US" altLang="ko-KR" sz="1400" dirty="0" smtClean="0"/>
              <a:t>&lt;10; </a:t>
            </a:r>
            <a:r>
              <a:rPr lang="en-US" altLang="ko-KR" sz="1400" dirty="0" err="1" smtClean="0"/>
              <a:t>dan</a:t>
            </a:r>
            <a:r>
              <a:rPr lang="en-US" altLang="ko-KR" sz="1400" dirty="0" smtClean="0"/>
              <a:t>++)</a:t>
            </a:r>
          </a:p>
          <a:p>
            <a:pPr>
              <a:buNone/>
            </a:pPr>
            <a:r>
              <a:rPr lang="en-US" altLang="ko-KR" sz="1400" dirty="0" smtClean="0"/>
              <a:t>		{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("[" + </a:t>
            </a:r>
            <a:r>
              <a:rPr lang="en-US" altLang="ko-KR" sz="1400" dirty="0" err="1" smtClean="0"/>
              <a:t>dan</a:t>
            </a:r>
            <a:r>
              <a:rPr lang="en-US" altLang="ko-KR" sz="1400" dirty="0" smtClean="0"/>
              <a:t> + "]</a:t>
            </a:r>
            <a:r>
              <a:rPr lang="ko-KR" altLang="en-US" sz="1400" dirty="0" smtClean="0"/>
              <a:t>단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	for(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su</a:t>
            </a:r>
            <a:r>
              <a:rPr lang="en-US" altLang="ko-KR" sz="1400" dirty="0" smtClean="0"/>
              <a:t>=1; </a:t>
            </a:r>
            <a:r>
              <a:rPr lang="en-US" altLang="ko-KR" sz="1400" dirty="0" err="1" smtClean="0"/>
              <a:t>su</a:t>
            </a:r>
            <a:r>
              <a:rPr lang="en-US" altLang="ko-KR" sz="1400" dirty="0" smtClean="0"/>
              <a:t>&lt;10; </a:t>
            </a:r>
            <a:r>
              <a:rPr lang="en-US" altLang="ko-KR" sz="1400" dirty="0" err="1" smtClean="0"/>
              <a:t>su</a:t>
            </a:r>
            <a:r>
              <a:rPr lang="en-US" altLang="ko-KR" sz="1400" dirty="0" smtClean="0"/>
              <a:t>++)</a:t>
            </a:r>
          </a:p>
          <a:p>
            <a:pPr>
              <a:buNone/>
            </a:pPr>
            <a:r>
              <a:rPr lang="en-US" altLang="ko-KR" sz="1400" dirty="0" smtClean="0"/>
              <a:t>			{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dan</a:t>
            </a:r>
            <a:r>
              <a:rPr lang="en-US" altLang="ko-KR" sz="1400" dirty="0" smtClean="0"/>
              <a:t> + "*" + </a:t>
            </a:r>
            <a:r>
              <a:rPr lang="en-US" altLang="ko-KR" sz="1400" dirty="0" err="1" smtClean="0"/>
              <a:t>su</a:t>
            </a:r>
            <a:r>
              <a:rPr lang="en-US" altLang="ko-KR" sz="1400" dirty="0" smtClean="0"/>
              <a:t> + "=" + (</a:t>
            </a:r>
            <a:r>
              <a:rPr lang="en-US" altLang="ko-KR" sz="1400" dirty="0" err="1" smtClean="0"/>
              <a:t>dan</a:t>
            </a:r>
            <a:r>
              <a:rPr lang="en-US" altLang="ko-KR" sz="1400" dirty="0" smtClean="0"/>
              <a:t>*</a:t>
            </a:r>
            <a:r>
              <a:rPr lang="en-US" altLang="ko-KR" sz="1400" dirty="0" err="1" smtClean="0"/>
              <a:t>su</a:t>
            </a:r>
            <a:r>
              <a:rPr lang="en-US" altLang="ko-KR" sz="1400" dirty="0" smtClean="0"/>
              <a:t>) + " ");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 l="14862" t="49995" r="44685" b="17432"/>
          <a:stretch>
            <a:fillRect/>
          </a:stretch>
        </p:blipFill>
        <p:spPr bwMode="auto">
          <a:xfrm>
            <a:off x="4355976" y="4077072"/>
            <a:ext cx="3851920" cy="2418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(BreakOuter.java 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BreakOuter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outLoop</a:t>
            </a:r>
            <a:r>
              <a:rPr lang="en-US" altLang="ko-KR" sz="1400" dirty="0" smtClean="0"/>
              <a:t>:</a:t>
            </a:r>
          </a:p>
          <a:p>
            <a:pPr>
              <a:buNone/>
            </a:pPr>
            <a:r>
              <a:rPr lang="en-US" altLang="ko-KR" sz="1400" dirty="0" smtClean="0"/>
              <a:t>			for(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&lt;3;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++){</a:t>
            </a:r>
          </a:p>
          <a:p>
            <a:pPr>
              <a:buNone/>
            </a:pPr>
            <a:r>
              <a:rPr lang="en-US" altLang="ko-KR" sz="1400" dirty="0" smtClean="0"/>
              <a:t>				for(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j=0; j&lt;3; j++){</a:t>
            </a:r>
          </a:p>
          <a:p>
            <a:pPr>
              <a:buNone/>
            </a:pPr>
            <a:r>
              <a:rPr lang="en-US" altLang="ko-KR" sz="1400" dirty="0" smtClean="0"/>
              <a:t>		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:"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+ "-j:" + j);</a:t>
            </a:r>
          </a:p>
          <a:p>
            <a:pPr>
              <a:buNone/>
            </a:pPr>
            <a:r>
              <a:rPr lang="en-US" altLang="ko-KR" sz="1400" dirty="0" smtClean="0"/>
              <a:t>					if(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==1 &amp;&amp; j==2)</a:t>
            </a:r>
          </a:p>
          <a:p>
            <a:pPr>
              <a:buNone/>
            </a:pPr>
            <a:r>
              <a:rPr lang="en-US" altLang="ko-KR" sz="1400" dirty="0" smtClean="0"/>
              <a:t>						break </a:t>
            </a:r>
            <a:r>
              <a:rPr lang="en-US" altLang="ko-KR" sz="1400" dirty="0" err="1" smtClean="0"/>
              <a:t>outLoop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				}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49995" r="74604" b="32582"/>
          <a:stretch>
            <a:fillRect/>
          </a:stretch>
        </p:blipFill>
        <p:spPr bwMode="auto">
          <a:xfrm>
            <a:off x="6660232" y="1052736"/>
            <a:ext cx="2016224" cy="1944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(ContinueOuter.java 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ContinueOuter</a:t>
            </a:r>
            <a:r>
              <a:rPr lang="en-US" altLang="ko-KR" sz="1400" dirty="0" smtClean="0"/>
              <a:t>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outLoop</a:t>
            </a:r>
            <a:r>
              <a:rPr lang="en-US" altLang="ko-KR" sz="1400" dirty="0" smtClean="0"/>
              <a:t>: for 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 3;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for 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j=0; j&lt;5; j++) {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:"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+ "-j:" + j);</a:t>
            </a:r>
          </a:p>
          <a:p>
            <a:pPr>
              <a:buNone/>
            </a:pPr>
            <a:r>
              <a:rPr lang="en-US" altLang="ko-KR" sz="1400" dirty="0" smtClean="0"/>
              <a:t>				if (j == 2)</a:t>
            </a:r>
          </a:p>
          <a:p>
            <a:pPr>
              <a:buNone/>
            </a:pPr>
            <a:r>
              <a:rPr lang="en-US" altLang="ko-KR" sz="1400" dirty="0" smtClean="0"/>
              <a:t>					continue </a:t>
            </a:r>
            <a:r>
              <a:rPr lang="en-US" altLang="ko-KR" sz="1400" dirty="0" err="1" smtClean="0"/>
              <a:t>outLoop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49995" r="77557" b="28795"/>
          <a:stretch>
            <a:fillRect/>
          </a:stretch>
        </p:blipFill>
        <p:spPr bwMode="auto">
          <a:xfrm>
            <a:off x="4355976" y="3645024"/>
            <a:ext cx="3384376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(Star.java)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Star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{</a:t>
            </a:r>
          </a:p>
          <a:p>
            <a:pPr>
              <a:buNone/>
            </a:pPr>
            <a:r>
              <a:rPr lang="en-US" altLang="ko-KR" sz="1400" dirty="0" smtClean="0"/>
              <a:t>		for 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1;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&lt;= 5;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for 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j = 1; j &lt;= 5; j++) {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("*");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();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49995" r="79329" b="35143"/>
          <a:stretch>
            <a:fillRect/>
          </a:stretch>
        </p:blipFill>
        <p:spPr bwMode="auto">
          <a:xfrm>
            <a:off x="6444208" y="1052736"/>
            <a:ext cx="1728192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실습</a:t>
            </a:r>
            <a:r>
              <a:rPr lang="en-US" altLang="ko-KR" sz="2800" dirty="0" smtClean="0"/>
              <a:t>(</a:t>
            </a:r>
            <a:r>
              <a:rPr lang="ko-KR" altLang="en-US" sz="2800" dirty="0" smtClean="0"/>
              <a:t>교번 처리 </a:t>
            </a:r>
            <a:r>
              <a:rPr lang="en-US" altLang="ko-KR" sz="2800" dirty="0" smtClean="0"/>
              <a:t>- Flag.java)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Flag 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{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hol</a:t>
            </a:r>
            <a:r>
              <a:rPr lang="en-US" altLang="ko-KR" sz="1400" dirty="0" smtClean="0"/>
              <a:t> = 0, </a:t>
            </a:r>
            <a:r>
              <a:rPr lang="en-US" altLang="ko-KR" sz="1400" dirty="0" err="1" smtClean="0"/>
              <a:t>jjak</a:t>
            </a:r>
            <a:r>
              <a:rPr lang="en-US" altLang="ko-KR" sz="1400" dirty="0" smtClean="0"/>
              <a:t> = 0;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flag = 0;</a:t>
            </a:r>
          </a:p>
          <a:p>
            <a:pPr>
              <a:buNone/>
            </a:pPr>
            <a:r>
              <a:rPr lang="en-US" altLang="ko-KR" sz="1400" dirty="0" smtClean="0"/>
              <a:t>		for 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= 1;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 &lt;= 10;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++) {</a:t>
            </a:r>
          </a:p>
          <a:p>
            <a:pPr>
              <a:buNone/>
            </a:pPr>
            <a:r>
              <a:rPr lang="en-US" altLang="ko-KR" sz="1400" dirty="0" smtClean="0"/>
              <a:t>			if (flag == 0) {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hol</a:t>
            </a:r>
            <a:r>
              <a:rPr lang="en-US" altLang="ko-KR" sz="1400" dirty="0" smtClean="0"/>
              <a:t> = </a:t>
            </a:r>
            <a:r>
              <a:rPr lang="en-US" altLang="ko-KR" sz="1400" dirty="0" err="1" smtClean="0"/>
              <a:t>hol</a:t>
            </a:r>
            <a:r>
              <a:rPr lang="en-US" altLang="ko-KR" sz="1400" dirty="0" smtClean="0"/>
              <a:t>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				flag = 1;</a:t>
            </a:r>
          </a:p>
          <a:p>
            <a:pPr>
              <a:buNone/>
            </a:pPr>
            <a:r>
              <a:rPr lang="en-US" altLang="ko-KR" sz="1400" dirty="0" smtClean="0"/>
              <a:t>			} else {</a:t>
            </a:r>
          </a:p>
          <a:p>
            <a:pPr>
              <a:buNone/>
            </a:pPr>
            <a:r>
              <a:rPr lang="en-US" altLang="ko-KR" sz="1400" dirty="0" smtClean="0"/>
              <a:t>				</a:t>
            </a:r>
            <a:r>
              <a:rPr lang="en-US" altLang="ko-KR" sz="1400" dirty="0" err="1" smtClean="0"/>
              <a:t>jjak</a:t>
            </a:r>
            <a:r>
              <a:rPr lang="en-US" altLang="ko-KR" sz="1400" dirty="0" smtClean="0"/>
              <a:t> = </a:t>
            </a:r>
            <a:r>
              <a:rPr lang="en-US" altLang="ko-KR" sz="1400" dirty="0" err="1" smtClean="0"/>
              <a:t>jjak</a:t>
            </a:r>
            <a:r>
              <a:rPr lang="en-US" altLang="ko-KR" sz="1400" dirty="0" smtClean="0"/>
              <a:t>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				flag = 0;</a:t>
            </a:r>
          </a:p>
          <a:p>
            <a:pPr>
              <a:buNone/>
            </a:pPr>
            <a:r>
              <a:rPr lang="en-US" altLang="ko-KR" sz="1400" dirty="0" smtClean="0"/>
              <a:t>			}</a:t>
            </a:r>
          </a:p>
          <a:p>
            <a:pPr>
              <a:buNone/>
            </a:pPr>
            <a:r>
              <a:rPr lang="en-US" altLang="ko-KR" sz="1400" dirty="0" smtClean="0"/>
              <a:t>		}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홀수의 합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hol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짝수의 합</a:t>
            </a:r>
            <a:r>
              <a:rPr lang="en-US" altLang="ko-KR" sz="1400" dirty="0" smtClean="0"/>
              <a:t>" + </a:t>
            </a:r>
            <a:r>
              <a:rPr lang="en-US" altLang="ko-KR" sz="1400" dirty="0" err="1" smtClean="0"/>
              <a:t>jjak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54387" r="76376" b="42190"/>
          <a:stretch>
            <a:fillRect/>
          </a:stretch>
        </p:blipFill>
        <p:spPr bwMode="auto">
          <a:xfrm>
            <a:off x="5724128" y="1772816"/>
            <a:ext cx="230425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연습문제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1400" dirty="0" smtClean="0"/>
              <a:t>아래와 같이 출력하는 프로그램을 작성해보세요</a:t>
            </a:r>
            <a:r>
              <a:rPr lang="en-US" altLang="ko-KR" sz="1400" dirty="0" smtClean="0"/>
              <a:t>.</a:t>
            </a:r>
          </a:p>
          <a:p>
            <a:pPr>
              <a:buNone/>
            </a:pP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54540" r="79919" b="36370"/>
          <a:stretch>
            <a:fillRect/>
          </a:stretch>
        </p:blipFill>
        <p:spPr bwMode="auto">
          <a:xfrm>
            <a:off x="539552" y="1988840"/>
            <a:ext cx="1368152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 l="14765" t="54253" r="80510" b="36188"/>
          <a:stretch>
            <a:fillRect/>
          </a:stretch>
        </p:blipFill>
        <p:spPr bwMode="auto">
          <a:xfrm>
            <a:off x="2915816" y="1916832"/>
            <a:ext cx="1728192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 l="14765" t="54540" r="79919" b="37128"/>
          <a:stretch>
            <a:fillRect/>
          </a:stretch>
        </p:blipFill>
        <p:spPr bwMode="auto">
          <a:xfrm>
            <a:off x="5724128" y="1916832"/>
            <a:ext cx="201622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연습문제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en-US" altLang="ko-KR" sz="1400" dirty="0" smtClean="0"/>
              <a:t>1</a:t>
            </a:r>
            <a:r>
              <a:rPr lang="ko-KR" altLang="en-US" sz="1400" dirty="0" smtClean="0"/>
              <a:t>부터 </a:t>
            </a:r>
            <a:r>
              <a:rPr lang="en-US" altLang="ko-KR" sz="1400" dirty="0" smtClean="0"/>
              <a:t>9</a:t>
            </a:r>
            <a:r>
              <a:rPr lang="ko-KR" altLang="en-US" sz="1400" dirty="0" smtClean="0"/>
              <a:t>까지의 정수를 입력 받아서 입력된 단의 구구단을 출력해보세요  </a:t>
            </a: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54071" r="55113" b="23204"/>
          <a:stretch>
            <a:fillRect/>
          </a:stretch>
        </p:blipFill>
        <p:spPr bwMode="auto">
          <a:xfrm>
            <a:off x="395536" y="1988840"/>
            <a:ext cx="5256584" cy="324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smtClean="0"/>
              <a:t>연습문제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1400" dirty="0" smtClean="0"/>
              <a:t>입력된 년도가 윤년인지 아닌 지 판별해주는 프로그램을 작성해보세요</a:t>
            </a:r>
            <a:endParaRPr lang="en-US" altLang="ko-KR" sz="1400" dirty="0" smtClean="0"/>
          </a:p>
          <a:p>
            <a:pPr>
              <a:buFont typeface="Wingdings" pitchFamily="2" charset="2"/>
              <a:buChar char="v"/>
            </a:pPr>
            <a:r>
              <a:rPr lang="ko-KR" altLang="en-US" sz="1400" dirty="0" smtClean="0"/>
              <a:t>윤년은 </a:t>
            </a:r>
            <a:r>
              <a:rPr lang="en-US" altLang="ko-KR" sz="1400" dirty="0" smtClean="0"/>
              <a:t>4</a:t>
            </a:r>
            <a:r>
              <a:rPr lang="ko-KR" altLang="en-US" sz="1400" dirty="0" smtClean="0"/>
              <a:t>의 배수이고 </a:t>
            </a:r>
            <a:r>
              <a:rPr lang="en-US" altLang="ko-KR" sz="1400" dirty="0" smtClean="0"/>
              <a:t>100</a:t>
            </a:r>
            <a:r>
              <a:rPr lang="ko-KR" altLang="en-US" sz="1400" dirty="0" smtClean="0"/>
              <a:t>배수는 아니거나 </a:t>
            </a:r>
            <a:r>
              <a:rPr lang="en-US" altLang="ko-KR" sz="1400" dirty="0" smtClean="0"/>
              <a:t>400</a:t>
            </a:r>
            <a:r>
              <a:rPr lang="ko-KR" altLang="en-US" sz="1400" dirty="0" smtClean="0"/>
              <a:t>의 배수이면 윤년</a:t>
            </a: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 l="14765" t="54229" r="71060" b="40424"/>
          <a:stretch>
            <a:fillRect/>
          </a:stretch>
        </p:blipFill>
        <p:spPr bwMode="auto">
          <a:xfrm>
            <a:off x="539552" y="2276872"/>
            <a:ext cx="2448272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 l="15356" t="54541" r="69879" b="39399"/>
          <a:stretch>
            <a:fillRect/>
          </a:stretch>
        </p:blipFill>
        <p:spPr bwMode="auto">
          <a:xfrm>
            <a:off x="3347864" y="2348880"/>
            <a:ext cx="2952328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01_1">
  <a:themeElements>
    <a:clrScheme name="ms01_1 3">
      <a:dk1>
        <a:srgbClr val="808080"/>
      </a:dk1>
      <a:lt1>
        <a:srgbClr val="FFFFFF"/>
      </a:lt1>
      <a:dk2>
        <a:srgbClr val="FFFFFF"/>
      </a:dk2>
      <a:lt2>
        <a:srgbClr val="B2B2B2"/>
      </a:lt2>
      <a:accent1>
        <a:srgbClr val="058089"/>
      </a:accent1>
      <a:accent2>
        <a:srgbClr val="66BE0E"/>
      </a:accent2>
      <a:accent3>
        <a:srgbClr val="FFFFFF"/>
      </a:accent3>
      <a:accent4>
        <a:srgbClr val="6C6C6C"/>
      </a:accent4>
      <a:accent5>
        <a:srgbClr val="AAC0C4"/>
      </a:accent5>
      <a:accent6>
        <a:srgbClr val="5CAC0C"/>
      </a:accent6>
      <a:hlink>
        <a:srgbClr val="2CA9D0"/>
      </a:hlink>
      <a:folHlink>
        <a:srgbClr val="4841D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808080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66BE0E"/>
        </a:accent2>
        <a:accent3>
          <a:srgbClr val="FFFFFF"/>
        </a:accent3>
        <a:accent4>
          <a:srgbClr val="6C6C6C"/>
        </a:accent4>
        <a:accent5>
          <a:srgbClr val="AAC0C4"/>
        </a:accent5>
        <a:accent6>
          <a:srgbClr val="5CAC0C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7640</TotalTime>
  <Words>747</Words>
  <Application>Microsoft Office PowerPoint</Application>
  <PresentationFormat>화면 슬라이드 쇼(4:3)</PresentationFormat>
  <Paragraphs>384</Paragraphs>
  <Slides>29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1" baseType="lpstr">
      <vt:lpstr>ms01_1</vt:lpstr>
      <vt:lpstr>Image</vt:lpstr>
      <vt:lpstr>제어문</vt:lpstr>
      <vt:lpstr>1. 제어문</vt:lpstr>
      <vt:lpstr>2. 선택 처리 - 조건 분기</vt:lpstr>
      <vt:lpstr>실습( TestIf.java)</vt:lpstr>
      <vt:lpstr>2. 선택 처리 - 조건 분기</vt:lpstr>
      <vt:lpstr>실습(TestIfElse.java)</vt:lpstr>
      <vt:lpstr>2. 선택 처리 - 조건 분기</vt:lpstr>
      <vt:lpstr>실습(ElseIfTest.java)</vt:lpstr>
      <vt:lpstr>2. 선택 처리 - 조건 분기</vt:lpstr>
      <vt:lpstr>실습(SwitchTest.java)</vt:lpstr>
      <vt:lpstr>실습(SwitchTest.java)</vt:lpstr>
      <vt:lpstr>실습(SwitchTest.java)</vt:lpstr>
      <vt:lpstr>3. 반복(Loop)</vt:lpstr>
      <vt:lpstr>실습(WhileTest.java)</vt:lpstr>
      <vt:lpstr>3. 반복(Loop)</vt:lpstr>
      <vt:lpstr>실습(DoWhileTest.java)</vt:lpstr>
      <vt:lpstr>3. 반복(Loop)</vt:lpstr>
      <vt:lpstr>실습(ForTest.java)</vt:lpstr>
      <vt:lpstr>3. 반복(Loop)</vt:lpstr>
      <vt:lpstr>4. 기타 제어문</vt:lpstr>
      <vt:lpstr>실습(BreakContinue.java)</vt:lpstr>
      <vt:lpstr>실습(Gugudan.java)</vt:lpstr>
      <vt:lpstr>실습(BreakOuter.java )</vt:lpstr>
      <vt:lpstr>실습(ContinueOuter.java )</vt:lpstr>
      <vt:lpstr>실습(Star.java)</vt:lpstr>
      <vt:lpstr>실습(교번 처리 - Flag.java)</vt:lpstr>
      <vt:lpstr>연습문제</vt:lpstr>
      <vt:lpstr>연습문제</vt:lpstr>
      <vt:lpstr>연습문제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Teresa</dc:creator>
  <cp:lastModifiedBy>user</cp:lastModifiedBy>
  <cp:revision>334</cp:revision>
  <dcterms:created xsi:type="dcterms:W3CDTF">2010-03-14T12:09:21Z</dcterms:created>
  <dcterms:modified xsi:type="dcterms:W3CDTF">2013-03-18T23:13:52Z</dcterms:modified>
</cp:coreProperties>
</file>