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9" r:id="rId2"/>
    <p:sldId id="260" r:id="rId3"/>
    <p:sldId id="261" r:id="rId4"/>
    <p:sldId id="262" r:id="rId5"/>
    <p:sldId id="265" r:id="rId6"/>
    <p:sldId id="266" r:id="rId7"/>
    <p:sldId id="267" r:id="rId8"/>
    <p:sldId id="263" r:id="rId9"/>
    <p:sldId id="264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6" r:id="rId38"/>
    <p:sldId id="295" r:id="rId39"/>
    <p:sldId id="297" r:id="rId40"/>
    <p:sldId id="298" r:id="rId41"/>
    <p:sldId id="299" r:id="rId42"/>
    <p:sldId id="300" r:id="rId43"/>
    <p:sldId id="301" r:id="rId4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198" y="-8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E55A8-D5CF-4CB6-A127-D1933B95FA4A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17949-EA51-4397-99D6-3B2F4099EE7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47727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1"/>
          <p:cNvSpPr>
            <a:spLocks noChangeArrowheads="1"/>
          </p:cNvSpPr>
          <p:nvPr/>
        </p:nvSpPr>
        <p:spPr bwMode="white">
          <a:xfrm>
            <a:off x="0" y="0"/>
            <a:ext cx="9144000" cy="3279775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5" name="Freeform 32"/>
          <p:cNvSpPr>
            <a:spLocks/>
          </p:cNvSpPr>
          <p:nvPr/>
        </p:nvSpPr>
        <p:spPr bwMode="gray">
          <a:xfrm>
            <a:off x="1285852" y="2000240"/>
            <a:ext cx="7859737" cy="1271598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shade val="12549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6" name="Freeform 33"/>
          <p:cNvSpPr>
            <a:spLocks/>
          </p:cNvSpPr>
          <p:nvPr/>
        </p:nvSpPr>
        <p:spPr bwMode="invGray">
          <a:xfrm>
            <a:off x="-6350" y="3273425"/>
            <a:ext cx="1292202" cy="454018"/>
          </a:xfrm>
          <a:custGeom>
            <a:avLst/>
            <a:gdLst>
              <a:gd name="connsiteX0" fmla="*/ 0 w 10000"/>
              <a:gd name="connsiteY0" fmla="*/ 0 h 9965"/>
              <a:gd name="connsiteX1" fmla="*/ 10000 w 10000"/>
              <a:gd name="connsiteY1" fmla="*/ 0 h 9965"/>
              <a:gd name="connsiteX2" fmla="*/ 8341 w 10000"/>
              <a:gd name="connsiteY2" fmla="*/ 9686 h 9965"/>
              <a:gd name="connsiteX3" fmla="*/ 0 w 10000"/>
              <a:gd name="connsiteY3" fmla="*/ 9965 h 9965"/>
              <a:gd name="connsiteX4" fmla="*/ 0 w 10000"/>
              <a:gd name="connsiteY4" fmla="*/ 0 h 9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965">
                <a:moveTo>
                  <a:pt x="0" y="0"/>
                </a:moveTo>
                <a:lnTo>
                  <a:pt x="10000" y="0"/>
                </a:lnTo>
                <a:lnTo>
                  <a:pt x="8341" y="9686"/>
                </a:lnTo>
                <a:lnTo>
                  <a:pt x="0" y="996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71670" y="2285992"/>
            <a:ext cx="6715140" cy="685800"/>
          </a:xfrm>
        </p:spPr>
        <p:txBody>
          <a:bodyPr/>
          <a:lstStyle>
            <a:lvl1pPr algn="ctr">
              <a:defRPr sz="4400" b="1" i="0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5638800"/>
            <a:ext cx="6400800" cy="533400"/>
          </a:xfrm>
        </p:spPr>
        <p:txBody>
          <a:bodyPr/>
          <a:lstStyle>
            <a:lvl1pPr marL="0" indent="0" algn="r">
              <a:buFontTx/>
              <a:buNone/>
              <a:defRPr sz="2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부제목 스타일 편집</a:t>
            </a:r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2133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43174" y="227013"/>
            <a:ext cx="6500826" cy="762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28860" y="71414"/>
            <a:ext cx="6257940" cy="1143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 bwMode="auto">
          <a:xfrm>
            <a:off x="0" y="1500174"/>
            <a:ext cx="9144000" cy="535782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 smtClean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62738" y="227013"/>
            <a:ext cx="2068512" cy="6170612"/>
          </a:xfrm>
        </p:spPr>
        <p:txBody>
          <a:bodyPr vert="eaVert"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27013"/>
            <a:ext cx="6053138" cy="6170612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06650" y="227013"/>
            <a:ext cx="6324600" cy="762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949825"/>
          </a:xfrm>
        </p:spPr>
        <p:txBody>
          <a:bodyPr/>
          <a:lstStyle/>
          <a:p>
            <a:pPr lvl="0"/>
            <a:r>
              <a:rPr lang="ko-KR" altLang="en-US" noProof="0" smtClean="0"/>
              <a:t>표를 추가하려면 아이콘을 클릭하십시오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tint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1"/>
          <p:cNvSpPr>
            <a:spLocks noChangeArrowheads="1"/>
          </p:cNvSpPr>
          <p:nvPr/>
        </p:nvSpPr>
        <p:spPr bwMode="white">
          <a:xfrm>
            <a:off x="0" y="0"/>
            <a:ext cx="9144000" cy="9652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ea typeface="굴림" charset="-127"/>
            </a:endParaRPr>
          </a:p>
        </p:txBody>
      </p:sp>
      <p:graphicFrame>
        <p:nvGraphicFramePr>
          <p:cNvPr id="1026" name="Object 19"/>
          <p:cNvGraphicFramePr>
            <a:graphicFrameLocks noChangeAspect="1"/>
          </p:cNvGraphicFramePr>
          <p:nvPr userDrawn="1"/>
        </p:nvGraphicFramePr>
        <p:xfrm>
          <a:off x="2987675" y="2736850"/>
          <a:ext cx="6156325" cy="4121150"/>
        </p:xfrm>
        <a:graphic>
          <a:graphicData uri="http://schemas.openxmlformats.org/presentationml/2006/ole">
            <p:oleObj spid="_x0000_s1029" name="Image" r:id="rId15" imgW="7949206" imgH="5320635" progId="">
              <p:embed/>
            </p:oleObj>
          </a:graphicData>
        </a:graphic>
      </p:graphicFrame>
      <p:sp>
        <p:nvSpPr>
          <p:cNvPr id="1045" name="Freeform 21"/>
          <p:cNvSpPr>
            <a:spLocks/>
          </p:cNvSpPr>
          <p:nvPr/>
        </p:nvSpPr>
        <p:spPr bwMode="gray">
          <a:xfrm>
            <a:off x="1828800" y="246063"/>
            <a:ext cx="7315200" cy="720725"/>
          </a:xfrm>
          <a:custGeom>
            <a:avLst/>
            <a:gdLst/>
            <a:ahLst/>
            <a:cxnLst>
              <a:cxn ang="0">
                <a:pos x="0" y="454"/>
              </a:cxn>
              <a:cxn ang="0">
                <a:pos x="4798" y="454"/>
              </a:cxn>
              <a:cxn ang="0">
                <a:pos x="4798" y="0"/>
              </a:cxn>
              <a:cxn ang="0">
                <a:pos x="382" y="3"/>
              </a:cxn>
              <a:cxn ang="0">
                <a:pos x="0" y="454"/>
              </a:cxn>
            </a:cxnLst>
            <a:rect l="0" t="0" r="r" b="b"/>
            <a:pathLst>
              <a:path w="4798" h="454">
                <a:moveTo>
                  <a:pt x="0" y="454"/>
                </a:moveTo>
                <a:lnTo>
                  <a:pt x="4798" y="454"/>
                </a:lnTo>
                <a:lnTo>
                  <a:pt x="4798" y="0"/>
                </a:lnTo>
                <a:lnTo>
                  <a:pt x="382" y="3"/>
                </a:lnTo>
                <a:lnTo>
                  <a:pt x="0" y="454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1046" name="Freeform 22"/>
          <p:cNvSpPr>
            <a:spLocks/>
          </p:cNvSpPr>
          <p:nvPr/>
        </p:nvSpPr>
        <p:spPr bwMode="gray">
          <a:xfrm>
            <a:off x="0" y="966788"/>
            <a:ext cx="1828800" cy="2889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38" y="0"/>
              </a:cxn>
              <a:cxn ang="0">
                <a:pos x="1138" y="182"/>
              </a:cxn>
              <a:cxn ang="0">
                <a:pos x="0" y="181"/>
              </a:cxn>
              <a:cxn ang="0">
                <a:pos x="0" y="0"/>
              </a:cxn>
            </a:cxnLst>
            <a:rect l="0" t="0" r="r" b="b"/>
            <a:pathLst>
              <a:path w="1338" h="182">
                <a:moveTo>
                  <a:pt x="0" y="0"/>
                </a:moveTo>
                <a:lnTo>
                  <a:pt x="1338" y="0"/>
                </a:lnTo>
                <a:lnTo>
                  <a:pt x="1138" y="182"/>
                </a:lnTo>
                <a:lnTo>
                  <a:pt x="0" y="1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2406650" y="227013"/>
            <a:ext cx="6324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en-US" altLang="ko-KR" smtClean="0"/>
          </a:p>
        </p:txBody>
      </p:sp>
      <p:sp>
        <p:nvSpPr>
          <p:cNvPr id="10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7800"/>
            <a:ext cx="8229600" cy="494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altLang="ko-KR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ea typeface="굴림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ea typeface="굴림" charset="-127"/>
              </a:defRPr>
            </a:lvl1pPr>
          </a:lstStyle>
          <a:p>
            <a:endParaRPr lang="ko-KR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ea typeface="굴림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4000" b="1" i="0">
          <a:solidFill>
            <a:schemeClr val="bg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sz="3200">
          <a:solidFill>
            <a:srgbClr val="000000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sz="2800">
          <a:solidFill>
            <a:srgbClr val="00000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2400">
          <a:solidFill>
            <a:srgbClr val="00000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클래스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클래스와 객체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(class):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사물의 특성을 소프트웨어적으로 추상화하여 모델링 한 것으로 객체를 만들 수 있는 틀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(Template)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로써 오브젝트의 정적인 상태를 나타냅니다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클래스는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메모리를 할당받아 생성되면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다시 생성되지 않습니다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(object):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클래스를 실제 사용할 수 있도록 만든 것으로 메모리 공간을 할당해 놓은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인스턴스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(Instance)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라고도 하며 클래스의 동적인 상태를 의미합니다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new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명령어를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이용해 생성이 가능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 때 주의할 점은 변수 명이 메모리를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할당받는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것이 아니고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new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명령이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메모리를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할당한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new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명령어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–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메모리에 오브젝트를 생성 즉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인스턴스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(instance)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 지향 설계의 과정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 모델링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프로그램의 대상이 되는 사물의 동작과 속성을 정리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클래스의 정의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사물의 동작과 속성을 클래스로 표현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클래스의 사용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클래스를 가지고 객체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인스턴스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생성해서 사용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ko-KR" altLang="en-US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클래스와 객체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객체지향의 특징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상속성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(inheritance)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다형성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(Polymorphism) 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캡슐화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(encapsulation)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정보은닉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(information hiding)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클래스의 구성 요소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변수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클래스의 속성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객체의 초기화를 담당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클래스의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속성을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조작</a:t>
            </a:r>
            <a:endParaRPr kumimoji="1" lang="en-US" altLang="ko-KR" sz="16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내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포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(Nested Class):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클래스안에 클래스 존재 가능</a:t>
            </a:r>
            <a:endParaRPr kumimoji="1" lang="ko-KR" altLang="en-US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클래스의 정의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형식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&gt;[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접근지정자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]+ [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 종류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] + class + class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명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+ [extends super] + [implements interface]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접근지정자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 public, default, protected(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내부 클래스 선언 시 사용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), private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등이 있음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클래스 종류로는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abstract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와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final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extends –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상속에서 사용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자바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단일 상속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]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implements – interface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로부터 상속받기 위해 사용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자바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다중 상속의 장점을 살리기 위함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]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자바 식별자의 정의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 이름의 첫 문자는 “대문자”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로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시작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맴버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변수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이름의 첫 문자는 “소문자”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로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시작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함수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이름의 첫 문자는 “소문자”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로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시작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식별자를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연속된 단어의 조합으로 정의한 경우에는 두 번째 단어의 시작 문자를 “대문자”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로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합니다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 이름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Circle, Car,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StringBuffer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맴버변수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이름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area, speed,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getArea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클래스의 정의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클래스의 접근 지정자 사용 시 규칙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소스 파일명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 이름 중 하나와 일치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&lt;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대소문자 구분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&gt;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소스 내 클래스 개수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한 개를 원칙으로 하나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여러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개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가능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모두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default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접근 지정자가 생략된 클래스들로만 구성된 경우에는 파일명은 아무 클래스 이름이나 사용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가능하지만 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main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있는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클래스가 있다면 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main()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 있는 클래스의 이름이 파일명</a:t>
            </a:r>
            <a:endParaRPr kumimoji="1" lang="ko-KR" altLang="en-US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클래스는 하나의 파일에 하나 이하만 존재해야 하며 이때 소스 파일명은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 이름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컴파일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바이트 코드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&lt;class file&gt;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은 클래스 별로 생성 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클래스의 정의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268760"/>
            <a:ext cx="828092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 표기법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접근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지정자의 표현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은 앞에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+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private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은 앞에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–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protected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은 앞에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#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default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는 생략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abstract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는 기울임을 이용해서 기재하고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은 밑줄로 표시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467544" y="1844824"/>
          <a:ext cx="2736304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36304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solidFill>
                            <a:srgbClr val="000000"/>
                          </a:solidFill>
                        </a:rPr>
                        <a:t>클래스 이름</a:t>
                      </a:r>
                      <a:endParaRPr lang="ko-KR" alt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>
                          <a:solidFill>
                            <a:srgbClr val="000000"/>
                          </a:solidFill>
                        </a:rPr>
                        <a:t>멤버 변수</a:t>
                      </a:r>
                      <a:r>
                        <a:rPr lang="en-US" altLang="ko-KR" dirty="0" smtClean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lang="ko-KR" altLang="en-US" smtClean="0">
                          <a:solidFill>
                            <a:srgbClr val="000000"/>
                          </a:solidFill>
                        </a:rPr>
                        <a:t>필드</a:t>
                      </a:r>
                      <a:r>
                        <a:rPr lang="en-US" altLang="ko-KR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altLang="ko-KR" dirty="0" smtClean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>
                          <a:solidFill>
                            <a:srgbClr val="000000"/>
                          </a:solidFill>
                        </a:rPr>
                        <a:t>멤버 </a:t>
                      </a:r>
                      <a:r>
                        <a:rPr lang="ko-KR" altLang="en-US" smtClean="0">
                          <a:solidFill>
                            <a:srgbClr val="000000"/>
                          </a:solidFill>
                        </a:rPr>
                        <a:t>메소드</a:t>
                      </a:r>
                      <a:endParaRPr lang="en-US" altLang="ko-KR" dirty="0" smtClean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클래스의 정의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9"/>
            <a:ext cx="828092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Tape{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private: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id; char title[50];  char director[30];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char actor[50]; char genre[20];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price;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void input(); void input(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); void display() const;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};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539552" y="3284984"/>
          <a:ext cx="2304256" cy="3022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04256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rgbClr val="000000"/>
                          </a:solidFill>
                        </a:rPr>
                        <a:t>Tape</a:t>
                      </a:r>
                      <a:endParaRPr lang="ko-KR" alt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73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solidFill>
                            <a:srgbClr val="000000"/>
                          </a:solidFill>
                        </a:rPr>
                        <a:t>-id</a:t>
                      </a:r>
                      <a:endParaRPr lang="ko-KR" altLang="en-US" dirty="0">
                        <a:solidFill>
                          <a:srgbClr val="000000"/>
                        </a:solidFill>
                      </a:endParaRPr>
                    </a:p>
                    <a:p>
                      <a:pPr latinLnBrk="1"/>
                      <a:r>
                        <a:rPr lang="en-US" altLang="ko-KR" dirty="0" smtClean="0">
                          <a:solidFill>
                            <a:srgbClr val="000000"/>
                          </a:solidFill>
                        </a:rPr>
                        <a:t>-title</a:t>
                      </a:r>
                      <a:endParaRPr lang="ko-KR" altLang="en-US" dirty="0">
                        <a:solidFill>
                          <a:srgbClr val="000000"/>
                        </a:solidFill>
                      </a:endParaRPr>
                    </a:p>
                    <a:p>
                      <a:pPr latinLnBrk="1"/>
                      <a:r>
                        <a:rPr lang="en-US" altLang="ko-KR" dirty="0" smtClean="0">
                          <a:solidFill>
                            <a:srgbClr val="000000"/>
                          </a:solidFill>
                        </a:rPr>
                        <a:t>-director</a:t>
                      </a:r>
                      <a:endParaRPr lang="ko-KR" altLang="en-US" dirty="0">
                        <a:solidFill>
                          <a:srgbClr val="000000"/>
                        </a:solidFill>
                      </a:endParaRPr>
                    </a:p>
                    <a:p>
                      <a:pPr latinLnBrk="1"/>
                      <a:r>
                        <a:rPr lang="en-US" altLang="ko-KR" dirty="0" smtClean="0">
                          <a:solidFill>
                            <a:srgbClr val="000000"/>
                          </a:solidFill>
                        </a:rPr>
                        <a:t>-actor</a:t>
                      </a:r>
                      <a:endParaRPr lang="ko-KR" altLang="en-US" dirty="0">
                        <a:solidFill>
                          <a:srgbClr val="000000"/>
                        </a:solidFill>
                      </a:endParaRPr>
                    </a:p>
                    <a:p>
                      <a:pPr latinLnBrk="1"/>
                      <a:r>
                        <a:rPr lang="en-US" altLang="ko-KR" dirty="0" smtClean="0">
                          <a:solidFill>
                            <a:srgbClr val="000000"/>
                          </a:solidFill>
                        </a:rPr>
                        <a:t>-genre</a:t>
                      </a:r>
                      <a:endParaRPr lang="ko-KR" altLang="en-US" dirty="0">
                        <a:solidFill>
                          <a:srgbClr val="000000"/>
                        </a:solidFill>
                      </a:endParaRPr>
                    </a:p>
                    <a:p>
                      <a:pPr latinLnBrk="1"/>
                      <a:r>
                        <a:rPr lang="en-US" altLang="ko-KR" dirty="0" smtClean="0">
                          <a:solidFill>
                            <a:srgbClr val="000000"/>
                          </a:solidFill>
                        </a:rPr>
                        <a:t>-price</a:t>
                      </a:r>
                      <a:endParaRPr lang="ko-KR" alt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solidFill>
                            <a:srgbClr val="000000"/>
                          </a:solidFill>
                        </a:rPr>
                        <a:t>+input() : void</a:t>
                      </a:r>
                    </a:p>
                    <a:p>
                      <a:pPr latinLnBrk="1"/>
                      <a:r>
                        <a:rPr lang="en-US" altLang="ko-KR" dirty="0" smtClean="0">
                          <a:solidFill>
                            <a:srgbClr val="000000"/>
                          </a:solidFill>
                        </a:rPr>
                        <a:t>+input(</a:t>
                      </a:r>
                      <a:r>
                        <a:rPr lang="en-US" altLang="ko-KR" dirty="0" err="1" smtClean="0">
                          <a:solidFill>
                            <a:srgbClr val="000000"/>
                          </a:solidFill>
                        </a:rPr>
                        <a:t>int</a:t>
                      </a:r>
                      <a:r>
                        <a:rPr lang="en-US" altLang="ko-KR" dirty="0" smtClean="0">
                          <a:solidFill>
                            <a:srgbClr val="000000"/>
                          </a:solidFill>
                        </a:rPr>
                        <a:t>): void</a:t>
                      </a:r>
                    </a:p>
                    <a:p>
                      <a:pPr latinLnBrk="1"/>
                      <a:r>
                        <a:rPr lang="en-US" altLang="ko-KR" dirty="0" smtClean="0">
                          <a:solidFill>
                            <a:srgbClr val="000000"/>
                          </a:solidFill>
                        </a:rPr>
                        <a:t>+display(): void</a:t>
                      </a:r>
                      <a:endParaRPr lang="ko-KR" alt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객체 생성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2999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참조형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객체의 위치 정보만 알고 있으면 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 생성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Heap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이나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메모리를 할당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형식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1&gt;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클래스명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객체참조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_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변수명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객체참조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_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변수명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new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_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생성자명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 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&gt; Car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carEx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carEx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Car();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형식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2&gt;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클래스명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객체참조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_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변수명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new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_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생성자명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 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&gt; car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carEx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carEx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객체를 이용한 멤버 접근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51230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 생성 후 점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[.]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이용하여 멤버에 접근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&gt;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carEx.speed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10; //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변수의 접근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carEx.speedUp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 //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메소드의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접근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자신의 클래스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안에서는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 이름이나 클래스 이름을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생략해서 접근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가능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객체나 클래스로 호출하지 않아도 되는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endParaRPr kumimoji="1" lang="ko-KR" altLang="en-US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main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endParaRPr kumimoji="1" lang="ko-KR" altLang="en-US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클래스와 독립적으로 호출 가능한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endParaRPr kumimoji="1" lang="ko-KR" altLang="en-US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자바 프로그램을 실행할 때 자바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가상머신에서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호출되는 최초의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메소드입니다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형식</a:t>
            </a:r>
          </a:p>
          <a:p>
            <a:pPr lvl="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static void main(String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[]) </a:t>
            </a:r>
          </a:p>
          <a:p>
            <a:pPr lvl="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</a:t>
            </a:r>
          </a:p>
          <a:p>
            <a:pPr lvl="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main()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메소드의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호출 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c:\&gt;java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클래스이름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멤버 필드</a:t>
            </a:r>
            <a:r>
              <a:rPr lang="en-US" altLang="ko-KR" dirty="0" smtClean="0"/>
              <a:t>(</a:t>
            </a:r>
            <a:r>
              <a:rPr lang="ko-KR" altLang="en-US" dirty="0" smtClean="0"/>
              <a:t>변수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변수 종류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지역 변수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안에서 선언된 변수로 접근 지정자를 지정하지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않으며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자료형 앞에 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final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만 기재할 수 있으며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final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기재하면 변수를 상수화시켜 줍니다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final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변수는 관례상 대문자로 이름을 만들어 줍니다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자동으로 초기화되지 않으므로 초기화하지 않고 사용할 수 없습니다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변수 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키워드를 사용해서 생성하고 객체 사이의 데이터 공유를 위해서 생성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오브젝트 생성 없이 클래스이름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만으로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호출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가능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영역에 생성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변수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 안에 선언되어 각각의 객체가 메모리 할당을 받아서 사용하는 변수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초기화 하지 않아도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0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또는 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false, null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로 초기화가 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멤버 필드</a:t>
            </a:r>
            <a:r>
              <a:rPr lang="en-US" altLang="ko-KR" dirty="0" smtClean="0"/>
              <a:t>(</a:t>
            </a:r>
            <a:r>
              <a:rPr lang="ko-KR" altLang="en-US" dirty="0" smtClean="0"/>
              <a:t>변수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필드 선언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형식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[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accessLevel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&lt;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public,private,proteted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default&gt;]+ + [transient] + [volatile] + [static] + [final]+ type + name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transient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는 파일에 저장할 수 없음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volatile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은 멀티 스레드 환경에서 값의 일관성을 보장하고 상호 배제를 수행하기 위한 키워드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(InstanceVariable.java)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Student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m_nKor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m_nEng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m_nMat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InstanceVariable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void main(String[]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Student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Student();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//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obj.m_nKor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30;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//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인스턴스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변수는 초기화 하지 않으면 자동으로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0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값을 가지며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반드시 객체 이름으로만 호출해야 합니다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obj.m_nEng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40;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obj.m_nMat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50;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국어점수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obj.m_nKor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수학점수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obj.m_nMat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영어점수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obj.m_nEng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15356" t="67418" r="71650" b="21508"/>
          <a:stretch>
            <a:fillRect/>
          </a:stretch>
        </p:blipFill>
        <p:spPr bwMode="auto">
          <a:xfrm>
            <a:off x="5076056" y="1196752"/>
            <a:ext cx="2952328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멤버 필드</a:t>
            </a:r>
            <a:r>
              <a:rPr lang="en-US" altLang="ko-KR" dirty="0" smtClean="0"/>
              <a:t>(</a:t>
            </a:r>
            <a:r>
              <a:rPr lang="ko-KR" altLang="en-US" dirty="0" smtClean="0"/>
              <a:t>변수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2077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필드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으로 선언된 변수는 객체를 생성해서 접근해도 되지만 클래스로도 접근할 수 있는 변수입니다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 변수는 하나의 클래스로 여러 개의 객체가 생성되더라도 하나만 생성되며 모든 객체들이 공유하는 개념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 또는 클래스를 이용해서 이 변수의 값을 변경하게 되면 동일한 클래스로 만들어진 모든 객체에 적용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(InstanceVariable.java)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Student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m_nKor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m_nEng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m_nMat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 String 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g_strTeacher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"</a:t>
            </a:r>
            <a:r>
              <a:rPr kumimoji="1" lang="ko-KR" altLang="en-US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김구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InstanceVariable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void main(String[]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Student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Student();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//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obj.m_nKor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30;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//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인스턴스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변수는 초기화 하지 않으면 자동으로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0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값을 가지며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반드시 객체 이름으로만 호출해야 합니다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obj.m_nEng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40;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obj.m_nMat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50;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국어점수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obj.m_nKor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수학점수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obj.m_nMat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영어점수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obj.m_nEng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("Student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선생님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Student.g_strTeacher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ko-KR" altLang="en-US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선생님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" + 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obj.g_strTeacher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Student.g_strTeacher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"</a:t>
            </a:r>
            <a:r>
              <a:rPr kumimoji="1" lang="ko-KR" altLang="en-US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안중근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ko-KR" altLang="en-US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선생님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" + 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obj.g_strTeacher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67418" r="69288" b="15917"/>
          <a:stretch>
            <a:fillRect/>
          </a:stretch>
        </p:blipFill>
        <p:spPr bwMode="auto">
          <a:xfrm>
            <a:off x="5004048" y="1124744"/>
            <a:ext cx="3384376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멤버 필드</a:t>
            </a:r>
            <a:r>
              <a:rPr lang="en-US" altLang="ko-KR" dirty="0" smtClean="0"/>
              <a:t>(</a:t>
            </a:r>
            <a:r>
              <a:rPr lang="ko-KR" altLang="en-US" dirty="0" smtClean="0"/>
              <a:t>변수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초기화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 정의 안에서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 {  }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안에 초기화가 가능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 구문은 클래스가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로드되는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시점에 수행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필드는 사용이 불가능하며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필드의 초기화에 이용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클래스가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메모리에 로드될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때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한번만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수행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(InstanceVariable.java)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StaticInitialize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static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g_n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static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g_n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100;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("Static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초기화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void main(String[]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("main");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g_n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g_n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67418" r="75194" b="21219"/>
          <a:stretch>
            <a:fillRect/>
          </a:stretch>
        </p:blipFill>
        <p:spPr bwMode="auto">
          <a:xfrm>
            <a:off x="5724128" y="1268760"/>
            <a:ext cx="2160240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멤버 필드</a:t>
            </a:r>
            <a:r>
              <a:rPr lang="en-US" altLang="ko-KR" dirty="0" smtClean="0"/>
              <a:t>(</a:t>
            </a:r>
            <a:r>
              <a:rPr lang="ko-KR" altLang="en-US" dirty="0" smtClean="0"/>
              <a:t>변수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final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필드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final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필드는 멤버 필드의 값을 변경하지 못하도록 할 때 사용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변수를 상수화 시킬 때 이용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이름은 대문자로 작성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특별한 경우를 제외하고는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과 함께 사용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(InstanceVariable.java)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Student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m_nKor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m_nEng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m_nMat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static final String TEACHER = 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김구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InstanceVariable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void main(String[]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Student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Student();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//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obj.m_nKor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30;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//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인스턴스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변수는 초기화 하지 않으면 자동으로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0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값을 가지며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반드시 객체 이름으로만 호출해야 합니다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obj.m_nEng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40;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obj.m_nMat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50;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국어점수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obj.m_nKor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수학점수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obj.m_nMat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영어점수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obj.m_nEng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("Student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선생님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Student.TEACHER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선생님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obj.TEACHER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Student.TEACHER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안중근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선생님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obj.TEACHER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67418" r="36804" b="18947"/>
          <a:stretch>
            <a:fillRect/>
          </a:stretch>
        </p:blipFill>
        <p:spPr bwMode="auto">
          <a:xfrm>
            <a:off x="2987824" y="1052736"/>
            <a:ext cx="5904656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r>
              <a:rPr lang="en-US" altLang="ko-KR" smtClean="0"/>
              <a:t>. </a:t>
            </a:r>
            <a:r>
              <a:rPr lang="ko-KR" altLang="en-US" smtClean="0"/>
              <a:t>메소드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전달받은 인수를 처리하여 결과를 돌려주는 작은 프로그램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다른 언어에서는 함수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(function)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라고도 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메소드의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선언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접근지정자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+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특성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+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결과형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+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메소드명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매개 변수 나열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접근 지정자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puplic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private, protected, default</a:t>
            </a:r>
            <a:endParaRPr kumimoji="1" lang="ko-KR" altLang="en-US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특성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abstract –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추상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선언에 사용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final –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종단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선언에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사용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–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오버라이딩 할 수 없음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 –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선언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synchronized –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스레드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임계 영역 처리에 사용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&lt;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스레드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관련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&gt;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naive: c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언어와 같은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native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언어의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메소드를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사용하고자 하는 경우 선언</a:t>
            </a:r>
            <a:endParaRPr kumimoji="1" lang="ko-KR" altLang="en-US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결과형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수행 이 후의 반환 값의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자료형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void –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반환값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없음을 의미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return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수행 후 결과를 반환할 때 사용하는 예약어로 이 키워드를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만나면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영역에서 벗어나게 됩니다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매개변수는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없으면 생략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가능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r>
              <a:rPr lang="en-US" altLang="ko-KR" smtClean="0"/>
              <a:t>. </a:t>
            </a:r>
            <a:r>
              <a:rPr lang="ko-KR" altLang="en-US" smtClean="0"/>
              <a:t>메소드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40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메소드의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구현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접근지정자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+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특성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+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결과형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+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메소드명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매개 변수 나열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){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메소드의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내용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결과형이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void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이면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return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생략 가능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return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값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메소드의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호출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리시버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매개변수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리시버는 클래스 이름이나 객체 이름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(InstanceVariable.java)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Student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m_nKor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m_nEng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m_nMat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void set(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a,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b,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c)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m_nKor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m_nEng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m_nMat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double calc()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double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avg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avg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m_nKor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m_nMat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m_nEng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/ 3.0;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return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avg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void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disp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평균은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 + calc() + 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.");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 l="14863" t="67999" r="73325" b="25184"/>
          <a:stretch>
            <a:fillRect/>
          </a:stretch>
        </p:blipFill>
        <p:spPr bwMode="auto">
          <a:xfrm>
            <a:off x="4788024" y="1340768"/>
            <a:ext cx="2880320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(InstanceVariable.java)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InstanceVariable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void main(String[]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Student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Student();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obj.set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(80, 60, 85);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obj.disp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r>
              <a:rPr lang="en-US" altLang="ko-KR" smtClean="0"/>
              <a:t>. </a:t>
            </a:r>
            <a:r>
              <a:rPr lang="ko-KR" altLang="en-US" smtClean="0"/>
              <a:t>메소드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5432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접근자 메소드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(getter, setter):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변수는 일반적으로 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private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으로 설정하고 멤버 변수에 접근가능한 메소드를 만들게 되는데 이를 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getter(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변수의 값을 리턴해주는 메소드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와 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setter(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변수의 값을 설정하는 메소드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라고 합니다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600" b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오버로딩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(Overloading)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하나의 클래스 또는 상속 관계에 있는 클래스에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개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이상의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메소드가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이름은 동일하고 매개변수의 개수 및 자료 형이 다른 경우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인수 전달 방식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값에 의한 호출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(Call by Value)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인수의 데이터 형이 기본형인 경우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char, ...)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전달되는 매개변수의 값을 복사해서 처리합니다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메소드의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실행이 전달되는 변수에 영향을 주지 않습니다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레퍼런스에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의한 호출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(Call by Reference)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인수의 데이터 형이 참조 형인 경우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(String, ...)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메소드의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실행이 전달되는 변수에 영향을 주게 됩니다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(InstanceVariable.java)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Student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m_nKor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m_nEng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m_nMat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void set(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a,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b,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c)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m_nKor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m_nEng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m_nMat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void set(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a,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b)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m_nKor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m_nEng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m_nMat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double calc()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double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avg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avg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m_nKor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m_nMat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m_nEng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/ 3.0;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return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avg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void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disp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평균은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 + calc() + 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.");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67418" r="73423" b="23492"/>
          <a:stretch>
            <a:fillRect/>
          </a:stretch>
        </p:blipFill>
        <p:spPr bwMode="auto">
          <a:xfrm>
            <a:off x="4788024" y="2492896"/>
            <a:ext cx="3168352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(InstanceVariable.java)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InstanceVariable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void main(String[]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Student obj1 = new Student();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Student obj2 = new Student();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obj1.set(80, 60, 85);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obj2.set(90, 87);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obj1.disp();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obj2.disp();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(Argument.java)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Calculate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result =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void inc1(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n)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n++;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void inc2(Calculate test){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test.result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++;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Argument{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void main(String[]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a = 10;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Calculate cal = new Calculate();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cal.result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=10;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cal.inc1(a);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("a= " +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cal.inc2(cal);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cal.result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cal.result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 l="14766" t="71963" r="74012" b="22734"/>
          <a:stretch>
            <a:fillRect/>
          </a:stretch>
        </p:blipFill>
        <p:spPr bwMode="auto">
          <a:xfrm>
            <a:off x="4788024" y="1484784"/>
            <a:ext cx="3024336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r>
              <a:rPr lang="en-US" altLang="ko-KR" smtClean="0"/>
              <a:t>. </a:t>
            </a:r>
            <a:r>
              <a:rPr lang="ko-KR" altLang="en-US" smtClean="0"/>
              <a:t>메소드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endParaRPr kumimoji="1" lang="ko-KR" altLang="en-US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 이름으로도 호출가능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한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필드와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지역변수만 사용이 가능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필드를 참조하게 되면 에러가 발생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객체를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생성하는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메소드를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으로 정의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(StaticTestMain.java)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StaticTest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String s1 = "static";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static String s2 = "STATIC";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getString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return s2;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여기서 만약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s1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return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하면 오류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!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StaticTestMain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void main(String[]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("s2 : "+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StaticTest.getString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71963" r="76376" b="25007"/>
          <a:stretch>
            <a:fillRect/>
          </a:stretch>
        </p:blipFill>
        <p:spPr bwMode="auto">
          <a:xfrm>
            <a:off x="6228184" y="1412776"/>
            <a:ext cx="1800200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r>
              <a:rPr lang="en-US" altLang="ko-KR" smtClean="0"/>
              <a:t>. </a:t>
            </a:r>
            <a:r>
              <a:rPr lang="ko-KR" altLang="en-US" smtClean="0"/>
              <a:t>메소드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29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5.0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 후 버전에서 추가된 인자의 개수를 지정하지 않아도 되는 메소드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Varargs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(Variable Argument)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기법이라고 하며 만드는 형식은 아래와 같습니다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매개변수에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자료형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…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배열명으로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기재하면 매개변수의 개수가 몇 개가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되듣지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관계 없습니다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이러한 방법을 사용할 때 한가지 주의할 점은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Varargs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는 반드시 마지막에 사용되어야 한다는 점입니다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매개 변수의 개수를 지정하지 않아도 되는 매개변수가 앞쪽에 사용되면 언제 이 매개 변수가 끝나는지 알 수 없으므로 다음 매개 변수를 판별해 낼 수 없기 때문입니다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(VarTest.java)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VarTest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void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argTest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... n)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for(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0 ;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&lt;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n.length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;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("n["+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+"]:"+n[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("--------------------------");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void main(String[]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VarTest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vt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VarTest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vt.argTest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(100, 200);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vt.argTest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(150, 200, 250, 300);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67418" r="66926" b="14402"/>
          <a:stretch>
            <a:fillRect/>
          </a:stretch>
        </p:blipFill>
        <p:spPr bwMode="auto">
          <a:xfrm>
            <a:off x="6516216" y="1124744"/>
            <a:ext cx="2232248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r>
              <a:rPr lang="en-US" altLang="ko-KR" smtClean="0"/>
              <a:t>. </a:t>
            </a:r>
            <a:r>
              <a:rPr lang="ko-KR" altLang="en-US" smtClean="0"/>
              <a:t>메소드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5309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접근자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 지향 언어에서는 멤버 필드에 직접 접근하는 것을 권장하지 않습니다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필드는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private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으로 지정해서 객체를 이용해서 직접 접근이 안되도록 하고 멤버 필드의 값을 리턴 해주는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getter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메소드와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필드의 값을 설정해주는 </a:t>
            </a:r>
            <a:r>
              <a:rPr kumimoji="1" lang="en-US" altLang="ko-KR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setter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메소드를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으로 만들어서 사용하는 것을 권장합니다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getter</a:t>
            </a:r>
          </a:p>
          <a:p>
            <a:pPr lvl="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필드의 값을 </a:t>
            </a:r>
            <a:r>
              <a:rPr kumimoji="1" lang="ko-KR" altLang="en-US" sz="1400" b="1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리턴해주는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리턴 타입은 멤버 필드의 타입과 동일하게 하고 이름은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get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필드명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으로 하고 필드명의 첫 글자는 대문자로 하며 매개변수는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없고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메소드의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내용은 멤버 필드의 값을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리턴하기만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합니다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필드의 타입이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boolean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인 경우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get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대신에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is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사용하기도 합니다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setter</a:t>
            </a:r>
          </a:p>
          <a:p>
            <a:pPr lvl="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필드의 값을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설정해주는 </a:t>
            </a:r>
            <a:r>
              <a:rPr kumimoji="1" lang="ko-KR" altLang="en-US" sz="14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리턴 타입은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void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로 하고 이름은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set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필드명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으로 하고 필드명의 첫 글자는 대문자로 하고 매개변수는 필드의 타입과 동일한 타입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개로 하며 내용은 매개변수의 값을 멤버 필드에 대입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(GetterSetter.java)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32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192098"/>
            <a:ext cx="828092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Data{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private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number;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private String name;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getNumber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return number;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void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setNumber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number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getName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return name;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void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setName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name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class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GetterSetter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void main(String[]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Data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Data();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obj.setNumber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(1);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obj.setName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("park");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number:"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obj.getNumber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Name:"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obj.getName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67423" r="74013" b="23199"/>
          <a:stretch>
            <a:fillRect/>
          </a:stretch>
        </p:blipFill>
        <p:spPr bwMode="auto">
          <a:xfrm>
            <a:off x="4716016" y="1412776"/>
            <a:ext cx="3096344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 </a:t>
            </a:r>
            <a:r>
              <a:rPr lang="ko-KR" altLang="en-US" dirty="0" err="1" smtClean="0"/>
              <a:t>생성자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4724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객체를 생성하기 위해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호출하는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생성자의 기본 형식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-[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puplic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/private/protected]+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클래스이름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매개변수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  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//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일반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메소드와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유사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…//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초기화 문장    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일반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메소드와의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차이점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리턴 형이 없습니다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객체를 생성하기 위해서 호출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생성자의 이름은 클래스 이름과 동일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용도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객체의 초기화 과정을 처리하기 위 함 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만들지 않는 경우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 선언 시 아무 일도 하지 않는 매개변수가 없는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생성자를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자동으로 만듦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생성자를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정의하면 기본적으로 제공되는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생성자는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소멸됩니다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  <a:endParaRPr kumimoji="1" lang="ko-KR" altLang="en-US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 </a:t>
            </a:r>
            <a:r>
              <a:rPr lang="ko-KR" altLang="en-US" dirty="0" err="1" smtClean="0"/>
              <a:t>생성자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생성자도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오버로딩 가능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super()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부모클래스의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호출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–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가장 먼저 와야 함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&gt; class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AnimationThread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extends Thread {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AnimationThread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 {        super(“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AnimationThread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”) ;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               …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         }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    }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this():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자신의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생성자를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호출하는 것으로 생성자가 오버로딩 된 경우 사용 가능하며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super()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다음에 위치해야 함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ko-KR" altLang="en-US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호출 방법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new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매개변수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생성자를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호출하는 방법은 위의 방법 말고는 없음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(ConstructorTest.java)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95536" y="1192098"/>
            <a:ext cx="82809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StudentBean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private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kor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private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eng;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private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mat;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StudentBean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기본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StudentBean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a,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b,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c)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this();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kor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eng =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mat =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public void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disp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국어 점수의 값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kor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영어 점수의 값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" + eng);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수학 점수의 값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" + mat);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 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67706" r="73423" b="14114"/>
          <a:stretch>
            <a:fillRect/>
          </a:stretch>
        </p:blipFill>
        <p:spPr bwMode="auto">
          <a:xfrm>
            <a:off x="5292080" y="1124744"/>
            <a:ext cx="2952328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(ConstructorTest.java)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36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192098"/>
            <a:ext cx="828092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class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ConstructorTest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public static void main(String[]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StudentBean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Obj1 = new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StudentBean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(70,60,80);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StudentBean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Obj2 = new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StudentBean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Obj1.disp();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Obj2.disp();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(Sequence.java)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95536" y="1192098"/>
            <a:ext cx="828092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class Sequence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number;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static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sequence =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Sequence(){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number = ++sequence;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void main(String[]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Sequence obj1 = new Sequence();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Sequence obj2 = new Sequence();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("obj1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number:" + obj1.number);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("obj2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number:" + obj2.number);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 l="14863" t="67418" r="73325" b="23492"/>
          <a:stretch>
            <a:fillRect/>
          </a:stretch>
        </p:blipFill>
        <p:spPr bwMode="auto">
          <a:xfrm>
            <a:off x="5796136" y="1124744"/>
            <a:ext cx="2376264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8. this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38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 내부에서 객체 자신을 가리키는 포인터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 생성 시 자동으로 만들어지는 변수이고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메소드의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첫번째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매개변수이기도 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메소드에서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필드를 사용하면 코드 상에서 보여지지는 않지만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this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가 삽입되서 코드화 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this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사용하는 경우는 멤버 필드와 지역 변수의 이름이 동일한 경우 이를 구분하기 위해서 사용하고 상위 클래스와 하위 클래스에 동일한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메소드가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있을 때 자신의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메소드를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명시적으로 호출하고자 하는 경우 및 객체 자신을 매개변수로 넘겨주어야 하는 경우 사용합니다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(Sequence.java)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95536" y="1192098"/>
            <a:ext cx="828092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class Sequence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number;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static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sequence =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Sequence(){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number = ++sequence;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void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disp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number = 100;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지역변수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-number:" + number);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멤버필드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-number:"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this.number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void main(String[]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Sequence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Sequence();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obj.disp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67418" r="71060" b="24249"/>
          <a:stretch>
            <a:fillRect/>
          </a:stretch>
        </p:blipFill>
        <p:spPr bwMode="auto">
          <a:xfrm>
            <a:off x="4860032" y="1124744"/>
            <a:ext cx="3672408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9. Singleton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클래스가 하나의 객체만 생성할 수 있는 패턴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상호배제를 위해서 만드는 패턴이며 주로 관리자 클래스에서 사용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생성자를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private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으로 만들고 객체를 생성해서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리턴해주는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별도의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메소드를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생성해서 사용해야 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jdk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클래스 중에서 객체 생성 시 생성자를 호출하지 않는 클래스는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singleton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패턴입니다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생성자의 접근 지정자가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private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인 또 하나의 경우는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모든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메소드가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인 경우입니다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(Singleton.java)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95536" y="1192098"/>
            <a:ext cx="828092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class Singleton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static Singleton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null;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private Singleton(){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Singleton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sharedInstance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if(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==null)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Singleton();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return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void main(String[]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Singleton obj1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Singleton.sharedInstance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Singleton obj2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Singleton.sharedInstance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("obj1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해시코드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:" + obj1.hashCode());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("obj2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해시코드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:" + obj2.hashCode());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10</a:t>
            </a:r>
            <a:r>
              <a:rPr lang="en-US" altLang="ko-KR" smtClean="0"/>
              <a:t>. </a:t>
            </a:r>
            <a:r>
              <a:rPr lang="en-US" altLang="ko-KR" dirty="0" err="1" smtClean="0"/>
              <a:t>GarbageCollection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42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Java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는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GarbageCollection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heap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메모리를 정리해줍니다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GarbageCollection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호출 시점은 우리가 알 수 없습니다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강제로 호출해주는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System.gc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가 있지만 바로 호출되지 않을 수 있습니다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우선순위가 낮아서 다른 작업이 수행 중이면 바로 호출되지 않습니다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Java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에서 메모리 정리를 하고 싶은 객체가 있으면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null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대입하면 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null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대입하면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finalize()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가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호출되고 차후에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GarbageCollection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에 의해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heap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에서 제거되게 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(GC.java)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95536" y="1192098"/>
            <a:ext cx="828092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class GC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void finalize(){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메모리 정리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void main(String[]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GC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GC();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null;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System.gc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 l="14766" t="67418" r="75784" b="25007"/>
          <a:stretch>
            <a:fillRect/>
          </a:stretch>
        </p:blipFill>
        <p:spPr bwMode="auto">
          <a:xfrm>
            <a:off x="5508104" y="1196752"/>
            <a:ext cx="2304256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s01_1">
  <a:themeElements>
    <a:clrScheme name="ms01_1 3">
      <a:dk1>
        <a:srgbClr val="808080"/>
      </a:dk1>
      <a:lt1>
        <a:srgbClr val="FFFFFF"/>
      </a:lt1>
      <a:dk2>
        <a:srgbClr val="FFFFFF"/>
      </a:dk2>
      <a:lt2>
        <a:srgbClr val="B2B2B2"/>
      </a:lt2>
      <a:accent1>
        <a:srgbClr val="058089"/>
      </a:accent1>
      <a:accent2>
        <a:srgbClr val="66BE0E"/>
      </a:accent2>
      <a:accent3>
        <a:srgbClr val="FFFFFF"/>
      </a:accent3>
      <a:accent4>
        <a:srgbClr val="6C6C6C"/>
      </a:accent4>
      <a:accent5>
        <a:srgbClr val="AAC0C4"/>
      </a:accent5>
      <a:accent6>
        <a:srgbClr val="5CAC0C"/>
      </a:accent6>
      <a:hlink>
        <a:srgbClr val="2CA9D0"/>
      </a:hlink>
      <a:folHlink>
        <a:srgbClr val="4841D9"/>
      </a:folHlink>
    </a:clrScheme>
    <a:fontScheme name="ms01_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s01_1 1">
        <a:dk1>
          <a:srgbClr val="1D528D"/>
        </a:dk1>
        <a:lt1>
          <a:srgbClr val="FFFFFF"/>
        </a:lt1>
        <a:dk2>
          <a:srgbClr val="000000"/>
        </a:dk2>
        <a:lt2>
          <a:srgbClr val="CACACA"/>
        </a:lt2>
        <a:accent1>
          <a:srgbClr val="0099CC"/>
        </a:accent1>
        <a:accent2>
          <a:srgbClr val="BFA907"/>
        </a:accent2>
        <a:accent3>
          <a:srgbClr val="FFFFFF"/>
        </a:accent3>
        <a:accent4>
          <a:srgbClr val="174578"/>
        </a:accent4>
        <a:accent5>
          <a:srgbClr val="AACAE2"/>
        </a:accent5>
        <a:accent6>
          <a:srgbClr val="AD9906"/>
        </a:accent6>
        <a:hlink>
          <a:srgbClr val="6E81E0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2">
        <a:dk1>
          <a:srgbClr val="4E40A4"/>
        </a:dk1>
        <a:lt1>
          <a:srgbClr val="FFFFFF"/>
        </a:lt1>
        <a:dk2>
          <a:srgbClr val="000000"/>
        </a:dk2>
        <a:lt2>
          <a:srgbClr val="CACACA"/>
        </a:lt2>
        <a:accent1>
          <a:srgbClr val="8B65E9"/>
        </a:accent1>
        <a:accent2>
          <a:srgbClr val="008080"/>
        </a:accent2>
        <a:accent3>
          <a:srgbClr val="FFFFFF"/>
        </a:accent3>
        <a:accent4>
          <a:srgbClr val="41358B"/>
        </a:accent4>
        <a:accent5>
          <a:srgbClr val="C4B8F2"/>
        </a:accent5>
        <a:accent6>
          <a:srgbClr val="007373"/>
        </a:accent6>
        <a:hlink>
          <a:srgbClr val="0066CC"/>
        </a:hlink>
        <a:folHlink>
          <a:srgbClr val="8AB15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3">
        <a:dk1>
          <a:srgbClr val="808080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66BE0E"/>
        </a:accent2>
        <a:accent3>
          <a:srgbClr val="FFFFFF"/>
        </a:accent3>
        <a:accent4>
          <a:srgbClr val="6C6C6C"/>
        </a:accent4>
        <a:accent5>
          <a:srgbClr val="AAC0C4"/>
        </a:accent5>
        <a:accent6>
          <a:srgbClr val="5CAC0C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9072</TotalTime>
  <Words>1916</Words>
  <Application>Microsoft Office PowerPoint</Application>
  <PresentationFormat>화면 슬라이드 쇼(4:3)</PresentationFormat>
  <Paragraphs>629</Paragraphs>
  <Slides>43</Slides>
  <Notes>0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45" baseType="lpstr">
      <vt:lpstr>ms01_1</vt:lpstr>
      <vt:lpstr>Image</vt:lpstr>
      <vt:lpstr>클래스</vt:lpstr>
      <vt:lpstr>1. 클래스와 객체</vt:lpstr>
      <vt:lpstr>1. 클래스와 객체</vt:lpstr>
      <vt:lpstr>2. 클래스의 정의</vt:lpstr>
      <vt:lpstr>2. 클래스의 정의</vt:lpstr>
      <vt:lpstr>2. 클래스의 정의</vt:lpstr>
      <vt:lpstr>2. 클래스의 정의</vt:lpstr>
      <vt:lpstr>3. 객체 생성</vt:lpstr>
      <vt:lpstr>4. 객체를 이용한 멤버 접근</vt:lpstr>
      <vt:lpstr>5. 멤버 필드(변수)</vt:lpstr>
      <vt:lpstr>5. 멤버 필드(변수)</vt:lpstr>
      <vt:lpstr>실습(InstanceVariable.java)</vt:lpstr>
      <vt:lpstr>5. 멤버 필드(변수)</vt:lpstr>
      <vt:lpstr>실습(InstanceVariable.java)</vt:lpstr>
      <vt:lpstr>5. 멤버 필드(변수)</vt:lpstr>
      <vt:lpstr>실습(InstanceVariable.java)</vt:lpstr>
      <vt:lpstr>5. 멤버 필드(변수)</vt:lpstr>
      <vt:lpstr>실습(InstanceVariable.java)</vt:lpstr>
      <vt:lpstr>6. 메소드</vt:lpstr>
      <vt:lpstr>6. 메소드</vt:lpstr>
      <vt:lpstr>실습(InstanceVariable.java)</vt:lpstr>
      <vt:lpstr>실습(InstanceVariable.java)</vt:lpstr>
      <vt:lpstr>6. 메소드</vt:lpstr>
      <vt:lpstr>실습(InstanceVariable.java)</vt:lpstr>
      <vt:lpstr>실습(InstanceVariable.java)</vt:lpstr>
      <vt:lpstr>실습(Argument.java)</vt:lpstr>
      <vt:lpstr>6. 메소드</vt:lpstr>
      <vt:lpstr>실습(StaticTestMain.java)</vt:lpstr>
      <vt:lpstr>6. 메소드</vt:lpstr>
      <vt:lpstr>실습(VarTest.java)</vt:lpstr>
      <vt:lpstr>6. 메소드</vt:lpstr>
      <vt:lpstr>실습(GetterSetter.java)</vt:lpstr>
      <vt:lpstr>7. 생성자</vt:lpstr>
      <vt:lpstr>7. 생성자</vt:lpstr>
      <vt:lpstr>실습(ConstructorTest.java)</vt:lpstr>
      <vt:lpstr>실습(ConstructorTest.java)</vt:lpstr>
      <vt:lpstr>실습(Sequence.java)</vt:lpstr>
      <vt:lpstr>8. this</vt:lpstr>
      <vt:lpstr>실습(Sequence.java)</vt:lpstr>
      <vt:lpstr>9. Singleton</vt:lpstr>
      <vt:lpstr>실습(Singleton.java)</vt:lpstr>
      <vt:lpstr>10. GarbageCollection</vt:lpstr>
      <vt:lpstr>실습(GC.java)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Teresa</dc:creator>
  <cp:lastModifiedBy>user</cp:lastModifiedBy>
  <cp:revision>449</cp:revision>
  <dcterms:created xsi:type="dcterms:W3CDTF">2010-03-14T12:09:21Z</dcterms:created>
  <dcterms:modified xsi:type="dcterms:W3CDTF">2013-03-18T23:39:22Z</dcterms:modified>
</cp:coreProperties>
</file>