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259" r:id="rId2"/>
    <p:sldId id="260" r:id="rId3"/>
    <p:sldId id="262" r:id="rId4"/>
    <p:sldId id="268" r:id="rId5"/>
    <p:sldId id="263" r:id="rId6"/>
    <p:sldId id="264" r:id="rId7"/>
    <p:sldId id="265" r:id="rId8"/>
    <p:sldId id="266" r:id="rId9"/>
    <p:sldId id="267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3" r:id="rId24"/>
    <p:sldId id="282" r:id="rId25"/>
    <p:sldId id="284" r:id="rId26"/>
    <p:sldId id="285" r:id="rId27"/>
    <p:sldId id="286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3198" y="-84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E55A8-D5CF-4CB6-A127-D1933B95FA4A}" type="datetimeFigureOut">
              <a:rPr lang="ko-KR" altLang="en-US" smtClean="0"/>
              <a:pPr/>
              <a:t>2013-03-20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17949-EA51-4397-99D6-3B2F4099EE7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477270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1"/>
          <p:cNvSpPr>
            <a:spLocks noChangeArrowheads="1"/>
          </p:cNvSpPr>
          <p:nvPr/>
        </p:nvSpPr>
        <p:spPr bwMode="white">
          <a:xfrm>
            <a:off x="0" y="0"/>
            <a:ext cx="9144000" cy="3279775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ea typeface="굴림" charset="-127"/>
            </a:endParaRPr>
          </a:p>
        </p:txBody>
      </p:sp>
      <p:sp>
        <p:nvSpPr>
          <p:cNvPr id="5" name="Freeform 32"/>
          <p:cNvSpPr>
            <a:spLocks/>
          </p:cNvSpPr>
          <p:nvPr/>
        </p:nvSpPr>
        <p:spPr bwMode="gray">
          <a:xfrm>
            <a:off x="1285852" y="2000240"/>
            <a:ext cx="7859737" cy="1271598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gamma/>
                  <a:shade val="12549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6" name="Freeform 33"/>
          <p:cNvSpPr>
            <a:spLocks/>
          </p:cNvSpPr>
          <p:nvPr/>
        </p:nvSpPr>
        <p:spPr bwMode="invGray">
          <a:xfrm>
            <a:off x="-6350" y="3273425"/>
            <a:ext cx="1292202" cy="454018"/>
          </a:xfrm>
          <a:custGeom>
            <a:avLst/>
            <a:gdLst>
              <a:gd name="connsiteX0" fmla="*/ 0 w 10000"/>
              <a:gd name="connsiteY0" fmla="*/ 0 h 9965"/>
              <a:gd name="connsiteX1" fmla="*/ 10000 w 10000"/>
              <a:gd name="connsiteY1" fmla="*/ 0 h 9965"/>
              <a:gd name="connsiteX2" fmla="*/ 8341 w 10000"/>
              <a:gd name="connsiteY2" fmla="*/ 9686 h 9965"/>
              <a:gd name="connsiteX3" fmla="*/ 0 w 10000"/>
              <a:gd name="connsiteY3" fmla="*/ 9965 h 9965"/>
              <a:gd name="connsiteX4" fmla="*/ 0 w 10000"/>
              <a:gd name="connsiteY4" fmla="*/ 0 h 9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965">
                <a:moveTo>
                  <a:pt x="0" y="0"/>
                </a:moveTo>
                <a:lnTo>
                  <a:pt x="10000" y="0"/>
                </a:lnTo>
                <a:lnTo>
                  <a:pt x="8341" y="9686"/>
                </a:lnTo>
                <a:lnTo>
                  <a:pt x="0" y="996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71670" y="2285992"/>
            <a:ext cx="6715140" cy="685800"/>
          </a:xfrm>
        </p:spPr>
        <p:txBody>
          <a:bodyPr/>
          <a:lstStyle>
            <a:lvl1pPr algn="ctr">
              <a:defRPr sz="4400" b="1" i="0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5638800"/>
            <a:ext cx="6400800" cy="533400"/>
          </a:xfrm>
        </p:spPr>
        <p:txBody>
          <a:bodyPr/>
          <a:lstStyle>
            <a:lvl1pPr marL="0" indent="0" algn="r">
              <a:buFontTx/>
              <a:buNone/>
              <a:defRPr sz="2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smtClean="0"/>
              <a:t>마스터 부제목 스타일 편집</a:t>
            </a:r>
            <a:endParaRPr lang="en-US" altLang="ko-K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00800"/>
            <a:ext cx="2133600" cy="320675"/>
          </a:xfrm>
        </p:spPr>
        <p:txBody>
          <a:bodyPr/>
          <a:lstStyle>
            <a:lvl1pPr>
              <a:defRPr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2013-03-20</a:t>
            </a:fld>
            <a:endParaRPr lang="ko-KR" altLang="en-US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320675"/>
          </a:xfrm>
        </p:spPr>
        <p:txBody>
          <a:bodyPr/>
          <a:lstStyle>
            <a:lvl1pPr>
              <a:defRPr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00800"/>
            <a:ext cx="2133600" cy="320675"/>
          </a:xfrm>
        </p:spPr>
        <p:txBody>
          <a:bodyPr/>
          <a:lstStyle>
            <a:lvl1pPr>
              <a:defRPr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43174" y="227013"/>
            <a:ext cx="6500826" cy="76200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2013-03-20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2013-03-20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2013-03-20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28860" y="71414"/>
            <a:ext cx="6257940" cy="114300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2013-03-20</a:t>
            </a:fld>
            <a:endParaRPr lang="ko-KR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2013-03-20</a:t>
            </a:fld>
            <a:endParaRPr lang="ko-KR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직사각형 5"/>
          <p:cNvSpPr/>
          <p:nvPr userDrawn="1"/>
        </p:nvSpPr>
        <p:spPr bwMode="auto">
          <a:xfrm>
            <a:off x="0" y="1500174"/>
            <a:ext cx="9144000" cy="535782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2013-03-20</a:t>
            </a:fld>
            <a:endParaRPr lang="ko-KR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2013-03-20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 smtClean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2013-03-20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2013-03-20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62738" y="227013"/>
            <a:ext cx="2068512" cy="6170612"/>
          </a:xfrm>
        </p:spPr>
        <p:txBody>
          <a:bodyPr vert="eaVert"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27013"/>
            <a:ext cx="6053138" cy="6170612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2013-03-20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06650" y="227013"/>
            <a:ext cx="6324600" cy="76200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457200" y="1447800"/>
            <a:ext cx="8229600" cy="4949825"/>
          </a:xfrm>
        </p:spPr>
        <p:txBody>
          <a:bodyPr/>
          <a:lstStyle/>
          <a:p>
            <a:pPr lvl="0"/>
            <a:r>
              <a:rPr lang="ko-KR" altLang="en-US" noProof="0" smtClean="0"/>
              <a:t>표를 추가하려면 아이콘을 클릭하십시오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2013-03-20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tint val="39216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1"/>
          <p:cNvSpPr>
            <a:spLocks noChangeArrowheads="1"/>
          </p:cNvSpPr>
          <p:nvPr/>
        </p:nvSpPr>
        <p:spPr bwMode="white">
          <a:xfrm>
            <a:off x="0" y="0"/>
            <a:ext cx="9144000" cy="965200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ea typeface="굴림" charset="-127"/>
            </a:endParaRPr>
          </a:p>
        </p:txBody>
      </p:sp>
      <p:graphicFrame>
        <p:nvGraphicFramePr>
          <p:cNvPr id="1026" name="Object 19"/>
          <p:cNvGraphicFramePr>
            <a:graphicFrameLocks noChangeAspect="1"/>
          </p:cNvGraphicFramePr>
          <p:nvPr userDrawn="1"/>
        </p:nvGraphicFramePr>
        <p:xfrm>
          <a:off x="2987675" y="2736850"/>
          <a:ext cx="6156325" cy="4121150"/>
        </p:xfrm>
        <a:graphic>
          <a:graphicData uri="http://schemas.openxmlformats.org/presentationml/2006/ole">
            <p:oleObj spid="_x0000_s1029" name="Image" r:id="rId15" imgW="7949206" imgH="5320635" progId="">
              <p:embed/>
            </p:oleObj>
          </a:graphicData>
        </a:graphic>
      </p:graphicFrame>
      <p:sp>
        <p:nvSpPr>
          <p:cNvPr id="1045" name="Freeform 21"/>
          <p:cNvSpPr>
            <a:spLocks/>
          </p:cNvSpPr>
          <p:nvPr/>
        </p:nvSpPr>
        <p:spPr bwMode="gray">
          <a:xfrm>
            <a:off x="1828800" y="246063"/>
            <a:ext cx="7315200" cy="720725"/>
          </a:xfrm>
          <a:custGeom>
            <a:avLst/>
            <a:gdLst/>
            <a:ahLst/>
            <a:cxnLst>
              <a:cxn ang="0">
                <a:pos x="0" y="454"/>
              </a:cxn>
              <a:cxn ang="0">
                <a:pos x="4798" y="454"/>
              </a:cxn>
              <a:cxn ang="0">
                <a:pos x="4798" y="0"/>
              </a:cxn>
              <a:cxn ang="0">
                <a:pos x="382" y="3"/>
              </a:cxn>
              <a:cxn ang="0">
                <a:pos x="0" y="454"/>
              </a:cxn>
            </a:cxnLst>
            <a:rect l="0" t="0" r="r" b="b"/>
            <a:pathLst>
              <a:path w="4798" h="454">
                <a:moveTo>
                  <a:pt x="0" y="454"/>
                </a:moveTo>
                <a:lnTo>
                  <a:pt x="4798" y="454"/>
                </a:lnTo>
                <a:lnTo>
                  <a:pt x="4798" y="0"/>
                </a:lnTo>
                <a:lnTo>
                  <a:pt x="382" y="3"/>
                </a:lnTo>
                <a:lnTo>
                  <a:pt x="0" y="454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1046" name="Freeform 22"/>
          <p:cNvSpPr>
            <a:spLocks/>
          </p:cNvSpPr>
          <p:nvPr/>
        </p:nvSpPr>
        <p:spPr bwMode="gray">
          <a:xfrm>
            <a:off x="0" y="966788"/>
            <a:ext cx="1828800" cy="2889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338" y="0"/>
              </a:cxn>
              <a:cxn ang="0">
                <a:pos x="1138" y="182"/>
              </a:cxn>
              <a:cxn ang="0">
                <a:pos x="0" y="181"/>
              </a:cxn>
              <a:cxn ang="0">
                <a:pos x="0" y="0"/>
              </a:cxn>
            </a:cxnLst>
            <a:rect l="0" t="0" r="r" b="b"/>
            <a:pathLst>
              <a:path w="1338" h="182">
                <a:moveTo>
                  <a:pt x="0" y="0"/>
                </a:moveTo>
                <a:lnTo>
                  <a:pt x="1338" y="0"/>
                </a:lnTo>
                <a:lnTo>
                  <a:pt x="1138" y="182"/>
                </a:lnTo>
                <a:lnTo>
                  <a:pt x="0" y="1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2406650" y="227013"/>
            <a:ext cx="6324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  <a:endParaRPr lang="en-US" altLang="ko-KR" smtClean="0"/>
          </a:p>
        </p:txBody>
      </p:sp>
      <p:sp>
        <p:nvSpPr>
          <p:cNvPr id="103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47800"/>
            <a:ext cx="8229600" cy="494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altLang="ko-KR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77000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ea typeface="굴림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2013-03-20</a:t>
            </a:fld>
            <a:endParaRPr lang="ko-KR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77000"/>
            <a:ext cx="2895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ea typeface="굴림" charset="-127"/>
              </a:defRPr>
            </a:lvl1pPr>
          </a:lstStyle>
          <a:p>
            <a:endParaRPr lang="ko-KR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ea typeface="굴림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4000" b="1" i="0">
          <a:solidFill>
            <a:schemeClr val="bg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sz="3200">
          <a:solidFill>
            <a:srgbClr val="000000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sz="2800">
          <a:solidFill>
            <a:srgbClr val="000000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2400">
          <a:solidFill>
            <a:srgbClr val="00000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sz="2000">
          <a:solidFill>
            <a:srgbClr val="000000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상속과 </a:t>
            </a:r>
            <a:r>
              <a:rPr lang="ko-KR" altLang="en-US" dirty="0" err="1" smtClean="0"/>
              <a:t>다형성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상속</a:t>
            </a:r>
            <a:r>
              <a:rPr lang="en-US" altLang="ko-KR" dirty="0" smtClean="0"/>
              <a:t>(is a)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상위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클래스의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모든 멤버를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하위클래스가 물려 받는 것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상속은 객체지향언어의 주요한 특징인 재사용성과 코드의 간결성을 제공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자신이 만든 클래스로부터 상속 받을 수 있고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JDK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가 이미 만들어둔 클래스로부터 상속받아 사용 가능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모든 클래스는 상위클래스를 갖게 되는데 만일 상위 클래스가 없다면 상위 클래스는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java.lang.Object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가 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상위 클래스를 지정하기 위해 자바에서는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extends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라는 키워드를 사용합니다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상속의 종류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단일 상속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하나의 클래스로부터 상속받는 경우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다중 상속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2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개 이상의 클래스로부터 상속받는 경우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상속의 용어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상속하는 클래스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– Base, Super, Parent Class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상속받는 클래스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– Derivation, Sub, Child Class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상속</a:t>
            </a:r>
            <a:r>
              <a:rPr lang="en-US" altLang="ko-KR" dirty="0" smtClean="0"/>
              <a:t>(is a)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상속 형식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[public/final/abstract] class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클래스이름 </a:t>
            </a: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extends </a:t>
            </a:r>
            <a:r>
              <a:rPr kumimoji="1" lang="ko-KR" altLang="en-US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상위클래스이름 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{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멤버변수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  <a:endParaRPr kumimoji="1" lang="ko-KR" altLang="en-US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멤버메소드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  <a:endParaRPr kumimoji="1" lang="ko-KR" altLang="en-US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상위 클래스의 모든 멤버는 상속되지만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private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멤버는 하위 클래스에서는 접근할 수 없게 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동일한 이름의 변수가 상위클래스와 하위클래스에 존재하는 경우 상위클래스의 변수는 가려지게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되서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객체를 이용해서는 직접 접근이 불가능하게 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static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변수도 상속됩니다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 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하위 클래스의 객체 생성 시 메모리 할당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5004048" y="4941168"/>
          <a:ext cx="2592288" cy="100811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92288"/>
              </a:tblGrid>
              <a:tr h="5040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rgbClr val="000000"/>
                          </a:solidFill>
                        </a:rPr>
                        <a:t>상위 클래스 멤버 필드</a:t>
                      </a:r>
                      <a:endParaRPr lang="ko-KR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0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rgbClr val="000000"/>
                          </a:solidFill>
                        </a:rPr>
                        <a:t>하위 클래스 멤버 필드</a:t>
                      </a:r>
                      <a:endParaRPr lang="ko-KR" alt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상속</a:t>
            </a:r>
            <a:r>
              <a:rPr lang="en-US" altLang="ko-KR" dirty="0" smtClean="0"/>
              <a:t>(is a)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한 명의 사원에 대해서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4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가지 정보를 갖는 경우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모든 사원은 사원번호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이름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부서를 필수로 갖고 직책은 관리자들만 가져야 하는 경우에 하나의 클래스로 처리하게 되면 관리자가 아닌 사원의 경우에는 직책 정보가 필요가 없음에도 불구하고 소유하게 되어 메모리를 낭비할 수 있게 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사원번호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이름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부서를 갖는 사원 클래스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사원 클래스로부터 상속을 받고 직책을 갖는 관리자 클래스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실습</a:t>
            </a:r>
            <a:r>
              <a:rPr lang="en-US" altLang="ko-KR" sz="3200" dirty="0" smtClean="0"/>
              <a:t>(Company-</a:t>
            </a:r>
            <a:r>
              <a:rPr lang="en-US" altLang="ko-KR" sz="3200" dirty="0" err="1" smtClean="0"/>
              <a:t>Employee.class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class Employee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private String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사원번호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private String name;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이름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private String part;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부서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매개변수 없는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생성자</a:t>
            </a:r>
            <a:endParaRPr kumimoji="1" lang="ko-KR" altLang="en-US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 Employee()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매개변수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3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개를 갖는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생성자</a:t>
            </a:r>
            <a:endParaRPr kumimoji="1" lang="ko-KR" altLang="en-US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 Employee(String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String name, String part)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this.empNo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this.name = name;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this.part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part;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String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getEmpNo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return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String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getName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return name;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실습</a:t>
            </a:r>
            <a:r>
              <a:rPr lang="en-US" altLang="ko-KR" sz="3200" dirty="0" smtClean="0"/>
              <a:t>(Company-</a:t>
            </a:r>
            <a:r>
              <a:rPr lang="en-US" altLang="ko-KR" sz="3200" dirty="0" err="1" smtClean="0"/>
              <a:t>Employee.class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String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getPart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return part;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void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setEmpNo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(String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this.empNo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void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setName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(String name)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this.name = name;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void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setPart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(String part)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this.part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part;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 필드의 값을 결과 문자열로 결합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 String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resultStr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String result = "";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result += "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사번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" +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+ "\n";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result += 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이름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" + name + "\n";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result += 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부서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" + part + "\n";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return result;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실습</a:t>
            </a:r>
            <a:r>
              <a:rPr lang="en-US" altLang="ko-KR" sz="3200" dirty="0" smtClean="0"/>
              <a:t>(Company-</a:t>
            </a:r>
            <a:r>
              <a:rPr lang="en-US" altLang="ko-KR" sz="3200" dirty="0" err="1" smtClean="0"/>
              <a:t>Manager.class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 class Manager extends Employee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private String position;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직책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매개변수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4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개를 갖는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생성자</a:t>
            </a:r>
            <a:endParaRPr kumimoji="1" lang="ko-KR" altLang="en-US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 Manager(String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String name, String part, String position)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setEmpNo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setName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(name);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setPart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(part);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this.position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position;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관리자에서 추가되는 정보를 결과 문자열로 결합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 String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addStr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String result = "";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result += 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직책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" + position + "\n";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return result;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실습</a:t>
            </a:r>
            <a:r>
              <a:rPr lang="en-US" altLang="ko-KR" sz="3200" dirty="0" smtClean="0"/>
              <a:t>(Company-</a:t>
            </a:r>
            <a:r>
              <a:rPr lang="en-US" altLang="ko-KR" sz="3200" dirty="0" err="1" smtClean="0"/>
              <a:t>Company.class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import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java.io.BufferedReader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import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java.io.InputStreamReader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 class Company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static void main(String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args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[])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String result = "";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결과 문자열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Employee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null; // Employee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객체의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레퍼런스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Manager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mng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null; // Manager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객체의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레퍼런스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String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null;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사원번호를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입력받는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String name = null;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이름을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입력받는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String part = null;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부서를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입력받는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String position = null;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직책을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입력받는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BufferedReader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in = new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BufferedReader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(new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InputStreamReader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System.in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try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사번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입력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)A1010 : ");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in.readLine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이름 입력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박문석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:");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name 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in.readLine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부서 입력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기획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:");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part 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in.readLine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직책 입력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사원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-1,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대리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-2,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과장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-3 :");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position 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in.readLine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} catch (Exception e)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입력 오류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}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25397" t="49995" r="50388" b="31825"/>
          <a:stretch>
            <a:fillRect/>
          </a:stretch>
        </p:blipFill>
        <p:spPr bwMode="auto">
          <a:xfrm>
            <a:off x="6156176" y="1052736"/>
            <a:ext cx="2160240" cy="1264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실습</a:t>
            </a:r>
            <a:r>
              <a:rPr lang="en-US" altLang="ko-KR" sz="3200" dirty="0" smtClean="0"/>
              <a:t>(Company-</a:t>
            </a:r>
            <a:r>
              <a:rPr lang="en-US" altLang="ko-KR" sz="3200" dirty="0" err="1" smtClean="0"/>
              <a:t>Company.class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// position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값이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"1"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이면 사원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그외이면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관리자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if 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position.equals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("1")) {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사원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// Employee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클래스의 객체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를 생성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new Employee(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name, part);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result +=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emp.resultStr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} else {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관리자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// position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값이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"2"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이면 대리로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그외이면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과장으로 대치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position = 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position.equals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("2")) ? 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대리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 : 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과장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// Manager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클래스의 객체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mng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를 생성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mng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new Manager(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name, part, position);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result +=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mng.resultStr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 +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mng.addStr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결과 문자열을 콘솔에 출력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(result);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super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하위 클래스에서 상위 클래스 객체를 가리키는 포인터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상위 클래스와 하위클래스에 동일한 멤버 필드나 멤버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메소드가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있을 때 상위 클래스의 멤버를 지시하기 위해 사용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상위 클래스의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생성자를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호출할 때는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생성자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에서만 호출이 가능하며 다른 문장보다 무조건 먼저 와야 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사용방법 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 필드 접근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super.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멤버필드 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접근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super.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멤버메소드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매개변수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생성자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접근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super(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매개변수</a:t>
            </a:r>
            <a:r>
              <a:rPr kumimoji="1" lang="en-US" altLang="ko-KR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–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생성자 메서드에서만 사용이 가능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실습</a:t>
            </a:r>
            <a:r>
              <a:rPr lang="en-US" altLang="ko-KR" sz="3200" dirty="0" smtClean="0"/>
              <a:t>(Super-</a:t>
            </a:r>
            <a:r>
              <a:rPr lang="en-US" altLang="ko-KR" sz="3200" dirty="0" err="1" smtClean="0"/>
              <a:t>Manager.class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class Manager extends Employee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private String position;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직책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매개변수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4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개를 갖는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생성자</a:t>
            </a:r>
            <a:endParaRPr kumimoji="1" lang="ko-KR" altLang="en-US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 Manager(String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String name, String part, String position)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//		</a:t>
            </a:r>
            <a:r>
              <a:rPr kumimoji="1" lang="en-US" altLang="ko-KR" sz="1400" b="1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setEmpNo</a:t>
            </a: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en-US" altLang="ko-KR" sz="1400" b="1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//		</a:t>
            </a:r>
            <a:r>
              <a:rPr kumimoji="1" lang="en-US" altLang="ko-KR" sz="1400" b="1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setName</a:t>
            </a: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(name);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//		</a:t>
            </a:r>
            <a:r>
              <a:rPr kumimoji="1" lang="en-US" altLang="ko-KR" sz="1400" b="1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setPart</a:t>
            </a: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(part);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super(</a:t>
            </a:r>
            <a:r>
              <a:rPr kumimoji="1" lang="en-US" altLang="ko-KR" sz="1400" b="1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name, part);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this.position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position;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관리자에서 추가되는 정보를 결과 문자열로 결합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 String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addStr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String result 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super.resultStr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result += 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직책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" + position + "\n";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return result;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실습</a:t>
            </a:r>
            <a:r>
              <a:rPr lang="en-US" altLang="ko-KR" sz="3200" dirty="0" smtClean="0"/>
              <a:t>(Company-</a:t>
            </a:r>
            <a:r>
              <a:rPr lang="en-US" altLang="ko-KR" sz="3200" dirty="0" err="1" smtClean="0"/>
              <a:t>Company.class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import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java.io.BufferedReader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import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java.io.InputStreamReader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 class Company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static void main(String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args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[])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String result = "";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결과 문자열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Employee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null; // Employee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객체의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레퍼런스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Manager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mng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null; // Manager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객체의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레퍼런스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String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null;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사원번호를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입력받는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String name = null;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이름을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입력받는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String part = null;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부서를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입력받는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String position = null;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직책을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입력받는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BufferedReader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in = new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BufferedReader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(new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InputStreamReader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System.in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try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사번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입력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)A1010 : ");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in.readLine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이름 입력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박문석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:");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name 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in.readLine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부서 입력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기획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:");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part 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in.readLine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직책 입력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사원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-1,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대리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-2,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과장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-3 :");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position 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in.readLine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} catch (Exception e)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입력 오류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}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25397" t="49995" r="50388" b="31825"/>
          <a:stretch>
            <a:fillRect/>
          </a:stretch>
        </p:blipFill>
        <p:spPr bwMode="auto">
          <a:xfrm>
            <a:off x="6156176" y="1052736"/>
            <a:ext cx="2160240" cy="1264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실습</a:t>
            </a:r>
            <a:r>
              <a:rPr lang="en-US" altLang="ko-KR" sz="3200" dirty="0" smtClean="0"/>
              <a:t>(Company-</a:t>
            </a:r>
            <a:r>
              <a:rPr lang="en-US" altLang="ko-KR" sz="3200" dirty="0" err="1" smtClean="0"/>
              <a:t>Company.class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// position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값이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"1"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이면 사원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그외이면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관리자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if 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position.equals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("1")) {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사원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// Employee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클래스의 객체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를 생성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new Employee(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name, part);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result +=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emp.resultStr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} else {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관리자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// position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값이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"2"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이면 대리로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그외이면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과장으로 대치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position = 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position.equals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("2")) ? 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대리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 : 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과장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// Manager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클래스의 객체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mng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를 생성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mng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new Manager(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name, part, position);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//result += </a:t>
            </a:r>
            <a:r>
              <a:rPr kumimoji="1" lang="en-US" altLang="ko-KR" sz="1400" b="1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mng.resultStr</a:t>
            </a: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 + </a:t>
            </a:r>
            <a:r>
              <a:rPr kumimoji="1" lang="en-US" altLang="ko-KR" sz="1400" b="1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mng.addStr</a:t>
            </a: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result += </a:t>
            </a:r>
            <a:r>
              <a:rPr kumimoji="1" lang="en-US" altLang="ko-KR" sz="1400" b="1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mng.addStr</a:t>
            </a: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결과 문자열을 콘솔에 출력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(result);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 smtClean="0"/>
              <a:t>3. </a:t>
            </a:r>
            <a:r>
              <a:rPr lang="en-US" altLang="ko-KR" sz="3200" dirty="0" err="1" smtClean="0"/>
              <a:t>MethodOverriding</a:t>
            </a:r>
            <a:r>
              <a:rPr lang="en-US" altLang="ko-KR" sz="3200" dirty="0" smtClean="0"/>
              <a:t>(</a:t>
            </a:r>
            <a:r>
              <a:rPr lang="ko-KR" altLang="en-US" sz="3200" dirty="0" smtClean="0"/>
              <a:t>재정의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상속 관계에 있는 클래스들에 원형이 동일한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메서드가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존재하는 경우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상위 클래스의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메서드와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동일한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메서드를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하위 클래스에서 생성한 경우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오버라이딩된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메서드는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오브젝트가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메소드를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호출하면 자신의 클래스 형의 멤버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메소드를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호출합니다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주의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상위 클래스와 하위 클래스에 동일한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메소드명으로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동일한 매개 변수를 갖는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메소드가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존재하는 경우는 하위 클래스에 존재하는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메소드의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접근 지정자가 상위 클래스의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메소드의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접근 지정자보다 더 크거나 같아야 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public&gt;protected&gt;default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실습</a:t>
            </a:r>
            <a:r>
              <a:rPr lang="en-US" altLang="ko-KR" sz="3200" dirty="0" smtClean="0"/>
              <a:t>(Overriding-</a:t>
            </a:r>
            <a:r>
              <a:rPr lang="en-US" altLang="ko-KR" sz="3200" dirty="0" err="1" smtClean="0"/>
              <a:t>Manager.class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class Manager extends Employee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private String position;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직책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매개변수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4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개를 갖는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생성자</a:t>
            </a:r>
            <a:endParaRPr kumimoji="1" lang="ko-KR" altLang="en-US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 Manager(String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String name, String part, String position)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super(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name, part);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this.position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position;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관리자에서 추가되는 정보를 결과 문자열로 결합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 String </a:t>
            </a:r>
            <a:r>
              <a:rPr kumimoji="1" lang="en-US" altLang="ko-KR" sz="1400" b="1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resultStr</a:t>
            </a: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String result 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super.resultStr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result += 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직책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" + position + "\n";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return result;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실습</a:t>
            </a:r>
            <a:r>
              <a:rPr lang="en-US" altLang="ko-KR" sz="3200" dirty="0" smtClean="0"/>
              <a:t>(Overriding-</a:t>
            </a:r>
            <a:r>
              <a:rPr lang="en-US" altLang="ko-KR" sz="3200" dirty="0" err="1" smtClean="0"/>
              <a:t>Company.class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import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java.io.BufferedReader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import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java.io.InputStreamReader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 class Company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static void main(String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args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[])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String result = "";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결과 문자열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Employee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null; // Employee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객체의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레퍼런스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Manager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mng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null; // Manager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객체의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레퍼런스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String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null;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사원번호를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입력받는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String name = null;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이름을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입력받는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String part = null;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부서를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입력받는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String position = null;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직책을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입력받는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BufferedReader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in = new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BufferedReader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(new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InputStreamReader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System.in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try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사번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입력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)A1010 : ");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in.readLine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이름 입력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박문석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:");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name 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in.readLine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부서 입력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기획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:");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part 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in.readLine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직책 입력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사원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-1,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대리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-2,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과장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-3 :");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position 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in.readLine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} catch (Exception e)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입력 오류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}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25397" t="49995" r="50388" b="31825"/>
          <a:stretch>
            <a:fillRect/>
          </a:stretch>
        </p:blipFill>
        <p:spPr bwMode="auto">
          <a:xfrm>
            <a:off x="6156176" y="1052736"/>
            <a:ext cx="2160240" cy="1264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실습</a:t>
            </a:r>
            <a:r>
              <a:rPr lang="en-US" altLang="ko-KR" sz="3200" dirty="0" smtClean="0"/>
              <a:t>(Overriding-</a:t>
            </a:r>
            <a:r>
              <a:rPr lang="en-US" altLang="ko-KR" sz="3200" dirty="0" err="1" smtClean="0"/>
              <a:t>Company.class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// position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값이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"1"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이면 사원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그외이면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관리자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if 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position.equals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("1")) {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사원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// Employee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클래스의 객체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를 생성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new Employee(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name, part);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result +=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emp.resultStr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} else {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관리자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// position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값이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"2"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이면 대리로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그외이면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과장으로 대치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position = 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position.equals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("2")) ? 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대리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 : 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과장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// Manager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클래스의 객체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mng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를 생성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mng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new Manager(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name, part, position);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result += </a:t>
            </a:r>
            <a:r>
              <a:rPr kumimoji="1" lang="en-US" altLang="ko-KR" sz="1400" b="1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mng.resultStr</a:t>
            </a: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결과 문자열을 콘솔에 출력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(result);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 smtClean="0"/>
              <a:t>4. </a:t>
            </a:r>
            <a:r>
              <a:rPr lang="ko-KR" altLang="en-US" sz="3200" dirty="0" err="1" smtClean="0"/>
              <a:t>참조형</a:t>
            </a:r>
            <a:r>
              <a:rPr lang="ko-KR" altLang="en-US" sz="3200" dirty="0" smtClean="0"/>
              <a:t> 데이터의 대입</a:t>
            </a:r>
            <a:endParaRPr lang="ko-KR" altLang="en-US" sz="3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상위 클래스 타입으로 선언된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참조형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변수에는 하위 클래스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타입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객체를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대입할 수 있습니다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상위 클래스 타입에서 요구하는 것을 하위 클래스 타입에서는 모두 제공 가능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하위 클래스 타입으로 선언된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참조형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변수에 상위 클래스 타입의 객체의 주소를 대입할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때는 </a:t>
            </a:r>
            <a:r>
              <a:rPr kumimoji="1" lang="ko-KR" altLang="en-US" sz="16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강제형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변환을 통해서만 가능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원본의 타입이 하위 클래스 타입 인 경우에만 하는 것이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바람직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오버라이딩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된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메서드는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선언할 때 사용할 타입이 아니고 메모리를 할당한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생성자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타입을 가지고 메서드를 호출합니다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이를 이용하면 동일한 메시지에 대하여 다르게 반응하는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다형성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Polymerphism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을 구현할 수 있게 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실습</a:t>
            </a:r>
            <a:r>
              <a:rPr lang="en-US" altLang="ko-KR" sz="3200" dirty="0" smtClean="0"/>
              <a:t>(Convert-</a:t>
            </a:r>
            <a:r>
              <a:rPr lang="en-US" altLang="ko-KR" sz="3200" dirty="0" err="1" smtClean="0"/>
              <a:t>Company.class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import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java.io.BufferedReader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import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java.io.InputStreamReader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 class Company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static void main(String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args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[])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String result = "";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결과 문자열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Employee </a:t>
            </a:r>
            <a:r>
              <a:rPr kumimoji="1" lang="en-US" altLang="ko-KR" sz="1400" b="1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null;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String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null;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사원번호를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입력받는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String name = null;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이름을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입력받는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String part = null;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부서를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입력받는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String position = null;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직책을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입력받는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BufferedReader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in = new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BufferedReader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(new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InputStreamReader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System.in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try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사번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입력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)A1010 : ");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in.readLine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이름 입력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박문석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:");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name 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in.readLine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부서 입력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기획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:");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part 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in.readLine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직책 입력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사원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-1,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대리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-2,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과장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-3 :");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position 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in.readLine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} catch (Exception e)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입력 오류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실습</a:t>
            </a:r>
            <a:r>
              <a:rPr lang="en-US" altLang="ko-KR" sz="3200" dirty="0" smtClean="0"/>
              <a:t>(Convert-</a:t>
            </a:r>
            <a:r>
              <a:rPr lang="en-US" altLang="ko-KR" sz="3200" dirty="0" err="1" smtClean="0"/>
              <a:t>Company.class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// position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값이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"1"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이면 사원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그외이면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관리자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if 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position.equals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("1")) {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사원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// Employee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클래스의 객체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를 생성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new Employee(</a:t>
            </a:r>
            <a:r>
              <a:rPr kumimoji="1" lang="en-US" altLang="ko-KR" sz="1400" b="1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name, part);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result +=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obj.resultStr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} else { 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관리자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// position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의 값이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"2"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이면 대리로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그 외이면 과장으로 대치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position = (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position.equals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("2")) ? 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대리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 : 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과장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// Manager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클래스의 객체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를 생성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</a:t>
            </a:r>
            <a:r>
              <a:rPr kumimoji="1" lang="en-US" altLang="ko-KR" sz="1400" b="1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new Manager(</a:t>
            </a:r>
            <a:r>
              <a:rPr kumimoji="1" lang="en-US" altLang="ko-KR" sz="1400" b="1" dirty="0" err="1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empNo</a:t>
            </a:r>
            <a:r>
              <a:rPr kumimoji="1" lang="en-US" altLang="ko-KR" sz="14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name, part, position);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	result +=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obj.resultStr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결과 문자열을 콘솔에 출력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(result);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 smtClean="0"/>
              <a:t>5. Abstract Class</a:t>
            </a:r>
            <a:endParaRPr lang="ko-KR" altLang="en-US" sz="3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21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 이름 앞에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abstract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라는 예약어가 사용된 클래스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하위 클래스에서 구현될 기능을 추상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메소드로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선언한 클래스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추상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메소드는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선언만 되어 있고 구현 부분이 없는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메소드로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메서드의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결과형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앞에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abstract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를 기재해서 생성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추상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메소드는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반드시 하위 클래스에서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오버라이딩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되어서 구현되어야 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추상 클래스는 추상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메소드와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일반적인 멤버변수 그리고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메소드를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가질 수 있습니다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추상클래스는 자신의 객체를 생성하지 못하며 상속을 통해서만 이용할 수 있습니다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추상클래스 타입의 변수는 선언할 수 있습니다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실습</a:t>
            </a:r>
            <a:r>
              <a:rPr lang="en-US" altLang="ko-KR" sz="3200" dirty="0" smtClean="0"/>
              <a:t>(Abstract-</a:t>
            </a:r>
            <a:r>
              <a:rPr lang="en-US" altLang="ko-KR" sz="3200" dirty="0" err="1" smtClean="0"/>
              <a:t>Star.class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22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abstract class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Starcraft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abstract void attack();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실습</a:t>
            </a:r>
            <a:r>
              <a:rPr lang="en-US" altLang="ko-KR" sz="3200" dirty="0" smtClean="0"/>
              <a:t>(Abstract-</a:t>
            </a:r>
            <a:r>
              <a:rPr lang="en-US" altLang="ko-KR" sz="3200" dirty="0" err="1" smtClean="0"/>
              <a:t>Protoss.class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23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 class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Protoss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extends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Starcraft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@Override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void attack()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프로토스의 공격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실습</a:t>
            </a:r>
            <a:r>
              <a:rPr lang="en-US" altLang="ko-KR" sz="3200" dirty="0" smtClean="0"/>
              <a:t>(Abstract-</a:t>
            </a:r>
            <a:r>
              <a:rPr lang="en-US" altLang="ko-KR" sz="3200" dirty="0" err="1" smtClean="0"/>
              <a:t>Terran.class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24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 class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Terran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extends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Starcraft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@Override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void attack()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테란의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공격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실습</a:t>
            </a:r>
            <a:r>
              <a:rPr lang="en-US" altLang="ko-KR" sz="3200" dirty="0" smtClean="0"/>
              <a:t>(Abstract-</a:t>
            </a:r>
            <a:r>
              <a:rPr lang="en-US" altLang="ko-KR" sz="3200" dirty="0" err="1" smtClean="0"/>
              <a:t>Zerg.class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25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 class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Zerg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extends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Starcraft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@Override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void attack()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저그의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공격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");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14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실습</a:t>
            </a:r>
            <a:r>
              <a:rPr lang="en-US" altLang="ko-KR" sz="3200" dirty="0" smtClean="0"/>
              <a:t>(Abstract-</a:t>
            </a:r>
            <a:r>
              <a:rPr lang="en-US" altLang="ko-KR" sz="3200" dirty="0" err="1" smtClean="0"/>
              <a:t>Main.class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26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public class Main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public static void main(String[]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args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Terran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marine = new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Terran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marine.attack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Protoss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dragoon = new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Protoss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   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dragoon.attack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Zerg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hydralisk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new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Zerg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   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hydralisk.attack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System.out.println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("====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객체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형변환과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오버라이딩을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이용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====");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Starcraft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new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Terran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   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//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상위 클래스의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참조형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변수에 하위 클래스의 객체를 대입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obj.attack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                  // shot()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호출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   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new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Protoss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obj.attack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                  // shot()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호출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new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Zerg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obj.attack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                  // shot()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메소드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호출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/* error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추상 클래스는 자신의 </a:t>
            </a:r>
            <a:r>
              <a:rPr kumimoji="1" lang="ko-KR" altLang="en-US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생성자를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이용해서 객체를 생성할 수 없음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= new 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Starcraft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</a:t>
            </a:r>
            <a:r>
              <a:rPr kumimoji="1" lang="en-US" altLang="ko-KR" sz="14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obj.shot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	*/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 smtClean="0"/>
              <a:t>6. final</a:t>
            </a:r>
            <a:endParaRPr lang="ko-KR" altLang="en-US" sz="3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27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5536" y="1340768"/>
            <a:ext cx="82809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final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클래스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상속할 수 없는 클래스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final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메서드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재정의 할 수 없는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메서드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final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필드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값을 변경할 수 없는 필드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</a:t>
            </a:r>
            <a:r>
              <a:rPr lang="en-US" altLang="ko-KR" smtClean="0"/>
              <a:t>. </a:t>
            </a:r>
            <a:r>
              <a:rPr lang="ko-KR" altLang="en-US" dirty="0" smtClean="0"/>
              <a:t>인터페이스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ko-KR" altLang="en-US" sz="1600" dirty="0" smtClean="0"/>
              <a:t>인터페이스</a:t>
            </a:r>
          </a:p>
          <a:p>
            <a:pPr lvl="1">
              <a:buFont typeface="Wingdings" pitchFamily="2" charset="2"/>
              <a:buChar char="v"/>
            </a:pPr>
            <a:r>
              <a:rPr lang="ko-KR" altLang="en-US" sz="1400" dirty="0" smtClean="0"/>
              <a:t>다중 상속을 위해서 나온 개념</a:t>
            </a:r>
            <a:endParaRPr lang="en-US" altLang="ko-KR" sz="1400" dirty="0" smtClean="0"/>
          </a:p>
          <a:p>
            <a:pPr lvl="1">
              <a:buFont typeface="Wingdings" pitchFamily="2" charset="2"/>
              <a:buChar char="v"/>
            </a:pPr>
            <a:r>
              <a:rPr lang="en-US" altLang="ko-KR" sz="1400" dirty="0" smtClean="0"/>
              <a:t>static final </a:t>
            </a:r>
            <a:r>
              <a:rPr lang="ko-KR" altLang="en-US" sz="1400" dirty="0" smtClean="0"/>
              <a:t>변수와 추상 </a:t>
            </a:r>
            <a:r>
              <a:rPr lang="ko-KR" altLang="en-US" sz="1400" dirty="0" err="1" smtClean="0"/>
              <a:t>메소드</a:t>
            </a:r>
            <a:r>
              <a:rPr lang="ko-KR" altLang="en-US" sz="1400" dirty="0" smtClean="0"/>
              <a:t> 만을 소유</a:t>
            </a:r>
            <a:endParaRPr lang="en-US" altLang="ko-KR" sz="1400" dirty="0" smtClean="0"/>
          </a:p>
          <a:p>
            <a:pPr lvl="1">
              <a:buFont typeface="Wingdings" pitchFamily="2" charset="2"/>
              <a:buChar char="v"/>
            </a:pPr>
            <a:r>
              <a:rPr lang="ko-KR" altLang="en-US" sz="1400" dirty="0" smtClean="0"/>
              <a:t>인터페이스에 정의된 모든 </a:t>
            </a:r>
            <a:r>
              <a:rPr lang="ko-KR" altLang="en-US" sz="1400" dirty="0" err="1" smtClean="0"/>
              <a:t>메소드는</a:t>
            </a:r>
            <a:r>
              <a:rPr lang="ko-KR" altLang="en-US" sz="1400" dirty="0" smtClean="0"/>
              <a:t> 상속 받는 클래스에서 전부 </a:t>
            </a:r>
            <a:r>
              <a:rPr lang="en-US" altLang="ko-KR" sz="1400" dirty="0" smtClean="0"/>
              <a:t>Overriding(</a:t>
            </a:r>
            <a:r>
              <a:rPr lang="ko-KR" altLang="en-US" sz="1400" dirty="0" smtClean="0"/>
              <a:t>재정의</a:t>
            </a:r>
            <a:r>
              <a:rPr lang="en-US" altLang="ko-KR" sz="1400" dirty="0" smtClean="0"/>
              <a:t>) </a:t>
            </a:r>
            <a:r>
              <a:rPr lang="ko-KR" altLang="en-US" sz="1400" dirty="0" smtClean="0"/>
              <a:t>해야 합니다</a:t>
            </a:r>
            <a:r>
              <a:rPr lang="en-US" altLang="ko-KR" sz="1400" dirty="0" smtClean="0"/>
              <a:t>.</a:t>
            </a:r>
          </a:p>
          <a:p>
            <a:pPr lvl="1">
              <a:buFont typeface="Wingdings" pitchFamily="2" charset="2"/>
              <a:buChar char="v"/>
            </a:pPr>
            <a:r>
              <a:rPr lang="ko-KR" altLang="en-US" sz="1400" dirty="0" smtClean="0"/>
              <a:t>인터페이스로부터 클래스가 상속을 받을 때 </a:t>
            </a:r>
            <a:r>
              <a:rPr lang="en-US" altLang="ko-KR" sz="1400" dirty="0" smtClean="0"/>
              <a:t>extends </a:t>
            </a:r>
            <a:r>
              <a:rPr lang="ko-KR" altLang="en-US" sz="1400" dirty="0" smtClean="0"/>
              <a:t>키워드 대신에 </a:t>
            </a:r>
            <a:r>
              <a:rPr lang="en-US" altLang="ko-KR" sz="1400" dirty="0" smtClean="0"/>
              <a:t>implements </a:t>
            </a:r>
            <a:r>
              <a:rPr lang="ko-KR" altLang="en-US" sz="1400" dirty="0" smtClean="0"/>
              <a:t>키워드를 사용</a:t>
            </a:r>
            <a:endParaRPr lang="en-US" altLang="ko-KR" sz="1400" dirty="0" smtClean="0"/>
          </a:p>
          <a:p>
            <a:pPr>
              <a:buFont typeface="Wingdings" pitchFamily="2" charset="2"/>
              <a:buChar char="v"/>
            </a:pPr>
            <a:endParaRPr lang="en-US" altLang="ko-KR" sz="1600" dirty="0" smtClean="0"/>
          </a:p>
          <a:p>
            <a:pPr>
              <a:buFont typeface="Wingdings" pitchFamily="2" charset="2"/>
              <a:buChar char="v"/>
            </a:pPr>
            <a:r>
              <a:rPr lang="ko-KR" altLang="en-US" sz="1600" dirty="0" smtClean="0"/>
              <a:t>인터페이스 정의</a:t>
            </a:r>
          </a:p>
          <a:p>
            <a:pPr lvl="1">
              <a:buNone/>
            </a:pPr>
            <a:r>
              <a:rPr lang="en-US" altLang="ko-KR" sz="1400" dirty="0" smtClean="0"/>
              <a:t>public interface </a:t>
            </a:r>
            <a:r>
              <a:rPr lang="ko-KR" altLang="en-US" sz="1400" dirty="0" smtClean="0"/>
              <a:t>인터페이스이름 </a:t>
            </a:r>
            <a:r>
              <a:rPr lang="en-US" altLang="ko-KR" sz="1400" dirty="0" smtClean="0"/>
              <a:t>[extends </a:t>
            </a:r>
            <a:r>
              <a:rPr lang="ko-KR" altLang="en-US" sz="1400" dirty="0" smtClean="0"/>
              <a:t>인터페이스이름</a:t>
            </a:r>
            <a:r>
              <a:rPr lang="en-US" altLang="ko-KR" sz="1400" dirty="0" smtClean="0"/>
              <a:t>, …..] </a:t>
            </a:r>
          </a:p>
          <a:p>
            <a:pPr lvl="1">
              <a:buNone/>
            </a:pPr>
            <a:r>
              <a:rPr lang="en-US" altLang="ko-KR" sz="1400" dirty="0" smtClean="0"/>
              <a:t>{</a:t>
            </a:r>
          </a:p>
          <a:p>
            <a:pPr lvl="1">
              <a:buNone/>
            </a:pPr>
            <a:r>
              <a:rPr lang="en-US" altLang="ko-KR" sz="1400" dirty="0" smtClean="0"/>
              <a:t>	</a:t>
            </a:r>
            <a:r>
              <a:rPr lang="ko-KR" altLang="en-US" sz="1400" dirty="0" smtClean="0"/>
              <a:t>상수 선언 </a:t>
            </a:r>
          </a:p>
          <a:p>
            <a:pPr lvl="1">
              <a:buNone/>
            </a:pPr>
            <a:r>
              <a:rPr lang="en-US" altLang="ko-KR" sz="1400" dirty="0" smtClean="0"/>
              <a:t>	//static final</a:t>
            </a:r>
            <a:r>
              <a:rPr lang="ko-KR" altLang="en-US" sz="1400" dirty="0" smtClean="0"/>
              <a:t>이 붙지 않아도 무조건 </a:t>
            </a:r>
            <a:r>
              <a:rPr lang="en-US" altLang="ko-KR" sz="1400" dirty="0" smtClean="0"/>
              <a:t>static </a:t>
            </a:r>
            <a:r>
              <a:rPr lang="ko-KR" altLang="en-US" sz="1400" dirty="0" smtClean="0"/>
              <a:t>상수가 됩니다</a:t>
            </a:r>
            <a:r>
              <a:rPr lang="en-US" altLang="ko-KR" sz="1400" dirty="0" smtClean="0"/>
              <a:t>.</a:t>
            </a:r>
          </a:p>
          <a:p>
            <a:pPr lvl="1">
              <a:buNone/>
            </a:pPr>
            <a:r>
              <a:rPr lang="en-US" altLang="ko-KR" sz="1400" dirty="0" smtClean="0"/>
              <a:t>	</a:t>
            </a:r>
            <a:r>
              <a:rPr lang="ko-KR" altLang="en-US" sz="1400" dirty="0" err="1" smtClean="0"/>
              <a:t>메소드</a:t>
            </a:r>
            <a:r>
              <a:rPr lang="ko-KR" altLang="en-US" sz="1400" dirty="0" smtClean="0"/>
              <a:t> 선언 </a:t>
            </a:r>
          </a:p>
          <a:p>
            <a:pPr lvl="1">
              <a:buNone/>
            </a:pPr>
            <a:r>
              <a:rPr lang="en-US" altLang="ko-KR" sz="1400" dirty="0" smtClean="0"/>
              <a:t>	// </a:t>
            </a:r>
            <a:r>
              <a:rPr lang="ko-KR" altLang="en-US" sz="1400" dirty="0" err="1" smtClean="0"/>
              <a:t>메소드</a:t>
            </a:r>
            <a:r>
              <a:rPr lang="ko-KR" altLang="en-US" sz="1400" dirty="0" smtClean="0"/>
              <a:t> 앞에 </a:t>
            </a:r>
            <a:r>
              <a:rPr lang="en-US" altLang="ko-KR" sz="1400" dirty="0" smtClean="0"/>
              <a:t>abstract </a:t>
            </a:r>
            <a:r>
              <a:rPr lang="ko-KR" altLang="en-US" sz="1400" dirty="0" smtClean="0"/>
              <a:t>가 나오지 않아도 메소드는 무조건 </a:t>
            </a:r>
            <a:r>
              <a:rPr lang="ko-KR" altLang="en-US" sz="1400" dirty="0" err="1" smtClean="0"/>
              <a:t>추상메소드</a:t>
            </a:r>
            <a:r>
              <a:rPr lang="ko-KR" altLang="en-US" sz="1400" dirty="0" smtClean="0"/>
              <a:t> 입니다</a:t>
            </a:r>
            <a:r>
              <a:rPr lang="en-US" altLang="ko-KR" sz="1400" dirty="0" smtClean="0"/>
              <a:t>.</a:t>
            </a:r>
          </a:p>
          <a:p>
            <a:pPr lvl="1">
              <a:buNone/>
            </a:pPr>
            <a:r>
              <a:rPr lang="en-US" altLang="ko-KR" sz="1400" dirty="0" smtClean="0"/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7. </a:t>
            </a:r>
            <a:r>
              <a:rPr lang="ko-KR" altLang="en-US" smtClean="0"/>
              <a:t>인터페이스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ko-KR" altLang="en-US" sz="1600" dirty="0" smtClean="0"/>
              <a:t>인터페이스 정의 </a:t>
            </a:r>
            <a:r>
              <a:rPr lang="en-US" altLang="ko-KR" sz="1600" dirty="0" smtClean="0"/>
              <a:t>– </a:t>
            </a:r>
            <a:r>
              <a:rPr lang="ko-KR" altLang="en-US" sz="1600" dirty="0" smtClean="0"/>
              <a:t>예</a:t>
            </a:r>
          </a:p>
          <a:p>
            <a:pPr lvl="1">
              <a:buNone/>
            </a:pPr>
            <a:r>
              <a:rPr lang="en-US" altLang="ko-KR" sz="1400" dirty="0" smtClean="0"/>
              <a:t>public interface Inter </a:t>
            </a:r>
          </a:p>
          <a:p>
            <a:pPr lvl="1">
              <a:buNone/>
            </a:pPr>
            <a:r>
              <a:rPr lang="en-US" altLang="ko-KR" sz="1400" dirty="0" smtClean="0"/>
              <a:t>{</a:t>
            </a:r>
          </a:p>
          <a:p>
            <a:pPr lvl="1">
              <a:buNone/>
            </a:pPr>
            <a:r>
              <a:rPr lang="en-US" altLang="ko-KR" sz="1400" dirty="0" smtClean="0"/>
              <a:t>	public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x = 10;</a:t>
            </a:r>
          </a:p>
          <a:p>
            <a:pPr lvl="1">
              <a:buNone/>
            </a:pPr>
            <a:r>
              <a:rPr lang="en-US" altLang="ko-KR" sz="1400" dirty="0" smtClean="0"/>
              <a:t>	public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y = 100;</a:t>
            </a:r>
          </a:p>
          <a:p>
            <a:pPr lvl="1">
              <a:buNone/>
            </a:pPr>
            <a:r>
              <a:rPr lang="en-US" altLang="ko-KR" sz="1400" dirty="0" smtClean="0"/>
              <a:t>	public void wake();</a:t>
            </a:r>
          </a:p>
          <a:p>
            <a:pPr lvl="1">
              <a:buNone/>
            </a:pPr>
            <a:r>
              <a:rPr lang="en-US" altLang="ko-KR" sz="1400" dirty="0" smtClean="0"/>
              <a:t>}</a:t>
            </a:r>
          </a:p>
          <a:p>
            <a:pPr>
              <a:buFont typeface="Wingdings" pitchFamily="2" charset="2"/>
              <a:buChar char="v"/>
            </a:pPr>
            <a:r>
              <a:rPr lang="ko-KR" altLang="en-US" sz="1600" dirty="0" smtClean="0"/>
              <a:t>인터페이스의 실제 사용</a:t>
            </a:r>
          </a:p>
          <a:p>
            <a:pPr lvl="1">
              <a:buFont typeface="Wingdings" pitchFamily="2" charset="2"/>
              <a:buChar char="v"/>
            </a:pPr>
            <a:r>
              <a:rPr lang="ko-KR" altLang="en-US" sz="1400" dirty="0" smtClean="0"/>
              <a:t>클래스생성시 인터페이스를 사용하기 위해서는 </a:t>
            </a:r>
            <a:r>
              <a:rPr lang="en-US" altLang="ko-KR" sz="1400" dirty="0" smtClean="0"/>
              <a:t>implements </a:t>
            </a:r>
            <a:r>
              <a:rPr lang="ko-KR" altLang="en-US" sz="1400" dirty="0" err="1" smtClean="0"/>
              <a:t>예약어를</a:t>
            </a:r>
            <a:r>
              <a:rPr lang="ko-KR" altLang="en-US" sz="1400" dirty="0" smtClean="0"/>
              <a:t> 사용</a:t>
            </a:r>
            <a:endParaRPr lang="en-US" altLang="ko-KR" sz="1400" dirty="0" smtClean="0"/>
          </a:p>
          <a:p>
            <a:pPr lvl="1">
              <a:buFont typeface="Wingdings" pitchFamily="2" charset="2"/>
              <a:buChar char="v"/>
            </a:pPr>
            <a:r>
              <a:rPr lang="ko-KR" altLang="en-US" sz="1400" dirty="0" smtClean="0"/>
              <a:t>여러 개의 인터페이스로부터 상속을 받을 때는 </a:t>
            </a:r>
            <a:r>
              <a:rPr lang="en-US" altLang="ko-KR" sz="1400" dirty="0" smtClean="0"/>
              <a:t>,</a:t>
            </a:r>
            <a:r>
              <a:rPr lang="ko-KR" altLang="en-US" sz="1400" dirty="0" smtClean="0"/>
              <a:t>로 구분해서 인터페이스 이름만 나열하면 됩니다</a:t>
            </a:r>
            <a:r>
              <a:rPr lang="en-US" altLang="ko-KR" sz="1400" dirty="0" smtClean="0"/>
              <a:t>.</a:t>
            </a:r>
          </a:p>
          <a:p>
            <a:pPr lvl="1">
              <a:buNone/>
            </a:pPr>
            <a:r>
              <a:rPr lang="en-US" altLang="ko-KR" sz="1400" dirty="0" smtClean="0"/>
              <a:t>[public/final/abstract] class </a:t>
            </a:r>
            <a:r>
              <a:rPr lang="ko-KR" altLang="en-US" sz="1400" dirty="0" smtClean="0"/>
              <a:t>클래스이름 </a:t>
            </a:r>
            <a:r>
              <a:rPr lang="en-US" altLang="ko-KR" sz="1400" dirty="0" smtClean="0"/>
              <a:t>extends </a:t>
            </a:r>
            <a:r>
              <a:rPr lang="ko-KR" altLang="en-US" sz="1400" dirty="0" smtClean="0"/>
              <a:t>상위클래스이름</a:t>
            </a:r>
          </a:p>
          <a:p>
            <a:pPr lvl="1">
              <a:buNone/>
            </a:pPr>
            <a:r>
              <a:rPr lang="en-US" altLang="ko-KR" sz="1400" dirty="0" smtClean="0"/>
              <a:t>implements </a:t>
            </a:r>
            <a:r>
              <a:rPr lang="ko-KR" altLang="en-US" sz="1400" dirty="0" smtClean="0"/>
              <a:t>인터페이스이름 </a:t>
            </a:r>
            <a:r>
              <a:rPr lang="en-US" altLang="ko-KR" sz="1400" dirty="0" smtClean="0"/>
              <a:t>[,</a:t>
            </a:r>
            <a:r>
              <a:rPr lang="ko-KR" altLang="en-US" sz="1400" dirty="0" smtClean="0"/>
              <a:t>인터페이스이름</a:t>
            </a:r>
            <a:r>
              <a:rPr lang="en-US" altLang="ko-KR" sz="1400" dirty="0" smtClean="0"/>
              <a:t>] </a:t>
            </a:r>
          </a:p>
          <a:p>
            <a:pPr lvl="1">
              <a:buNone/>
            </a:pPr>
            <a:r>
              <a:rPr lang="en-US" altLang="ko-KR" sz="1400" dirty="0" smtClean="0"/>
              <a:t>{</a:t>
            </a:r>
          </a:p>
          <a:p>
            <a:pPr lvl="1">
              <a:buNone/>
            </a:pPr>
            <a:r>
              <a:rPr lang="ko-KR" altLang="en-US" sz="1400" dirty="0" smtClean="0"/>
              <a:t>멤버 변수</a:t>
            </a:r>
            <a:r>
              <a:rPr lang="en-US" altLang="ko-KR" sz="1400" dirty="0" smtClean="0"/>
              <a:t>;</a:t>
            </a:r>
          </a:p>
          <a:p>
            <a:pPr lvl="1">
              <a:buNone/>
            </a:pPr>
            <a:r>
              <a:rPr lang="ko-KR" altLang="en-US" sz="1400" dirty="0" smtClean="0"/>
              <a:t>멤버 </a:t>
            </a:r>
            <a:r>
              <a:rPr lang="ko-KR" altLang="en-US" sz="1400" dirty="0" err="1" smtClean="0"/>
              <a:t>메소드</a:t>
            </a:r>
            <a:r>
              <a:rPr lang="en-US" altLang="ko-KR" sz="1400" dirty="0" smtClean="0"/>
              <a:t>;</a:t>
            </a:r>
          </a:p>
          <a:p>
            <a:pPr lvl="1">
              <a:buNone/>
            </a:pPr>
            <a:r>
              <a:rPr lang="ko-KR" altLang="en-US" sz="1400" dirty="0" smtClean="0"/>
              <a:t>인터페이스에 속한 </a:t>
            </a:r>
            <a:r>
              <a:rPr lang="ko-KR" altLang="en-US" sz="1400" dirty="0" err="1" smtClean="0"/>
              <a:t>메소드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{ }</a:t>
            </a:r>
          </a:p>
          <a:p>
            <a:pPr lvl="1">
              <a:buNone/>
            </a:pPr>
            <a:r>
              <a:rPr lang="en-US" altLang="ko-KR" sz="1400" dirty="0" smtClean="0"/>
              <a:t>}</a:t>
            </a:r>
          </a:p>
          <a:p>
            <a:pPr lvl="1">
              <a:buFont typeface="Wingdings" pitchFamily="2" charset="2"/>
              <a:buChar char="v"/>
            </a:pPr>
            <a:endParaRPr lang="en-US" altLang="ko-KR" sz="1400" dirty="0" smtClean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(InterTest.java)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interface Inter </a:t>
            </a:r>
          </a:p>
          <a:p>
            <a:pPr>
              <a:buNone/>
            </a:pPr>
            <a:r>
              <a:rPr lang="en-US" altLang="ko-KR" sz="1400" dirty="0" smtClean="0"/>
              <a:t>{</a:t>
            </a:r>
          </a:p>
          <a:p>
            <a:pPr>
              <a:buNone/>
            </a:pPr>
            <a:r>
              <a:rPr lang="en-US" altLang="ko-KR" sz="1400" dirty="0" smtClean="0"/>
              <a:t>	public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a=100; </a:t>
            </a:r>
          </a:p>
          <a:p>
            <a:pPr>
              <a:buNone/>
            </a:pPr>
            <a:r>
              <a:rPr lang="en-US" altLang="ko-KR" sz="1400" dirty="0" smtClean="0"/>
              <a:t>	public final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b = 100;</a:t>
            </a:r>
          </a:p>
          <a:p>
            <a:pPr>
              <a:buNone/>
            </a:pPr>
            <a:r>
              <a:rPr lang="en-US" altLang="ko-KR" sz="1400" dirty="0" smtClean="0"/>
              <a:t>	public abstract void method1();</a:t>
            </a:r>
          </a:p>
          <a:p>
            <a:pPr>
              <a:buNone/>
            </a:pPr>
            <a:r>
              <a:rPr lang="en-US" altLang="ko-KR" sz="1400" dirty="0" smtClean="0"/>
              <a:t>	public void method2();         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  <a:p>
            <a:pPr>
              <a:buNone/>
            </a:pPr>
            <a:r>
              <a:rPr lang="en-US" altLang="ko-KR" sz="1400" dirty="0" smtClean="0"/>
              <a:t>public class </a:t>
            </a:r>
            <a:r>
              <a:rPr lang="en-US" altLang="ko-KR" sz="1400" dirty="0" err="1" smtClean="0"/>
              <a:t>InterTest</a:t>
            </a:r>
            <a:r>
              <a:rPr lang="en-US" altLang="ko-KR" sz="1400" dirty="0" smtClean="0"/>
              <a:t> implements Inter</a:t>
            </a:r>
          </a:p>
          <a:p>
            <a:pPr>
              <a:buNone/>
            </a:pPr>
            <a:r>
              <a:rPr lang="en-US" altLang="ko-KR" sz="1400" dirty="0" smtClean="0"/>
              <a:t>{</a:t>
            </a:r>
          </a:p>
          <a:p>
            <a:pPr>
              <a:buNone/>
            </a:pPr>
            <a:r>
              <a:rPr lang="en-US" altLang="ko-KR" sz="1400" dirty="0" smtClean="0"/>
              <a:t>	public void method1()</a:t>
            </a:r>
          </a:p>
          <a:p>
            <a:pPr>
              <a:buNone/>
            </a:pPr>
            <a:r>
              <a:rPr lang="en-US" altLang="ko-KR" sz="1400" dirty="0" smtClean="0"/>
              <a:t>	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err="1" smtClean="0"/>
              <a:t>추상메소드</a:t>
            </a:r>
            <a:r>
              <a:rPr lang="en-US" altLang="ko-KR" sz="1400" dirty="0" smtClean="0"/>
              <a:t>");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	</a:t>
            </a:r>
          </a:p>
          <a:p>
            <a:pPr>
              <a:buNone/>
            </a:pPr>
            <a:r>
              <a:rPr lang="en-US" altLang="ko-KR" sz="1400" dirty="0" smtClean="0"/>
              <a:t>	public void method2()</a:t>
            </a:r>
          </a:p>
          <a:p>
            <a:pPr>
              <a:buNone/>
            </a:pPr>
            <a:r>
              <a:rPr lang="en-US" altLang="ko-KR" sz="1400" dirty="0" smtClean="0"/>
              <a:t>	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err="1" smtClean="0"/>
              <a:t>추상메소드</a:t>
            </a:r>
            <a:r>
              <a:rPr lang="en-US" altLang="ko-KR" sz="1400" dirty="0" smtClean="0"/>
              <a:t>");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	</a:t>
            </a:r>
          </a:p>
          <a:p>
            <a:pPr>
              <a:buNone/>
            </a:pPr>
            <a:r>
              <a:rPr lang="en-US" altLang="ko-KR" sz="1400" dirty="0" smtClean="0"/>
              <a:t>	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(InterTest.java)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	public static void main(String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[])</a:t>
            </a:r>
          </a:p>
          <a:p>
            <a:pPr>
              <a:buNone/>
            </a:pPr>
            <a:r>
              <a:rPr lang="en-US" altLang="ko-KR" sz="1400" dirty="0" smtClean="0"/>
              <a:t>	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InterTest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obj</a:t>
            </a:r>
            <a:r>
              <a:rPr lang="en-US" altLang="ko-KR" sz="1400" dirty="0" smtClean="0"/>
              <a:t> = new </a:t>
            </a:r>
            <a:r>
              <a:rPr lang="en-US" altLang="ko-KR" sz="1400" dirty="0" err="1" smtClean="0"/>
              <a:t>InterTest</a:t>
            </a:r>
            <a:r>
              <a:rPr lang="en-US" altLang="ko-KR" sz="1400" dirty="0" smtClean="0"/>
              <a:t>();</a:t>
            </a:r>
          </a:p>
          <a:p>
            <a:pPr>
              <a:buNone/>
            </a:pPr>
            <a:r>
              <a:rPr lang="en-US" altLang="ko-KR" sz="1400" dirty="0" smtClean="0"/>
              <a:t>		//</a:t>
            </a:r>
            <a:r>
              <a:rPr lang="en-US" altLang="ko-KR" sz="1400" dirty="0" err="1" smtClean="0"/>
              <a:t>obj.a</a:t>
            </a:r>
            <a:r>
              <a:rPr lang="en-US" altLang="ko-KR" sz="1400" dirty="0" smtClean="0"/>
              <a:t> = 200;</a:t>
            </a:r>
          </a:p>
          <a:p>
            <a:pPr>
              <a:buNone/>
            </a:pPr>
            <a:r>
              <a:rPr lang="en-US" altLang="ko-KR" sz="1400" dirty="0" smtClean="0"/>
              <a:t>		obj.method1();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인터페이스에서는 </a:t>
            </a:r>
            <a:r>
              <a:rPr lang="en-US" altLang="ko-KR" sz="1400" dirty="0" smtClean="0"/>
              <a:t>final</a:t>
            </a:r>
            <a:r>
              <a:rPr lang="ko-KR" altLang="en-US" sz="1400" dirty="0" smtClean="0"/>
              <a:t>을 사용하지 않아도 변수는 </a:t>
            </a:r>
            <a:r>
              <a:rPr lang="en-US" altLang="ko-KR" sz="1400" dirty="0" smtClean="0"/>
              <a:t>final");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인터페이스에서는 </a:t>
            </a:r>
            <a:r>
              <a:rPr lang="en-US" altLang="ko-KR" sz="1400" dirty="0" smtClean="0"/>
              <a:t>abstract</a:t>
            </a:r>
            <a:r>
              <a:rPr lang="ko-KR" altLang="en-US" sz="1400" dirty="0" smtClean="0"/>
              <a:t>을 사용하지 않아도 메소드는 </a:t>
            </a:r>
            <a:r>
              <a:rPr lang="en-US" altLang="ko-KR" sz="1400" dirty="0" smtClean="0"/>
              <a:t>abstract");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 l="24806" t="74993" r="37395" b="15159"/>
          <a:stretch>
            <a:fillRect/>
          </a:stretch>
        </p:blipFill>
        <p:spPr bwMode="auto">
          <a:xfrm>
            <a:off x="4283968" y="1196752"/>
            <a:ext cx="4608512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MultiInheritance</a:t>
            </a:r>
            <a:r>
              <a:rPr lang="en-US" altLang="ko-KR" dirty="0" smtClean="0"/>
              <a:t> .java)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interface Inter1 </a:t>
            </a:r>
          </a:p>
          <a:p>
            <a:pPr>
              <a:buNone/>
            </a:pPr>
            <a:r>
              <a:rPr lang="en-US" altLang="ko-KR" sz="1400" dirty="0" smtClean="0"/>
              <a:t>{</a:t>
            </a:r>
          </a:p>
          <a:p>
            <a:pPr>
              <a:buNone/>
            </a:pPr>
            <a:r>
              <a:rPr lang="en-US" altLang="ko-KR" sz="1400" dirty="0" smtClean="0"/>
              <a:t>	public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a=100; </a:t>
            </a:r>
          </a:p>
          <a:p>
            <a:pPr>
              <a:buNone/>
            </a:pPr>
            <a:r>
              <a:rPr lang="en-US" altLang="ko-KR" sz="1400" dirty="0" smtClean="0"/>
              <a:t>	public abstract void method1();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  <a:p>
            <a:pPr>
              <a:buNone/>
            </a:pPr>
            <a:endParaRPr lang="en-US" altLang="ko-KR" sz="1400" dirty="0" smtClean="0"/>
          </a:p>
          <a:p>
            <a:pPr>
              <a:buNone/>
            </a:pPr>
            <a:r>
              <a:rPr lang="en-US" altLang="ko-KR" sz="1400" dirty="0" smtClean="0"/>
              <a:t>interface Inter2 </a:t>
            </a:r>
          </a:p>
          <a:p>
            <a:pPr>
              <a:buNone/>
            </a:pPr>
            <a:r>
              <a:rPr lang="en-US" altLang="ko-KR" sz="1400" dirty="0" smtClean="0"/>
              <a:t>{</a:t>
            </a:r>
          </a:p>
          <a:p>
            <a:pPr>
              <a:buNone/>
            </a:pPr>
            <a:r>
              <a:rPr lang="en-US" altLang="ko-KR" sz="1400" dirty="0" smtClean="0"/>
              <a:t>	public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b=100; </a:t>
            </a:r>
          </a:p>
          <a:p>
            <a:pPr>
              <a:buNone/>
            </a:pPr>
            <a:r>
              <a:rPr lang="en-US" altLang="ko-KR" sz="1400" dirty="0" smtClean="0"/>
              <a:t>	public abstract void method2();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  <a:p>
            <a:pPr>
              <a:buNone/>
            </a:pPr>
            <a:endParaRPr lang="en-US" altLang="ko-KR" sz="1400" dirty="0" smtClean="0"/>
          </a:p>
          <a:p>
            <a:pPr>
              <a:buNone/>
            </a:pPr>
            <a:endParaRPr lang="en-US" altLang="ko-KR" sz="14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l="25397" t="74235" r="62791" b="12887"/>
          <a:stretch>
            <a:fillRect/>
          </a:stretch>
        </p:blipFill>
        <p:spPr bwMode="auto">
          <a:xfrm>
            <a:off x="4427984" y="1412776"/>
            <a:ext cx="2952328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MultiInheritance</a:t>
            </a:r>
            <a:r>
              <a:rPr lang="en-US" altLang="ko-KR" dirty="0" smtClean="0"/>
              <a:t> .java)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public class </a:t>
            </a:r>
            <a:r>
              <a:rPr lang="en-US" altLang="ko-KR" sz="1400" dirty="0" err="1" smtClean="0"/>
              <a:t>MultiInheritance</a:t>
            </a:r>
            <a:r>
              <a:rPr lang="en-US" altLang="ko-KR" sz="1400" dirty="0" smtClean="0"/>
              <a:t> implements Inter1, Inter2</a:t>
            </a:r>
          </a:p>
          <a:p>
            <a:pPr>
              <a:buNone/>
            </a:pPr>
            <a:r>
              <a:rPr lang="en-US" altLang="ko-KR" sz="1400" dirty="0" smtClean="0"/>
              <a:t>{</a:t>
            </a:r>
          </a:p>
          <a:p>
            <a:pPr>
              <a:buNone/>
            </a:pPr>
            <a:r>
              <a:rPr lang="en-US" altLang="ko-KR" sz="1400" dirty="0" smtClean="0"/>
              <a:t>	public void method1(){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("Inter1</a:t>
            </a:r>
            <a:r>
              <a:rPr lang="ko-KR" altLang="en-US" sz="1400" dirty="0" smtClean="0"/>
              <a:t>의 메소드</a:t>
            </a:r>
            <a:r>
              <a:rPr lang="en-US" altLang="ko-KR" sz="1400" dirty="0" smtClean="0"/>
              <a:t>");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	</a:t>
            </a:r>
          </a:p>
          <a:p>
            <a:pPr>
              <a:buNone/>
            </a:pPr>
            <a:r>
              <a:rPr lang="en-US" altLang="ko-KR" sz="1400" dirty="0" smtClean="0"/>
              <a:t>	public void method2(){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("Inter2</a:t>
            </a:r>
            <a:r>
              <a:rPr lang="ko-KR" altLang="en-US" sz="1400" dirty="0" smtClean="0"/>
              <a:t>의 메소드</a:t>
            </a:r>
            <a:r>
              <a:rPr lang="en-US" altLang="ko-KR" sz="1400" dirty="0" smtClean="0"/>
              <a:t>");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	</a:t>
            </a:r>
          </a:p>
          <a:p>
            <a:pPr>
              <a:buNone/>
            </a:pPr>
            <a:r>
              <a:rPr lang="en-US" altLang="ko-KR" sz="1400" dirty="0" smtClean="0"/>
              <a:t>	public static void main(String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[])</a:t>
            </a:r>
          </a:p>
          <a:p>
            <a:pPr>
              <a:buNone/>
            </a:pPr>
            <a:r>
              <a:rPr lang="en-US" altLang="ko-KR" sz="1400" dirty="0" smtClean="0"/>
              <a:t>	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MultiInheritance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obj</a:t>
            </a:r>
            <a:r>
              <a:rPr lang="en-US" altLang="ko-KR" sz="1400" dirty="0" smtClean="0"/>
              <a:t> = new </a:t>
            </a:r>
            <a:r>
              <a:rPr lang="en-US" altLang="ko-KR" sz="1400" dirty="0" err="1" smtClean="0"/>
              <a:t>MultiInheritance</a:t>
            </a:r>
            <a:r>
              <a:rPr lang="en-US" altLang="ko-KR" sz="1400" dirty="0" smtClean="0"/>
              <a:t>();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("Inter1</a:t>
            </a:r>
            <a:r>
              <a:rPr lang="ko-KR" altLang="en-US" sz="1400" dirty="0" smtClean="0"/>
              <a:t>의 </a:t>
            </a:r>
            <a:r>
              <a:rPr lang="en-US" altLang="ko-KR" sz="1400" dirty="0" smtClean="0"/>
              <a:t>a=" + </a:t>
            </a:r>
            <a:r>
              <a:rPr lang="en-US" altLang="ko-KR" sz="1400" dirty="0" err="1" smtClean="0"/>
              <a:t>MultiInheritance.a</a:t>
            </a:r>
            <a:r>
              <a:rPr lang="en-US" altLang="ko-KR" sz="1400" dirty="0" smtClean="0"/>
              <a:t>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("Inter2</a:t>
            </a:r>
            <a:r>
              <a:rPr lang="ko-KR" altLang="en-US" sz="1400" dirty="0" smtClean="0"/>
              <a:t>의 </a:t>
            </a:r>
            <a:r>
              <a:rPr lang="en-US" altLang="ko-KR" sz="1400" dirty="0" smtClean="0"/>
              <a:t>b=" + </a:t>
            </a:r>
            <a:r>
              <a:rPr lang="en-US" altLang="ko-KR" sz="1400" dirty="0" err="1" smtClean="0"/>
              <a:t>MultiInheritance.b</a:t>
            </a:r>
            <a:r>
              <a:rPr lang="en-US" altLang="ko-KR" sz="1400" dirty="0" smtClean="0"/>
              <a:t>);</a:t>
            </a:r>
          </a:p>
          <a:p>
            <a:pPr>
              <a:buNone/>
            </a:pPr>
            <a:r>
              <a:rPr lang="en-US" altLang="ko-KR" sz="1400" dirty="0" smtClean="0"/>
              <a:t>		obj.method1();</a:t>
            </a:r>
          </a:p>
          <a:p>
            <a:pPr>
              <a:buNone/>
            </a:pPr>
            <a:r>
              <a:rPr lang="en-US" altLang="ko-KR" sz="1400" dirty="0" smtClean="0"/>
              <a:t>		obj.method2();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8</a:t>
            </a:r>
            <a:r>
              <a:rPr lang="en-US" altLang="ko-KR" smtClean="0"/>
              <a:t>. </a:t>
            </a:r>
            <a:r>
              <a:rPr lang="ko-KR" altLang="en-US" dirty="0" smtClean="0"/>
              <a:t>인터페이스 상속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ko-KR" altLang="en-US" sz="1600" dirty="0" smtClean="0"/>
              <a:t>인터페이스도 클래스와 같이 상속될 수 있습니다</a:t>
            </a:r>
          </a:p>
          <a:p>
            <a:pPr>
              <a:buFont typeface="Wingdings" pitchFamily="2" charset="2"/>
              <a:buChar char="v"/>
            </a:pPr>
            <a:r>
              <a:rPr lang="ko-KR" altLang="en-US" sz="1600" dirty="0" smtClean="0"/>
              <a:t>인터페이스를 상속할 때는 </a:t>
            </a:r>
            <a:r>
              <a:rPr lang="ko-KR" altLang="en-US" sz="1600" dirty="0" err="1" smtClean="0"/>
              <a:t>예약어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extends </a:t>
            </a:r>
            <a:r>
              <a:rPr lang="ko-KR" altLang="en-US" sz="1600" dirty="0" smtClean="0"/>
              <a:t>사용합니다</a:t>
            </a:r>
            <a:r>
              <a:rPr lang="en-US" altLang="ko-KR" sz="1600" dirty="0" smtClean="0"/>
              <a:t>.</a:t>
            </a:r>
          </a:p>
          <a:p>
            <a:pPr>
              <a:buFont typeface="Wingdings" pitchFamily="2" charset="2"/>
              <a:buChar char="v"/>
            </a:pPr>
            <a:endParaRPr lang="en-US" altLang="ko-KR" sz="1600" dirty="0" smtClean="0"/>
          </a:p>
          <a:p>
            <a:pPr lvl="1">
              <a:buNone/>
            </a:pPr>
            <a:r>
              <a:rPr lang="en-US" altLang="ko-KR" sz="1400" dirty="0" smtClean="0"/>
              <a:t>public interface </a:t>
            </a:r>
            <a:r>
              <a:rPr lang="ko-KR" altLang="en-US" sz="1400" dirty="0" smtClean="0"/>
              <a:t>인터페이스이름</a:t>
            </a:r>
          </a:p>
          <a:p>
            <a:pPr lvl="1">
              <a:buNone/>
            </a:pPr>
            <a:r>
              <a:rPr lang="ko-KR" altLang="en-US" sz="1400" dirty="0" smtClean="0"/>
              <a:t>  </a:t>
            </a:r>
            <a:r>
              <a:rPr lang="en-US" altLang="ko-KR" sz="1400" dirty="0" smtClean="0"/>
              <a:t>extends </a:t>
            </a:r>
            <a:r>
              <a:rPr lang="ko-KR" altLang="en-US" sz="1400" dirty="0" smtClean="0"/>
              <a:t>인터페이스이름</a:t>
            </a:r>
            <a:r>
              <a:rPr lang="en-US" altLang="ko-KR" sz="1400" dirty="0" smtClean="0"/>
              <a:t>[, </a:t>
            </a:r>
            <a:r>
              <a:rPr lang="ko-KR" altLang="en-US" sz="1400" dirty="0" smtClean="0"/>
              <a:t>인터페이스 이름</a:t>
            </a:r>
            <a:r>
              <a:rPr lang="en-US" altLang="ko-KR" sz="1400" dirty="0" smtClean="0"/>
              <a:t>,…..] {</a:t>
            </a:r>
          </a:p>
          <a:p>
            <a:pPr lvl="1">
              <a:buNone/>
            </a:pPr>
            <a:r>
              <a:rPr lang="ko-KR" altLang="en-US" sz="1400" dirty="0" smtClean="0"/>
              <a:t>상수 선언</a:t>
            </a:r>
          </a:p>
          <a:p>
            <a:pPr lvl="1">
              <a:buNone/>
            </a:pPr>
            <a:r>
              <a:rPr lang="ko-KR" altLang="en-US" sz="1400" dirty="0" err="1" smtClean="0"/>
              <a:t>메소드</a:t>
            </a:r>
            <a:r>
              <a:rPr lang="ko-KR" altLang="en-US" sz="1400" dirty="0" smtClean="0"/>
              <a:t> 선언</a:t>
            </a:r>
          </a:p>
          <a:p>
            <a:pPr lvl="1">
              <a:buNone/>
            </a:pPr>
            <a:r>
              <a:rPr lang="en-US" altLang="ko-KR" sz="1400" dirty="0" smtClean="0"/>
              <a:t>}</a:t>
            </a:r>
          </a:p>
          <a:p>
            <a:pPr>
              <a:buFont typeface="Wingdings" pitchFamily="2" charset="2"/>
              <a:buChar char="v"/>
            </a:pPr>
            <a:endParaRPr lang="en-US" altLang="ko-KR" sz="1600" dirty="0" smtClean="0"/>
          </a:p>
          <a:p>
            <a:pPr>
              <a:buFont typeface="Wingdings" pitchFamily="2" charset="2"/>
              <a:buChar char="v"/>
            </a:pPr>
            <a:r>
              <a:rPr lang="ko-KR" altLang="en-US" sz="1600" dirty="0" smtClean="0"/>
              <a:t>인터페이스의 상속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예</a:t>
            </a:r>
          </a:p>
          <a:p>
            <a:pPr lvl="1">
              <a:buNone/>
            </a:pPr>
            <a:r>
              <a:rPr lang="en-US" altLang="ko-KR" sz="1200" dirty="0" smtClean="0"/>
              <a:t>public interface Sleeper {</a:t>
            </a:r>
          </a:p>
          <a:p>
            <a:pPr lvl="1">
              <a:buNone/>
            </a:pPr>
            <a:r>
              <a:rPr lang="en-US" altLang="ko-KR" sz="1200" dirty="0" smtClean="0"/>
              <a:t>  public long ONE_SECOND = 1000;</a:t>
            </a:r>
          </a:p>
          <a:p>
            <a:pPr lvl="1">
              <a:buNone/>
            </a:pPr>
            <a:r>
              <a:rPr lang="en-US" altLang="ko-KR" sz="1200" dirty="0" smtClean="0"/>
              <a:t>  public long ONE_MINUTE = 60000;  </a:t>
            </a:r>
          </a:p>
          <a:p>
            <a:pPr lvl="1">
              <a:buNone/>
            </a:pPr>
            <a:r>
              <a:rPr lang="en-US" altLang="ko-KR" sz="1200" dirty="0" smtClean="0"/>
              <a:t>  public void wakeup();</a:t>
            </a:r>
          </a:p>
          <a:p>
            <a:pPr lvl="1">
              <a:buNone/>
            </a:pPr>
            <a:r>
              <a:rPr lang="en-US" altLang="ko-KR" sz="1200" dirty="0" smtClean="0"/>
              <a:t> }</a:t>
            </a:r>
          </a:p>
          <a:p>
            <a:pPr lvl="1">
              <a:buNone/>
            </a:pPr>
            <a:r>
              <a:rPr lang="en-US" altLang="ko-KR" sz="1200" dirty="0" smtClean="0"/>
              <a:t>public interface People extends Sleeper{</a:t>
            </a:r>
          </a:p>
          <a:p>
            <a:pPr lvl="1">
              <a:buNone/>
            </a:pPr>
            <a:r>
              <a:rPr lang="en-US" altLang="ko-KR" sz="1200" dirty="0" smtClean="0"/>
              <a:t>  public </a:t>
            </a:r>
            <a:r>
              <a:rPr lang="en-US" altLang="ko-KR" sz="1200" dirty="0" err="1" smtClean="0"/>
              <a:t>int</a:t>
            </a:r>
            <a:r>
              <a:rPr lang="en-US" altLang="ko-KR" sz="1200" dirty="0" smtClean="0"/>
              <a:t> MAX = 24; </a:t>
            </a:r>
          </a:p>
          <a:p>
            <a:pPr lvl="1">
              <a:buNone/>
            </a:pPr>
            <a:r>
              <a:rPr lang="en-US" altLang="ko-KR" sz="1200" dirty="0" smtClean="0"/>
              <a:t>  public </a:t>
            </a:r>
            <a:r>
              <a:rPr lang="en-US" altLang="ko-KR" sz="1200" dirty="0" err="1" smtClean="0"/>
              <a:t>int</a:t>
            </a:r>
            <a:r>
              <a:rPr lang="en-US" altLang="ko-KR" sz="1200" dirty="0" smtClean="0"/>
              <a:t> MIN = 0;</a:t>
            </a:r>
          </a:p>
          <a:p>
            <a:pPr lvl="1">
              <a:buNone/>
            </a:pPr>
            <a:r>
              <a:rPr lang="en-US" altLang="ko-KR" sz="1200" dirty="0" smtClean="0"/>
              <a:t>  public void work();</a:t>
            </a:r>
          </a:p>
          <a:p>
            <a:pPr lvl="1">
              <a:buNone/>
            </a:pPr>
            <a:r>
              <a:rPr lang="en-US" altLang="ko-KR" sz="1200" dirty="0" smtClean="0"/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(InterfaceInheritance.java)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interface C1 </a:t>
            </a:r>
          </a:p>
          <a:p>
            <a:pPr>
              <a:buNone/>
            </a:pPr>
            <a:r>
              <a:rPr lang="en-US" altLang="ko-KR" sz="1400" dirty="0" smtClean="0"/>
              <a:t>{</a:t>
            </a:r>
          </a:p>
          <a:p>
            <a:pPr>
              <a:buNone/>
            </a:pPr>
            <a:r>
              <a:rPr lang="en-US" altLang="ko-KR" sz="1400" dirty="0" smtClean="0"/>
              <a:t>	void method1();</a:t>
            </a:r>
          </a:p>
          <a:p>
            <a:pPr>
              <a:buNone/>
            </a:pPr>
            <a:r>
              <a:rPr lang="en-US" altLang="ko-KR" sz="1400" dirty="0" smtClean="0"/>
              <a:t>	void method2();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  <a:p>
            <a:pPr>
              <a:buNone/>
            </a:pPr>
            <a:r>
              <a:rPr lang="en-US" altLang="ko-KR" sz="1400" dirty="0" smtClean="0"/>
              <a:t>interface C2 </a:t>
            </a:r>
          </a:p>
          <a:p>
            <a:pPr>
              <a:buNone/>
            </a:pPr>
            <a:r>
              <a:rPr lang="en-US" altLang="ko-KR" sz="1400" dirty="0" smtClean="0"/>
              <a:t>{</a:t>
            </a:r>
          </a:p>
          <a:p>
            <a:pPr>
              <a:buNone/>
            </a:pPr>
            <a:r>
              <a:rPr lang="en-US" altLang="ko-KR" sz="1400" dirty="0" smtClean="0"/>
              <a:t>	void method3();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  <a:p>
            <a:pPr>
              <a:buNone/>
            </a:pPr>
            <a:endParaRPr lang="en-US" altLang="ko-KR" sz="1400" dirty="0" smtClean="0"/>
          </a:p>
          <a:p>
            <a:pPr>
              <a:buNone/>
            </a:pPr>
            <a:r>
              <a:rPr lang="en-US" altLang="ko-KR" sz="1400" dirty="0" smtClean="0"/>
              <a:t>interface C3 extends C1,C2 </a:t>
            </a:r>
          </a:p>
          <a:p>
            <a:pPr>
              <a:buNone/>
            </a:pPr>
            <a:r>
              <a:rPr lang="en-US" altLang="ko-KR" sz="1400" dirty="0" smtClean="0"/>
              <a:t>{  // </a:t>
            </a:r>
            <a:r>
              <a:rPr lang="ko-KR" altLang="en-US" sz="1400" dirty="0" err="1" smtClean="0"/>
              <a:t>두개의</a:t>
            </a:r>
            <a:r>
              <a:rPr lang="ko-KR" altLang="en-US" sz="1400" dirty="0" smtClean="0"/>
              <a:t> 인터페이스 상속</a:t>
            </a:r>
          </a:p>
          <a:p>
            <a:pPr>
              <a:buNone/>
            </a:pPr>
            <a:r>
              <a:rPr lang="ko-KR" altLang="en-US" sz="1400" dirty="0" smtClean="0"/>
              <a:t>	</a:t>
            </a:r>
            <a:r>
              <a:rPr lang="en-US" altLang="ko-KR" sz="1400" dirty="0" smtClean="0"/>
              <a:t>void method4();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  <a:p>
            <a:pPr>
              <a:buNone/>
            </a:pPr>
            <a:r>
              <a:rPr lang="en-US" altLang="ko-KR" sz="1400" dirty="0" smtClean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l="25397" t="74236" r="59247" b="13644"/>
          <a:stretch>
            <a:fillRect/>
          </a:stretch>
        </p:blipFill>
        <p:spPr bwMode="auto">
          <a:xfrm>
            <a:off x="4139952" y="1412776"/>
            <a:ext cx="3240360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(InterfaceInheritance.java)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class C implements C3 </a:t>
            </a:r>
          </a:p>
          <a:p>
            <a:pPr>
              <a:buNone/>
            </a:pPr>
            <a:r>
              <a:rPr lang="en-US" altLang="ko-KR" sz="1400" dirty="0" smtClean="0"/>
              <a:t>{</a:t>
            </a:r>
          </a:p>
          <a:p>
            <a:pPr>
              <a:buNone/>
            </a:pPr>
            <a:r>
              <a:rPr lang="en-US" altLang="ko-KR" sz="1400" dirty="0" smtClean="0"/>
              <a:t>	public void method1() </a:t>
            </a:r>
          </a:p>
          <a:p>
            <a:pPr>
              <a:buNone/>
            </a:pPr>
            <a:r>
              <a:rPr lang="en-US" altLang="ko-KR" sz="1400" dirty="0" smtClean="0"/>
              <a:t>	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("method1() </a:t>
            </a:r>
            <a:r>
              <a:rPr lang="ko-KR" altLang="en-US" sz="1400" dirty="0" err="1" smtClean="0"/>
              <a:t>메소드의</a:t>
            </a:r>
            <a:r>
              <a:rPr lang="ko-KR" altLang="en-US" sz="1400" dirty="0" smtClean="0"/>
              <a:t> 구현</a:t>
            </a:r>
            <a:r>
              <a:rPr lang="en-US" altLang="ko-KR" sz="1400" dirty="0" smtClean="0"/>
              <a:t>");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	public void method2() </a:t>
            </a:r>
          </a:p>
          <a:p>
            <a:pPr>
              <a:buNone/>
            </a:pPr>
            <a:r>
              <a:rPr lang="en-US" altLang="ko-KR" sz="1400" dirty="0" smtClean="0"/>
              <a:t>	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("method2() </a:t>
            </a:r>
            <a:r>
              <a:rPr lang="ko-KR" altLang="en-US" sz="1400" dirty="0" err="1" smtClean="0"/>
              <a:t>메소드의</a:t>
            </a:r>
            <a:r>
              <a:rPr lang="ko-KR" altLang="en-US" sz="1400" dirty="0" smtClean="0"/>
              <a:t> 구현</a:t>
            </a:r>
            <a:r>
              <a:rPr lang="en-US" altLang="ko-KR" sz="1400" dirty="0" smtClean="0"/>
              <a:t>");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	public void method3() </a:t>
            </a:r>
          </a:p>
          <a:p>
            <a:pPr>
              <a:buNone/>
            </a:pPr>
            <a:r>
              <a:rPr lang="en-US" altLang="ko-KR" sz="1400" dirty="0" smtClean="0"/>
              <a:t>	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("method3() </a:t>
            </a:r>
            <a:r>
              <a:rPr lang="ko-KR" altLang="en-US" sz="1400" dirty="0" err="1" smtClean="0"/>
              <a:t>메소드의</a:t>
            </a:r>
            <a:r>
              <a:rPr lang="ko-KR" altLang="en-US" sz="1400" dirty="0" smtClean="0"/>
              <a:t> 구현</a:t>
            </a:r>
            <a:r>
              <a:rPr lang="en-US" altLang="ko-KR" sz="1400" dirty="0" smtClean="0"/>
              <a:t>");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	public void method4() </a:t>
            </a:r>
          </a:p>
          <a:p>
            <a:pPr>
              <a:buNone/>
            </a:pPr>
            <a:r>
              <a:rPr lang="en-US" altLang="ko-KR" sz="1400" dirty="0" smtClean="0"/>
              <a:t>	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("method4() </a:t>
            </a:r>
            <a:r>
              <a:rPr lang="ko-KR" altLang="en-US" sz="1400" dirty="0" err="1" smtClean="0"/>
              <a:t>메소드의</a:t>
            </a:r>
            <a:r>
              <a:rPr lang="ko-KR" altLang="en-US" sz="1400" dirty="0" smtClean="0"/>
              <a:t> 구현</a:t>
            </a:r>
            <a:r>
              <a:rPr lang="en-US" altLang="ko-KR" sz="1400" dirty="0" smtClean="0"/>
              <a:t>");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(InterfaceInheritance.java)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public class </a:t>
            </a:r>
            <a:r>
              <a:rPr lang="en-US" altLang="ko-KR" sz="1400" dirty="0" err="1" smtClean="0"/>
              <a:t>InterfaceInheritance</a:t>
            </a:r>
            <a:r>
              <a:rPr lang="en-US" altLang="ko-KR" sz="1400" dirty="0" smtClean="0"/>
              <a:t> </a:t>
            </a:r>
          </a:p>
          <a:p>
            <a:pPr>
              <a:buNone/>
            </a:pPr>
            <a:r>
              <a:rPr lang="en-US" altLang="ko-KR" sz="1400" dirty="0" smtClean="0"/>
              <a:t>{</a:t>
            </a:r>
          </a:p>
          <a:p>
            <a:pPr>
              <a:buNone/>
            </a:pPr>
            <a:r>
              <a:rPr lang="en-US" altLang="ko-KR" sz="1400" dirty="0" smtClean="0"/>
              <a:t>	public static void main(String </a:t>
            </a:r>
            <a:r>
              <a:rPr lang="en-US" altLang="ko-KR" sz="1400" dirty="0" err="1" smtClean="0"/>
              <a:t>arg</a:t>
            </a:r>
            <a:r>
              <a:rPr lang="en-US" altLang="ko-KR" sz="1400" dirty="0" smtClean="0"/>
              <a:t>[]) </a:t>
            </a:r>
          </a:p>
          <a:p>
            <a:pPr>
              <a:buNone/>
            </a:pPr>
            <a:r>
              <a:rPr lang="en-US" altLang="ko-KR" sz="1400" dirty="0" smtClean="0"/>
              <a:t>	{</a:t>
            </a:r>
          </a:p>
          <a:p>
            <a:pPr>
              <a:buNone/>
            </a:pPr>
            <a:r>
              <a:rPr lang="en-US" altLang="ko-KR" sz="1400" dirty="0" smtClean="0"/>
              <a:t>		C </a:t>
            </a:r>
            <a:r>
              <a:rPr lang="en-US" altLang="ko-KR" sz="1400" dirty="0" err="1" smtClean="0"/>
              <a:t>obj</a:t>
            </a:r>
            <a:r>
              <a:rPr lang="en-US" altLang="ko-KR" sz="1400" dirty="0" smtClean="0"/>
              <a:t> = new C();</a:t>
            </a:r>
          </a:p>
          <a:p>
            <a:pPr>
              <a:buNone/>
            </a:pPr>
            <a:r>
              <a:rPr lang="en-US" altLang="ko-KR" sz="1400" dirty="0" smtClean="0"/>
              <a:t>	     	obj.method1();</a:t>
            </a:r>
          </a:p>
          <a:p>
            <a:pPr>
              <a:buNone/>
            </a:pPr>
            <a:r>
              <a:rPr lang="en-US" altLang="ko-KR" sz="1400" dirty="0" smtClean="0"/>
              <a:t>		obj.method2();</a:t>
            </a:r>
          </a:p>
          <a:p>
            <a:pPr>
              <a:buNone/>
            </a:pPr>
            <a:r>
              <a:rPr lang="en-US" altLang="ko-KR" sz="1400" dirty="0" smtClean="0"/>
              <a:t>		obj.method3();</a:t>
            </a:r>
          </a:p>
          <a:p>
            <a:pPr>
              <a:buNone/>
            </a:pPr>
            <a:r>
              <a:rPr lang="en-US" altLang="ko-KR" sz="1400" dirty="0" smtClean="0"/>
              <a:t>		obj.method4();</a:t>
            </a:r>
          </a:p>
          <a:p>
            <a:pPr>
              <a:buNone/>
            </a:pPr>
            <a:r>
              <a:rPr lang="en-US" altLang="ko-KR" sz="1400" dirty="0" smtClean="0"/>
              <a:t>  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9</a:t>
            </a:r>
            <a:r>
              <a:rPr lang="en-US" altLang="ko-KR" smtClean="0"/>
              <a:t>. </a:t>
            </a:r>
            <a:r>
              <a:rPr lang="ko-KR" altLang="en-US" dirty="0" smtClean="0"/>
              <a:t>인터페이스 대입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ko-KR" altLang="en-US" sz="1600" dirty="0" smtClean="0"/>
              <a:t>인터페이스도 클래스처럼 대입이 가능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ko-KR" altLang="en-US" sz="1600" dirty="0" smtClean="0"/>
              <a:t>인터페이스 타입의 객체 참조 변수에 인터페이스를 포함하는 클래스의 객체를 할당하는 것이 가능</a:t>
            </a:r>
            <a:endParaRPr lang="en-US" altLang="ko-KR" sz="1600" dirty="0" smtClean="0"/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ko-KR" altLang="en-US" sz="1600" dirty="0" smtClean="0"/>
              <a:t>클래스와 마찬가지로 인터페이스 타입의 객체 참조변수를 통하여는 인터페이스에 선언된 속성만 접근 가능하며 </a:t>
            </a:r>
            <a:r>
              <a:rPr lang="ko-KR" altLang="en-US" sz="1600" dirty="0" err="1" smtClean="0"/>
              <a:t>오버라이딩</a:t>
            </a:r>
            <a:r>
              <a:rPr lang="ko-KR" altLang="en-US" sz="1600" dirty="0" smtClean="0"/>
              <a:t> 된 함수는 예외</a:t>
            </a:r>
            <a:endParaRPr lang="en-US" altLang="ko-KR" sz="1600" dirty="0" smtClean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(Output.java)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interface </a:t>
            </a:r>
            <a:r>
              <a:rPr lang="en-US" altLang="ko-KR" sz="1400" dirty="0" err="1" smtClean="0"/>
              <a:t>Starcraft</a:t>
            </a:r>
            <a:r>
              <a:rPr lang="en-US" altLang="ko-KR" sz="1400" dirty="0" smtClean="0"/>
              <a:t> </a:t>
            </a:r>
          </a:p>
          <a:p>
            <a:pPr>
              <a:buNone/>
            </a:pPr>
            <a:r>
              <a:rPr lang="en-US" altLang="ko-KR" sz="1400" dirty="0" smtClean="0"/>
              <a:t>{</a:t>
            </a:r>
          </a:p>
          <a:p>
            <a:pPr>
              <a:buNone/>
            </a:pPr>
            <a:r>
              <a:rPr lang="en-US" altLang="ko-KR" sz="1400" dirty="0" smtClean="0"/>
              <a:t>	void attack(String s);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  <a:p>
            <a:pPr>
              <a:buNone/>
            </a:pPr>
            <a:r>
              <a:rPr lang="en-US" altLang="ko-KR" sz="1400" dirty="0" smtClean="0"/>
              <a:t>  </a:t>
            </a:r>
          </a:p>
          <a:p>
            <a:pPr>
              <a:buNone/>
            </a:pPr>
            <a:r>
              <a:rPr lang="en-US" altLang="ko-KR" sz="1400" dirty="0" smtClean="0"/>
              <a:t>class </a:t>
            </a:r>
            <a:r>
              <a:rPr lang="en-US" altLang="ko-KR" sz="1400" dirty="0" err="1" smtClean="0"/>
              <a:t>Terran</a:t>
            </a:r>
            <a:r>
              <a:rPr lang="en-US" altLang="ko-KR" sz="1400" dirty="0" smtClean="0"/>
              <a:t> implements </a:t>
            </a:r>
            <a:r>
              <a:rPr lang="en-US" altLang="ko-KR" sz="1400" dirty="0" err="1" smtClean="0"/>
              <a:t>Starcraft</a:t>
            </a:r>
            <a:r>
              <a:rPr lang="en-US" altLang="ko-KR" sz="1400" dirty="0" smtClean="0"/>
              <a:t> </a:t>
            </a:r>
          </a:p>
          <a:p>
            <a:pPr>
              <a:buNone/>
            </a:pPr>
            <a:r>
              <a:rPr lang="en-US" altLang="ko-KR" sz="1400" dirty="0" smtClean="0"/>
              <a:t>{</a:t>
            </a:r>
          </a:p>
          <a:p>
            <a:pPr>
              <a:buNone/>
            </a:pPr>
            <a:r>
              <a:rPr lang="en-US" altLang="ko-KR" sz="1400" dirty="0" smtClean="0"/>
              <a:t>	public void attack(String s) </a:t>
            </a:r>
          </a:p>
          <a:p>
            <a:pPr>
              <a:buNone/>
            </a:pPr>
            <a:r>
              <a:rPr lang="en-US" altLang="ko-KR" sz="1400" dirty="0" smtClean="0"/>
              <a:t>	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en-US" altLang="ko-KR" sz="1400" dirty="0" err="1" smtClean="0"/>
              <a:t>Terran</a:t>
            </a:r>
            <a:r>
              <a:rPr lang="ko-KR" altLang="en-US" sz="1400" dirty="0" smtClean="0"/>
              <a:t>의  </a:t>
            </a:r>
            <a:r>
              <a:rPr lang="en-US" altLang="ko-KR" sz="1400" dirty="0" smtClean="0"/>
              <a:t>" + s + "Attack");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  <a:p>
            <a:pPr>
              <a:buNone/>
            </a:pPr>
            <a:endParaRPr lang="en-US" altLang="ko-KR" sz="1400" dirty="0" smtClean="0"/>
          </a:p>
          <a:p>
            <a:pPr>
              <a:buNone/>
            </a:pPr>
            <a:r>
              <a:rPr lang="en-US" altLang="ko-KR" sz="1400" dirty="0" smtClean="0"/>
              <a:t>class </a:t>
            </a:r>
            <a:r>
              <a:rPr lang="en-US" altLang="ko-KR" sz="1400" dirty="0" err="1" smtClean="0"/>
              <a:t>Protoss</a:t>
            </a:r>
            <a:r>
              <a:rPr lang="en-US" altLang="ko-KR" sz="1400" dirty="0" smtClean="0"/>
              <a:t> implements </a:t>
            </a:r>
            <a:r>
              <a:rPr lang="en-US" altLang="ko-KR" sz="1400" dirty="0" err="1" smtClean="0"/>
              <a:t>Starcraft</a:t>
            </a:r>
            <a:r>
              <a:rPr lang="en-US" altLang="ko-KR" sz="1400" dirty="0" smtClean="0"/>
              <a:t>  </a:t>
            </a:r>
          </a:p>
          <a:p>
            <a:pPr>
              <a:buNone/>
            </a:pPr>
            <a:r>
              <a:rPr lang="en-US" altLang="ko-KR" sz="1400" dirty="0" smtClean="0"/>
              <a:t>{</a:t>
            </a:r>
          </a:p>
          <a:p>
            <a:pPr>
              <a:buNone/>
            </a:pPr>
            <a:r>
              <a:rPr lang="en-US" altLang="ko-KR" sz="1400" dirty="0" smtClean="0"/>
              <a:t>	public void attack(String s) </a:t>
            </a:r>
          </a:p>
          <a:p>
            <a:pPr>
              <a:buNone/>
            </a:pPr>
            <a:r>
              <a:rPr lang="en-US" altLang="ko-KR" sz="1400" dirty="0" smtClean="0"/>
              <a:t>	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en-US" altLang="ko-KR" sz="1400" dirty="0" err="1" smtClean="0"/>
              <a:t>Protoss</a:t>
            </a:r>
            <a:r>
              <a:rPr lang="ko-KR" altLang="en-US" sz="1400" dirty="0" smtClean="0"/>
              <a:t>의  </a:t>
            </a:r>
            <a:r>
              <a:rPr lang="en-US" altLang="ko-KR" sz="1400" dirty="0" smtClean="0"/>
              <a:t>" + s + "Attack");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  <a:p>
            <a:pPr>
              <a:buNone/>
            </a:pPr>
            <a:endParaRPr lang="en-US" altLang="ko-KR" sz="14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 l="25988" t="74993" r="56294" b="14402"/>
          <a:stretch>
            <a:fillRect/>
          </a:stretch>
        </p:blipFill>
        <p:spPr bwMode="auto">
          <a:xfrm>
            <a:off x="5076056" y="1556792"/>
            <a:ext cx="2952328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(Output.java)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class </a:t>
            </a:r>
            <a:r>
              <a:rPr lang="en-US" altLang="ko-KR" sz="1400" dirty="0" err="1" smtClean="0"/>
              <a:t>Zerg</a:t>
            </a:r>
            <a:r>
              <a:rPr lang="en-US" altLang="ko-KR" sz="1400" dirty="0" smtClean="0"/>
              <a:t> implements </a:t>
            </a:r>
            <a:r>
              <a:rPr lang="en-US" altLang="ko-KR" sz="1400" dirty="0" err="1" smtClean="0"/>
              <a:t>Starcraft</a:t>
            </a:r>
            <a:r>
              <a:rPr lang="en-US" altLang="ko-KR" sz="1400" dirty="0" smtClean="0"/>
              <a:t> </a:t>
            </a:r>
          </a:p>
          <a:p>
            <a:pPr>
              <a:buNone/>
            </a:pPr>
            <a:r>
              <a:rPr lang="en-US" altLang="ko-KR" sz="1400" dirty="0" smtClean="0"/>
              <a:t>{</a:t>
            </a:r>
          </a:p>
          <a:p>
            <a:pPr>
              <a:buNone/>
            </a:pPr>
            <a:r>
              <a:rPr lang="en-US" altLang="ko-KR" sz="1400" dirty="0" smtClean="0"/>
              <a:t>	public void attack(String s) </a:t>
            </a:r>
          </a:p>
          <a:p>
            <a:pPr>
              <a:buNone/>
            </a:pPr>
            <a:r>
              <a:rPr lang="en-US" altLang="ko-KR" sz="1400" dirty="0" smtClean="0"/>
              <a:t>	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en-US" altLang="ko-KR" sz="1400" dirty="0" err="1" smtClean="0"/>
              <a:t>Zerg</a:t>
            </a:r>
            <a:r>
              <a:rPr lang="ko-KR" altLang="en-US" sz="1400" dirty="0" smtClean="0"/>
              <a:t>의  </a:t>
            </a:r>
            <a:r>
              <a:rPr lang="en-US" altLang="ko-KR" sz="1400" dirty="0" smtClean="0"/>
              <a:t>" + s + "Attack");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  <a:p>
            <a:pPr>
              <a:buNone/>
            </a:pPr>
            <a:r>
              <a:rPr lang="en-US" altLang="ko-KR" sz="1400" dirty="0" smtClean="0"/>
              <a:t>class Output </a:t>
            </a:r>
          </a:p>
          <a:p>
            <a:pPr>
              <a:buNone/>
            </a:pPr>
            <a:r>
              <a:rPr lang="en-US" altLang="ko-KR" sz="1400" dirty="0" smtClean="0"/>
              <a:t>{</a:t>
            </a:r>
          </a:p>
          <a:p>
            <a:pPr>
              <a:buNone/>
            </a:pPr>
            <a:r>
              <a:rPr lang="en-US" altLang="ko-KR" sz="1400" dirty="0" smtClean="0"/>
              <a:t>	public static void main(String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[]) </a:t>
            </a:r>
          </a:p>
          <a:p>
            <a:pPr>
              <a:buNone/>
            </a:pPr>
            <a:r>
              <a:rPr lang="en-US" altLang="ko-KR" sz="1400" dirty="0" smtClean="0"/>
              <a:t>	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Starcraft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obj</a:t>
            </a:r>
            <a:r>
              <a:rPr lang="en-US" altLang="ko-KR" sz="1400" dirty="0" smtClean="0"/>
              <a:t>;   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obj</a:t>
            </a:r>
            <a:r>
              <a:rPr lang="en-US" altLang="ko-KR" sz="1400" dirty="0" smtClean="0"/>
              <a:t> = new </a:t>
            </a:r>
            <a:r>
              <a:rPr lang="en-US" altLang="ko-KR" sz="1400" dirty="0" err="1" smtClean="0"/>
              <a:t>Terran</a:t>
            </a:r>
            <a:r>
              <a:rPr lang="en-US" altLang="ko-KR" sz="1400" dirty="0" smtClean="0"/>
              <a:t>();</a:t>
            </a:r>
          </a:p>
          <a:p>
            <a:pPr>
              <a:buNone/>
            </a:pPr>
            <a:r>
              <a:rPr lang="en-US" altLang="ko-KR" sz="1400" dirty="0" smtClean="0"/>
              <a:t> 		</a:t>
            </a:r>
            <a:r>
              <a:rPr lang="en-US" altLang="ko-KR" sz="1400" dirty="0" err="1" smtClean="0"/>
              <a:t>obj.attack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마린 </a:t>
            </a:r>
            <a:r>
              <a:rPr lang="en-US" altLang="ko-KR" sz="1400" dirty="0" smtClean="0"/>
              <a:t>");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obj</a:t>
            </a:r>
            <a:r>
              <a:rPr lang="en-US" altLang="ko-KR" sz="1400" dirty="0" smtClean="0"/>
              <a:t> = new </a:t>
            </a:r>
            <a:r>
              <a:rPr lang="en-US" altLang="ko-KR" sz="1400" dirty="0" err="1" smtClean="0"/>
              <a:t>Protoss</a:t>
            </a:r>
            <a:r>
              <a:rPr lang="en-US" altLang="ko-KR" sz="1400" dirty="0" smtClean="0"/>
              <a:t>();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obj.attack</a:t>
            </a:r>
            <a:r>
              <a:rPr lang="en-US" altLang="ko-KR" sz="1400" dirty="0" smtClean="0"/>
              <a:t>("</a:t>
            </a:r>
            <a:r>
              <a:rPr lang="ko-KR" altLang="en-US" sz="1400" dirty="0" err="1" smtClean="0"/>
              <a:t>드래곤</a:t>
            </a:r>
            <a:r>
              <a:rPr lang="en-US" altLang="ko-KR" sz="1400" dirty="0" smtClean="0"/>
              <a:t>");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obj</a:t>
            </a:r>
            <a:r>
              <a:rPr lang="en-US" altLang="ko-KR" sz="1400" dirty="0" smtClean="0"/>
              <a:t> = new </a:t>
            </a:r>
            <a:r>
              <a:rPr lang="en-US" altLang="ko-KR" sz="1400" dirty="0" err="1" smtClean="0"/>
              <a:t>Zerg</a:t>
            </a:r>
            <a:r>
              <a:rPr lang="en-US" altLang="ko-KR" sz="1400" dirty="0" smtClean="0"/>
              <a:t>();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obj.attack</a:t>
            </a:r>
            <a:r>
              <a:rPr lang="en-US" altLang="ko-KR" sz="1400" dirty="0" smtClean="0"/>
              <a:t>("</a:t>
            </a:r>
            <a:r>
              <a:rPr lang="ko-KR" altLang="en-US" sz="1400" dirty="0" err="1" smtClean="0"/>
              <a:t>히드라리스크</a:t>
            </a:r>
            <a:r>
              <a:rPr lang="en-US" altLang="ko-KR" sz="1400" dirty="0" smtClean="0"/>
              <a:t>.");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40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s01_1">
  <a:themeElements>
    <a:clrScheme name="ms01_1 3">
      <a:dk1>
        <a:srgbClr val="808080"/>
      </a:dk1>
      <a:lt1>
        <a:srgbClr val="FFFFFF"/>
      </a:lt1>
      <a:dk2>
        <a:srgbClr val="FFFFFF"/>
      </a:dk2>
      <a:lt2>
        <a:srgbClr val="B2B2B2"/>
      </a:lt2>
      <a:accent1>
        <a:srgbClr val="058089"/>
      </a:accent1>
      <a:accent2>
        <a:srgbClr val="66BE0E"/>
      </a:accent2>
      <a:accent3>
        <a:srgbClr val="FFFFFF"/>
      </a:accent3>
      <a:accent4>
        <a:srgbClr val="6C6C6C"/>
      </a:accent4>
      <a:accent5>
        <a:srgbClr val="AAC0C4"/>
      </a:accent5>
      <a:accent6>
        <a:srgbClr val="5CAC0C"/>
      </a:accent6>
      <a:hlink>
        <a:srgbClr val="2CA9D0"/>
      </a:hlink>
      <a:folHlink>
        <a:srgbClr val="4841D9"/>
      </a:folHlink>
    </a:clrScheme>
    <a:fontScheme name="ms01_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s01_1 1">
        <a:dk1>
          <a:srgbClr val="1D528D"/>
        </a:dk1>
        <a:lt1>
          <a:srgbClr val="FFFFFF"/>
        </a:lt1>
        <a:dk2>
          <a:srgbClr val="000000"/>
        </a:dk2>
        <a:lt2>
          <a:srgbClr val="CACACA"/>
        </a:lt2>
        <a:accent1>
          <a:srgbClr val="0099CC"/>
        </a:accent1>
        <a:accent2>
          <a:srgbClr val="BFA907"/>
        </a:accent2>
        <a:accent3>
          <a:srgbClr val="FFFFFF"/>
        </a:accent3>
        <a:accent4>
          <a:srgbClr val="174578"/>
        </a:accent4>
        <a:accent5>
          <a:srgbClr val="AACAE2"/>
        </a:accent5>
        <a:accent6>
          <a:srgbClr val="AD9906"/>
        </a:accent6>
        <a:hlink>
          <a:srgbClr val="6E81E0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s01_1 2">
        <a:dk1>
          <a:srgbClr val="4E40A4"/>
        </a:dk1>
        <a:lt1>
          <a:srgbClr val="FFFFFF"/>
        </a:lt1>
        <a:dk2>
          <a:srgbClr val="000000"/>
        </a:dk2>
        <a:lt2>
          <a:srgbClr val="CACACA"/>
        </a:lt2>
        <a:accent1>
          <a:srgbClr val="8B65E9"/>
        </a:accent1>
        <a:accent2>
          <a:srgbClr val="008080"/>
        </a:accent2>
        <a:accent3>
          <a:srgbClr val="FFFFFF"/>
        </a:accent3>
        <a:accent4>
          <a:srgbClr val="41358B"/>
        </a:accent4>
        <a:accent5>
          <a:srgbClr val="C4B8F2"/>
        </a:accent5>
        <a:accent6>
          <a:srgbClr val="007373"/>
        </a:accent6>
        <a:hlink>
          <a:srgbClr val="0066CC"/>
        </a:hlink>
        <a:folHlink>
          <a:srgbClr val="8AB15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s01_1 3">
        <a:dk1>
          <a:srgbClr val="808080"/>
        </a:dk1>
        <a:lt1>
          <a:srgbClr val="FFFFFF"/>
        </a:lt1>
        <a:dk2>
          <a:srgbClr val="FFFFFF"/>
        </a:dk2>
        <a:lt2>
          <a:srgbClr val="B2B2B2"/>
        </a:lt2>
        <a:accent1>
          <a:srgbClr val="058089"/>
        </a:accent1>
        <a:accent2>
          <a:srgbClr val="66BE0E"/>
        </a:accent2>
        <a:accent3>
          <a:srgbClr val="FFFFFF"/>
        </a:accent3>
        <a:accent4>
          <a:srgbClr val="6C6C6C"/>
        </a:accent4>
        <a:accent5>
          <a:srgbClr val="AAC0C4"/>
        </a:accent5>
        <a:accent6>
          <a:srgbClr val="5CAC0C"/>
        </a:accent6>
        <a:hlink>
          <a:srgbClr val="2CA9D0"/>
        </a:hlink>
        <a:folHlink>
          <a:srgbClr val="4841D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9590</TotalTime>
  <Words>1023</Words>
  <Application>Microsoft Office PowerPoint</Application>
  <PresentationFormat>화면 슬라이드 쇼(4:3)</PresentationFormat>
  <Paragraphs>652</Paragraphs>
  <Slides>40</Slides>
  <Notes>0</Notes>
  <HiddenSlides>0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2" baseType="lpstr">
      <vt:lpstr>ms01_1</vt:lpstr>
      <vt:lpstr>Image</vt:lpstr>
      <vt:lpstr>상속과 다형성</vt:lpstr>
      <vt:lpstr>1. 상속(is a)</vt:lpstr>
      <vt:lpstr>1. 상속(is a)</vt:lpstr>
      <vt:lpstr>1. 상속(is a)</vt:lpstr>
      <vt:lpstr>실습(Company-Employee.class)</vt:lpstr>
      <vt:lpstr>실습(Company-Employee.class)</vt:lpstr>
      <vt:lpstr>실습(Company-Manager.class)</vt:lpstr>
      <vt:lpstr>실습(Company-Company.class)</vt:lpstr>
      <vt:lpstr>실습(Company-Company.class)</vt:lpstr>
      <vt:lpstr>2. super</vt:lpstr>
      <vt:lpstr>실습(Super-Manager.class)</vt:lpstr>
      <vt:lpstr>실습(Company-Company.class)</vt:lpstr>
      <vt:lpstr>실습(Company-Company.class)</vt:lpstr>
      <vt:lpstr>3. MethodOverriding(재정의)</vt:lpstr>
      <vt:lpstr>실습(Overriding-Manager.class)</vt:lpstr>
      <vt:lpstr>실습(Overriding-Company.class)</vt:lpstr>
      <vt:lpstr>실습(Overriding-Company.class)</vt:lpstr>
      <vt:lpstr>4. 참조형 데이터의 대입</vt:lpstr>
      <vt:lpstr>실습(Convert-Company.class)</vt:lpstr>
      <vt:lpstr>실습(Convert-Company.class)</vt:lpstr>
      <vt:lpstr>5. Abstract Class</vt:lpstr>
      <vt:lpstr>실습(Abstract-Star.class)</vt:lpstr>
      <vt:lpstr>실습(Abstract-Protoss.class)</vt:lpstr>
      <vt:lpstr>실습(Abstract-Terran.class)</vt:lpstr>
      <vt:lpstr>실습(Abstract-Zerg.class)</vt:lpstr>
      <vt:lpstr>실습(Abstract-Main.class)</vt:lpstr>
      <vt:lpstr>6. final</vt:lpstr>
      <vt:lpstr>7. 인터페이스</vt:lpstr>
      <vt:lpstr>7. 인터페이스</vt:lpstr>
      <vt:lpstr>실습(InterTest.java)</vt:lpstr>
      <vt:lpstr>실습(InterTest.java)</vt:lpstr>
      <vt:lpstr>실습(MultiInheritance .java)</vt:lpstr>
      <vt:lpstr>실습(MultiInheritance .java)</vt:lpstr>
      <vt:lpstr>8. 인터페이스 상속</vt:lpstr>
      <vt:lpstr>실습(InterfaceInheritance.java)</vt:lpstr>
      <vt:lpstr>실습(InterfaceInheritance.java)</vt:lpstr>
      <vt:lpstr>실습(InterfaceInheritance.java)</vt:lpstr>
      <vt:lpstr>9. 인터페이스 대입</vt:lpstr>
      <vt:lpstr>실습(Output.java)</vt:lpstr>
      <vt:lpstr>실습(Output.java)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Teresa</dc:creator>
  <cp:lastModifiedBy>user</cp:lastModifiedBy>
  <cp:revision>493</cp:revision>
  <dcterms:created xsi:type="dcterms:W3CDTF">2010-03-14T12:09:21Z</dcterms:created>
  <dcterms:modified xsi:type="dcterms:W3CDTF">2013-03-19T23:01:47Z</dcterms:modified>
</cp:coreProperties>
</file>