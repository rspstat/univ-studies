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521" r:id="rId2"/>
    <p:sldId id="543" r:id="rId3"/>
    <p:sldId id="544" r:id="rId4"/>
    <p:sldId id="545" r:id="rId5"/>
    <p:sldId id="546" r:id="rId6"/>
    <p:sldId id="547" r:id="rId7"/>
    <p:sldId id="523" r:id="rId8"/>
    <p:sldId id="524" r:id="rId9"/>
    <p:sldId id="525" r:id="rId10"/>
    <p:sldId id="526" r:id="rId11"/>
    <p:sldId id="522" r:id="rId12"/>
    <p:sldId id="527" r:id="rId13"/>
    <p:sldId id="528" r:id="rId14"/>
    <p:sldId id="529" r:id="rId15"/>
    <p:sldId id="530" r:id="rId16"/>
    <p:sldId id="531" r:id="rId17"/>
    <p:sldId id="532" r:id="rId18"/>
    <p:sldId id="533" r:id="rId19"/>
    <p:sldId id="534" r:id="rId20"/>
    <p:sldId id="535" r:id="rId21"/>
    <p:sldId id="536" r:id="rId22"/>
    <p:sldId id="537" r:id="rId23"/>
    <p:sldId id="538" r:id="rId24"/>
    <p:sldId id="539" r:id="rId25"/>
    <p:sldId id="540" r:id="rId26"/>
    <p:sldId id="541" r:id="rId27"/>
    <p:sldId id="542" r:id="rId28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8512"/>
    <a:srgbClr val="E78C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76" autoAdjust="0"/>
    <p:restoredTop sz="83396" autoAdjust="0"/>
  </p:normalViewPr>
  <p:slideViewPr>
    <p:cSldViewPr>
      <p:cViewPr varScale="1">
        <p:scale>
          <a:sx n="72" d="100"/>
          <a:sy n="72" d="100"/>
        </p:scale>
        <p:origin x="1354" y="1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5-16T07:02:15.6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 7951,'31'0'908,"-25"0"-395,-6 0 225,0 0 320,0 0 363,0 0 161,0 0-86,0 0-470,0 0-321,0 0-202,0 0-44,0 0-128,0 0 22,0 0-214,0 0-32,0 0-53,0 0-76,0 0-20,0 0-397,0 0-544,0 0-802,0 0-694,0-6-1038,0-26-918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A9A6B6FF-CBC3-4259-BB63-21BE2371C070}" type="datetimeFigureOut">
              <a:rPr lang="ko-KR" altLang="en-US"/>
              <a:pPr>
                <a:defRPr/>
              </a:pPr>
              <a:t>2022-05-16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1882F7CD-85B0-47CE-A17F-183CEFEC5E4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96AFA4-6D75-4E33-A8F8-0E5C65367EA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9016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88665-4569-4142-924F-B3BEE738A9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7813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63A26-7E57-46E2-ACF7-96A9D5BA260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8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5966A-CF88-48E0-8C58-2DFCC573DBB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77644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5D111B-257F-4D6D-A06D-626D930688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3200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87430F-0EF5-48DD-B186-4866B4F4DC7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87408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474CB-E2CF-43A5-881D-112D0D641AA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5364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E2A078-03B1-45D0-8AD6-C01C9429627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8286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FB8110-804D-4278-A1B3-A21809AE4C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51931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7FE57D-105D-4B60-A52A-15371FE197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0400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3AEF9-C643-4345-8B2C-BB3F286476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9113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/>
            </a:lvl1pPr>
          </a:lstStyle>
          <a:p>
            <a:pPr>
              <a:defRPr/>
            </a:pPr>
            <a:fld id="{8CBBABAB-E562-4A42-85BD-2B2431519C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96370" y="2348880"/>
            <a:ext cx="346761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복습문제 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 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장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algn="ctr"/>
            <a:endParaRPr lang="en-US" altLang="ko-KR" sz="3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37279" y="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[#66]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553AF2E7-AAAF-4064-B688-1FBD0646FDDE}"/>
                  </a:ext>
                </a:extLst>
              </p14:cNvPr>
              <p14:cNvContentPartPr/>
              <p14:nvPr/>
            </p14:nvContentPartPr>
            <p14:xfrm>
              <a:off x="-1670341" y="1430849"/>
              <a:ext cx="13680" cy="140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553AF2E7-AAAF-4064-B688-1FBD0646FD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688341" y="1412849"/>
                <a:ext cx="49320" cy="4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6158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2383" y="0"/>
            <a:ext cx="12192000" cy="1752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탈분극과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정의하고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그리고 그들이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오실로스코프에서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어떻게 나타나는지 서술하라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4.1. Na+, K+, Ca2+, Cl-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막전압에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미치는 영향을 간단히 설명하시오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저분극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탈분극이라는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용어를 사용할 것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1739091"/>
            <a:ext cx="4527233" cy="4693920"/>
          </a:xfrm>
          <a:prstGeom prst="rect">
            <a:avLst/>
          </a:prstGeom>
          <a:noFill/>
          <a:ln>
            <a:noFill/>
          </a:ln>
          <a:extLst/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912" y="3068960"/>
            <a:ext cx="6751320" cy="2377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40381" y="6327865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[#67]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9531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7. </a:t>
            </a:r>
            <a:r>
              <a:rPr lang="ko-KR" altLang="en-US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활동전압에서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Na+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K+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통로의 순차적인 변화와 그 결과 이들 이온들의 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알짜 확산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(net diffusion)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단계적으로 서술하라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이들 사건들과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중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막전위에서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일어나는 변화를 연관시켜 설명하라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1052736"/>
            <a:ext cx="5067300" cy="5524500"/>
          </a:xfrm>
          <a:prstGeom prst="rect">
            <a:avLst/>
          </a:prstGeom>
          <a:noFill/>
          <a:ln>
            <a:noFill/>
          </a:ln>
          <a:extLst/>
        </p:spPr>
      </p:pic>
      <p:sp>
        <p:nvSpPr>
          <p:cNvPr id="4" name="직사각형 3"/>
          <p:cNvSpPr/>
          <p:nvPr/>
        </p:nvSpPr>
        <p:spPr>
          <a:xfrm>
            <a:off x="8310" y="1482958"/>
            <a:ext cx="6787181" cy="2176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latinLnBrk="1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ko-KR" sz="2400" u="sng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Diffusion</a:t>
            </a:r>
            <a:r>
              <a:rPr lang="en-US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is simply movement of molecules, ions, gases, </a:t>
            </a:r>
            <a:r>
              <a:rPr lang="en-US" altLang="ko-KR" sz="2400" kern="100" dirty="0" err="1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etc</a:t>
            </a:r>
            <a:r>
              <a:rPr lang="en-US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from high concentration to their low concentration.</a:t>
            </a:r>
          </a:p>
          <a:p>
            <a:pPr marL="285750" indent="-285750" algn="just" latinLnBrk="1">
              <a:lnSpc>
                <a:spcPct val="115000"/>
              </a:lnSpc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altLang="ko-KR" sz="2400" u="sng" kern="100" dirty="0">
                <a:solidFill>
                  <a:srgbClr val="FF0000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Net diffusion </a:t>
            </a:r>
            <a:r>
              <a:rPr lang="en-US" altLang="ko-KR" sz="2400" kern="10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means difference between two opposing movements.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0" y="6377181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[#68]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6240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15212" y="19698"/>
            <a:ext cx="12192000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10.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신경전달물질이 시냅스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말단에서 어떻게 저장되고 유리되는지를 서술하라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활동전압의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빈도가 분비되는 신경전달물질의 양에 어떻게 영향을 미치는가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592" y="1089660"/>
            <a:ext cx="7117080" cy="57683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55729" y="6434291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[#69]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30767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047" y="19698"/>
            <a:ext cx="12192000" cy="9027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14.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니코틴성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nAChR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화학적 구조를 서술하고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이들 수용체와 결합하는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어떻게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EPSP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만드는지를 설명하라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nAChR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신체의 어디에 위치하는가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6" y="1196752"/>
            <a:ext cx="4419600" cy="2771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70941" y="6443305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[#70]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2754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3244"/>
            <a:ext cx="12192000" cy="478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15. GABA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어떻게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일으키는지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그리고 그 작용의 의미를 설명하라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908720"/>
            <a:ext cx="10639425" cy="4610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[#71]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4529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5708" y="0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1. 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수초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대한 다음 설명 중 맞는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모든 신경세포들은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수초화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되어 있다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수초는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수상돌기와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둘러싸고 있다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Schwann cell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PNS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 수초를 형성한다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Astrocyte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CNS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 수초를 형성한다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[#72]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0270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12192000" cy="2176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감각신경세포는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위장단극형이다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PNS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일부이다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구심성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신경세포이다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위의 서술이 모두 옳다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[#73]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711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078" y="18474"/>
            <a:ext cx="9144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4. 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란비어노드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관한 설명으로 옳지 않는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PNS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에서만 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유수축삭에서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존재한다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유수축삭에서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신경신호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전도에 필요하다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수초에 있는 간격들이다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도약전도에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포함된다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[#74]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3623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31383"/>
            <a:ext cx="12192000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5.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세포가 안정막전위를 가지고 있을 때 </a:t>
            </a:r>
            <a:r>
              <a:rPr lang="ko-KR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음성화가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덜 되는 변화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(less negative change)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[A]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;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이것은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오실로스코프에서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[B]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방향을 가리킨다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strike="sngStrike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저분극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),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strike="sngStrike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저분극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), 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아래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[#75]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061F963-4198-4AE6-A392-668D1FB57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1370107"/>
            <a:ext cx="4527233" cy="4693920"/>
          </a:xfrm>
          <a:prstGeom prst="rect">
            <a:avLst/>
          </a:prstGeom>
          <a:noFill/>
          <a:ln>
            <a:noFill/>
          </a:ln>
          <a:extLst/>
        </p:spPr>
      </p:pic>
    </p:spTree>
    <p:extLst>
      <p:ext uri="{BB962C8B-B14F-4D97-AF65-F5344CB8AC3E}">
        <p14:creationId xmlns:p14="http://schemas.microsoft.com/office/powerpoint/2010/main" val="3583176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6.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en-US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전압조절성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Na+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통로는 막이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[A]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될 때까지 닫혀 있다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역치 수준까지 도달한 </a:t>
            </a:r>
            <a:r>
              <a:rPr lang="ko-KR" altLang="ko-KR" sz="2400" strike="sngStrike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저분극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어느 정도 </a:t>
            </a:r>
            <a:r>
              <a:rPr lang="ko-KR" altLang="ko-KR" sz="2400" strike="sngStrike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저분극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역치 수준까지 도달한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어느 정도의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[#76]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996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6058" y="14689"/>
            <a:ext cx="12175942" cy="2176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7. </a:t>
            </a:r>
            <a:r>
              <a:rPr lang="ko-KR" altLang="ko-KR" sz="2400" strike="sngStrike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전압성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전압조절성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 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이온통로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열린 후에 어떻게 되는가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자극이 없어질 때까지 열려있다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자극이 없어질 때까지 닫힌 상태로 들어간다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자극이 없어질 때까지 불활성 상태로 들어가 그대로 있는다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짧게 불활성 상태로 들어간 후 닫힌 상태로 들어간다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[#77]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31732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41" y="18474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8.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보통 신경세포의 첫 번째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활동전압이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생기는 곳은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수상돌기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세포체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축삭둔덕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말단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[#78]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0310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21034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9.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활동전압의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탈분극에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관한 설명 중 틀린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Na+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 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밖으로 확산된다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막전위는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+30 mV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로 치솟는다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자극은 좀 더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일으킨다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시기는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Na+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통로의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불활성화에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의해 끝난다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[#79]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5995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10.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활동전압의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재분극에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관한 설명 중 틀린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막전위는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결국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안정막전압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(RMP)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으로 돌아간다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시기는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K+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통로가 열리는 것이 필요하다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짧은 시기지만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과분극으로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가는 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역전발사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있다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시기에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Na+/K+ (ATPase) 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펌프의 작용이 필요하다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[#80]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83624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11.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자극이 강할수록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en-US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생산의 빈도가 더 증가한다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진폭이 더 커진다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활동전압이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따라 진행하는 속도가 더 증가한다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각각의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기간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(duration)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 더 길어진다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[#81]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95865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885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12.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다음 중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활동전압의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특징이 아닌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감소 없이 전도된다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서로 가중될 수 있다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모두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아니면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없음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(all-or-none)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불응기를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가지고 있다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[#82]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9485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13.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활동전압의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전도에 관한 설명 중 틀린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한 곳의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활동전압은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다음 옆의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일으키는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자극 역할을 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무수축삭에서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활동전압은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모두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따라 만들어진다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유수축삭에서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활동전압은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란비어노드에서만 만들어진다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무수축삭은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활동전압을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유수축삭보다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더 빨리 전도한다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[#83]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5620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-16140"/>
            <a:ext cx="12192000" cy="2176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14.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다음 신경전달물질에 관한 설명 중 맞는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축삭의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Na+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통로가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열리면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말단에서 신경전달물질이 유리된다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신경전달물질은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축삭말단에서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세포막을 통해 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나갈 때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능동운반된다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신경전달물질은 시냅스 후 막의 화학적으로 조절되는 통로를 </a:t>
            </a: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열게한다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신경전달물질은 수상돌기에서 </a:t>
            </a:r>
            <a:r>
              <a:rPr lang="ko-KR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전압성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이온통로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열게한다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[#84]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75004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4612" y="6899"/>
            <a:ext cx="12192000" cy="2176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15.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다음 중 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시냅스 전위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의 특성이 아닌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가중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된다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모두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아니면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-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없음 이다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진폭과 거리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가 줄어든다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그들은 </a:t>
            </a:r>
            <a:r>
              <a:rPr lang="ko-KR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불응기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가지지 </a:t>
            </a: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않느나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[#85]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2279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32608"/>
            <a:ext cx="12192000" cy="2176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16. </a:t>
            </a:r>
            <a:r>
              <a:rPr lang="ko-KR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억제성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시냅스후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전위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(IPSP)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는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과분극이다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GABA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에 의해 생산될 수 있다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시냅스후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억제를 만든다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위의 서술이 모두 옳다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[#86]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9768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25473"/>
            <a:ext cx="12192000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17.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다음 수용체 단백질의 유형 중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(1) 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그 자신이 이온통로이고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(2) 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항상 </a:t>
            </a:r>
            <a:r>
              <a:rPr lang="ko-KR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탈분극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(EPSP)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을 만드는 것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: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니코틴서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무스카린성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GABA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모노아민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[#87]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9936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2072" y="0"/>
            <a:ext cx="12192000" cy="2176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18.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다음 수용체 단백질의 유형 중 또한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Cl-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통로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인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니코틴서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무스카린성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GABA 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모노아민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[#88]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86624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31797" y="0"/>
            <a:ext cx="12192000" cy="3065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19. 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Acetylcholinesterase (</a:t>
            </a:r>
            <a:r>
              <a:rPr lang="en-US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AChE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억제하는 약물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은 다음의 효과를 가지고 있다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예외가 되는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골격근의 이완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시냅스 간격에서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양의 증가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콜린성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시냅스에서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EPSP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생산 증가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콜린성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시냅스에서 </a:t>
            </a:r>
            <a:r>
              <a:rPr lang="ko-KR" altLang="en-US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활동전압의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생산 증가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[#89]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7258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5875" y="0"/>
            <a:ext cx="12192000" cy="26407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20.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다음 신경전달물질 중 시냅스 간격에서 </a:t>
            </a:r>
            <a:r>
              <a:rPr lang="ko-KR" altLang="ko-KR" sz="2400" b="1" u="sng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시냅스전</a:t>
            </a:r>
            <a:r>
              <a:rPr lang="ko-KR" altLang="ko-KR" sz="2400" b="1" u="sng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b="1" u="sng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축삭</a:t>
            </a:r>
            <a:r>
              <a:rPr lang="ko-KR" altLang="ko-KR" sz="2400" b="1" u="sng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말단으로 운반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되어 불활성화되는 것이 아닌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Serotonin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Norepinephrine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Dopamine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Acetylcholine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[#90]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1584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39149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21. </a:t>
            </a:r>
            <a:r>
              <a:rPr lang="ko-KR" altLang="ko-KR" sz="2400" b="1" kern="100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모노아민</a:t>
            </a:r>
            <a:r>
              <a:rPr lang="ko-KR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산화효소</a:t>
            </a:r>
            <a:r>
              <a:rPr lang="en-US" altLang="ko-KR" sz="2400" b="1" kern="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(Monoamine oxidase; MAO)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를 불활성화 시키는 약물은 다음 신경전달물질의 활동을 증가시킬 것이다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endParaRPr lang="en-US" altLang="ko-KR" sz="2400" kern="1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ko-KR" altLang="ko-KR" sz="2400" u="sng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예외가 되는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Serotonin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Norepinephrine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Dopamine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Acetylcholine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[#91]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58866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-1" y="1779"/>
            <a:ext cx="12159089" cy="3490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22.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다음은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G-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단백질의 작용이 필요하다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endParaRPr lang="en-US" altLang="ko-KR" sz="2400" kern="100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예외가 되는 것은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?</a:t>
            </a:r>
          </a:p>
          <a:p>
            <a:pPr algn="just" latinLnBrk="1">
              <a:lnSpc>
                <a:spcPct val="115000"/>
              </a:lnSpc>
              <a:spcAft>
                <a:spcPts val="0"/>
              </a:spcAft>
            </a:pP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무스카린성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en-US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니코틴성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2400" kern="100" dirty="0" err="1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ACh</a:t>
            </a:r>
            <a:r>
              <a:rPr lang="en-US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ko-KR" sz="2400" kern="100" dirty="0">
                <a:solidFill>
                  <a:srgbClr val="000000"/>
                </a:solidFill>
                <a:highlight>
                  <a:srgbClr val="FFFF00"/>
                </a:highlight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도파민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800100" lvl="1" indent="-342900" algn="just" latinLnBrk="1">
              <a:lnSpc>
                <a:spcPct val="115000"/>
              </a:lnSpc>
              <a:spcAft>
                <a:spcPts val="0"/>
              </a:spcAft>
              <a:buFont typeface="+mj-lt"/>
              <a:buAutoNum type="alphaLcPeriod"/>
            </a:pPr>
            <a:r>
              <a:rPr lang="ko-KR" altLang="ko-KR" sz="2400" kern="100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노르에피네프린</a:t>
            </a:r>
            <a:r>
              <a:rPr lang="ko-KR" altLang="ko-KR" sz="2400" kern="100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수용체</a:t>
            </a:r>
            <a:endParaRPr lang="ko-KR" altLang="ko-KR" sz="24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354516" y="6457890"/>
            <a:ext cx="8210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[#92]</a:t>
            </a:r>
            <a:endParaRPr lang="ko-KR" altLang="en-US" sz="20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52446801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5519</TotalTime>
  <Words>950</Words>
  <Application>Microsoft Office PowerPoint</Application>
  <PresentationFormat>와이드스크린</PresentationFormat>
  <Paragraphs>149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2" baseType="lpstr">
      <vt:lpstr>굴림</vt:lpstr>
      <vt:lpstr>맑은 고딕</vt:lpstr>
      <vt:lpstr>Times New Roman</vt:lpstr>
      <vt:lpstr>Wingdings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withKay.com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제16장 소진화</dc:title>
  <dc:creator>SEC</dc:creator>
  <cp:lastModifiedBy>User</cp:lastModifiedBy>
  <cp:revision>179</cp:revision>
  <dcterms:created xsi:type="dcterms:W3CDTF">2005-03-18T07:03:42Z</dcterms:created>
  <dcterms:modified xsi:type="dcterms:W3CDTF">2022-05-16T08:15:41Z</dcterms:modified>
</cp:coreProperties>
</file>