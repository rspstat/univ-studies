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89" r:id="rId2"/>
    <p:sldId id="328" r:id="rId3"/>
    <p:sldId id="498" r:id="rId4"/>
    <p:sldId id="500" r:id="rId5"/>
    <p:sldId id="497" r:id="rId6"/>
    <p:sldId id="496" r:id="rId7"/>
    <p:sldId id="499" r:id="rId8"/>
    <p:sldId id="501" r:id="rId9"/>
  </p:sldIdLst>
  <p:sldSz cx="12192000" cy="6858000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25" autoAdjust="0"/>
    <p:restoredTop sz="97752" autoAdjust="0"/>
  </p:normalViewPr>
  <p:slideViewPr>
    <p:cSldViewPr>
      <p:cViewPr varScale="1">
        <p:scale>
          <a:sx n="100" d="100"/>
          <a:sy n="100" d="100"/>
        </p:scale>
        <p:origin x="96" y="12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9" d="100"/>
          <a:sy n="109" d="100"/>
        </p:scale>
        <p:origin x="7872" y="1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4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r">
              <a:defRPr sz="1200"/>
            </a:lvl1pPr>
          </a:lstStyle>
          <a:p>
            <a:fld id="{FAD56397-96EB-4B9B-B73E-B0DE894BA706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4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r">
              <a:defRPr sz="1200"/>
            </a:lvl1pPr>
          </a:lstStyle>
          <a:p>
            <a:fld id="{785EE255-EB82-498D-BBDB-CD68D295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648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r">
              <a:defRPr sz="1300"/>
            </a:lvl1pPr>
          </a:lstStyle>
          <a:p>
            <a:fld id="{8138FCCD-07B7-47B0-A7AA-A03D63EC9D3F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57" tIns="47628" rIns="95257" bIns="4762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5257" tIns="47628" rIns="95257" bIns="4762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r">
              <a:defRPr sz="1300"/>
            </a:lvl1pPr>
          </a:lstStyle>
          <a:p>
            <a:fld id="{206250C4-0E9A-42DD-85A1-087716A785B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93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55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1E6F304-8B33-ABD7-630F-673C08FFE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59" y="0"/>
            <a:ext cx="12192000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3E8-DA0D-4303-9D2B-98EC69A14F75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DCDD9EC-AB5B-5AD5-6325-300F6E1806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59" y="0"/>
            <a:ext cx="12192000" cy="68580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968322"/>
            <a:ext cx="10972800" cy="532859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  <a:defRPr sz="2000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4F17-006F-453F-8BC0-F32174479B57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제목 9">
            <a:extLst>
              <a:ext uri="{FF2B5EF4-FFF2-40B4-BE49-F238E27FC236}">
                <a16:creationId xmlns:a16="http://schemas.microsoft.com/office/drawing/2014/main" id="{13EEC47F-F9F0-8A65-7C64-990A00AF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368" y="74018"/>
            <a:ext cx="10380133" cy="474662"/>
          </a:xfrm>
        </p:spPr>
        <p:txBody>
          <a:bodyPr>
            <a:noAutofit/>
          </a:bodyPr>
          <a:lstStyle>
            <a:lvl1pPr algn="l">
              <a:defRPr sz="2800" b="1">
                <a:solidFill>
                  <a:schemeClr val="tx1"/>
                </a:solidFill>
                <a:effectLst>
                  <a:glow>
                    <a:schemeClr val="tx1"/>
                  </a:glo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Line 194">
            <a:extLst>
              <a:ext uri="{FF2B5EF4-FFF2-40B4-BE49-F238E27FC236}">
                <a16:creationId xmlns:a16="http://schemas.microsoft.com/office/drawing/2014/main" id="{9EF4AADD-0806-151A-F310-1867CA3122DC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18546" y="620688"/>
            <a:ext cx="11934105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latinLnBrk="0">
              <a:defRPr/>
            </a:pPr>
            <a:endParaRPr kumimoji="0" lang="ko-KR" altLang="en-US" sz="1800" dirty="0">
              <a:solidFill>
                <a:srgbClr val="000000"/>
              </a:solidFill>
              <a:latin typeface="Arial" charset="0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36C3DE4-1A8C-1075-5381-FB44728A2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4352" y="6453337"/>
            <a:ext cx="2844800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" name="Picture 2" descr="Math Logo Images – Browse 61,307 Stock Photos, Vectors, and Video | Adobe  Stock">
            <a:extLst>
              <a:ext uri="{FF2B5EF4-FFF2-40B4-BE49-F238E27FC236}">
                <a16:creationId xmlns:a16="http://schemas.microsoft.com/office/drawing/2014/main" id="{FF565638-2EEE-E7E6-00BD-DCAEAAB24B3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1" t="16401" r="20601" b="20601"/>
          <a:stretch/>
        </p:blipFill>
        <p:spPr bwMode="auto">
          <a:xfrm>
            <a:off x="11582400" y="55168"/>
            <a:ext cx="526752" cy="520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A9DB-BCD6-48A9-A989-3D11BFB55AF0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FABE-EFB7-4016-B8B2-BA080709C32C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407A-50AA-4B48-9C3C-26BD094474F1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9A03-B8AB-47D5-BE8B-8E9399094C99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28BCF-C8BB-4342-9B2F-479CCA5A5FC4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8726-BA03-4E2B-B409-F7B6A38FB198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EDBA-780C-4789-80FD-00B1E6E65C34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1F70-DA8F-495C-9221-D5731E6A8BA8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D741-D93F-47C3-B911-54E8FA906823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pattFill prst="lgGrid">
          <a:fgClr>
            <a:srgbClr val="EDF2F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88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EFD38C-94ED-4C00-EE5A-ADF682234E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59" y="0"/>
            <a:ext cx="12192000" cy="6858000"/>
          </a:xfrm>
          <a:prstGeom prst="rect">
            <a:avLst/>
          </a:prstGeom>
        </p:spPr>
      </p:pic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84667" y="74018"/>
            <a:ext cx="10380133" cy="474662"/>
          </a:xfrm>
        </p:spPr>
        <p:txBody>
          <a:bodyPr>
            <a:noAutofit/>
          </a:bodyPr>
          <a:lstStyle>
            <a:lvl1pPr algn="l">
              <a:defRPr sz="2800" b="1">
                <a:solidFill>
                  <a:schemeClr val="tx1"/>
                </a:solidFill>
                <a:effectLst>
                  <a:glow>
                    <a:schemeClr val="tx1"/>
                  </a:glo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Line 194">
            <a:extLst>
              <a:ext uri="{FF2B5EF4-FFF2-40B4-BE49-F238E27FC236}">
                <a16:creationId xmlns:a16="http://schemas.microsoft.com/office/drawing/2014/main" id="{2BC82FE9-4077-7893-C2A9-7FD08372A626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18546" y="620688"/>
            <a:ext cx="11934105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latinLnBrk="0">
              <a:defRPr/>
            </a:pPr>
            <a:endParaRPr kumimoji="0" lang="ko-KR" altLang="en-US" sz="1800" dirty="0">
              <a:solidFill>
                <a:srgbClr val="000000"/>
              </a:solidFill>
              <a:latin typeface="Arial" charset="0"/>
              <a:ea typeface="맑은 고딕" panose="020B0503020000020004" pitchFamily="50" charset="-127"/>
            </a:endParaRPr>
          </a:p>
        </p:txBody>
      </p:sp>
      <p:pic>
        <p:nvPicPr>
          <p:cNvPr id="4" name="Picture 2" descr="충북대학교 심볼마크,로고(JPG, AI) 상세보기 -디자인 자료실&amp;lt;홍보자료실&amp;lt;충북대학교 홍보관">
            <a:extLst>
              <a:ext uri="{FF2B5EF4-FFF2-40B4-BE49-F238E27FC236}">
                <a16:creationId xmlns:a16="http://schemas.microsoft.com/office/drawing/2014/main" id="{8B38067F-37C5-C66A-203D-DA9C20B36F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7223" y="44625"/>
            <a:ext cx="1514651" cy="32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239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974707"/>
                </a:solidFill>
                <a:latin typeface="나눔고딕"/>
                <a:cs typeface="나눔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E2BD8-79D1-4D41-A813-647D2F3C5CF8}" type="datetime1">
              <a:rPr lang="ko-KR" altLang="en-US" smtClean="0"/>
              <a:t>2025-03-05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763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7C5F8-97ED-4D6D-974D-66E8EE82096C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4BE04B4-0A0B-31AF-E142-C06B40623E66}"/>
              </a:ext>
            </a:extLst>
          </p:cNvPr>
          <p:cNvSpPr/>
          <p:nvPr/>
        </p:nvSpPr>
        <p:spPr>
          <a:xfrm>
            <a:off x="623392" y="2998113"/>
            <a:ext cx="820891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0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3500000" scaled="1"/>
                  <a:tileRect/>
                </a:gra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rPr>
              <a:t>Course</a:t>
            </a:r>
            <a:r>
              <a:rPr lang="ko-KR" altLang="en-US" sz="50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3500000" scaled="1"/>
                  <a:tileRect/>
                </a:gra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50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3500000" scaled="1"/>
                  <a:tileRect/>
                </a:gra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rPr>
              <a:t>Orientation</a:t>
            </a:r>
            <a:endParaRPr lang="ko-KR" altLang="en-US" sz="5000" b="1" dirty="0"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atin typeface="Arial" panose="020B0604020202020204" pitchFamily="34" charset="0"/>
              <a:ea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049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32BD388-9F35-A719-5880-EC5A84530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Prerequisites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Mathematics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Probability and Statistics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Discrete Mathematics</a:t>
            </a:r>
          </a:p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Class Information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Time : Wed.</a:t>
            </a:r>
            <a:r>
              <a:rPr lang="ko-KR" altLang="en-US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period</a:t>
            </a:r>
            <a:r>
              <a:rPr lang="ko-KR" altLang="en-US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(14:00~14:50), Thur.</a:t>
            </a:r>
            <a:r>
              <a:rPr lang="ko-KR" altLang="en-US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1-2</a:t>
            </a:r>
            <a:r>
              <a:rPr lang="ko-KR" altLang="en-US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 (09:00~10:50)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Professor: Ji-Hoon Jeong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(jh.jeong@chungbuk.ac.kr)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TA: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Jun-Young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Oh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(jy_oh@chungbuk.ac.kr r)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Textbook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: Lecture note</a:t>
            </a:r>
          </a:p>
          <a:p>
            <a:pPr marL="457200" lvl="1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: lms.cbnu.ac.kr</a:t>
            </a:r>
          </a:p>
          <a:p>
            <a:pPr marL="0" indent="0">
              <a:buNone/>
            </a:pP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91F571C-F09A-A8E3-CF5C-AB9DBE72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Lecture Orientation (1/6)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FD89D56-2E98-4384-7CB9-529AEFA7C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99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560D736-B724-A932-E12A-256BA998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Lecture Orientation (2/6)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4B5347-0448-F02E-C9E4-F29FBFF1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12" name="내용 개체 틀 1">
            <a:extLst>
              <a:ext uri="{FF2B5EF4-FFF2-40B4-BE49-F238E27FC236}">
                <a16:creationId xmlns:a16="http://schemas.microsoft.com/office/drawing/2014/main" id="{1D577B59-A57A-1105-E6CD-01642564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68375"/>
            <a:ext cx="9662864" cy="5329238"/>
          </a:xfrm>
        </p:spPr>
        <p:txBody>
          <a:bodyPr/>
          <a:lstStyle/>
          <a:p>
            <a:pPr algn="l"/>
            <a:r>
              <a:rPr lang="en-US" altLang="ko-KR" sz="1800" dirty="0">
                <a:ea typeface="Tahoma" panose="020B0604030504040204" pitchFamily="34" charset="0"/>
                <a:cs typeface="Tahoma" panose="020B0604030504040204" pitchFamily="34" charset="0"/>
              </a:rPr>
              <a:t>This course provides a comprehensive introduction to the mathematical foundations of artificial intelligence (AI)</a:t>
            </a:r>
          </a:p>
          <a:p>
            <a:pPr algn="l"/>
            <a:endParaRPr lang="en-US" altLang="ko-KR" sz="18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altLang="ko-KR" sz="1800" dirty="0">
                <a:ea typeface="Tahoma" panose="020B0604030504040204" pitchFamily="34" charset="0"/>
                <a:cs typeface="Tahoma" panose="020B0604030504040204" pitchFamily="34" charset="0"/>
              </a:rPr>
              <a:t>Students will explore fundamental mathematical concepts essential for understanding and implementing AI algorithms</a:t>
            </a:r>
          </a:p>
          <a:p>
            <a:pPr algn="l"/>
            <a:endParaRPr lang="en-US" altLang="ko-KR" sz="18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altLang="ko-KR" sz="1800" dirty="0">
                <a:ea typeface="Tahoma" panose="020B0604030504040204" pitchFamily="34" charset="0"/>
                <a:cs typeface="Tahoma" panose="020B0604030504040204" pitchFamily="34" charset="0"/>
              </a:rPr>
              <a:t>Topics include linear algebra, probability, statistics, calculus, and their applications in machine learning and deep learning</a:t>
            </a:r>
            <a:endParaRPr lang="ko-KR" altLang="en-US" b="1" dirty="0"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90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560D736-B724-A932-E12A-256BA998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Lecture Orientation (3/6)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4B5347-0448-F02E-C9E4-F29FBFF1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1" name="내용 개체 틀 1">
            <a:extLst>
              <a:ext uri="{FF2B5EF4-FFF2-40B4-BE49-F238E27FC236}">
                <a16:creationId xmlns:a16="http://schemas.microsoft.com/office/drawing/2014/main" id="{15A99455-264E-9AAF-9106-B362D6A7F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68375"/>
            <a:ext cx="10972800" cy="5329238"/>
          </a:xfrm>
        </p:spPr>
        <p:txBody>
          <a:bodyPr/>
          <a:lstStyle/>
          <a:p>
            <a:pPr algn="l"/>
            <a:r>
              <a:rPr lang="en-US" altLang="ko-KR" sz="1800" dirty="0">
                <a:ea typeface="Tahoma" panose="020B0604030504040204" pitchFamily="34" charset="0"/>
                <a:cs typeface="Tahoma" panose="020B0604030504040204" pitchFamily="34" charset="0"/>
              </a:rPr>
              <a:t>Develop a strong mathematical foundation for </a:t>
            </a:r>
            <a:r>
              <a:rPr lang="en-US" altLang="ko-KR" sz="1800" b="1" dirty="0">
                <a:ea typeface="Tahoma" panose="020B0604030504040204" pitchFamily="34" charset="0"/>
                <a:cs typeface="Tahoma" panose="020B0604030504040204" pitchFamily="34" charset="0"/>
              </a:rPr>
              <a:t>understanding AI concepts</a:t>
            </a:r>
          </a:p>
          <a:p>
            <a:pPr algn="l"/>
            <a:endParaRPr lang="en-US" altLang="ko-KR" sz="18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altLang="ko-KR" sz="1800" dirty="0">
                <a:ea typeface="Tahoma" panose="020B0604030504040204" pitchFamily="34" charset="0"/>
                <a:cs typeface="Tahoma" panose="020B0604030504040204" pitchFamily="34" charset="0"/>
              </a:rPr>
              <a:t>Apply mathematical techniques to solve AI problems and implement algorithms</a:t>
            </a:r>
          </a:p>
          <a:p>
            <a:pPr algn="l"/>
            <a:endParaRPr lang="en-US" altLang="ko-KR" sz="18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altLang="ko-KR" sz="1800" b="1" dirty="0">
                <a:ea typeface="Tahoma" panose="020B0604030504040204" pitchFamily="34" charset="0"/>
                <a:cs typeface="Tahoma" panose="020B0604030504040204" pitchFamily="34" charset="0"/>
              </a:rPr>
              <a:t>Explore the role of mathematics </a:t>
            </a:r>
            <a:r>
              <a:rPr lang="en-US" altLang="ko-KR" sz="1800" dirty="0">
                <a:ea typeface="Tahoma" panose="020B0604030504040204" pitchFamily="34" charset="0"/>
                <a:cs typeface="Tahoma" panose="020B0604030504040204" pitchFamily="34" charset="0"/>
              </a:rPr>
              <a:t>in various AI applications, including machine learning and deep learning</a:t>
            </a:r>
          </a:p>
          <a:p>
            <a:pPr algn="l"/>
            <a:endParaRPr lang="en-US" altLang="ko-KR" sz="18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altLang="ko-KR" sz="1800" dirty="0">
                <a:ea typeface="Tahoma" panose="020B0604030504040204" pitchFamily="34" charset="0"/>
                <a:cs typeface="Tahoma" panose="020B0604030504040204" pitchFamily="34" charset="0"/>
              </a:rPr>
              <a:t>Gain practical experience through hands-on exercises and projects</a:t>
            </a:r>
            <a:endParaRPr lang="ko-KR" altLang="en-US" b="1" dirty="0"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48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673A42E-CB83-338A-DB70-3244CE10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Lecture Orientation (4/6)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4B4690-F85E-485F-36DE-2D26AB7FF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4</a:t>
            </a:fld>
            <a:endParaRPr lang="ko-KR" altLang="en-US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F0FD45AD-51F5-3169-4A03-671F80527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85605"/>
              </p:ext>
            </p:extLst>
          </p:nvPr>
        </p:nvGraphicFramePr>
        <p:xfrm>
          <a:off x="1055440" y="836712"/>
          <a:ext cx="7971873" cy="568863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627631189"/>
                    </a:ext>
                  </a:extLst>
                </a:gridCol>
                <a:gridCol w="3939425">
                  <a:extLst>
                    <a:ext uri="{9D8B030D-6E8A-4147-A177-3AD203B41FA5}">
                      <a16:colId xmlns:a16="http://schemas.microsoft.com/office/drawing/2014/main" val="1888171638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678191706"/>
                    </a:ext>
                  </a:extLst>
                </a:gridCol>
              </a:tblGrid>
              <a:tr h="3815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ko-KR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Contents</a:t>
                      </a:r>
                      <a:endParaRPr lang="ko-KR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9806124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00. Course</a:t>
                      </a:r>
                      <a:r>
                        <a:rPr lang="ko-KR" altLang="en-US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Orientation</a:t>
                      </a:r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056017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is AI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952137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고딕"/>
                          <a:cs typeface="Arial" panose="020B0604020202020204" pitchFamily="34" charset="0"/>
                        </a:rPr>
                        <a:t>ML Mathematics with AI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43326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03.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Basic Mathematics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444374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04.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Basic Mathematics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765739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Basic Mathematics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579318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고딕"/>
                          <a:cs typeface="Arial" panose="020B0604020202020204" pitchFamily="34" charset="0"/>
                        </a:rPr>
                        <a:t>Differential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393773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8-week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Mid-term</a:t>
                      </a:r>
                      <a:r>
                        <a:rPr lang="ko-KR" altLang="en-US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</a:t>
                      </a:r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44273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고딕"/>
                          <a:cs typeface="Arial" panose="020B0604020202020204" pitchFamily="34" charset="0"/>
                        </a:rPr>
                        <a:t>Differential</a:t>
                      </a:r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37005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10-week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고딕"/>
                          <a:cs typeface="Arial" panose="020B0604020202020204" pitchFamily="34" charset="0"/>
                        </a:rPr>
                        <a:t>Differential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950548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11-week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고딕"/>
                          <a:cs typeface="Arial" panose="020B0604020202020204" pitchFamily="34" charset="0"/>
                        </a:rPr>
                        <a:t>Linear Algebra</a:t>
                      </a:r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37060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12-week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고딕"/>
                          <a:cs typeface="Arial" panose="020B0604020202020204" pitchFamily="34" charset="0"/>
                        </a:rPr>
                        <a:t>Linear Algebra</a:t>
                      </a:r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75116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13-week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고딕"/>
                          <a:cs typeface="Arial" panose="020B0604020202020204" pitchFamily="34" charset="0"/>
                        </a:rPr>
                        <a:t>Linear Algebra</a:t>
                      </a:r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019945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14-week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 Probability &amp; Statistics</a:t>
                      </a:r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613512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15-week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 Probability &amp; Statistics</a:t>
                      </a:r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050058"/>
                  </a:ext>
                </a:extLst>
              </a:tr>
              <a:tr h="331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16-week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Exam</a:t>
                      </a:r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9488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65A93D7-A0FE-4455-A5DB-12D4098C2E09}"/>
              </a:ext>
            </a:extLst>
          </p:cNvPr>
          <p:cNvSpPr txBox="1"/>
          <p:nvPr/>
        </p:nvSpPr>
        <p:spPr>
          <a:xfrm>
            <a:off x="10686752" y="5867428"/>
            <a:ext cx="991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DALL-E</a:t>
            </a:r>
          </a:p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@OpenAI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9F03AA2-8DFC-499D-7FEB-C7738E31DE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3477" y="1602548"/>
            <a:ext cx="5400600" cy="470677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7115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6C661B21-1E9D-D225-FACC-88433716F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b="1" dirty="0"/>
              <a:t>이론 수업 </a:t>
            </a:r>
            <a:endParaRPr lang="en-US" altLang="ko-KR" b="1" dirty="0"/>
          </a:p>
          <a:p>
            <a:pPr lvl="1"/>
            <a:r>
              <a:rPr lang="ko-KR" altLang="en-US" dirty="0"/>
              <a:t>인공지능수학 개론에 관해 단원별로 진행</a:t>
            </a:r>
          </a:p>
          <a:p>
            <a:pPr lvl="1"/>
            <a:r>
              <a:rPr lang="ko-KR" altLang="en-US" dirty="0"/>
              <a:t>주요 공지를 위해</a:t>
            </a:r>
            <a:r>
              <a:rPr lang="en-US" altLang="ko-KR" dirty="0"/>
              <a:t>, </a:t>
            </a:r>
            <a:r>
              <a:rPr lang="ko-KR" altLang="en-US" dirty="0"/>
              <a:t>반드시 수업 시간 전에 이론이든 실습이든 항상 공지사항을 확인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b="1" dirty="0"/>
              <a:t>평가</a:t>
            </a:r>
            <a:endParaRPr lang="en-US" altLang="ko-KR" b="1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출석 </a:t>
            </a:r>
            <a:r>
              <a:rPr lang="en-US" altLang="ko-KR" dirty="0">
                <a:solidFill>
                  <a:srgbClr val="FF0000"/>
                </a:solidFill>
              </a:rPr>
              <a:t>10%</a:t>
            </a:r>
          </a:p>
          <a:p>
            <a:pPr lvl="2"/>
            <a:r>
              <a:rPr lang="ko-KR" altLang="en-US" dirty="0"/>
              <a:t>동영상 수업만 있는 경우</a:t>
            </a:r>
            <a:r>
              <a:rPr lang="en-US" altLang="ko-KR" dirty="0"/>
              <a:t>, </a:t>
            </a:r>
            <a:r>
              <a:rPr lang="ko-KR" altLang="en-US" dirty="0"/>
              <a:t>해당 수업일에 모든 동영상으로 시청 완료하면 출석으로 인정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수업 날 시청완료해야 함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과제 및 퀴즈 </a:t>
            </a:r>
            <a:r>
              <a:rPr lang="en-US" altLang="ko-KR" dirty="0">
                <a:solidFill>
                  <a:srgbClr val="FF0000"/>
                </a:solidFill>
              </a:rPr>
              <a:t>20%</a:t>
            </a:r>
          </a:p>
          <a:p>
            <a:pPr lvl="2"/>
            <a:r>
              <a:rPr lang="ko-KR" altLang="en-US" dirty="0"/>
              <a:t>인공지능에 사용되는 기본적인 알고리즘 구현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시험 </a:t>
            </a:r>
            <a:r>
              <a:rPr lang="en-US" altLang="ko-KR" dirty="0">
                <a:solidFill>
                  <a:srgbClr val="FF0000"/>
                </a:solidFill>
              </a:rPr>
              <a:t>70%</a:t>
            </a:r>
          </a:p>
          <a:p>
            <a:pPr lvl="2"/>
            <a:r>
              <a:rPr lang="ko-KR" altLang="en-US" dirty="0"/>
              <a:t>중간고사</a:t>
            </a:r>
            <a:r>
              <a:rPr lang="en-US" altLang="ko-KR" dirty="0"/>
              <a:t>: 35% </a:t>
            </a:r>
          </a:p>
          <a:p>
            <a:pPr lvl="2"/>
            <a:r>
              <a:rPr lang="ko-KR" altLang="en-US" dirty="0"/>
              <a:t>기말고사 </a:t>
            </a:r>
            <a:r>
              <a:rPr lang="en-US" altLang="ko-KR" dirty="0"/>
              <a:t>: 35%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  <a:p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65F35D8-B727-F12F-C0C7-C8CF95B1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Lecture Orientation (5/6)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D9394C-423E-72C3-FE1F-B610907C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4531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65F35D8-B727-F12F-C0C7-C8CF95B1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Lecture Orientation (6/6)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D6CBC8-56A5-FA28-175C-A564E508C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89" y="1369651"/>
            <a:ext cx="11365021" cy="452668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49A5647-D1B1-467F-8E0B-9D8F8D29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864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35F5F88-BB84-40BA-3224-10CC5F03F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0"/>
            <a:ext cx="1180931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BDB36C-C4FC-F19B-4342-F3972577B9CA}"/>
              </a:ext>
            </a:extLst>
          </p:cNvPr>
          <p:cNvSpPr txBox="1"/>
          <p:nvPr/>
        </p:nvSpPr>
        <p:spPr>
          <a:xfrm>
            <a:off x="10546396" y="31685"/>
            <a:ext cx="1448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DALL-E @OpenAI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6D8DE-716E-FB60-F398-2496B03C98A0}"/>
              </a:ext>
            </a:extLst>
          </p:cNvPr>
          <p:cNvSpPr txBox="1"/>
          <p:nvPr/>
        </p:nvSpPr>
        <p:spPr>
          <a:xfrm>
            <a:off x="0" y="-3650"/>
            <a:ext cx="3131840" cy="11079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dirty="0"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  <a:endParaRPr lang="ko-KR" altLang="en-US" sz="6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752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8313</TotalTime>
  <Words>354</Words>
  <Application>Microsoft Office PowerPoint</Application>
  <PresentationFormat>와이드스크린</PresentationFormat>
  <Paragraphs>91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나눔고딕</vt:lpstr>
      <vt:lpstr>맑은 고딕</vt:lpstr>
      <vt:lpstr>Arial</vt:lpstr>
      <vt:lpstr>Tahoma</vt:lpstr>
      <vt:lpstr>Wingdings</vt:lpstr>
      <vt:lpstr>Office 테마</vt:lpstr>
      <vt:lpstr>PowerPoint 프레젠테이션</vt:lpstr>
      <vt:lpstr>Lecture Orientation (1/6)</vt:lpstr>
      <vt:lpstr>Lecture Orientation (2/6)</vt:lpstr>
      <vt:lpstr>Lecture Orientation (3/6)</vt:lpstr>
      <vt:lpstr>Lecture Orientation (4/6)</vt:lpstr>
      <vt:lpstr>Lecture Orientation (5/6)</vt:lpstr>
      <vt:lpstr>Lecture Orientation (6/6)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Ji-Hoon Jeong</cp:lastModifiedBy>
  <cp:revision>613</cp:revision>
  <cp:lastPrinted>2013-12-26T08:44:45Z</cp:lastPrinted>
  <dcterms:created xsi:type="dcterms:W3CDTF">2013-02-05T02:36:43Z</dcterms:created>
  <dcterms:modified xsi:type="dcterms:W3CDTF">2025-03-05T00:34:55Z</dcterms:modified>
</cp:coreProperties>
</file>