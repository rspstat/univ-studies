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48" r:id="rId2"/>
    <p:sldMasterId id="2147483658" r:id="rId3"/>
  </p:sldMasterIdLst>
  <p:notesMasterIdLst>
    <p:notesMasterId r:id="rId15"/>
  </p:notesMasterIdLst>
  <p:handoutMasterIdLst>
    <p:handoutMasterId r:id="rId16"/>
  </p:handoutMasterIdLst>
  <p:sldIdLst>
    <p:sldId id="256" r:id="rId4"/>
    <p:sldId id="318" r:id="rId5"/>
    <p:sldId id="296" r:id="rId6"/>
    <p:sldId id="319" r:id="rId7"/>
    <p:sldId id="303" r:id="rId8"/>
    <p:sldId id="314" r:id="rId9"/>
    <p:sldId id="297" r:id="rId10"/>
    <p:sldId id="300" r:id="rId11"/>
    <p:sldId id="304" r:id="rId12"/>
    <p:sldId id="316" r:id="rId13"/>
    <p:sldId id="308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D9A"/>
    <a:srgbClr val="76B1D1"/>
    <a:srgbClr val="F3C04A"/>
    <a:srgbClr val="A0C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howGuides="1">
      <p:cViewPr varScale="1">
        <p:scale>
          <a:sx n="139" d="100"/>
          <a:sy n="139" d="100"/>
        </p:scale>
        <p:origin x="954" y="114"/>
      </p:cViewPr>
      <p:guideLst>
        <p:guide orient="horz" pos="180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5850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87649-87BE-48A6-AB38-3A28AD0FAB86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E6650-FA3D-4205-A4D4-AA0375A177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151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4DDF7-921D-4AC8-B946-4DD615DDC886}" type="datetimeFigureOut">
              <a:rPr lang="ko-KR" altLang="en-US" smtClean="0"/>
              <a:t>2025-09-02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42B24-5628-4EE2-A5C0-B4E095A44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444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002-KIMS BUSINESS\007-bizdesign.tv\000-PPT FOR KMONG\PSD\13-05-14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7" y="646773"/>
            <a:ext cx="3420164" cy="298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920519" y="744654"/>
            <a:ext cx="31464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2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20A1E39-4EAE-4670-B341-E876511388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203515"/>
            <a:ext cx="9143999" cy="207553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1" baseline="0">
                <a:solidFill>
                  <a:schemeClr val="tx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DAC9DBF-2FD4-4775-8F53-02C2F29CA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870"/>
            <a:ext cx="9143998" cy="54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TEMPLATES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020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KBM-정애\014-Fullppt\PNG이미지\탭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052" y="483518"/>
            <a:ext cx="2049645" cy="252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836710" y="731206"/>
            <a:ext cx="1440672" cy="180356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899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002-KIMS BUSINESS\007-bizdesign.tv\000-PPT FOR KMONG\PSD\13-05-14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7" y="646773"/>
            <a:ext cx="3420164" cy="298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920519" y="744654"/>
            <a:ext cx="31464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97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47664" y="25735"/>
            <a:ext cx="7596336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77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83568" y="1189414"/>
            <a:ext cx="1728192" cy="195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710172" y="1189414"/>
            <a:ext cx="1728192" cy="195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736776" y="1189414"/>
            <a:ext cx="1728192" cy="195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763380" y="1189414"/>
            <a:ext cx="1728192" cy="195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58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3225800" y="1183642"/>
            <a:ext cx="31464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485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200786"/>
            <a:ext cx="4572000" cy="16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572000" y="2892706"/>
            <a:ext cx="4572000" cy="16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568305" y="1200090"/>
            <a:ext cx="1416959" cy="16926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156888" y="2892706"/>
            <a:ext cx="1416959" cy="16926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7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99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539550"/>
            <a:ext cx="3528392" cy="40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432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9138113" cy="25717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tIns="540000" anchor="t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977152" y="1491630"/>
            <a:ext cx="1390030" cy="1984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889704" y="1491630"/>
            <a:ext cx="1390030" cy="1984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6582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2787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3995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lIns="126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398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6042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46042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546042" y="2217207"/>
            <a:ext cx="1944000" cy="5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546042" y="4085904"/>
            <a:ext cx="1944000" cy="530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2583307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82971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582971" y="2217207"/>
            <a:ext cx="1944000" cy="530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2582635" y="4085904"/>
            <a:ext cx="1944000" cy="5309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19900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619564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619564" y="2217207"/>
            <a:ext cx="1944000" cy="5309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4619228" y="4085904"/>
            <a:ext cx="1944000" cy="530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656494" y="1171934"/>
            <a:ext cx="1944000" cy="1043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6656494" y="2862166"/>
            <a:ext cx="1944000" cy="1224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56494" y="2217207"/>
            <a:ext cx="1944000" cy="530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6656494" y="4085904"/>
            <a:ext cx="1944000" cy="5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7712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239542"/>
            <a:ext cx="9144000" cy="3348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4098" name="Picture 2" descr="D:\KBM-정애\014-Fullppt\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568" y="1419622"/>
            <a:ext cx="5760640" cy="29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070504" y="1806558"/>
            <a:ext cx="2701398" cy="19894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9382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D:\KBM-정애\014-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52" y="1203598"/>
            <a:ext cx="2497429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D:\KBM-정애\014-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128" y="1203598"/>
            <a:ext cx="2497429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 descr="D:\KBM-정애\014-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404" y="1203598"/>
            <a:ext cx="2497429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1812" y="1311088"/>
            <a:ext cx="1448000" cy="2212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3841834" y="1311088"/>
            <a:ext cx="1448000" cy="2212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331856" y="1311088"/>
            <a:ext cx="1448000" cy="2212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9330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2" name="Rounded Rectangle 11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ounded Rectangle 14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Half Frame 15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124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002-KIMS BUSINESS\007-bizdesign.tv\000-PPT FOR KMONG\PSD\13-05-14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7" y="646773"/>
            <a:ext cx="3420164" cy="298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920519" y="744654"/>
            <a:ext cx="31464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98449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79150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>
            <a:spLocks noGrp="1"/>
          </p:cNvSpPr>
          <p:nvPr>
            <p:ph type="title" hasCustomPrompt="1"/>
          </p:nvPr>
        </p:nvSpPr>
        <p:spPr>
          <a:xfrm>
            <a:off x="3671392" y="2181756"/>
            <a:ext cx="5472608" cy="542078"/>
          </a:xfrm>
          <a:prstGeom prst="rect">
            <a:avLst/>
          </a:prstGeom>
        </p:spPr>
        <p:txBody>
          <a:bodyPr anchor="ctr"/>
          <a:lstStyle>
            <a:lvl1pPr algn="l">
              <a:defRPr sz="3600"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9315AC1-362C-42C8-AC5D-93231CD549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1392" y="2734184"/>
            <a:ext cx="5472608" cy="197606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This text can be replaced with your own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1505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47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63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8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8" r:id="rId3"/>
    <p:sldLayoutId id="2147483665" r:id="rId4"/>
    <p:sldLayoutId id="2147483667" r:id="rId5"/>
    <p:sldLayoutId id="2147483669" r:id="rId6"/>
    <p:sldLayoutId id="2147483670" r:id="rId7"/>
    <p:sldLayoutId id="2147483671" r:id="rId8"/>
    <p:sldLayoutId id="2147483672" r:id="rId9"/>
    <p:sldLayoutId id="2147483675" r:id="rId10"/>
    <p:sldLayoutId id="2147483674" r:id="rId11"/>
    <p:sldLayoutId id="2147483666" r:id="rId12"/>
    <p:sldLayoutId id="2147483657" r:id="rId13"/>
    <p:sldLayoutId id="2147483676" r:id="rId14"/>
    <p:sldLayoutId id="2147483677" r:id="rId15"/>
    <p:sldLayoutId id="2147483679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94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b-engines.com/en/ranking" TargetMode="Externa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q.or.kr/www/main.do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" y="4515966"/>
            <a:ext cx="9143999" cy="207553"/>
          </a:xfrm>
          <a:prstGeom prst="rect">
            <a:avLst/>
          </a:prstGeo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Lecture 1: Course Overview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1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Prof. Aziz Nasridinov (aziz</a:t>
            </a:r>
            <a:r>
              <a:rPr lang="en-US" altLang="ko-KR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@chungbuk.ac.kr</a:t>
            </a:r>
            <a:r>
              <a:rPr lang="en-US" altLang="ko-KR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ko-KR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" y="3579862"/>
            <a:ext cx="9143998" cy="540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 smtClean="0">
                <a:ea typeface="맑은 고딕" pitchFamily="50" charset="-127"/>
              </a:rPr>
              <a:t>Database Systems</a:t>
            </a:r>
            <a:endParaRPr lang="ko-KR" altLang="en-US" dirty="0"/>
          </a:p>
        </p:txBody>
      </p:sp>
      <p:pic>
        <p:nvPicPr>
          <p:cNvPr id="12" name="그림 개체 틀 11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8" b="92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4233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Instructor</a:t>
            </a:r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87574"/>
            <a:ext cx="7344816" cy="39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8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Course Objectives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091869"/>
            <a:ext cx="5292080" cy="50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-8037" y="3371665"/>
            <a:ext cx="4680000" cy="50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0" y="2651463"/>
            <a:ext cx="4068000" cy="5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0" y="1931261"/>
            <a:ext cx="3456000" cy="5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0" y="1211059"/>
            <a:ext cx="2844000" cy="50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Group 11"/>
          <p:cNvGrpSpPr/>
          <p:nvPr/>
        </p:nvGrpSpPr>
        <p:grpSpPr>
          <a:xfrm>
            <a:off x="5492719" y="4008075"/>
            <a:ext cx="3399762" cy="671588"/>
            <a:chOff x="2543198" y="4388490"/>
            <a:chExt cx="2816370" cy="671588"/>
          </a:xfrm>
        </p:grpSpPr>
        <p:sp>
          <p:nvSpPr>
            <p:cNvPr id="13" name="TextBox 12"/>
            <p:cNvSpPr txBox="1"/>
            <p:nvPr/>
          </p:nvSpPr>
          <p:spPr>
            <a:xfrm>
              <a:off x="2551706" y="4598413"/>
              <a:ext cx="28078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Develop DB-driven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applications using </a:t>
              </a:r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various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programming languages </a:t>
              </a:r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(PHP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and Python)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43198" y="4388490"/>
              <a:ext cx="2547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>
                      <a:lumMod val="75000"/>
                    </a:schemeClr>
                  </a:solidFill>
                  <a:cs typeface="Arial" pitchFamily="34" charset="0"/>
                </a:rPr>
                <a:t>Database Practice</a:t>
              </a:r>
              <a:endParaRPr lang="ko-KR" altLang="en-US" sz="1200" b="1" dirty="0">
                <a:solidFill>
                  <a:schemeClr val="bg1">
                    <a:lumMod val="7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901820" y="3373009"/>
            <a:ext cx="3591179" cy="486922"/>
            <a:chOff x="2543198" y="4388490"/>
            <a:chExt cx="2974941" cy="486922"/>
          </a:xfrm>
        </p:grpSpPr>
        <p:sp>
          <p:nvSpPr>
            <p:cNvPr id="16" name="TextBox 15"/>
            <p:cNvSpPr txBox="1"/>
            <p:nvPr/>
          </p:nvSpPr>
          <p:spPr>
            <a:xfrm>
              <a:off x="2551706" y="4598413"/>
              <a:ext cx="29664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Database indexing, view, catalog, normalization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43198" y="4388490"/>
              <a:ext cx="2547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accent1"/>
                  </a:solidFill>
                  <a:cs typeface="Arial" pitchFamily="34" charset="0"/>
                </a:rPr>
                <a:t>Database Tuning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245785" y="2578176"/>
            <a:ext cx="3111729" cy="671588"/>
            <a:chOff x="2543198" y="4388490"/>
            <a:chExt cx="2577763" cy="671588"/>
          </a:xfrm>
        </p:grpSpPr>
        <p:sp>
          <p:nvSpPr>
            <p:cNvPr id="19" name="TextBox 18"/>
            <p:cNvSpPr txBox="1"/>
            <p:nvPr/>
          </p:nvSpPr>
          <p:spPr>
            <a:xfrm>
              <a:off x="2551706" y="4598413"/>
              <a:ext cx="25692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How to design database using E-R Diagram and map it into relational schema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43198" y="4388490"/>
              <a:ext cx="2547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accent2"/>
                  </a:solidFill>
                  <a:cs typeface="Arial" pitchFamily="34" charset="0"/>
                </a:rPr>
                <a:t>Database Design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622317" y="1863227"/>
            <a:ext cx="3111729" cy="671588"/>
            <a:chOff x="2543198" y="4388490"/>
            <a:chExt cx="2577763" cy="671588"/>
          </a:xfrm>
        </p:grpSpPr>
        <p:sp>
          <p:nvSpPr>
            <p:cNvPr id="22" name="TextBox 21"/>
            <p:cNvSpPr txBox="1"/>
            <p:nvPr/>
          </p:nvSpPr>
          <p:spPr>
            <a:xfrm>
              <a:off x="2551706" y="4598413"/>
              <a:ext cx="25692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How to </a:t>
              </a:r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create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, insert, update and delete data </a:t>
              </a:r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using open source DBMS (MySQL)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43198" y="4388490"/>
              <a:ext cx="2547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accent3"/>
                  </a:solidFill>
                  <a:cs typeface="Arial" pitchFamily="34" charset="0"/>
                </a:rPr>
                <a:t>Database Management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987824" y="1127265"/>
            <a:ext cx="3949415" cy="671588"/>
            <a:chOff x="2543198" y="4388490"/>
            <a:chExt cx="2973446" cy="671588"/>
          </a:xfrm>
        </p:grpSpPr>
        <p:sp>
          <p:nvSpPr>
            <p:cNvPr id="25" name="TextBox 24"/>
            <p:cNvSpPr txBox="1"/>
            <p:nvPr/>
          </p:nvSpPr>
          <p:spPr>
            <a:xfrm>
              <a:off x="2551706" y="4598413"/>
              <a:ext cx="2964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Key concepts and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theories </a:t>
              </a:r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related to the database systems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543198" y="4388490"/>
              <a:ext cx="2547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accent4"/>
                  </a:solidFill>
                  <a:cs typeface="Arial" pitchFamily="34" charset="0"/>
                </a:rPr>
                <a:t>Database Fundamentals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899592" y="1299459"/>
            <a:ext cx="1319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Objective 1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31640" y="2019539"/>
            <a:ext cx="1435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Objective 2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07202" y="2739619"/>
            <a:ext cx="1348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Objective 3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555776" y="3459699"/>
            <a:ext cx="1308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Objective 4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31840" y="4179779"/>
            <a:ext cx="1280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Objective 5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40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Course Features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194058" y="4557858"/>
            <a:ext cx="275588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smtClean="0"/>
              <a:t>Source: </a:t>
            </a:r>
            <a:r>
              <a:rPr lang="en-US" sz="1050" dirty="0" smtClean="0">
                <a:hlinkClick r:id="rId2"/>
              </a:rPr>
              <a:t>https</a:t>
            </a:r>
            <a:r>
              <a:rPr lang="en-US" sz="1050" dirty="0">
                <a:hlinkClick r:id="rId2"/>
              </a:rPr>
              <a:t>://</a:t>
            </a:r>
            <a:r>
              <a:rPr lang="en-US" sz="1050" dirty="0" smtClean="0">
                <a:hlinkClick r:id="rId2"/>
              </a:rPr>
              <a:t>db-engines.com/en/ranking</a:t>
            </a:r>
            <a:r>
              <a:rPr lang="en-US" sz="1050" dirty="0" smtClean="0"/>
              <a:t> </a:t>
            </a:r>
            <a:endParaRPr lang="en-US" sz="105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88" y="1002523"/>
            <a:ext cx="7483622" cy="339863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971600" y="2090057"/>
            <a:ext cx="7416824" cy="2656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8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Course Benefits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16016" y="1908775"/>
            <a:ext cx="2016224" cy="738664"/>
            <a:chOff x="1911403" y="4283314"/>
            <a:chExt cx="2677503" cy="738664"/>
          </a:xfrm>
        </p:grpSpPr>
        <p:sp>
          <p:nvSpPr>
            <p:cNvPr id="10" name="TextBox 9"/>
            <p:cNvSpPr txBox="1"/>
            <p:nvPr/>
          </p:nvSpPr>
          <p:spPr>
            <a:xfrm>
              <a:off x="1911403" y="4560313"/>
              <a:ext cx="2677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Lecture materials, exams and grading are all in English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13659" y="4283314"/>
              <a:ext cx="2120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English Lectures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892571" y="1909837"/>
            <a:ext cx="1944216" cy="1107996"/>
            <a:chOff x="2113657" y="4283314"/>
            <a:chExt cx="2120135" cy="1107996"/>
          </a:xfrm>
        </p:grpSpPr>
        <p:sp>
          <p:nvSpPr>
            <p:cNvPr id="13" name="TextBox 12"/>
            <p:cNvSpPr txBox="1"/>
            <p:nvPr/>
          </p:nvSpPr>
          <p:spPr>
            <a:xfrm>
              <a:off x="2113657" y="4560313"/>
              <a:ext cx="21201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Practice developing database applications using real-life examples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13658" y="4283314"/>
              <a:ext cx="2120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Practice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740620" y="3363838"/>
            <a:ext cx="1767568" cy="1107996"/>
            <a:chOff x="2113657" y="4283314"/>
            <a:chExt cx="2120136" cy="1107996"/>
          </a:xfrm>
        </p:grpSpPr>
        <p:sp>
          <p:nvSpPr>
            <p:cNvPr id="16" name="TextBox 15"/>
            <p:cNvSpPr txBox="1"/>
            <p:nvPr/>
          </p:nvSpPr>
          <p:spPr>
            <a:xfrm>
              <a:off x="2113657" y="4560313"/>
              <a:ext cx="21201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Lectures from industry experts</a:t>
              </a:r>
            </a:p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(</a:t>
              </a: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Kookmin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Bank, </a:t>
              </a:r>
              <a:endParaRPr lang="en-US" altLang="ko-KR" sz="1200" dirty="0" smtClean="0">
                <a:solidFill>
                  <a:schemeClr val="bg1"/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Samsung)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13659" y="4283314"/>
              <a:ext cx="2120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Special Lectures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980896" y="3363838"/>
            <a:ext cx="1767568" cy="923330"/>
            <a:chOff x="2113657" y="4283314"/>
            <a:chExt cx="2120135" cy="923330"/>
          </a:xfrm>
        </p:grpSpPr>
        <p:sp>
          <p:nvSpPr>
            <p:cNvPr id="19" name="TextBox 18"/>
            <p:cNvSpPr txBox="1"/>
            <p:nvPr/>
          </p:nvSpPr>
          <p:spPr>
            <a:xfrm>
              <a:off x="2113657" y="4560313"/>
              <a:ext cx="21201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Organize lectures for SQL Developer, SQL Professional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13658" y="4283314"/>
              <a:ext cx="2120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Certificate Support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2" name="그림 개체 틀 1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8" r="10288"/>
          <a:stretch>
            <a:fillRect/>
          </a:stretch>
        </p:blipFill>
        <p:spPr/>
      </p:pic>
      <p:sp>
        <p:nvSpPr>
          <p:cNvPr id="21" name="Rectangle 16">
            <a:extLst>
              <a:ext uri="{FF2B5EF4-FFF2-40B4-BE49-F238E27FC236}">
                <a16:creationId xmlns:a16="http://schemas.microsoft.com/office/drawing/2014/main" id="{1F993BD9-C5E2-4809-9CA8-0A297D47536A}"/>
              </a:ext>
            </a:extLst>
          </p:cNvPr>
          <p:cNvSpPr/>
          <p:nvPr/>
        </p:nvSpPr>
        <p:spPr>
          <a:xfrm rot="2700000">
            <a:off x="5462155" y="1381254"/>
            <a:ext cx="324496" cy="51681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rapezoid 13">
            <a:extLst>
              <a:ext uri="{FF2B5EF4-FFF2-40B4-BE49-F238E27FC236}">
                <a16:creationId xmlns:a16="http://schemas.microsoft.com/office/drawing/2014/main" id="{B25A2895-391F-49CD-8A4C-9E410B4FFF73}"/>
              </a:ext>
            </a:extLst>
          </p:cNvPr>
          <p:cNvSpPr/>
          <p:nvPr/>
        </p:nvSpPr>
        <p:spPr>
          <a:xfrm>
            <a:off x="7639140" y="1457166"/>
            <a:ext cx="451080" cy="364988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31379617-5A44-4246-BDB9-B2CAFFDBF740}"/>
              </a:ext>
            </a:extLst>
          </p:cNvPr>
          <p:cNvSpPr/>
          <p:nvPr/>
        </p:nvSpPr>
        <p:spPr>
          <a:xfrm>
            <a:off x="7639140" y="2945667"/>
            <a:ext cx="451080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rapezoid 28">
            <a:extLst>
              <a:ext uri="{FF2B5EF4-FFF2-40B4-BE49-F238E27FC236}">
                <a16:creationId xmlns:a16="http://schemas.microsoft.com/office/drawing/2014/main" id="{2452358C-4126-42B4-A4B2-6B18A126A40E}"/>
              </a:ext>
            </a:extLst>
          </p:cNvPr>
          <p:cNvSpPr>
            <a:spLocks noChangeAspect="1"/>
          </p:cNvSpPr>
          <p:nvPr/>
        </p:nvSpPr>
        <p:spPr>
          <a:xfrm>
            <a:off x="5475877" y="2934221"/>
            <a:ext cx="297055" cy="360000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260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Certificate Support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Text Placeholder 13"/>
          <p:cNvSpPr txBox="1">
            <a:spLocks/>
          </p:cNvSpPr>
          <p:nvPr/>
        </p:nvSpPr>
        <p:spPr>
          <a:xfrm>
            <a:off x="467545" y="3023043"/>
            <a:ext cx="2340548" cy="79208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SQL Professional Certification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8518" y="3750050"/>
            <a:ext cx="2189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Professional level certification for SQL. </a:t>
            </a:r>
          </a:p>
          <a:p>
            <a:pPr algn="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Price: 50,000 Korean Won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 Placeholder 13"/>
          <p:cNvSpPr txBox="1">
            <a:spLocks/>
          </p:cNvSpPr>
          <p:nvPr/>
        </p:nvSpPr>
        <p:spPr>
          <a:xfrm>
            <a:off x="6414843" y="1206251"/>
            <a:ext cx="2189605" cy="79208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SQL Developer Certification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14874" y="1933258"/>
            <a:ext cx="2189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National certification supported by all major companies.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Price: 50,000 Korean Won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AD522C84-109B-4838-B95D-EB9CA00D8C04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91546C6F-D630-4CFD-BE48-6100EDB9D25F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13" name="Parallelogram 15">
            <a:extLst>
              <a:ext uri="{FF2B5EF4-FFF2-40B4-BE49-F238E27FC236}">
                <a16:creationId xmlns:a16="http://schemas.microsoft.com/office/drawing/2014/main" id="{32C1EE34-A4CF-4EE3-A717-17EC7FCC57AD}"/>
              </a:ext>
            </a:extLst>
          </p:cNvPr>
          <p:cNvSpPr/>
          <p:nvPr/>
        </p:nvSpPr>
        <p:spPr>
          <a:xfrm rot="16200000">
            <a:off x="4968287" y="1671408"/>
            <a:ext cx="719594" cy="792088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8909D038-391E-4844-B01C-A339A0A65B80}"/>
              </a:ext>
            </a:extLst>
          </p:cNvPr>
          <p:cNvSpPr/>
          <p:nvPr/>
        </p:nvSpPr>
        <p:spPr>
          <a:xfrm>
            <a:off x="3563888" y="3455091"/>
            <a:ext cx="622176" cy="72008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6030363" y="4723685"/>
            <a:ext cx="3120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hlinkClick r:id="rId2"/>
              </a:rPr>
              <a:t>https://www.dataq.or.kr/www/main.do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14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5486"/>
            <a:ext cx="9144000" cy="776530"/>
          </a:xfrm>
        </p:spPr>
        <p:txBody>
          <a:bodyPr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Course Schedule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6240" y="3021556"/>
            <a:ext cx="144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/>
          <p:cNvSpPr/>
          <p:nvPr/>
        </p:nvSpPr>
        <p:spPr>
          <a:xfrm>
            <a:off x="2906965" y="3021556"/>
            <a:ext cx="144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4347690" y="3021556"/>
            <a:ext cx="144000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/>
        </p:nvSpPr>
        <p:spPr>
          <a:xfrm>
            <a:off x="5788415" y="3021556"/>
            <a:ext cx="14400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7229140" y="3021556"/>
            <a:ext cx="1309304" cy="360000"/>
          </a:xfrm>
          <a:prstGeom prst="rect">
            <a:avLst/>
          </a:prstGeom>
          <a:solidFill>
            <a:srgbClr val="F26D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ound Same Side Corner Rectangle 39"/>
          <p:cNvSpPr/>
          <p:nvPr/>
        </p:nvSpPr>
        <p:spPr>
          <a:xfrm rot="18900000">
            <a:off x="7598307" y="2739871"/>
            <a:ext cx="923370" cy="923370"/>
          </a:xfrm>
          <a:custGeom>
            <a:avLst/>
            <a:gdLst/>
            <a:ahLst/>
            <a:cxnLst/>
            <a:rect l="l" t="t" r="r" b="b"/>
            <a:pathLst>
              <a:path w="923370" h="923370">
                <a:moveTo>
                  <a:pt x="870649" y="52721"/>
                </a:moveTo>
                <a:cubicBezTo>
                  <a:pt x="903223" y="85294"/>
                  <a:pt x="923370" y="130294"/>
                  <a:pt x="923370" y="180000"/>
                </a:cubicBezTo>
                <a:lnTo>
                  <a:pt x="923370" y="914399"/>
                </a:lnTo>
                <a:lnTo>
                  <a:pt x="914399" y="914399"/>
                </a:lnTo>
                <a:lnTo>
                  <a:pt x="914399" y="923370"/>
                </a:lnTo>
                <a:lnTo>
                  <a:pt x="180000" y="923370"/>
                </a:lnTo>
                <a:cubicBezTo>
                  <a:pt x="80589" y="923370"/>
                  <a:pt x="0" y="842781"/>
                  <a:pt x="0" y="743370"/>
                </a:cubicBezTo>
                <a:cubicBezTo>
                  <a:pt x="0" y="643959"/>
                  <a:pt x="80589" y="563370"/>
                  <a:pt x="179999" y="563370"/>
                </a:cubicBezTo>
                <a:lnTo>
                  <a:pt x="563370" y="563370"/>
                </a:lnTo>
                <a:lnTo>
                  <a:pt x="563370" y="180000"/>
                </a:lnTo>
                <a:cubicBezTo>
                  <a:pt x="563370" y="80589"/>
                  <a:pt x="643959" y="0"/>
                  <a:pt x="743370" y="0"/>
                </a:cubicBezTo>
                <a:cubicBezTo>
                  <a:pt x="793076" y="0"/>
                  <a:pt x="838076" y="20147"/>
                  <a:pt x="870649" y="527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2643665" y="2925669"/>
            <a:ext cx="540000" cy="540000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/>
          <p:cNvSpPr/>
          <p:nvPr/>
        </p:nvSpPr>
        <p:spPr>
          <a:xfrm>
            <a:off x="2726240" y="3008244"/>
            <a:ext cx="360000" cy="3600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84390" y="2931368"/>
            <a:ext cx="540000" cy="540000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/>
          <p:cNvSpPr/>
          <p:nvPr/>
        </p:nvSpPr>
        <p:spPr>
          <a:xfrm>
            <a:off x="4166965" y="3013943"/>
            <a:ext cx="360000" cy="3600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525115" y="2937067"/>
            <a:ext cx="540000" cy="540000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5607690" y="3019642"/>
            <a:ext cx="360000" cy="36000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65840" y="2942766"/>
            <a:ext cx="540000" cy="540000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Oval 15"/>
          <p:cNvSpPr/>
          <p:nvPr/>
        </p:nvSpPr>
        <p:spPr>
          <a:xfrm>
            <a:off x="7048415" y="3025341"/>
            <a:ext cx="360000" cy="3600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203665" y="2931368"/>
            <a:ext cx="540000" cy="540000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Oval 17"/>
          <p:cNvSpPr/>
          <p:nvPr/>
        </p:nvSpPr>
        <p:spPr>
          <a:xfrm>
            <a:off x="1286240" y="3013943"/>
            <a:ext cx="360000" cy="3600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직사각형 113"/>
          <p:cNvSpPr>
            <a:spLocks noChangeArrowheads="1"/>
          </p:cNvSpPr>
          <p:nvPr/>
        </p:nvSpPr>
        <p:spPr bwMode="auto">
          <a:xfrm>
            <a:off x="1113878" y="3623441"/>
            <a:ext cx="655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Start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1958" y="2435211"/>
            <a:ext cx="665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Sep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99850" y="3623441"/>
            <a:ext cx="665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Oct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47742" y="2435211"/>
            <a:ext cx="665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Nov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95634" y="3615147"/>
            <a:ext cx="665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Dec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755576" y="1712124"/>
            <a:ext cx="1421328" cy="1083120"/>
            <a:chOff x="3324740" y="1807396"/>
            <a:chExt cx="1260140" cy="1083120"/>
          </a:xfrm>
        </p:grpSpPr>
        <p:sp>
          <p:nvSpPr>
            <p:cNvPr id="25" name="TextBox 24"/>
            <p:cNvSpPr txBox="1"/>
            <p:nvPr/>
          </p:nvSpPr>
          <p:spPr>
            <a:xfrm>
              <a:off x="3324740" y="1807396"/>
              <a:ext cx="126014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Intro to DB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324740" y="2059519"/>
              <a:ext cx="12601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Data, database, relational model and constraints, keys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636440" y="1712124"/>
            <a:ext cx="1421328" cy="1083120"/>
            <a:chOff x="3324740" y="1807396"/>
            <a:chExt cx="1260140" cy="1083120"/>
          </a:xfrm>
        </p:grpSpPr>
        <p:sp>
          <p:nvSpPr>
            <p:cNvPr id="28" name="TextBox 27"/>
            <p:cNvSpPr txBox="1"/>
            <p:nvPr/>
          </p:nvSpPr>
          <p:spPr>
            <a:xfrm>
              <a:off x="3324740" y="1807396"/>
              <a:ext cx="126014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Database Design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324740" y="2059519"/>
              <a:ext cx="12601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Entity-relation diagram (E-R Diagram) and schema mapping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517302" y="1712124"/>
            <a:ext cx="1421328" cy="898454"/>
            <a:chOff x="3324740" y="1807396"/>
            <a:chExt cx="1260140" cy="898454"/>
          </a:xfrm>
        </p:grpSpPr>
        <p:sp>
          <p:nvSpPr>
            <p:cNvPr id="31" name="TextBox 30"/>
            <p:cNvSpPr txBox="1"/>
            <p:nvPr/>
          </p:nvSpPr>
          <p:spPr>
            <a:xfrm>
              <a:off x="3324740" y="1807396"/>
              <a:ext cx="126014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Recent Techs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324740" y="2059519"/>
              <a:ext cx="12601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Big data, data mining, NoSQL database, skyline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076871" y="3608220"/>
            <a:ext cx="1421328" cy="1267786"/>
            <a:chOff x="3324740" y="1807396"/>
            <a:chExt cx="1260140" cy="1267786"/>
          </a:xfrm>
        </p:grpSpPr>
        <p:sp>
          <p:nvSpPr>
            <p:cNvPr id="34" name="TextBox 33"/>
            <p:cNvSpPr txBox="1"/>
            <p:nvPr/>
          </p:nvSpPr>
          <p:spPr>
            <a:xfrm>
              <a:off x="3324740" y="1807396"/>
              <a:ext cx="126014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Database Tuning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24740" y="2059519"/>
              <a:ext cx="1260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Database indexing, view, catalog, normalizations, security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196008" y="3608220"/>
            <a:ext cx="1421328" cy="1083120"/>
            <a:chOff x="3324740" y="1807396"/>
            <a:chExt cx="1260140" cy="1083120"/>
          </a:xfrm>
        </p:grpSpPr>
        <p:sp>
          <p:nvSpPr>
            <p:cNvPr id="37" name="TextBox 36"/>
            <p:cNvSpPr txBox="1"/>
            <p:nvPr/>
          </p:nvSpPr>
          <p:spPr>
            <a:xfrm>
              <a:off x="3324740" y="1807396"/>
              <a:ext cx="126014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SQL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24740" y="2059519"/>
              <a:ext cx="12601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CRUD operations using beginner, intermediate and advanced SQL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0" name="직사각형 39"/>
          <p:cNvSpPr/>
          <p:nvPr/>
        </p:nvSpPr>
        <p:spPr>
          <a:xfrm>
            <a:off x="-34444" y="1059582"/>
            <a:ext cx="77624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Note that the schedule is subject to changes</a:t>
            </a:r>
          </a:p>
        </p:txBody>
      </p:sp>
    </p:spTree>
    <p:extLst>
      <p:ext uri="{BB962C8B-B14F-4D97-AF65-F5344CB8AC3E}">
        <p14:creationId xmlns:p14="http://schemas.microsoft.com/office/powerpoint/2010/main" val="359777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126590" y="1563638"/>
            <a:ext cx="60528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26590" y="2583872"/>
            <a:ext cx="60528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26590" y="3604106"/>
            <a:ext cx="60528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6156176" y="1563638"/>
            <a:ext cx="1985779" cy="893713"/>
            <a:chOff x="4320398" y="1245513"/>
            <a:chExt cx="2874451" cy="893713"/>
          </a:xfrm>
        </p:grpSpPr>
        <p:sp>
          <p:nvSpPr>
            <p:cNvPr id="14" name="TextBox 13"/>
            <p:cNvSpPr txBox="1"/>
            <p:nvPr/>
          </p:nvSpPr>
          <p:spPr>
            <a:xfrm>
              <a:off x="4320399" y="1677561"/>
              <a:ext cx="2874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홍의경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</a:t>
              </a:r>
              <a:r>
                <a:rPr lang="ko-KR" alt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생능출판사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 </a:t>
              </a:r>
            </a:p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2015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20398" y="1245513"/>
              <a:ext cx="2874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MS-SQL Server Based Database Learner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156176" y="2583872"/>
            <a:ext cx="1985778" cy="1108648"/>
            <a:chOff x="4320398" y="1245513"/>
            <a:chExt cx="2874450" cy="1108648"/>
          </a:xfrm>
        </p:grpSpPr>
        <p:sp>
          <p:nvSpPr>
            <p:cNvPr id="17" name="TextBox 16"/>
            <p:cNvSpPr txBox="1"/>
            <p:nvPr/>
          </p:nvSpPr>
          <p:spPr>
            <a:xfrm>
              <a:off x="4320398" y="1707830"/>
              <a:ext cx="28744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R.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Elmasri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Navathe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Pearson, 2016</a:t>
              </a:r>
            </a:p>
            <a:p>
              <a:pPr algn="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320398" y="1245513"/>
              <a:ext cx="2874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Fundamentals of Database Systems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156176" y="3604106"/>
            <a:ext cx="1985779" cy="911860"/>
            <a:chOff x="4320398" y="1245513"/>
            <a:chExt cx="2874451" cy="911860"/>
          </a:xfrm>
        </p:grpSpPr>
        <p:sp>
          <p:nvSpPr>
            <p:cNvPr id="20" name="TextBox 19"/>
            <p:cNvSpPr txBox="1"/>
            <p:nvPr/>
          </p:nvSpPr>
          <p:spPr>
            <a:xfrm>
              <a:off x="4320399" y="1695708"/>
              <a:ext cx="2874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Avi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Silberschatz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McGraw-Hill, 2017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20398" y="1245513"/>
              <a:ext cx="2874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Database System Concepts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2" name="Text Placeholder 13"/>
          <p:cNvSpPr txBox="1">
            <a:spLocks/>
          </p:cNvSpPr>
          <p:nvPr/>
        </p:nvSpPr>
        <p:spPr>
          <a:xfrm>
            <a:off x="6084169" y="543453"/>
            <a:ext cx="2520280" cy="79208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/>
                <a:ea typeface="+mj-ea"/>
                <a:cs typeface="Arial" pitchFamily="34" charset="0"/>
              </a:rPr>
              <a:t>Textbook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and </a:t>
            </a:r>
          </a:p>
          <a:p>
            <a:pPr marL="0" indent="0" algn="r">
              <a:lnSpc>
                <a:spcPct val="110000"/>
              </a:lnSpc>
              <a:buNone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References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pic>
        <p:nvPicPr>
          <p:cNvPr id="23" name="Picture 3" descr="데이터베이스 배움터(MS SQL기반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7534"/>
            <a:ext cx="2664296" cy="389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5" descr="Fundamentals of Database Systems (6th Edition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639492"/>
            <a:ext cx="3145938" cy="3888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5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Course Evaluation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Rounded Rectangle 6"/>
          <p:cNvSpPr/>
          <p:nvPr/>
        </p:nvSpPr>
        <p:spPr>
          <a:xfrm>
            <a:off x="1007603" y="1369682"/>
            <a:ext cx="936104" cy="450891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Rounded Rectangle 6"/>
          <p:cNvSpPr/>
          <p:nvPr/>
        </p:nvSpPr>
        <p:spPr>
          <a:xfrm>
            <a:off x="3061358" y="1369682"/>
            <a:ext cx="936104" cy="450891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Rounded Rectangle 6"/>
          <p:cNvSpPr/>
          <p:nvPr/>
        </p:nvSpPr>
        <p:spPr>
          <a:xfrm>
            <a:off x="5115113" y="1369682"/>
            <a:ext cx="936104" cy="450891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Rounded Rectangle 6"/>
          <p:cNvSpPr/>
          <p:nvPr/>
        </p:nvSpPr>
        <p:spPr>
          <a:xfrm>
            <a:off x="7168867" y="1369682"/>
            <a:ext cx="936104" cy="450891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31871" y="2236652"/>
            <a:ext cx="91183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accent1"/>
                </a:solidFill>
                <a:cs typeface="Arial" pitchFamily="34" charset="0"/>
              </a:rPr>
              <a:t>30%</a:t>
            </a:r>
            <a:endParaRPr lang="ko-KR" altLang="en-US" sz="2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1358" y="2236652"/>
            <a:ext cx="93610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accent2"/>
                </a:solidFill>
                <a:cs typeface="Arial" pitchFamily="34" charset="0"/>
              </a:rPr>
              <a:t>30%</a:t>
            </a:r>
            <a:endParaRPr lang="ko-KR" altLang="en-US" sz="28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15113" y="2236652"/>
            <a:ext cx="93610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30%</a:t>
            </a:r>
            <a:endParaRPr lang="ko-KR" altLang="en-US" sz="28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8867" y="2236652"/>
            <a:ext cx="93610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accent4"/>
                </a:solidFill>
                <a:cs typeface="Arial" pitchFamily="34" charset="0"/>
              </a:rPr>
              <a:t>10%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91872" y="2972252"/>
            <a:ext cx="1767568" cy="1302501"/>
            <a:chOff x="2113657" y="4283314"/>
            <a:chExt cx="2120136" cy="1302501"/>
          </a:xfrm>
        </p:grpSpPr>
        <p:sp>
          <p:nvSpPr>
            <p:cNvPr id="12" name="TextBox 11"/>
            <p:cNvSpPr txBox="1"/>
            <p:nvPr/>
          </p:nvSpPr>
          <p:spPr>
            <a:xfrm>
              <a:off x="2113657" y="4754818"/>
              <a:ext cx="21201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Mid semester and related to relational database and E-R Diagram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13659" y="4283314"/>
              <a:ext cx="21201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Mid-Term Examination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699380" y="2972252"/>
            <a:ext cx="1767570" cy="893901"/>
            <a:chOff x="2113655" y="4283314"/>
            <a:chExt cx="2120137" cy="893901"/>
          </a:xfrm>
        </p:grpSpPr>
        <p:sp>
          <p:nvSpPr>
            <p:cNvPr id="15" name="TextBox 14"/>
            <p:cNvSpPr txBox="1"/>
            <p:nvPr/>
          </p:nvSpPr>
          <p:spPr>
            <a:xfrm>
              <a:off x="2113655" y="4530884"/>
              <a:ext cx="2120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Six tasks 5 points each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that will be used to check your progress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13658" y="4283314"/>
              <a:ext cx="2120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Homework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645626" y="2972252"/>
            <a:ext cx="1767568" cy="1109925"/>
            <a:chOff x="2113657" y="4283314"/>
            <a:chExt cx="2120136" cy="1109925"/>
          </a:xfrm>
        </p:grpSpPr>
        <p:sp>
          <p:nvSpPr>
            <p:cNvPr id="18" name="TextBox 17"/>
            <p:cNvSpPr txBox="1"/>
            <p:nvPr/>
          </p:nvSpPr>
          <p:spPr>
            <a:xfrm>
              <a:off x="2113657" y="4746908"/>
              <a:ext cx="21201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Related to database optimization techniques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13659" y="4283314"/>
              <a:ext cx="21201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Final </a:t>
              </a:r>
            </a:p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Examination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753135" y="2972252"/>
            <a:ext cx="1767568" cy="740593"/>
            <a:chOff x="2113657" y="4283314"/>
            <a:chExt cx="2120135" cy="740593"/>
          </a:xfrm>
        </p:grpSpPr>
        <p:sp>
          <p:nvSpPr>
            <p:cNvPr id="21" name="TextBox 20"/>
            <p:cNvSpPr txBox="1"/>
            <p:nvPr/>
          </p:nvSpPr>
          <p:spPr>
            <a:xfrm>
              <a:off x="2113657" y="4746908"/>
              <a:ext cx="2120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13658" y="4283314"/>
              <a:ext cx="21201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Attendance and Attitude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3" name="Right Arrow 22"/>
          <p:cNvSpPr/>
          <p:nvPr/>
        </p:nvSpPr>
        <p:spPr>
          <a:xfrm>
            <a:off x="2302221" y="1419622"/>
            <a:ext cx="400623" cy="35101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Right Arrow 23"/>
          <p:cNvSpPr/>
          <p:nvPr/>
        </p:nvSpPr>
        <p:spPr>
          <a:xfrm>
            <a:off x="4355976" y="1419622"/>
            <a:ext cx="400623" cy="35101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Right Arrow 24"/>
          <p:cNvSpPr/>
          <p:nvPr/>
        </p:nvSpPr>
        <p:spPr>
          <a:xfrm>
            <a:off x="6409731" y="1419622"/>
            <a:ext cx="400623" cy="35101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onut 26"/>
          <p:cNvSpPr/>
          <p:nvPr/>
        </p:nvSpPr>
        <p:spPr>
          <a:xfrm>
            <a:off x="3779912" y="2075095"/>
            <a:ext cx="1536571" cy="1536571"/>
          </a:xfrm>
          <a:prstGeom prst="donut">
            <a:avLst>
              <a:gd name="adj" fmla="val 297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Title 1"/>
          <p:cNvSpPr>
            <a:spLocks noGrp="1"/>
          </p:cNvSpPr>
          <p:nvPr>
            <p:ph type="title"/>
          </p:nvPr>
        </p:nvSpPr>
        <p:spPr>
          <a:xfrm>
            <a:off x="0" y="25735"/>
            <a:ext cx="9144000" cy="776530"/>
          </a:xfrm>
        </p:spPr>
        <p:txBody>
          <a:bodyPr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Course Policies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Oval 6"/>
          <p:cNvSpPr/>
          <p:nvPr/>
        </p:nvSpPr>
        <p:spPr>
          <a:xfrm>
            <a:off x="4218516" y="1744620"/>
            <a:ext cx="691065" cy="691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Oval 7"/>
          <p:cNvSpPr/>
          <p:nvPr/>
        </p:nvSpPr>
        <p:spPr>
          <a:xfrm>
            <a:off x="4218516" y="3227773"/>
            <a:ext cx="691065" cy="6910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Oval 8"/>
          <p:cNvSpPr/>
          <p:nvPr/>
        </p:nvSpPr>
        <p:spPr>
          <a:xfrm>
            <a:off x="3488587" y="2497909"/>
            <a:ext cx="691065" cy="6910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Oval 9"/>
          <p:cNvSpPr/>
          <p:nvPr/>
        </p:nvSpPr>
        <p:spPr>
          <a:xfrm>
            <a:off x="4949587" y="2497909"/>
            <a:ext cx="691065" cy="6910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59" name="Group 10"/>
          <p:cNvGrpSpPr/>
          <p:nvPr/>
        </p:nvGrpSpPr>
        <p:grpSpPr>
          <a:xfrm>
            <a:off x="4788024" y="4034480"/>
            <a:ext cx="3168352" cy="858180"/>
            <a:chOff x="2113657" y="4283314"/>
            <a:chExt cx="3647460" cy="858180"/>
          </a:xfrm>
        </p:grpSpPr>
        <p:sp>
          <p:nvSpPr>
            <p:cNvPr id="60" name="TextBox 59"/>
            <p:cNvSpPr txBox="1"/>
            <p:nvPr/>
          </p:nvSpPr>
          <p:spPr>
            <a:xfrm>
              <a:off x="2113657" y="4495163"/>
              <a:ext cx="36474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are NOT allowed to use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ChatGPT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or any other AI generators during the practices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AI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2" name="Group 13"/>
          <p:cNvGrpSpPr/>
          <p:nvPr/>
        </p:nvGrpSpPr>
        <p:grpSpPr>
          <a:xfrm>
            <a:off x="5753471" y="2543703"/>
            <a:ext cx="2831165" cy="858180"/>
            <a:chOff x="2113657" y="4283314"/>
            <a:chExt cx="3647460" cy="858180"/>
          </a:xfrm>
        </p:grpSpPr>
        <p:sp>
          <p:nvSpPr>
            <p:cNvPr id="63" name="TextBox 62"/>
            <p:cNvSpPr txBox="1"/>
            <p:nvPr/>
          </p:nvSpPr>
          <p:spPr>
            <a:xfrm>
              <a:off x="2113657" y="4495163"/>
              <a:ext cx="36474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Missing the class without any reason will result in point reduction (-2), for being late (-1)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Attendance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5" name="Group 16"/>
          <p:cNvGrpSpPr/>
          <p:nvPr/>
        </p:nvGrpSpPr>
        <p:grpSpPr>
          <a:xfrm>
            <a:off x="408451" y="2492332"/>
            <a:ext cx="2934473" cy="858180"/>
            <a:chOff x="1980563" y="4283314"/>
            <a:chExt cx="3780554" cy="858180"/>
          </a:xfrm>
        </p:grpSpPr>
        <p:sp>
          <p:nvSpPr>
            <p:cNvPr id="66" name="TextBox 65"/>
            <p:cNvSpPr txBox="1"/>
            <p:nvPr/>
          </p:nvSpPr>
          <p:spPr>
            <a:xfrm>
              <a:off x="1980563" y="4495163"/>
              <a:ext cx="37805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Lecture notes will be available via CBNU Blackboard 10 minutes before the lecture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Lecture Notes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8" name="Group 19"/>
          <p:cNvGrpSpPr/>
          <p:nvPr/>
        </p:nvGrpSpPr>
        <p:grpSpPr>
          <a:xfrm>
            <a:off x="1717032" y="1235899"/>
            <a:ext cx="2831165" cy="488848"/>
            <a:chOff x="2113657" y="4283314"/>
            <a:chExt cx="3647460" cy="488848"/>
          </a:xfrm>
        </p:grpSpPr>
        <p:sp>
          <p:nvSpPr>
            <p:cNvPr id="69" name="TextBox 68"/>
            <p:cNvSpPr txBox="1"/>
            <p:nvPr/>
          </p:nvSpPr>
          <p:spPr>
            <a:xfrm>
              <a:off x="2113657" y="4495163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Lecture 50% and practice 50%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Lecture Style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1" name="Rounded Rectangle 27"/>
          <p:cNvSpPr/>
          <p:nvPr/>
        </p:nvSpPr>
        <p:spPr>
          <a:xfrm>
            <a:off x="4411192" y="3458158"/>
            <a:ext cx="299807" cy="230293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Rounded Rectangle 7"/>
          <p:cNvSpPr/>
          <p:nvPr/>
        </p:nvSpPr>
        <p:spPr>
          <a:xfrm>
            <a:off x="4411642" y="1958627"/>
            <a:ext cx="304811" cy="263049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ectangle 36"/>
          <p:cNvSpPr/>
          <p:nvPr/>
        </p:nvSpPr>
        <p:spPr>
          <a:xfrm>
            <a:off x="3681904" y="2743438"/>
            <a:ext cx="284937" cy="238185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ectangle 16"/>
          <p:cNvSpPr/>
          <p:nvPr/>
        </p:nvSpPr>
        <p:spPr>
          <a:xfrm>
            <a:off x="5171265" y="2758285"/>
            <a:ext cx="317236" cy="208492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10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523972" y="3579862"/>
            <a:ext cx="4096505" cy="1563637"/>
            <a:chOff x="152400" y="152400"/>
            <a:chExt cx="9126287" cy="5143500"/>
          </a:xfrm>
        </p:grpSpPr>
        <p:sp>
          <p:nvSpPr>
            <p:cNvPr id="12" name="Rectangle 11"/>
            <p:cNvSpPr/>
            <p:nvPr/>
          </p:nvSpPr>
          <p:spPr>
            <a:xfrm>
              <a:off x="152400" y="152400"/>
              <a:ext cx="22860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436046" y="152400"/>
              <a:ext cx="2286000" cy="514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722046" y="152400"/>
              <a:ext cx="2286000" cy="514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992687" y="152400"/>
              <a:ext cx="2286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" name="Title 1"/>
          <p:cNvSpPr txBox="1">
            <a:spLocks/>
          </p:cNvSpPr>
          <p:nvPr/>
        </p:nvSpPr>
        <p:spPr>
          <a:xfrm>
            <a:off x="1835415" y="3802059"/>
            <a:ext cx="5472608" cy="54207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 smtClean="0">
                <a:solidFill>
                  <a:schemeClr val="bg1"/>
                </a:solidFill>
                <a:latin typeface="+mj-lt"/>
              </a:rPr>
              <a:t>Questions?</a:t>
            </a:r>
            <a:endParaRPr lang="ko-KR" alt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Placeholder 7"/>
          <p:cNvSpPr txBox="1">
            <a:spLocks/>
          </p:cNvSpPr>
          <p:nvPr/>
        </p:nvSpPr>
        <p:spPr>
          <a:xfrm>
            <a:off x="1835415" y="4344137"/>
            <a:ext cx="5472608" cy="24383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200" dirty="0" smtClean="0">
                <a:solidFill>
                  <a:schemeClr val="bg1"/>
                </a:solidFill>
                <a:cs typeface="Arial" pitchFamily="34" charset="0"/>
              </a:rPr>
              <a:t>See you next time!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8B6AE17B-8C4A-441A-AE12-6EA97D9B75D0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22909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6B1D1"/>
      </a:accent1>
      <a:accent2>
        <a:srgbClr val="A0C358"/>
      </a:accent2>
      <a:accent3>
        <a:srgbClr val="F3C04A"/>
      </a:accent3>
      <a:accent4>
        <a:srgbClr val="F26D9A"/>
      </a:accent4>
      <a:accent5>
        <a:srgbClr val="57687C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6B1D1"/>
      </a:accent1>
      <a:accent2>
        <a:srgbClr val="A0C358"/>
      </a:accent2>
      <a:accent3>
        <a:srgbClr val="F3C04A"/>
      </a:accent3>
      <a:accent4>
        <a:srgbClr val="F26D9A"/>
      </a:accent4>
      <a:accent5>
        <a:srgbClr val="57687C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6B1D1"/>
      </a:accent1>
      <a:accent2>
        <a:srgbClr val="A0C358"/>
      </a:accent2>
      <a:accent3>
        <a:srgbClr val="F3C04A"/>
      </a:accent3>
      <a:accent4>
        <a:srgbClr val="F26D9A"/>
      </a:accent4>
      <a:accent5>
        <a:srgbClr val="57687C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1930</TotalTime>
  <Words>410</Words>
  <Application>Microsoft Office PowerPoint</Application>
  <PresentationFormat>화면 슬라이드 쇼(16:9)</PresentationFormat>
  <Paragraphs>97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Arial Unicode MS</vt:lpstr>
      <vt:lpstr>맑은 고딕</vt:lpstr>
      <vt:lpstr>Arial</vt:lpstr>
      <vt:lpstr>Cover and End Slide Master</vt:lpstr>
      <vt:lpstr>Contents Slide Master</vt:lpstr>
      <vt:lpstr>Section Break Slide Master</vt:lpstr>
      <vt:lpstr>Database Systems</vt:lpstr>
      <vt:lpstr>Course Instructor</vt:lpstr>
      <vt:lpstr>Course Objectives</vt:lpstr>
      <vt:lpstr>Course Features</vt:lpstr>
      <vt:lpstr>Course Benefits</vt:lpstr>
      <vt:lpstr>Certificate Support</vt:lpstr>
      <vt:lpstr>Course Schedule</vt:lpstr>
      <vt:lpstr>PowerPoint 프레젠테이션</vt:lpstr>
      <vt:lpstr>Course Evaluation</vt:lpstr>
      <vt:lpstr>Course Policies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Googlesliesppt.com;allppt.com</dc:creator>
  <cp:lastModifiedBy>Windows 사용자</cp:lastModifiedBy>
  <cp:revision>203</cp:revision>
  <dcterms:created xsi:type="dcterms:W3CDTF">2016-11-15T01:04:21Z</dcterms:created>
  <dcterms:modified xsi:type="dcterms:W3CDTF">2025-09-02T13:03:31Z</dcterms:modified>
</cp:coreProperties>
</file>