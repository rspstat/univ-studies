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handoutMasterIdLst>
    <p:handoutMasterId r:id="rId37"/>
  </p:handoutMasterIdLst>
  <p:sldIdLst>
    <p:sldId id="256" r:id="rId2"/>
    <p:sldId id="444" r:id="rId3"/>
    <p:sldId id="427" r:id="rId4"/>
    <p:sldId id="469" r:id="rId5"/>
    <p:sldId id="439" r:id="rId6"/>
    <p:sldId id="458" r:id="rId7"/>
    <p:sldId id="468" r:id="rId8"/>
    <p:sldId id="471" r:id="rId9"/>
    <p:sldId id="460" r:id="rId10"/>
    <p:sldId id="470" r:id="rId11"/>
    <p:sldId id="429" r:id="rId12"/>
    <p:sldId id="443" r:id="rId13"/>
    <p:sldId id="467" r:id="rId14"/>
    <p:sldId id="466" r:id="rId15"/>
    <p:sldId id="451" r:id="rId16"/>
    <p:sldId id="452" r:id="rId17"/>
    <p:sldId id="440" r:id="rId18"/>
    <p:sldId id="477" r:id="rId19"/>
    <p:sldId id="478" r:id="rId20"/>
    <p:sldId id="455" r:id="rId21"/>
    <p:sldId id="462" r:id="rId22"/>
    <p:sldId id="450" r:id="rId23"/>
    <p:sldId id="454" r:id="rId24"/>
    <p:sldId id="463" r:id="rId25"/>
    <p:sldId id="464" r:id="rId26"/>
    <p:sldId id="472" r:id="rId27"/>
    <p:sldId id="473" r:id="rId28"/>
    <p:sldId id="474" r:id="rId29"/>
    <p:sldId id="475" r:id="rId30"/>
    <p:sldId id="476" r:id="rId31"/>
    <p:sldId id="433" r:id="rId32"/>
    <p:sldId id="456" r:id="rId33"/>
    <p:sldId id="457" r:id="rId34"/>
    <p:sldId id="434" r:id="rId35"/>
  </p:sldIdLst>
  <p:sldSz cx="9144000" cy="6858000" type="screen4x3"/>
  <p:notesSz cx="6797675" cy="987425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99"/>
    <a:srgbClr val="FBF064"/>
    <a:srgbClr val="FAF064"/>
    <a:srgbClr val="0033CC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666" autoAdjust="0"/>
    <p:restoredTop sz="97752" autoAdjust="0"/>
  </p:normalViewPr>
  <p:slideViewPr>
    <p:cSldViewPr>
      <p:cViewPr>
        <p:scale>
          <a:sx n="100" d="100"/>
          <a:sy n="100" d="100"/>
        </p:scale>
        <p:origin x="2178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handoutMaster" Target="handoutMasters/handoutMaster1.xml" /><Relationship Id="rId40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294" y="0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/>
          <a:lstStyle>
            <a:lvl1pPr algn="r">
              <a:defRPr sz="1200"/>
            </a:lvl1pPr>
          </a:lstStyle>
          <a:p>
            <a:fld id="{FAD56397-96EB-4B9B-B73E-B0DE894BA706}" type="datetimeFigureOut">
              <a:rPr lang="ko-KR" altLang="en-US" smtClean="0"/>
              <a:t>2025-09-04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294" y="9379543"/>
            <a:ext cx="2945862" cy="493177"/>
          </a:xfrm>
          <a:prstGeom prst="rect">
            <a:avLst/>
          </a:prstGeom>
        </p:spPr>
        <p:txBody>
          <a:bodyPr vert="horz" lIns="87940" tIns="43970" rIns="87940" bIns="43970" rtlCol="0" anchor="b"/>
          <a:lstStyle>
            <a:lvl1pPr algn="r">
              <a:defRPr sz="1200"/>
            </a:lvl1pPr>
          </a:lstStyle>
          <a:p>
            <a:fld id="{785EE255-EB82-498D-BBDB-CD68D29556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485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/>
          <a:lstStyle>
            <a:lvl1pPr algn="r">
              <a:defRPr sz="1300"/>
            </a:lvl1pPr>
          </a:lstStyle>
          <a:p>
            <a:fld id="{8138FCCD-07B7-47B0-A7AA-A03D63EC9D3F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41363"/>
            <a:ext cx="4937125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257" tIns="47628" rIns="95257" bIns="4762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2"/>
          </a:xfrm>
          <a:prstGeom prst="rect">
            <a:avLst/>
          </a:prstGeom>
        </p:spPr>
        <p:txBody>
          <a:bodyPr vert="horz" lIns="95257" tIns="47628" rIns="95257" bIns="47628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378825"/>
            <a:ext cx="2945659" cy="493713"/>
          </a:xfrm>
          <a:prstGeom prst="rect">
            <a:avLst/>
          </a:prstGeom>
        </p:spPr>
        <p:txBody>
          <a:bodyPr vert="horz" lIns="95257" tIns="47628" rIns="95257" bIns="47628" rtlCol="0" anchor="b"/>
          <a:lstStyle>
            <a:lvl1pPr algn="r">
              <a:defRPr sz="1300"/>
            </a:lvl1pPr>
          </a:lstStyle>
          <a:p>
            <a:fld id="{206250C4-0E9A-42DD-85A1-087716A785B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93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891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71201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865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2943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7799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8561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702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919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311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358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30226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44072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347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7215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6587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464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0808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552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69330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6250C4-0E9A-42DD-85A1-087716A785B8}" type="slidenum">
              <a:rPr lang="ko-KR" altLang="en-US" smtClean="0"/>
              <a:pPr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50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>
            <a:lvl1pPr>
              <a:defRPr sz="3200" b="1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>
            <a:lvl1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v"/>
              <a:defRPr sz="2000" baseline="0">
                <a:latin typeface="Tahoma" panose="020B0604030504040204" pitchFamily="34" charset="0"/>
                <a:ea typeface="맑은 고딕" panose="020B0503020000020004" pitchFamily="50" charset="-127"/>
              </a:defRPr>
            </a:lvl1pPr>
            <a:lvl2pPr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2pPr>
            <a:lvl3pPr algn="just" latinLnBrk="0">
              <a:lnSpc>
                <a:spcPct val="150000"/>
              </a:lnSpc>
              <a:spcBef>
                <a:spcPts val="0"/>
              </a:spcBef>
              <a:defRPr sz="1800" baseline="0">
                <a:latin typeface="Tahoma" panose="020B0604030504040204" pitchFamily="34" charset="0"/>
                <a:ea typeface="맑은 고딕" panose="020B0503020000020004" pitchFamily="50" charset="-127"/>
              </a:defRPr>
            </a:lvl3pPr>
            <a:lvl4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4pPr>
            <a:lvl5pPr algn="just" latinLnBrk="0">
              <a:lnSpc>
                <a:spcPct val="150000"/>
              </a:lnSpc>
              <a:spcBef>
                <a:spcPts val="0"/>
              </a:spcBef>
              <a:defRPr sz="1600" baseline="0">
                <a:latin typeface="Tahoma" panose="020B0604030504040204" pitchFamily="34" charset="0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B487C-8DB3-45EB-9538-2500040D0F0E}" type="datetimeFigureOut">
              <a:rPr lang="ko-KR" altLang="en-US" smtClean="0"/>
              <a:pPr/>
              <a:t>2025-09-04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76BB1-246E-4810-B75C-21AF79B23B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11560" y="1844824"/>
            <a:ext cx="7772400" cy="1470025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Introduction to Database Systems</a:t>
            </a:r>
            <a:endParaRPr lang="ko-KR" altLang="en-US" dirty="0">
              <a:latin typeface="Tahoma" panose="020B0604030504040204" pitchFamily="34" charset="0"/>
              <a:ea typeface="HY견고딕" pitchFamily="18" charset="-127"/>
              <a:cs typeface="Tahoma" panose="020B0604030504040204" pitchFamily="34" charset="0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61048"/>
            <a:ext cx="6400800" cy="2088232"/>
          </a:xfrm>
        </p:spPr>
        <p:txBody>
          <a:bodyPr>
            <a:normAutofit/>
          </a:bodyPr>
          <a:lstStyle/>
          <a:p>
            <a:r>
              <a:rPr lang="en-US" altLang="ko-KR" sz="2800" b="1" dirty="0"/>
              <a:t>Database Systems</a:t>
            </a:r>
          </a:p>
          <a:p>
            <a:endParaRPr lang="en-US" altLang="ko-KR" sz="2800" b="1" dirty="0"/>
          </a:p>
          <a:p>
            <a:r>
              <a:rPr lang="en-US" altLang="ko-KR" sz="2000" b="1" dirty="0"/>
              <a:t>Department of Computer Science, CBNU</a:t>
            </a:r>
            <a:endParaRPr lang="ko-KR" altLang="en-US" sz="2000" b="1" dirty="0"/>
          </a:p>
          <a:p>
            <a:r>
              <a:rPr lang="en-US" altLang="ko-KR" sz="2000" b="1" dirty="0"/>
              <a:t>Prof. Nasridinov Aziz (aziz@chungbuk.ac.kr)</a:t>
            </a:r>
            <a:endParaRPr lang="ko-KR" altLang="en-US" sz="20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08"/>
    </mc:Choice>
    <mc:Fallback xmlns="">
      <p:transition spd="slow" advTm="672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What is Database?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 Model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Database Management System (DBMS)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Database Systems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Database Languages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Recent Techs in Database Systems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Summary and Discussions</a:t>
            </a:r>
          </a:p>
        </p:txBody>
      </p:sp>
    </p:spTree>
    <p:extLst>
      <p:ext uri="{BB962C8B-B14F-4D97-AF65-F5344CB8AC3E}">
        <p14:creationId xmlns:p14="http://schemas.microsoft.com/office/powerpoint/2010/main" val="1462334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 is Database?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What is data?</a:t>
            </a:r>
            <a:endParaRPr lang="en-US" dirty="0"/>
          </a:p>
          <a:p>
            <a:pPr lvl="1"/>
            <a:r>
              <a:rPr lang="en-US" dirty="0"/>
              <a:t>Since birth, we are surrounded with 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Since people first started writing, they have recorded their observations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Since computers were invented in the 1950s, data </a:t>
            </a:r>
            <a:r>
              <a:rPr lang="en-US" altLang="ko-KR" dirty="0"/>
              <a:t>is known as </a:t>
            </a:r>
            <a:r>
              <a:rPr lang="en-US" b="1" dirty="0"/>
              <a:t>information that is stored or shared electronically</a:t>
            </a:r>
          </a:p>
          <a:p>
            <a:pPr lvl="1"/>
            <a:endParaRPr lang="en-US" b="1" dirty="0"/>
          </a:p>
          <a:p>
            <a:pPr lvl="1"/>
            <a:r>
              <a:rPr lang="en-US" dirty="0"/>
              <a:t>In simple words, data means facts, numbers, charts, or information that a computer stores or uses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>
              <a:latin typeface="Aria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82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 is Database?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types of data exist? </a:t>
            </a:r>
          </a:p>
          <a:p>
            <a:pPr lvl="1"/>
            <a:r>
              <a:rPr lang="en-US" dirty="0"/>
              <a:t>Structured vs. Unstructured data</a:t>
            </a:r>
          </a:p>
          <a:p>
            <a:endParaRPr lang="en-US" dirty="0"/>
          </a:p>
          <a:p>
            <a:endParaRPr lang="en-US" dirty="0">
              <a:latin typeface="Arial" charset="0"/>
            </a:endParaRPr>
          </a:p>
          <a:p>
            <a:endParaRPr lang="en-US" dirty="0"/>
          </a:p>
        </p:txBody>
      </p:sp>
      <p:pic>
        <p:nvPicPr>
          <p:cNvPr id="5" name="Picture 2" descr="Securing Structured Data | Stealthbits Technolog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92896"/>
            <a:ext cx="6768352" cy="3158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832748" y="6021288"/>
            <a:ext cx="5478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 this lecture, we will focus on Structured Data</a:t>
            </a:r>
          </a:p>
        </p:txBody>
      </p:sp>
      <p:cxnSp>
        <p:nvCxnSpPr>
          <p:cNvPr id="7" name="직선 화살표 연결선 6"/>
          <p:cNvCxnSpPr>
            <a:stCxn id="6" idx="0"/>
          </p:cNvCxnSpPr>
          <p:nvPr/>
        </p:nvCxnSpPr>
        <p:spPr>
          <a:xfrm flipH="1" flipV="1">
            <a:off x="3923928" y="5301208"/>
            <a:ext cx="647872" cy="7200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50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 is Database?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</a:t>
            </a:r>
          </a:p>
          <a:p>
            <a:pPr lvl="1"/>
            <a:r>
              <a:rPr lang="en-US" dirty="0"/>
              <a:t>An organized collection of data</a:t>
            </a:r>
          </a:p>
          <a:p>
            <a:endParaRPr lang="en-US" dirty="0"/>
          </a:p>
          <a:p>
            <a:r>
              <a:rPr lang="en-US" dirty="0"/>
              <a:t>Examples of Database Applications</a:t>
            </a:r>
          </a:p>
          <a:p>
            <a:pPr lvl="1"/>
            <a:r>
              <a:rPr lang="en-US" dirty="0"/>
              <a:t>Universities: student management, registration, grades</a:t>
            </a:r>
          </a:p>
          <a:p>
            <a:pPr lvl="1"/>
            <a:r>
              <a:rPr lang="en-US" dirty="0"/>
              <a:t>Airlines: reservations, schedules</a:t>
            </a:r>
          </a:p>
          <a:p>
            <a:pPr lvl="1"/>
            <a:r>
              <a:rPr lang="en-US" dirty="0"/>
              <a:t>Hospitals: patient data</a:t>
            </a:r>
          </a:p>
          <a:p>
            <a:pPr lvl="1"/>
            <a:r>
              <a:rPr lang="en-US" dirty="0"/>
              <a:t>Retail: customers, products, purchases, order track</a:t>
            </a:r>
          </a:p>
          <a:p>
            <a:pPr lvl="1"/>
            <a:r>
              <a:rPr lang="en-US" dirty="0"/>
              <a:t>Banking and finance</a:t>
            </a:r>
          </a:p>
          <a:p>
            <a:pPr lvl="2"/>
            <a:r>
              <a:rPr lang="en-US" dirty="0"/>
              <a:t>customer information, accounts, loans, and card usage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75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dirty="0"/>
              <a:t>. Data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Data Model?</a:t>
            </a:r>
          </a:p>
          <a:p>
            <a:pPr lvl="1"/>
            <a:r>
              <a:rPr lang="en-US" dirty="0"/>
              <a:t>Used to show how data is </a:t>
            </a:r>
            <a:r>
              <a:rPr lang="en-US" b="1" dirty="0"/>
              <a:t>stored</a:t>
            </a:r>
            <a:r>
              <a:rPr lang="en-US" dirty="0"/>
              <a:t>, </a:t>
            </a:r>
            <a:r>
              <a:rPr lang="en-US" b="1" dirty="0"/>
              <a:t>connected</a:t>
            </a:r>
            <a:r>
              <a:rPr lang="en-US" dirty="0"/>
              <a:t>, </a:t>
            </a:r>
            <a:r>
              <a:rPr lang="en-US" b="1" dirty="0"/>
              <a:t>accessed</a:t>
            </a:r>
            <a:r>
              <a:rPr lang="en-US" dirty="0"/>
              <a:t> and </a:t>
            </a:r>
            <a:r>
              <a:rPr lang="en-US" b="1" dirty="0"/>
              <a:t>updated</a:t>
            </a:r>
            <a:r>
              <a:rPr lang="en-US" dirty="0"/>
              <a:t> in the database</a:t>
            </a:r>
          </a:p>
          <a:p>
            <a:endParaRPr lang="en-US" dirty="0"/>
          </a:p>
          <a:p>
            <a:r>
              <a:rPr lang="en-US" dirty="0"/>
              <a:t>Types of data models</a:t>
            </a:r>
          </a:p>
          <a:p>
            <a:pPr lvl="1"/>
            <a:r>
              <a:rPr lang="en-US" dirty="0"/>
              <a:t>Hierarchical Model</a:t>
            </a:r>
          </a:p>
          <a:p>
            <a:pPr lvl="1"/>
            <a:r>
              <a:rPr lang="en-US" dirty="0"/>
              <a:t>Network Model</a:t>
            </a:r>
          </a:p>
          <a:p>
            <a:pPr lvl="1"/>
            <a:r>
              <a:rPr lang="en-US" dirty="0"/>
              <a:t>Hybrid Model (Combination of Hierarchical and Network Model)</a:t>
            </a:r>
          </a:p>
          <a:p>
            <a:pPr lvl="1"/>
            <a:r>
              <a:rPr lang="en-US" b="1" dirty="0"/>
              <a:t>Relational Model </a:t>
            </a:r>
            <a:r>
              <a:rPr lang="en-US" b="1" dirty="0">
                <a:solidFill>
                  <a:srgbClr val="FF0000"/>
                </a:solidFill>
              </a:rPr>
              <a:t>&lt;- This lecture will focus on Relation Model</a:t>
            </a:r>
          </a:p>
          <a:p>
            <a:pPr lvl="1"/>
            <a:r>
              <a:rPr lang="en-US" dirty="0"/>
              <a:t>Object-Oriented Model</a:t>
            </a:r>
          </a:p>
          <a:p>
            <a:pPr lvl="1"/>
            <a:r>
              <a:rPr lang="en-US" dirty="0"/>
              <a:t>Object-Relational Model</a:t>
            </a:r>
          </a:p>
        </p:txBody>
      </p:sp>
    </p:spTree>
    <p:extLst>
      <p:ext uri="{BB962C8B-B14F-4D97-AF65-F5344CB8AC3E}">
        <p14:creationId xmlns:p14="http://schemas.microsoft.com/office/powerpoint/2010/main" val="1603717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dirty="0"/>
              <a:t>. Data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10198" y="1196752"/>
            <a:ext cx="8229600" cy="5328592"/>
          </a:xfrm>
        </p:spPr>
        <p:txBody>
          <a:bodyPr/>
          <a:lstStyle/>
          <a:p>
            <a:r>
              <a:rPr lang="en-US" dirty="0"/>
              <a:t>History of Data Models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98" y="1988840"/>
            <a:ext cx="7543800" cy="4314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5569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dirty="0"/>
              <a:t>. Data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Models</a:t>
            </a:r>
          </a:p>
          <a:p>
            <a:pPr lvl="1"/>
            <a:r>
              <a:rPr lang="en-US" b="1" dirty="0"/>
              <a:t>Hierarchical Data Model: </a:t>
            </a:r>
            <a:r>
              <a:rPr lang="en-US" dirty="0"/>
              <a:t>Organizes the data in the tree-like structure</a:t>
            </a:r>
          </a:p>
          <a:p>
            <a:pPr lvl="1"/>
            <a:r>
              <a:rPr lang="en-US" b="1" dirty="0"/>
              <a:t>Network Data Model: </a:t>
            </a:r>
            <a:r>
              <a:rPr lang="en-US" dirty="0"/>
              <a:t>Organizes the data in directed graph structure</a:t>
            </a:r>
          </a:p>
          <a:p>
            <a:pPr lvl="1"/>
            <a:r>
              <a:rPr lang="en-US" b="1" dirty="0"/>
              <a:t>Hybrid Data Model: </a:t>
            </a:r>
            <a:r>
              <a:rPr lang="en-US" dirty="0"/>
              <a:t>Combination of Hierarchical and Network Data Models</a:t>
            </a:r>
          </a:p>
          <a:p>
            <a:pPr lvl="1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49" y="3501008"/>
            <a:ext cx="7721302" cy="261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9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dirty="0"/>
              <a:t>. Data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Relational Model</a:t>
            </a:r>
          </a:p>
          <a:p>
            <a:pPr lvl="1"/>
            <a:r>
              <a:rPr lang="en-US" dirty="0"/>
              <a:t>Represents the database as </a:t>
            </a:r>
            <a:r>
              <a:rPr lang="en-US" b="1" dirty="0"/>
              <a:t>a collection of relations</a:t>
            </a:r>
          </a:p>
          <a:p>
            <a:pPr lvl="2"/>
            <a:r>
              <a:rPr lang="en-US" dirty="0"/>
              <a:t>Relation = table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776" y="2636912"/>
            <a:ext cx="3905026" cy="3406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390194" y="6164169"/>
            <a:ext cx="2503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instructor</a:t>
            </a:r>
            <a:r>
              <a:rPr lang="en-US" dirty="0"/>
              <a:t> </a:t>
            </a:r>
            <a:r>
              <a:rPr lang="en-US" altLang="ko-KR" dirty="0"/>
              <a:t>relation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234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dirty="0"/>
              <a:t>. Data Model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relational database?</a:t>
            </a:r>
          </a:p>
          <a:p>
            <a:pPr lvl="1"/>
            <a:r>
              <a:rPr lang="en-US" dirty="0"/>
              <a:t>Allows related data to be </a:t>
            </a:r>
            <a:r>
              <a:rPr lang="en-US" b="1" dirty="0"/>
              <a:t>stored across multiple tables</a:t>
            </a:r>
            <a:r>
              <a:rPr lang="en-US" dirty="0"/>
              <a:t>, and linked by establishing a </a:t>
            </a:r>
            <a:r>
              <a:rPr lang="en-US" b="1" dirty="0"/>
              <a:t>relationship between the tables</a:t>
            </a:r>
          </a:p>
          <a:p>
            <a:pPr lvl="1"/>
            <a:endParaRPr lang="en-US" dirty="0"/>
          </a:p>
        </p:txBody>
      </p:sp>
      <p:pic>
        <p:nvPicPr>
          <p:cNvPr id="4" name="Picture 2" descr="Image result for relational databa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852936"/>
            <a:ext cx="7065788" cy="3354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147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Database Management System (DBMS)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DBMS </a:t>
            </a:r>
          </a:p>
          <a:p>
            <a:pPr lvl="1"/>
            <a:r>
              <a:rPr lang="en-US" dirty="0"/>
              <a:t>A software designed to </a:t>
            </a:r>
            <a:r>
              <a:rPr lang="en-US" b="1" dirty="0"/>
              <a:t>store</a:t>
            </a:r>
            <a:r>
              <a:rPr lang="en-US" dirty="0"/>
              <a:t>, </a:t>
            </a:r>
            <a:r>
              <a:rPr lang="en-US" b="1" dirty="0"/>
              <a:t>retrieve</a:t>
            </a:r>
            <a:r>
              <a:rPr lang="en-US" dirty="0"/>
              <a:t>, </a:t>
            </a:r>
            <a:r>
              <a:rPr lang="en-US" b="1" dirty="0"/>
              <a:t>define</a:t>
            </a:r>
            <a:r>
              <a:rPr lang="en-US" dirty="0"/>
              <a:t>, and </a:t>
            </a:r>
            <a:r>
              <a:rPr lang="en-US" b="1" dirty="0"/>
              <a:t>manage</a:t>
            </a:r>
            <a:r>
              <a:rPr lang="en-US" dirty="0"/>
              <a:t> data in a database</a:t>
            </a:r>
          </a:p>
          <a:p>
            <a:pPr lvl="1"/>
            <a:endParaRPr lang="en-US" dirty="0"/>
          </a:p>
          <a:p>
            <a:r>
              <a:rPr lang="en-US" dirty="0"/>
              <a:t>Ranking of various well-known DBMS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3429000"/>
            <a:ext cx="6912768" cy="313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946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Database Management System (DBMS)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GUI Interface of MySQL</a:t>
            </a:r>
          </a:p>
        </p:txBody>
      </p:sp>
      <p:pic>
        <p:nvPicPr>
          <p:cNvPr id="2052" name="Picture 4" descr="MySQL :: MySQL Workbenc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513" y="1916832"/>
            <a:ext cx="6454974" cy="4701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63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Database Management System (DBMS)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Query</a:t>
            </a:r>
          </a:p>
          <a:p>
            <a:pPr lvl="1"/>
            <a:r>
              <a:rPr lang="en-US" dirty="0"/>
              <a:t>A query in a database is a request for information from a </a:t>
            </a:r>
            <a:r>
              <a:rPr lang="en-US" altLang="ko-KR" dirty="0"/>
              <a:t>DBMS</a:t>
            </a:r>
          </a:p>
          <a:p>
            <a:pPr lvl="2"/>
            <a:r>
              <a:rPr lang="en-US" altLang="ko-KR" dirty="0"/>
              <a:t>R</a:t>
            </a:r>
            <a:r>
              <a:rPr lang="en-US" dirty="0"/>
              <a:t>etrieve data or change </a:t>
            </a:r>
            <a:r>
              <a:rPr lang="en-US" altLang="ko-KR" dirty="0"/>
              <a:t>(add or remove)</a:t>
            </a:r>
            <a:r>
              <a:rPr lang="en-US" dirty="0"/>
              <a:t> information in a database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070" y="2636912"/>
            <a:ext cx="6449860" cy="4104456"/>
          </a:xfrm>
          <a:prstGeom prst="rect">
            <a:avLst/>
          </a:prstGeom>
        </p:spPr>
      </p:pic>
      <p:cxnSp>
        <p:nvCxnSpPr>
          <p:cNvPr id="9" name="직선 연결선 8"/>
          <p:cNvCxnSpPr/>
          <p:nvPr/>
        </p:nvCxnSpPr>
        <p:spPr>
          <a:xfrm>
            <a:off x="3563888" y="3861048"/>
            <a:ext cx="2592288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3851" y="3833986"/>
            <a:ext cx="1132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1. Query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32240" y="5904070"/>
            <a:ext cx="2315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2. Result of query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/>
          <p:cNvCxnSpPr>
            <a:stCxn id="11" idx="0"/>
          </p:cNvCxnSpPr>
          <p:nvPr/>
        </p:nvCxnSpPr>
        <p:spPr>
          <a:xfrm flipH="1" flipV="1">
            <a:off x="5875465" y="5057917"/>
            <a:ext cx="2014474" cy="846153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077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3. Database Management System (DBMS)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Purpose of DBMS</a:t>
            </a:r>
          </a:p>
          <a:p>
            <a:pPr lvl="1"/>
            <a:r>
              <a:rPr lang="en-US" dirty="0"/>
              <a:t>Allows to create a new database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Allows you to specify the structure of the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Allows users to query and modify data efficiently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Protects</a:t>
            </a:r>
            <a:r>
              <a:rPr lang="en-US" dirty="0"/>
              <a:t> data from system failure or unauthorized users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C</a:t>
            </a:r>
            <a:r>
              <a:rPr lang="en-US" dirty="0"/>
              <a:t>ontrols access to the database by multiple users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3841839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Database Systems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Database Schema</a:t>
            </a:r>
          </a:p>
          <a:p>
            <a:pPr lvl="1"/>
            <a:r>
              <a:rPr lang="en-US" dirty="0"/>
              <a:t>The overall logical structure of the database</a:t>
            </a:r>
            <a:r>
              <a:rPr lang="en-US" altLang="ko-KR" dirty="0"/>
              <a:t>, also called </a:t>
            </a:r>
            <a:r>
              <a:rPr lang="en-US" altLang="ko-KR" b="1" dirty="0"/>
              <a:t>metadata</a:t>
            </a:r>
            <a:endParaRPr lang="en-US" b="1" dirty="0"/>
          </a:p>
          <a:p>
            <a:pPr lvl="2"/>
            <a:r>
              <a:rPr lang="en-US" dirty="0"/>
              <a:t>Ex: department(</a:t>
            </a:r>
            <a:r>
              <a:rPr lang="en-US" dirty="0" err="1"/>
              <a:t>dept_name</a:t>
            </a:r>
            <a:r>
              <a:rPr lang="en-US" dirty="0"/>
              <a:t>, building, budget)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r>
              <a:rPr lang="en-US" dirty="0"/>
              <a:t>Database Instance</a:t>
            </a:r>
          </a:p>
          <a:p>
            <a:pPr lvl="1"/>
            <a:r>
              <a:rPr lang="en-US" dirty="0"/>
              <a:t>The actual content of the database at a particular point in time 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998" y="2636912"/>
            <a:ext cx="3012000" cy="216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3335537" y="5012936"/>
            <a:ext cx="2472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department</a:t>
            </a:r>
            <a:r>
              <a:rPr lang="en-US" dirty="0"/>
              <a:t> table</a:t>
            </a:r>
          </a:p>
        </p:txBody>
      </p:sp>
    </p:spTree>
    <p:extLst>
      <p:ext uri="{BB962C8B-B14F-4D97-AF65-F5344CB8AC3E}">
        <p14:creationId xmlns:p14="http://schemas.microsoft.com/office/powerpoint/2010/main" val="3073833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Database Systems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What is Database Systems?</a:t>
            </a:r>
          </a:p>
          <a:p>
            <a:pPr lvl="1"/>
            <a:r>
              <a:rPr lang="en-US" altLang="ko-KR" dirty="0"/>
              <a:t>Users</a:t>
            </a:r>
            <a:r>
              <a:rPr lang="en-US" dirty="0"/>
              <a:t>, application programs</a:t>
            </a:r>
            <a:r>
              <a:rPr lang="en-US" altLang="ko-KR" dirty="0"/>
              <a:t>, </a:t>
            </a:r>
            <a:r>
              <a:rPr lang="en-US" dirty="0"/>
              <a:t>DBMS and </a:t>
            </a:r>
            <a:r>
              <a:rPr lang="en-US" altLang="ko-KR" dirty="0"/>
              <a:t>stored database </a:t>
            </a:r>
            <a:r>
              <a:rPr lang="en-US" dirty="0"/>
              <a:t>are referred to as a database system</a:t>
            </a:r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946" y="2708920"/>
            <a:ext cx="3404343" cy="38879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39552" y="4436872"/>
            <a:ext cx="21825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Database schema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is stored here</a:t>
            </a:r>
          </a:p>
        </p:txBody>
      </p:sp>
      <p:cxnSp>
        <p:nvCxnSpPr>
          <p:cNvPr id="6" name="직선 화살표 연결선 5"/>
          <p:cNvCxnSpPr>
            <a:stCxn id="4" idx="2"/>
          </p:cNvCxnSpPr>
          <p:nvPr/>
        </p:nvCxnSpPr>
        <p:spPr>
          <a:xfrm>
            <a:off x="1630813" y="5083203"/>
            <a:ext cx="1851882" cy="79406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16215" y="4436872"/>
            <a:ext cx="2315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Database instances 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are stored here</a:t>
            </a:r>
          </a:p>
        </p:txBody>
      </p:sp>
      <p:cxnSp>
        <p:nvCxnSpPr>
          <p:cNvPr id="10" name="직선 화살표 연결선 9"/>
          <p:cNvCxnSpPr>
            <a:stCxn id="9" idx="2"/>
          </p:cNvCxnSpPr>
          <p:nvPr/>
        </p:nvCxnSpPr>
        <p:spPr>
          <a:xfrm flipH="1">
            <a:off x="6084168" y="5083203"/>
            <a:ext cx="1589746" cy="757705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786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Database Systems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Characteristics of Database Systems</a:t>
            </a:r>
          </a:p>
          <a:p>
            <a:pPr lvl="1"/>
            <a:r>
              <a:rPr lang="en-US" dirty="0"/>
              <a:t>Allows multiple users to access and manipulate data in the database simultaneously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Eliminates data redundancy by storing data in a centralized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Enforces integrity constraints to ensure data consistency and accuracy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Enables data independence by separation of data and application programs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Provides security features to protect the data from unauthorized access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Supports backup and recovery features to prevent data loss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426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Database Systems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users</a:t>
            </a:r>
          </a:p>
          <a:p>
            <a:pPr lvl="1"/>
            <a:r>
              <a:rPr lang="en-US" dirty="0"/>
              <a:t>Naïve Users</a:t>
            </a:r>
          </a:p>
          <a:p>
            <a:pPr lvl="2"/>
            <a:r>
              <a:rPr lang="en-US" dirty="0"/>
              <a:t>Users with no knowledge in DBMS, but frequently use the database application in their daily life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Database Designers</a:t>
            </a:r>
          </a:p>
          <a:p>
            <a:pPr lvl="2"/>
            <a:r>
              <a:rPr lang="en-US" dirty="0"/>
              <a:t>Users who design the structure of database</a:t>
            </a:r>
          </a:p>
          <a:p>
            <a:pPr lvl="3"/>
            <a:r>
              <a:rPr lang="en-US" dirty="0"/>
              <a:t>tables, indexes, views, triggers, stored procedures and constraints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Application Programmers</a:t>
            </a:r>
          </a:p>
          <a:p>
            <a:pPr lvl="2"/>
            <a:r>
              <a:rPr lang="en-US" dirty="0"/>
              <a:t>Back-end developers who design, debug, test, and maintain set of programs to interact with database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381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Database Systems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users</a:t>
            </a:r>
          </a:p>
          <a:p>
            <a:pPr lvl="1"/>
            <a:r>
              <a:rPr lang="en-US" dirty="0"/>
              <a:t>Sophisticated users</a:t>
            </a:r>
          </a:p>
          <a:p>
            <a:pPr lvl="2"/>
            <a:r>
              <a:rPr lang="en-US" dirty="0"/>
              <a:t>Interact with database without writing programs. Typically, using database query language like SQL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Database Administrators (DBA)</a:t>
            </a:r>
          </a:p>
          <a:p>
            <a:pPr lvl="2"/>
            <a:r>
              <a:rPr lang="en-US" dirty="0"/>
              <a:t>Routine maintenance</a:t>
            </a:r>
          </a:p>
          <a:p>
            <a:pPr lvl="2"/>
            <a:r>
              <a:rPr lang="en-US" dirty="0"/>
              <a:t>Granting of authorization for data access</a:t>
            </a:r>
          </a:p>
          <a:p>
            <a:pPr lvl="2"/>
            <a:r>
              <a:rPr lang="en-US" dirty="0"/>
              <a:t>Backup and recovery</a:t>
            </a:r>
          </a:p>
          <a:p>
            <a:pPr lvl="2"/>
            <a:r>
              <a:rPr lang="en-US" dirty="0"/>
              <a:t>Database tuning and performance monitoring</a:t>
            </a:r>
          </a:p>
        </p:txBody>
      </p:sp>
    </p:spTree>
    <p:extLst>
      <p:ext uri="{BB962C8B-B14F-4D97-AF65-F5344CB8AC3E}">
        <p14:creationId xmlns:p14="http://schemas.microsoft.com/office/powerpoint/2010/main" val="1260847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Database Languages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Structural Query Language (SQL)</a:t>
            </a:r>
          </a:p>
          <a:p>
            <a:pPr lvl="1"/>
            <a:r>
              <a:rPr lang="en-US" dirty="0"/>
              <a:t>Define queries to access and manipulate the data from database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procedural language, not a programming language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 standard language for RDBMS</a:t>
            </a:r>
          </a:p>
          <a:p>
            <a:pPr lvl="2"/>
            <a:r>
              <a:rPr lang="en-US" dirty="0"/>
              <a:t>Oracle, MySQL, Microsoft SQL and others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SQL statements are divided into </a:t>
            </a:r>
            <a:r>
              <a:rPr lang="en-US" altLang="ko-KR" dirty="0"/>
              <a:t>four</a:t>
            </a:r>
            <a:r>
              <a:rPr lang="en-US" dirty="0"/>
              <a:t> major categories</a:t>
            </a:r>
          </a:p>
          <a:p>
            <a:pPr lvl="2"/>
            <a:r>
              <a:rPr lang="en-US" dirty="0"/>
              <a:t>Data Definition Language (DDL) </a:t>
            </a:r>
          </a:p>
          <a:p>
            <a:pPr lvl="2"/>
            <a:r>
              <a:rPr lang="en-US" dirty="0"/>
              <a:t>Data Manipulation Language (DML)</a:t>
            </a:r>
          </a:p>
          <a:p>
            <a:pPr lvl="2"/>
            <a:r>
              <a:rPr lang="en-US" altLang="ko-KR" dirty="0"/>
              <a:t>Data Control Language (DCL)</a:t>
            </a:r>
          </a:p>
          <a:p>
            <a:pPr lvl="2"/>
            <a:r>
              <a:rPr lang="en-US" altLang="ko-KR" dirty="0"/>
              <a:t>Transaction Control Language (TCL)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0382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Database Languages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Query Language (SQL)</a:t>
            </a:r>
          </a:p>
          <a:p>
            <a:endParaRPr 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913" y="2204864"/>
            <a:ext cx="6950174" cy="408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747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Database Languages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Definition Language (DDL)</a:t>
            </a:r>
          </a:p>
          <a:p>
            <a:pPr lvl="1"/>
            <a:r>
              <a:rPr lang="en-US" altLang="ko-KR" dirty="0"/>
              <a:t>A language</a:t>
            </a:r>
            <a:r>
              <a:rPr lang="en-US" dirty="0"/>
              <a:t> for defining the database schema</a:t>
            </a:r>
          </a:p>
          <a:p>
            <a:pPr lvl="2"/>
            <a:r>
              <a:rPr lang="en-US" dirty="0"/>
              <a:t>Used to </a:t>
            </a:r>
            <a:r>
              <a:rPr lang="en-US" b="1" dirty="0"/>
              <a:t>create</a:t>
            </a:r>
            <a:r>
              <a:rPr lang="en-US" dirty="0"/>
              <a:t> and </a:t>
            </a:r>
            <a:r>
              <a:rPr lang="en-US" b="1" dirty="0"/>
              <a:t>modify</a:t>
            </a:r>
            <a:r>
              <a:rPr lang="en-US" dirty="0"/>
              <a:t> the structure of your tables and database objects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 </a:t>
            </a:r>
            <a:r>
              <a:rPr lang="en-US" altLang="ko-KR" dirty="0"/>
              <a:t>(Creating a new table)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CREATE TABLE </a:t>
            </a:r>
            <a:r>
              <a:rPr lang="en-US" dirty="0"/>
              <a:t>department(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i="1" dirty="0" err="1"/>
              <a:t>dept_name</a:t>
            </a:r>
            <a:r>
              <a:rPr lang="en-US" dirty="0"/>
              <a:t>	</a:t>
            </a:r>
            <a:r>
              <a:rPr lang="en-US" b="1" dirty="0"/>
              <a:t>varchar</a:t>
            </a:r>
            <a:r>
              <a:rPr lang="en-US" dirty="0"/>
              <a:t>(20),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i="1" dirty="0"/>
              <a:t>building</a:t>
            </a:r>
            <a:r>
              <a:rPr lang="en-US" dirty="0"/>
              <a:t>		</a:t>
            </a:r>
            <a:r>
              <a:rPr lang="en-US" b="1" dirty="0"/>
              <a:t>varchar</a:t>
            </a:r>
            <a:r>
              <a:rPr lang="en-US" dirty="0"/>
              <a:t>(20),</a:t>
            </a:r>
          </a:p>
          <a:p>
            <a:pPr marL="914400" lvl="2" indent="0">
              <a:buNone/>
            </a:pPr>
            <a:r>
              <a:rPr lang="en-US" dirty="0"/>
              <a:t>	</a:t>
            </a:r>
            <a:r>
              <a:rPr lang="en-US" i="1" dirty="0"/>
              <a:t>budget</a:t>
            </a:r>
            <a:r>
              <a:rPr lang="en-US" dirty="0"/>
              <a:t>		</a:t>
            </a:r>
            <a:r>
              <a:rPr lang="en-US" b="1" dirty="0"/>
              <a:t>numeric</a:t>
            </a:r>
            <a:r>
              <a:rPr lang="en-US" dirty="0"/>
              <a:t>(8,2))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Other DDL statements include ALTER, DROP</a:t>
            </a:r>
            <a:r>
              <a:rPr lang="en-US" altLang="ko-KR" dirty="0"/>
              <a:t>, RENAME, COMMENT</a:t>
            </a:r>
            <a:r>
              <a:rPr lang="en-US" dirty="0"/>
              <a:t> and TRUNCATE</a:t>
            </a:r>
          </a:p>
        </p:txBody>
      </p:sp>
    </p:spTree>
    <p:extLst>
      <p:ext uri="{BB962C8B-B14F-4D97-AF65-F5344CB8AC3E}">
        <p14:creationId xmlns:p14="http://schemas.microsoft.com/office/powerpoint/2010/main" val="41169407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Database Languages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Manipulation Language (DML)</a:t>
            </a:r>
          </a:p>
          <a:p>
            <a:pPr lvl="1"/>
            <a:r>
              <a:rPr lang="en-US" dirty="0"/>
              <a:t>A language for </a:t>
            </a:r>
            <a:r>
              <a:rPr lang="en-US" b="1" dirty="0"/>
              <a:t>searching</a:t>
            </a:r>
            <a:r>
              <a:rPr lang="en-US" dirty="0"/>
              <a:t>, </a:t>
            </a:r>
            <a:r>
              <a:rPr lang="en-US" b="1" dirty="0"/>
              <a:t>modifying</a:t>
            </a:r>
            <a:r>
              <a:rPr lang="en-US" dirty="0"/>
              <a:t>, </a:t>
            </a:r>
            <a:r>
              <a:rPr lang="en-US" b="1" dirty="0"/>
              <a:t>inserting</a:t>
            </a:r>
            <a:r>
              <a:rPr lang="en-US" dirty="0"/>
              <a:t> and </a:t>
            </a:r>
            <a:r>
              <a:rPr lang="en-US" b="1" dirty="0"/>
              <a:t>deleting</a:t>
            </a:r>
            <a:r>
              <a:rPr lang="en-US" dirty="0"/>
              <a:t> the desired data in the database</a:t>
            </a:r>
          </a:p>
          <a:p>
            <a:pPr lvl="2"/>
            <a:r>
              <a:rPr lang="en-US" dirty="0"/>
              <a:t>DML also known as query language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 </a:t>
            </a:r>
            <a:r>
              <a:rPr lang="en-US" altLang="ko-KR" dirty="0"/>
              <a:t>(Selecting rows)</a:t>
            </a:r>
            <a:endParaRPr lang="en-US" dirty="0"/>
          </a:p>
          <a:p>
            <a:pPr marL="914400" lvl="2" indent="0">
              <a:buNone/>
            </a:pPr>
            <a:r>
              <a:rPr lang="en-US" b="1" dirty="0"/>
              <a:t>SELECT</a:t>
            </a:r>
            <a:r>
              <a:rPr lang="en-US" dirty="0"/>
              <a:t>	</a:t>
            </a:r>
            <a:r>
              <a:rPr lang="en-US" i="1" dirty="0"/>
              <a:t>name</a:t>
            </a:r>
          </a:p>
          <a:p>
            <a:pPr marL="914400" lvl="2" indent="0">
              <a:buNone/>
            </a:pPr>
            <a:r>
              <a:rPr lang="en-US" b="1" dirty="0"/>
              <a:t>FROM</a:t>
            </a:r>
            <a:r>
              <a:rPr lang="en-US" dirty="0"/>
              <a:t>	</a:t>
            </a:r>
            <a:r>
              <a:rPr lang="en-US" i="1" dirty="0"/>
              <a:t>instructor</a:t>
            </a:r>
          </a:p>
          <a:p>
            <a:pPr marL="914400" lvl="2" indent="0">
              <a:buNone/>
            </a:pPr>
            <a:r>
              <a:rPr lang="en-US" b="1" dirty="0"/>
              <a:t>WHERE</a:t>
            </a:r>
            <a:r>
              <a:rPr lang="en-US" dirty="0"/>
              <a:t>	</a:t>
            </a:r>
            <a:r>
              <a:rPr lang="en-US" i="1" dirty="0" err="1"/>
              <a:t>dept_name</a:t>
            </a:r>
            <a:r>
              <a:rPr lang="en-US" dirty="0"/>
              <a:t>=‘</a:t>
            </a:r>
            <a:r>
              <a:rPr lang="en-US" dirty="0" err="1"/>
              <a:t>Comp.Sci</a:t>
            </a:r>
            <a:r>
              <a:rPr lang="en-US" dirty="0"/>
              <a:t>.’</a:t>
            </a:r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Other DML statements include INSERT, UPDATE, DELETE </a:t>
            </a:r>
            <a:r>
              <a:rPr lang="en-US" altLang="ko-KR" dirty="0"/>
              <a:t>and others</a:t>
            </a:r>
            <a:endParaRPr lang="en-US" dirty="0"/>
          </a:p>
          <a:p>
            <a:pPr marL="800100"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831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Database Languages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Control Language (DCL)</a:t>
            </a:r>
          </a:p>
          <a:p>
            <a:pPr lvl="1"/>
            <a:r>
              <a:rPr lang="en-US" altLang="ko-KR" dirty="0"/>
              <a:t>M</a:t>
            </a:r>
            <a:r>
              <a:rPr lang="en-US" dirty="0"/>
              <a:t>ainly deal with the </a:t>
            </a:r>
            <a:r>
              <a:rPr lang="en-US" b="1" dirty="0"/>
              <a:t>rights</a:t>
            </a:r>
            <a:r>
              <a:rPr lang="en-US" dirty="0"/>
              <a:t>, </a:t>
            </a:r>
            <a:r>
              <a:rPr lang="en-US" b="1" dirty="0"/>
              <a:t>permissions</a:t>
            </a:r>
            <a:r>
              <a:rPr lang="en-US" dirty="0"/>
              <a:t>, and </a:t>
            </a:r>
            <a:r>
              <a:rPr lang="en-US" b="1" dirty="0"/>
              <a:t>other controls </a:t>
            </a:r>
            <a:r>
              <a:rPr lang="en-US" dirty="0"/>
              <a:t>of the database system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Example (Granting privilege)</a:t>
            </a:r>
          </a:p>
          <a:p>
            <a:pPr marL="914400" lvl="2" indent="0">
              <a:buNone/>
            </a:pPr>
            <a:r>
              <a:rPr lang="en-US" b="1" dirty="0"/>
              <a:t>GRANT SELECT ON </a:t>
            </a:r>
            <a:r>
              <a:rPr lang="en-US" altLang="ko-KR" dirty="0"/>
              <a:t>department</a:t>
            </a:r>
            <a:endParaRPr lang="en-US" i="1" dirty="0"/>
          </a:p>
          <a:p>
            <a:pPr marL="914400" lvl="2" indent="0">
              <a:buNone/>
            </a:pPr>
            <a:r>
              <a:rPr lang="en-US" b="1" dirty="0"/>
              <a:t>TO </a:t>
            </a:r>
            <a:r>
              <a:rPr lang="en-US" dirty="0"/>
              <a:t>'</a:t>
            </a:r>
            <a:r>
              <a:rPr lang="en-US" altLang="ko-KR" dirty="0" err="1"/>
              <a:t>aziz</a:t>
            </a:r>
            <a:r>
              <a:rPr lang="en-US" dirty="0"/>
              <a:t>'@'localhost</a:t>
            </a:r>
            <a:r>
              <a:rPr lang="en-US" b="1" dirty="0"/>
              <a:t>;</a:t>
            </a:r>
            <a:endParaRPr lang="en-US" i="1" dirty="0"/>
          </a:p>
          <a:p>
            <a:pPr marL="914400" lvl="2" indent="0">
              <a:buNone/>
            </a:pPr>
            <a:endParaRPr lang="en-US" dirty="0"/>
          </a:p>
          <a:p>
            <a:pPr marL="800100" lvl="1"/>
            <a:r>
              <a:rPr lang="en-US" dirty="0"/>
              <a:t>Other </a:t>
            </a:r>
            <a:r>
              <a:rPr lang="en-US" altLang="ko-KR" dirty="0"/>
              <a:t>DCL</a:t>
            </a:r>
            <a:r>
              <a:rPr lang="en-US" dirty="0"/>
              <a:t> statements include </a:t>
            </a:r>
            <a:r>
              <a:rPr lang="en-US" altLang="ko-KR" dirty="0"/>
              <a:t>REVOKE</a:t>
            </a:r>
            <a:endParaRPr lang="en-US" dirty="0"/>
          </a:p>
          <a:p>
            <a:pPr marL="914400" lvl="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9800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Database Languages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Transaction Control Language (TCL)</a:t>
            </a:r>
            <a:endParaRPr lang="en-US" dirty="0"/>
          </a:p>
          <a:p>
            <a:pPr lvl="1"/>
            <a:r>
              <a:rPr lang="en-US" altLang="ko-KR" dirty="0"/>
              <a:t>Used to manage </a:t>
            </a:r>
            <a:r>
              <a:rPr lang="en-US" altLang="ko-KR" b="1" dirty="0"/>
              <a:t>data security</a:t>
            </a:r>
            <a:r>
              <a:rPr lang="en-US" altLang="ko-KR" dirty="0"/>
              <a:t>, </a:t>
            </a:r>
            <a:r>
              <a:rPr lang="en-US" altLang="ko-KR" b="1" dirty="0"/>
              <a:t>data integrity</a:t>
            </a:r>
            <a:r>
              <a:rPr lang="en-US" altLang="ko-KR" dirty="0"/>
              <a:t>, </a:t>
            </a:r>
            <a:r>
              <a:rPr lang="en-US" altLang="ko-KR" b="1" dirty="0"/>
              <a:t>data recovery </a:t>
            </a:r>
            <a:r>
              <a:rPr lang="en-US" altLang="ko-KR" dirty="0"/>
              <a:t>and </a:t>
            </a:r>
            <a:r>
              <a:rPr lang="en-US" altLang="ko-KR" b="1" dirty="0"/>
              <a:t>data concurrency</a:t>
            </a:r>
          </a:p>
          <a:p>
            <a:pPr lvl="1"/>
            <a:endParaRPr lang="en-US" dirty="0"/>
          </a:p>
          <a:p>
            <a:pPr lvl="1"/>
            <a:r>
              <a:rPr lang="en-US" altLang="ko-KR" dirty="0"/>
              <a:t>TCL Commands</a:t>
            </a:r>
            <a:endParaRPr lang="en-US" dirty="0"/>
          </a:p>
          <a:p>
            <a:pPr lvl="2"/>
            <a:r>
              <a:rPr lang="en-US" dirty="0"/>
              <a:t>COMMIT</a:t>
            </a:r>
          </a:p>
          <a:p>
            <a:pPr lvl="2"/>
            <a:r>
              <a:rPr lang="en-US" dirty="0"/>
              <a:t>ROLLBACK</a:t>
            </a:r>
          </a:p>
          <a:p>
            <a:pPr lvl="2"/>
            <a:r>
              <a:rPr lang="en-US" dirty="0"/>
              <a:t>SAVEPOINT</a:t>
            </a:r>
          </a:p>
          <a:p>
            <a:pPr lvl="2"/>
            <a:r>
              <a:rPr lang="en-US" dirty="0"/>
              <a:t>SET TRANSACTION</a:t>
            </a:r>
          </a:p>
        </p:txBody>
      </p:sp>
    </p:spTree>
    <p:extLst>
      <p:ext uri="{BB962C8B-B14F-4D97-AF65-F5344CB8AC3E}">
        <p14:creationId xmlns:p14="http://schemas.microsoft.com/office/powerpoint/2010/main" val="154025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Recent Techs in Database Systems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According to Seagate, the volume of data generated worldwide will increase from 33 in 2018 to about 175 zettabytes in 2025</a:t>
            </a:r>
          </a:p>
          <a:p>
            <a:endParaRPr lang="en-US" dirty="0"/>
          </a:p>
          <a:p>
            <a:r>
              <a:rPr lang="en-US" dirty="0"/>
              <a:t>Data Growth</a:t>
            </a:r>
          </a:p>
          <a:p>
            <a:endParaRPr lang="en-US" dirty="0"/>
          </a:p>
        </p:txBody>
      </p:sp>
      <p:pic>
        <p:nvPicPr>
          <p:cNvPr id="4" name="Picture 2" descr="structured data vs. unstructured da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56" y="3284984"/>
            <a:ext cx="5832288" cy="31525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4353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Recent Techs in Database Systems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</a:t>
            </a:r>
          </a:p>
          <a:p>
            <a:pPr lvl="1"/>
            <a:r>
              <a:rPr lang="en-US" dirty="0"/>
              <a:t>Non-relational databases</a:t>
            </a:r>
          </a:p>
          <a:p>
            <a:endParaRPr 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393" y="2420888"/>
            <a:ext cx="7037213" cy="3881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3296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Recent Techs in Database Systems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</a:t>
            </a:r>
          </a:p>
          <a:p>
            <a:pPr lvl="1"/>
            <a:r>
              <a:rPr lang="en-US" dirty="0"/>
              <a:t>Example of data in MongoDB (Document database)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516" y="2325966"/>
            <a:ext cx="4484962" cy="37023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037058" y="6209734"/>
            <a:ext cx="30698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&lt;Data stored in JSON format&gt;</a:t>
            </a:r>
          </a:p>
        </p:txBody>
      </p:sp>
    </p:spTree>
    <p:extLst>
      <p:ext uri="{BB962C8B-B14F-4D97-AF65-F5344CB8AC3E}">
        <p14:creationId xmlns:p14="http://schemas.microsoft.com/office/powerpoint/2010/main" val="1998842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Recent Techs in Database Systems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In-Memory Databases</a:t>
            </a:r>
          </a:p>
          <a:p>
            <a:pPr lvl="1"/>
            <a:r>
              <a:rPr lang="en-US" dirty="0"/>
              <a:t>Data is stored directly in the computer’s main memory (RAM)</a:t>
            </a:r>
          </a:p>
          <a:p>
            <a:pPr lvl="2"/>
            <a:r>
              <a:rPr lang="en-US" dirty="0"/>
              <a:t>Enable minimal response times by eliminating the need to access hard disks</a:t>
            </a:r>
          </a:p>
        </p:txBody>
      </p:sp>
      <p:pic>
        <p:nvPicPr>
          <p:cNvPr id="2050" name="Picture 2" descr="What Is An In-Memory Database? IMDB Overview &amp; Use Cases | Hazelca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739" y="3181120"/>
            <a:ext cx="5908521" cy="33442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7162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Recent Techs in Database Systems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In-Memory Databases</a:t>
            </a:r>
          </a:p>
          <a:p>
            <a:pPr lvl="1"/>
            <a:r>
              <a:rPr lang="en-US" dirty="0"/>
              <a:t>Popular DBMS</a:t>
            </a:r>
          </a:p>
        </p:txBody>
      </p:sp>
      <p:pic>
        <p:nvPicPr>
          <p:cNvPr id="3074" name="Picture 2" descr="10 In-Memory Database Options Power Speedy Perform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396" y="2492896"/>
            <a:ext cx="5425207" cy="36944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7367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Summary and Discussions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Database</a:t>
            </a:r>
          </a:p>
          <a:p>
            <a:pPr lvl="1"/>
            <a:r>
              <a:rPr lang="en-US" dirty="0"/>
              <a:t>An organized collection of data</a:t>
            </a:r>
          </a:p>
          <a:p>
            <a:pPr lvl="1"/>
            <a:endParaRPr lang="en-US" dirty="0"/>
          </a:p>
          <a:p>
            <a:r>
              <a:rPr lang="en-US" dirty="0"/>
              <a:t>Database Management Systems  (DBMS)</a:t>
            </a:r>
          </a:p>
          <a:p>
            <a:pPr lvl="1"/>
            <a:r>
              <a:rPr lang="en-US" dirty="0"/>
              <a:t>A software designed to store, retrieve, define, and manage data in a database</a:t>
            </a:r>
          </a:p>
          <a:p>
            <a:pPr lvl="1"/>
            <a:endParaRPr lang="en-US" dirty="0"/>
          </a:p>
          <a:p>
            <a:r>
              <a:rPr lang="en-US" dirty="0"/>
              <a:t>Meta-Data </a:t>
            </a:r>
            <a:r>
              <a:rPr lang="en-US" altLang="ko-KR" dirty="0"/>
              <a:t>(System Catalog or Data Dictionary)</a:t>
            </a:r>
            <a:endParaRPr lang="en-US" dirty="0"/>
          </a:p>
          <a:p>
            <a:pPr lvl="1"/>
            <a:r>
              <a:rPr lang="en-US" dirty="0"/>
              <a:t>Describes the structure of the database</a:t>
            </a:r>
          </a:p>
          <a:p>
            <a:pPr lvl="1"/>
            <a:endParaRPr lang="en-US" dirty="0"/>
          </a:p>
          <a:p>
            <a:r>
              <a:rPr lang="en-US" dirty="0"/>
              <a:t>Database Systems</a:t>
            </a:r>
          </a:p>
          <a:p>
            <a:pPr lvl="1"/>
            <a:r>
              <a:rPr lang="en-US" altLang="ko-KR" dirty="0"/>
              <a:t>Users</a:t>
            </a:r>
            <a:r>
              <a:rPr lang="en-US" dirty="0"/>
              <a:t>, application programs</a:t>
            </a:r>
            <a:r>
              <a:rPr lang="en-US" altLang="ko-KR" dirty="0"/>
              <a:t>, </a:t>
            </a:r>
            <a:r>
              <a:rPr lang="en-US" dirty="0"/>
              <a:t>DBMS and </a:t>
            </a:r>
            <a:r>
              <a:rPr lang="en-US" altLang="ko-KR" dirty="0"/>
              <a:t>stored database </a:t>
            </a:r>
            <a:r>
              <a:rPr lang="en-US" dirty="0"/>
              <a:t>are referred to as a database system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6722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Summary and Discussions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Models are used to show how data is stored, connected, accessed and updated in the DBMS</a:t>
            </a:r>
          </a:p>
          <a:p>
            <a:endParaRPr lang="en-US" dirty="0"/>
          </a:p>
          <a:p>
            <a:r>
              <a:rPr lang="en-US" dirty="0"/>
              <a:t>Types of data models</a:t>
            </a:r>
          </a:p>
          <a:p>
            <a:pPr lvl="1"/>
            <a:r>
              <a:rPr lang="en-US" dirty="0"/>
              <a:t>Hierarchical Model</a:t>
            </a:r>
          </a:p>
          <a:p>
            <a:pPr lvl="1"/>
            <a:r>
              <a:rPr lang="en-US" dirty="0"/>
              <a:t>Network Model</a:t>
            </a:r>
          </a:p>
          <a:p>
            <a:pPr lvl="1"/>
            <a:r>
              <a:rPr lang="en-US" dirty="0"/>
              <a:t>Relational Model</a:t>
            </a:r>
          </a:p>
          <a:p>
            <a:pPr lvl="1"/>
            <a:r>
              <a:rPr lang="en-US" dirty="0"/>
              <a:t>Object-Oriented Model</a:t>
            </a:r>
          </a:p>
          <a:p>
            <a:pPr lvl="1"/>
            <a:r>
              <a:rPr lang="en-US" dirty="0"/>
              <a:t>Object-Relational Model</a:t>
            </a:r>
          </a:p>
          <a:p>
            <a:endParaRPr lang="en-US" dirty="0"/>
          </a:p>
          <a:p>
            <a:r>
              <a:rPr lang="en-US" dirty="0"/>
              <a:t>Relational Model</a:t>
            </a:r>
          </a:p>
          <a:p>
            <a:pPr lvl="1"/>
            <a:r>
              <a:rPr lang="en-US" dirty="0"/>
              <a:t>Represents the database as a collection of relations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042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Summary and Discussions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Structural Query Language (SQL)</a:t>
            </a:r>
          </a:p>
          <a:p>
            <a:pPr lvl="1"/>
            <a:r>
              <a:rPr lang="en-US" dirty="0"/>
              <a:t>Define queries to access and manipulate the data from database</a:t>
            </a:r>
          </a:p>
          <a:p>
            <a:endParaRPr lang="en-US" dirty="0"/>
          </a:p>
          <a:p>
            <a:r>
              <a:rPr lang="en-US" dirty="0"/>
              <a:t>SQL statements are divided into </a:t>
            </a:r>
            <a:r>
              <a:rPr lang="en-US" altLang="ko-KR" dirty="0"/>
              <a:t>four</a:t>
            </a:r>
            <a:r>
              <a:rPr lang="en-US" dirty="0"/>
              <a:t> major categories</a:t>
            </a:r>
          </a:p>
          <a:p>
            <a:pPr lvl="1"/>
            <a:r>
              <a:rPr lang="en-US" dirty="0"/>
              <a:t>Data Definition Language (DDL) </a:t>
            </a:r>
          </a:p>
          <a:p>
            <a:pPr lvl="1"/>
            <a:r>
              <a:rPr lang="en-US" dirty="0"/>
              <a:t>Data Manipulation Language (DML)</a:t>
            </a:r>
          </a:p>
          <a:p>
            <a:pPr lvl="1"/>
            <a:r>
              <a:rPr lang="en-US" altLang="ko-KR" dirty="0"/>
              <a:t>Data Control Language (DCL)</a:t>
            </a:r>
          </a:p>
          <a:p>
            <a:pPr lvl="1"/>
            <a:r>
              <a:rPr lang="en-US" altLang="ko-KR" dirty="0"/>
              <a:t>Transaction Control Language (TCL)</a:t>
            </a:r>
          </a:p>
          <a:p>
            <a:pPr lvl="1"/>
            <a:endParaRPr lang="en-US" dirty="0"/>
          </a:p>
          <a:p>
            <a:r>
              <a:rPr lang="en-US" dirty="0"/>
              <a:t>Recent Techs in DB</a:t>
            </a:r>
          </a:p>
          <a:p>
            <a:pPr lvl="1"/>
            <a:r>
              <a:rPr lang="en-US" dirty="0"/>
              <a:t>NoSQL Databases</a:t>
            </a:r>
          </a:p>
          <a:p>
            <a:pPr lvl="1"/>
            <a:r>
              <a:rPr lang="en-US" dirty="0"/>
              <a:t>In-Memory Databases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5841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>
              <a:buFont typeface="+mj-lt"/>
              <a:buAutoNum type="arabicPeriod"/>
            </a:pPr>
            <a:r>
              <a:rPr lang="en-US" dirty="0"/>
              <a:t>What is Big Data? Where do you often encounter the Big Data?</a:t>
            </a:r>
          </a:p>
          <a:p>
            <a:pPr marL="457200">
              <a:buFont typeface="+mj-lt"/>
              <a:buAutoNum type="arabicPeriod"/>
            </a:pPr>
            <a:r>
              <a:rPr lang="en-US" dirty="0"/>
              <a:t>What do you think where it is NOT recommended to use the database?</a:t>
            </a:r>
          </a:p>
          <a:p>
            <a:pPr marL="457200">
              <a:buFont typeface="+mj-lt"/>
              <a:buAutoNum type="arabicPeriod"/>
            </a:pPr>
            <a:r>
              <a:rPr lang="en-US" altLang="ko-KR" dirty="0"/>
              <a:t>Given the following relation, indicate database schema and instances.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>
              <a:latin typeface="Arial" charset="0"/>
            </a:endParaRPr>
          </a:p>
          <a:p>
            <a:endParaRPr lang="en-US" dirty="0">
              <a:latin typeface="Arial" charset="0"/>
            </a:endParaRPr>
          </a:p>
          <a:p>
            <a:endParaRPr 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919632"/>
              </p:ext>
            </p:extLst>
          </p:nvPr>
        </p:nvGraphicFramePr>
        <p:xfrm>
          <a:off x="1043608" y="3861048"/>
          <a:ext cx="7128792" cy="1656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399">
                  <a:extLst>
                    <a:ext uri="{9D8B030D-6E8A-4147-A177-3AD203B41FA5}">
                      <a16:colId xmlns:a16="http://schemas.microsoft.com/office/drawing/2014/main" val="3298359059"/>
                    </a:ext>
                  </a:extLst>
                </a:gridCol>
                <a:gridCol w="1331752">
                  <a:extLst>
                    <a:ext uri="{9D8B030D-6E8A-4147-A177-3AD203B41FA5}">
                      <a16:colId xmlns:a16="http://schemas.microsoft.com/office/drawing/2014/main" val="4165174770"/>
                    </a:ext>
                  </a:extLst>
                </a:gridCol>
                <a:gridCol w="1096737">
                  <a:extLst>
                    <a:ext uri="{9D8B030D-6E8A-4147-A177-3AD203B41FA5}">
                      <a16:colId xmlns:a16="http://schemas.microsoft.com/office/drawing/2014/main" val="772635998"/>
                    </a:ext>
                  </a:extLst>
                </a:gridCol>
                <a:gridCol w="1253413">
                  <a:extLst>
                    <a:ext uri="{9D8B030D-6E8A-4147-A177-3AD203B41FA5}">
                      <a16:colId xmlns:a16="http://schemas.microsoft.com/office/drawing/2014/main" val="329647395"/>
                    </a:ext>
                  </a:extLst>
                </a:gridCol>
                <a:gridCol w="2428491">
                  <a:extLst>
                    <a:ext uri="{9D8B030D-6E8A-4147-A177-3AD203B41FA5}">
                      <a16:colId xmlns:a16="http://schemas.microsoft.com/office/drawing/2014/main" val="1334043665"/>
                    </a:ext>
                  </a:extLst>
                </a:gridCol>
              </a:tblGrid>
              <a:tr h="4072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u="sng" dirty="0"/>
                        <a:t>ID</a:t>
                      </a:r>
                      <a:endParaRPr lang="en-US" sz="16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dirty="0"/>
                        <a:t>Name</a:t>
                      </a:r>
                      <a:endParaRPr 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dirty="0"/>
                        <a:t>Major</a:t>
                      </a:r>
                      <a:endParaRPr 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dirty="0"/>
                        <a:t>Grade</a:t>
                      </a:r>
                      <a:endParaRPr 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dirty="0"/>
                        <a:t>Email</a:t>
                      </a:r>
                      <a:endParaRPr lang="en-US" sz="16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7151222"/>
                  </a:ext>
                </a:extLst>
              </a:tr>
              <a:tr h="3122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1000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Tim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Computer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Male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tim@gmail.com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929666"/>
                  </a:ext>
                </a:extLst>
              </a:tr>
              <a:tr h="3122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1001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Sonya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Art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Female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sonya@naver.com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4246923"/>
                  </a:ext>
                </a:extLst>
              </a:tr>
              <a:tr h="3122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1002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Brain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Social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Male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/>
                        <a:t>brain@yahoo.com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835006"/>
                  </a:ext>
                </a:extLst>
              </a:tr>
              <a:tr h="31223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1003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Natasha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Math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Female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natasha@outlook.com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71102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56919" y="5548592"/>
            <a:ext cx="2302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altLang="ko-KR" i="1" dirty="0"/>
              <a:t>student</a:t>
            </a:r>
            <a:r>
              <a:rPr lang="en-US" dirty="0"/>
              <a:t> </a:t>
            </a:r>
            <a:r>
              <a:rPr lang="en-US" altLang="ko-KR" dirty="0"/>
              <a:t>relation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049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9637</TotalTime>
  <Words>1403</Words>
  <Application>Microsoft Office PowerPoint</Application>
  <PresentationFormat>화면 슬라이드 쇼(4:3)</PresentationFormat>
  <Paragraphs>329</Paragraphs>
  <Slides>34</Slides>
  <Notes>20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5" baseType="lpstr">
      <vt:lpstr>Office 테마</vt:lpstr>
      <vt:lpstr>Introduction to Database Systems</vt:lpstr>
      <vt:lpstr>Table of Contents</vt:lpstr>
      <vt:lpstr>1. What is Database?</vt:lpstr>
      <vt:lpstr>1. What is Database?</vt:lpstr>
      <vt:lpstr>1. What is Database?</vt:lpstr>
      <vt:lpstr>2. Data Model</vt:lpstr>
      <vt:lpstr>2. Data Model</vt:lpstr>
      <vt:lpstr>2. Data Model</vt:lpstr>
      <vt:lpstr>2. Data Model</vt:lpstr>
      <vt:lpstr>2. Data Model</vt:lpstr>
      <vt:lpstr>3. Database Management System (DBMS)</vt:lpstr>
      <vt:lpstr>3. Database Management System (DBMS)</vt:lpstr>
      <vt:lpstr>3. Database Management System (DBMS)</vt:lpstr>
      <vt:lpstr>3. Database Management System (DBMS)</vt:lpstr>
      <vt:lpstr>4. Database Systems</vt:lpstr>
      <vt:lpstr>4. Database Systems</vt:lpstr>
      <vt:lpstr>4. Database Systems</vt:lpstr>
      <vt:lpstr>4. Database Systems</vt:lpstr>
      <vt:lpstr>4. Database Systems</vt:lpstr>
      <vt:lpstr>5. Database Languages</vt:lpstr>
      <vt:lpstr>5. Database Languages</vt:lpstr>
      <vt:lpstr>5. Database Languages</vt:lpstr>
      <vt:lpstr>5. Database Languages</vt:lpstr>
      <vt:lpstr>5. Database Languages</vt:lpstr>
      <vt:lpstr>5. Database Languages</vt:lpstr>
      <vt:lpstr>6. Recent Techs in Database Systems</vt:lpstr>
      <vt:lpstr>6. Recent Techs in Database Systems</vt:lpstr>
      <vt:lpstr>6. Recent Techs in Database Systems</vt:lpstr>
      <vt:lpstr>6. Recent Techs in Database Systems</vt:lpstr>
      <vt:lpstr>6. Recent Techs in Database Systems</vt:lpstr>
      <vt:lpstr>7. Summary and Discussions</vt:lpstr>
      <vt:lpstr>7. Summary and Discussions</vt:lpstr>
      <vt:lpstr>7. Summary and Discussions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선형대수학  Linear Algebra</dc:title>
  <dc:creator>K.LEE</dc:creator>
  <cp:lastModifiedBy>KIMGYU HYEON</cp:lastModifiedBy>
  <cp:revision>666</cp:revision>
  <cp:lastPrinted>2013-12-26T08:44:45Z</cp:lastPrinted>
  <dcterms:created xsi:type="dcterms:W3CDTF">2013-02-05T02:36:43Z</dcterms:created>
  <dcterms:modified xsi:type="dcterms:W3CDTF">2025-09-04T07:07:42Z</dcterms:modified>
</cp:coreProperties>
</file>