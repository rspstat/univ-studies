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444" r:id="rId3"/>
    <p:sldId id="491" r:id="rId4"/>
    <p:sldId id="459" r:id="rId5"/>
    <p:sldId id="460" r:id="rId6"/>
    <p:sldId id="507" r:id="rId7"/>
    <p:sldId id="492" r:id="rId8"/>
    <p:sldId id="494" r:id="rId9"/>
    <p:sldId id="463" r:id="rId10"/>
    <p:sldId id="462" r:id="rId11"/>
    <p:sldId id="501" r:id="rId12"/>
    <p:sldId id="502" r:id="rId13"/>
    <p:sldId id="495" r:id="rId14"/>
    <p:sldId id="485" r:id="rId15"/>
    <p:sldId id="500" r:id="rId16"/>
    <p:sldId id="466" r:id="rId17"/>
    <p:sldId id="486" r:id="rId18"/>
    <p:sldId id="509" r:id="rId19"/>
    <p:sldId id="481" r:id="rId20"/>
    <p:sldId id="467" r:id="rId21"/>
    <p:sldId id="477" r:id="rId22"/>
    <p:sldId id="478" r:id="rId23"/>
    <p:sldId id="497" r:id="rId24"/>
    <p:sldId id="488" r:id="rId25"/>
    <p:sldId id="480" r:id="rId26"/>
    <p:sldId id="487" r:id="rId27"/>
    <p:sldId id="506" r:id="rId28"/>
    <p:sldId id="468" r:id="rId29"/>
    <p:sldId id="469" r:id="rId30"/>
    <p:sldId id="470" r:id="rId31"/>
    <p:sldId id="471" r:id="rId32"/>
    <p:sldId id="472" r:id="rId33"/>
    <p:sldId id="489" r:id="rId34"/>
    <p:sldId id="482" r:id="rId35"/>
    <p:sldId id="483" r:id="rId36"/>
    <p:sldId id="504" r:id="rId37"/>
    <p:sldId id="505" r:id="rId38"/>
    <p:sldId id="484" r:id="rId39"/>
    <p:sldId id="490" r:id="rId40"/>
  </p:sldIdLst>
  <p:sldSz cx="9144000" cy="6858000" type="screen4x3"/>
  <p:notesSz cx="6797675" cy="98742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99"/>
    <a:srgbClr val="FBF064"/>
    <a:srgbClr val="FAF064"/>
    <a:srgbClr val="0033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66" autoAdjust="0"/>
    <p:restoredTop sz="97752" autoAdjust="0"/>
  </p:normalViewPr>
  <p:slideViewPr>
    <p:cSldViewPr>
      <p:cViewPr>
        <p:scale>
          <a:sx n="100" d="100"/>
          <a:sy n="100" d="100"/>
        </p:scale>
        <p:origin x="2178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handoutMaster" Target="handoutMasters/handoutMaster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presProps" Target="presProp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294" y="0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/>
          <a:lstStyle>
            <a:lvl1pPr algn="r">
              <a:defRPr sz="1200"/>
            </a:lvl1pPr>
          </a:lstStyle>
          <a:p>
            <a:fld id="{FAD56397-96EB-4B9B-B73E-B0DE894BA706}" type="datetimeFigureOut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9543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294" y="9379543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 anchor="b"/>
          <a:lstStyle>
            <a:lvl1pPr algn="r">
              <a:defRPr sz="1200"/>
            </a:lvl1pPr>
          </a:lstStyle>
          <a:p>
            <a:fld id="{785EE255-EB82-498D-BBDB-CD68D29556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6485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/>
          <a:lstStyle>
            <a:lvl1pPr algn="r">
              <a:defRPr sz="1300"/>
            </a:lvl1pPr>
          </a:lstStyle>
          <a:p>
            <a:fld id="{8138FCCD-07B7-47B0-A7AA-A03D63EC9D3F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41363"/>
            <a:ext cx="4937125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257" tIns="47628" rIns="95257" bIns="4762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2"/>
          </a:xfrm>
          <a:prstGeom prst="rect">
            <a:avLst/>
          </a:prstGeom>
        </p:spPr>
        <p:txBody>
          <a:bodyPr vert="horz" lIns="95257" tIns="47628" rIns="95257" bIns="47628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8825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378825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 anchor="b"/>
          <a:lstStyle>
            <a:lvl1pPr algn="r">
              <a:defRPr sz="1300"/>
            </a:lvl1pPr>
          </a:lstStyle>
          <a:p>
            <a:fld id="{206250C4-0E9A-42DD-85A1-087716A785B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936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891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120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404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904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0114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144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954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885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201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5067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718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20049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471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7581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1570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0770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5497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9892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2345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5953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389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8139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169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776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6171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121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51424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0267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8650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2103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354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>
            <a:lvl1pPr>
              <a:defRPr sz="3200" b="1" baseline="0">
                <a:latin typeface="Tahoma" panose="020B0604030504040204" pitchFamily="34" charset="0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28592"/>
          </a:xfrm>
        </p:spPr>
        <p:txBody>
          <a:bodyPr>
            <a:normAutofit/>
          </a:bodyPr>
          <a:lstStyle>
            <a:lvl1pPr algn="just" latinLnBrk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v"/>
              <a:defRPr sz="2000" baseline="0">
                <a:latin typeface="Tahoma" panose="020B0604030504040204" pitchFamily="34" charset="0"/>
                <a:ea typeface="맑은 고딕" panose="020B0503020000020004" pitchFamily="50" charset="-127"/>
              </a:defRPr>
            </a:lvl1pPr>
            <a:lvl2pPr algn="just" latinLnBrk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§"/>
              <a:defRPr sz="1800" baseline="0">
                <a:latin typeface="Tahoma" panose="020B0604030504040204" pitchFamily="34" charset="0"/>
                <a:ea typeface="맑은 고딕" panose="020B0503020000020004" pitchFamily="50" charset="-127"/>
              </a:defRPr>
            </a:lvl2pPr>
            <a:lvl3pPr algn="just" latinLnBrk="0">
              <a:lnSpc>
                <a:spcPct val="150000"/>
              </a:lnSpc>
              <a:spcBef>
                <a:spcPts val="0"/>
              </a:spcBef>
              <a:defRPr sz="1800" baseline="0">
                <a:latin typeface="Tahoma" panose="020B0604030504040204" pitchFamily="34" charset="0"/>
                <a:ea typeface="맑은 고딕" panose="020B0503020000020004" pitchFamily="50" charset="-127"/>
              </a:defRPr>
            </a:lvl3pPr>
            <a:lvl4pPr algn="just" latinLnBrk="0">
              <a:lnSpc>
                <a:spcPct val="150000"/>
              </a:lnSpc>
              <a:spcBef>
                <a:spcPts val="0"/>
              </a:spcBef>
              <a:defRPr sz="1600" baseline="0">
                <a:latin typeface="Tahoma" panose="020B0604030504040204" pitchFamily="34" charset="0"/>
                <a:ea typeface="맑은 고딕" panose="020B0503020000020004" pitchFamily="50" charset="-127"/>
              </a:defRPr>
            </a:lvl4pPr>
            <a:lvl5pPr algn="just" latinLnBrk="0">
              <a:lnSpc>
                <a:spcPct val="150000"/>
              </a:lnSpc>
              <a:spcBef>
                <a:spcPts val="0"/>
              </a:spcBef>
              <a:defRPr sz="1600" baseline="0">
                <a:latin typeface="Tahoma" panose="020B0604030504040204" pitchFamily="34" charset="0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B487C-8DB3-45EB-9538-2500040D0F0E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11560" y="1844824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Relational Model</a:t>
            </a:r>
            <a:endParaRPr lang="ko-KR" altLang="en-US" dirty="0">
              <a:latin typeface="Tahoma" panose="020B0604030504040204" pitchFamily="34" charset="0"/>
              <a:ea typeface="HY견고딕" pitchFamily="18" charset="-127"/>
              <a:cs typeface="Tahoma" panose="020B0604030504040204" pitchFamily="34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61048"/>
            <a:ext cx="6400800" cy="2088232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Database Systems</a:t>
            </a:r>
          </a:p>
          <a:p>
            <a:endParaRPr lang="en-US" altLang="ko-KR" sz="2800" b="1" dirty="0"/>
          </a:p>
          <a:p>
            <a:r>
              <a:rPr lang="en-US" altLang="ko-KR" sz="2000" b="1" dirty="0"/>
              <a:t>Department of Computer Science, CBNU</a:t>
            </a:r>
            <a:endParaRPr lang="ko-KR" altLang="en-US" sz="2000" b="1" dirty="0"/>
          </a:p>
          <a:p>
            <a:r>
              <a:rPr lang="en-US" altLang="ko-KR" sz="2000" b="1" dirty="0"/>
              <a:t>Prof. Nasridinov Aziz (aziz@chungbuk.ac.kr)</a:t>
            </a:r>
            <a:endParaRPr lang="ko-KR" altLang="en-US" sz="20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624"/>
            <a:ext cx="1835696" cy="507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208"/>
    </mc:Choice>
    <mc:Fallback xmlns="">
      <p:transition spd="slow" advTm="6720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of Contents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Relational Model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Characteristics of Relation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Keys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Integrity Constraints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Pros and Cons of Relational Model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Summary and Discussions</a:t>
            </a:r>
          </a:p>
        </p:txBody>
      </p:sp>
    </p:spTree>
    <p:extLst>
      <p:ext uri="{BB962C8B-B14F-4D97-AF65-F5344CB8AC3E}">
        <p14:creationId xmlns:p14="http://schemas.microsoft.com/office/powerpoint/2010/main" val="1462334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Lecture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Data</a:t>
            </a:r>
          </a:p>
          <a:p>
            <a:pPr lvl="1"/>
            <a:r>
              <a:rPr lang="en-US" dirty="0"/>
              <a:t>Information that is stored or transmitted electronically</a:t>
            </a:r>
          </a:p>
          <a:p>
            <a:pPr lvl="1"/>
            <a:r>
              <a:rPr lang="en-US" dirty="0"/>
              <a:t>Structured Data vs. Unstructured Data</a:t>
            </a:r>
          </a:p>
          <a:p>
            <a:endParaRPr lang="en-US" dirty="0"/>
          </a:p>
          <a:p>
            <a:r>
              <a:rPr lang="en-US" dirty="0"/>
              <a:t>Database</a:t>
            </a:r>
          </a:p>
          <a:p>
            <a:pPr lvl="1"/>
            <a:r>
              <a:rPr lang="en-US" dirty="0"/>
              <a:t>An organized collection of data</a:t>
            </a:r>
          </a:p>
          <a:p>
            <a:pPr lvl="1"/>
            <a:endParaRPr lang="en-US" dirty="0"/>
          </a:p>
          <a:p>
            <a:r>
              <a:rPr lang="en-US" dirty="0"/>
              <a:t>Database Management Systems  (DBMS)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software</a:t>
            </a:r>
            <a:r>
              <a:rPr lang="en-US" dirty="0"/>
              <a:t> designed to store, retrieve, define, and manage data in a database</a:t>
            </a:r>
          </a:p>
          <a:p>
            <a:pPr lvl="1"/>
            <a:endParaRPr lang="en-US" dirty="0"/>
          </a:p>
          <a:p>
            <a:r>
              <a:rPr lang="en-US" dirty="0"/>
              <a:t>Database Systems</a:t>
            </a:r>
          </a:p>
          <a:p>
            <a:pPr lvl="1"/>
            <a:r>
              <a:rPr lang="en-US" altLang="ko-KR" dirty="0"/>
              <a:t>Users</a:t>
            </a:r>
            <a:r>
              <a:rPr lang="en-US" dirty="0"/>
              <a:t>, application programs</a:t>
            </a:r>
            <a:r>
              <a:rPr lang="en-US" altLang="ko-KR" dirty="0"/>
              <a:t>, </a:t>
            </a:r>
            <a:r>
              <a:rPr lang="en-US" dirty="0"/>
              <a:t>DBMS and </a:t>
            </a:r>
            <a:r>
              <a:rPr lang="en-US" altLang="ko-KR" dirty="0"/>
              <a:t>stored database </a:t>
            </a:r>
            <a:r>
              <a:rPr lang="en-US" dirty="0"/>
              <a:t>are referred to as a database system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599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Lecture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Data Model</a:t>
            </a:r>
          </a:p>
          <a:p>
            <a:pPr lvl="1"/>
            <a:r>
              <a:rPr lang="en-US" b="1" dirty="0"/>
              <a:t>A syntax or grammar </a:t>
            </a:r>
            <a:r>
              <a:rPr lang="en-US" dirty="0"/>
              <a:t>used to show how data is stored, connected, accessed and updated in the DBMS</a:t>
            </a:r>
          </a:p>
          <a:p>
            <a:endParaRPr lang="en-US" dirty="0"/>
          </a:p>
          <a:p>
            <a:r>
              <a:rPr lang="en-US" dirty="0"/>
              <a:t>Types of data models</a:t>
            </a:r>
          </a:p>
          <a:p>
            <a:pPr lvl="1"/>
            <a:r>
              <a:rPr lang="en-US" dirty="0"/>
              <a:t>Hierarchical Model</a:t>
            </a:r>
          </a:p>
          <a:p>
            <a:pPr lvl="1"/>
            <a:r>
              <a:rPr lang="en-US" dirty="0"/>
              <a:t>Network Model</a:t>
            </a:r>
          </a:p>
          <a:p>
            <a:pPr lvl="1"/>
            <a:r>
              <a:rPr lang="en-US" dirty="0"/>
              <a:t>Hybrid Model</a:t>
            </a:r>
          </a:p>
          <a:p>
            <a:pPr lvl="1"/>
            <a:r>
              <a:rPr lang="en-US" b="1" dirty="0"/>
              <a:t>Relational Model </a:t>
            </a:r>
            <a:r>
              <a:rPr lang="en-US" b="1" dirty="0">
                <a:solidFill>
                  <a:srgbClr val="FF0000"/>
                </a:solidFill>
              </a:rPr>
              <a:t>&lt;- This lecture will focus on Relation Model</a:t>
            </a:r>
          </a:p>
          <a:p>
            <a:pPr lvl="1"/>
            <a:r>
              <a:rPr lang="en-US" dirty="0"/>
              <a:t>Object-Oriented Model</a:t>
            </a:r>
          </a:p>
          <a:p>
            <a:pPr lvl="1"/>
            <a:r>
              <a:rPr lang="en-US" dirty="0"/>
              <a:t>Object-Relational Model</a:t>
            </a:r>
          </a:p>
          <a:p>
            <a:pPr lvl="1"/>
            <a:endParaRPr lang="en-US" dirty="0"/>
          </a:p>
          <a:p>
            <a:r>
              <a:rPr lang="en-US" dirty="0"/>
              <a:t>The relational model is one of the simplest </a:t>
            </a:r>
            <a:r>
              <a:rPr lang="en-US" altLang="ko-KR" dirty="0"/>
              <a:t>and easy to understand data models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512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Lecture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Relational model represents the database as a collection of relations</a:t>
            </a:r>
          </a:p>
          <a:p>
            <a:pPr lvl="1"/>
            <a:r>
              <a:rPr lang="en-US" b="1" dirty="0"/>
              <a:t>Relation = table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2420888"/>
            <a:ext cx="3905026" cy="34062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3390194" y="5948145"/>
            <a:ext cx="2236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</a:t>
            </a:r>
            <a:r>
              <a:rPr lang="en-US" i="1" dirty="0"/>
              <a:t>instructor</a:t>
            </a:r>
            <a:r>
              <a:rPr lang="en-US" dirty="0"/>
              <a:t> table</a:t>
            </a:r>
          </a:p>
        </p:txBody>
      </p:sp>
    </p:spTree>
    <p:extLst>
      <p:ext uri="{BB962C8B-B14F-4D97-AF65-F5344CB8AC3E}">
        <p14:creationId xmlns:p14="http://schemas.microsoft.com/office/powerpoint/2010/main" val="2272494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Relational Model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you know about the table?</a:t>
            </a:r>
          </a:p>
          <a:p>
            <a:pPr lvl="1"/>
            <a:r>
              <a:rPr lang="en-US" dirty="0"/>
              <a:t>Given the following table, find:</a:t>
            </a:r>
          </a:p>
          <a:p>
            <a:pPr lvl="2"/>
            <a:r>
              <a:rPr lang="en-US" dirty="0"/>
              <a:t>Name of the table</a:t>
            </a:r>
          </a:p>
          <a:p>
            <a:pPr lvl="2"/>
            <a:r>
              <a:rPr lang="en-US" dirty="0"/>
              <a:t>Rows of the table</a:t>
            </a:r>
          </a:p>
          <a:p>
            <a:pPr lvl="2"/>
            <a:r>
              <a:rPr lang="en-US" dirty="0"/>
              <a:t>Columns of the table</a:t>
            </a:r>
          </a:p>
          <a:p>
            <a:pPr lvl="2"/>
            <a:r>
              <a:rPr lang="en-US" dirty="0"/>
              <a:t>The number of rows</a:t>
            </a:r>
          </a:p>
          <a:p>
            <a:pPr lvl="2"/>
            <a:r>
              <a:rPr lang="en-US" dirty="0"/>
              <a:t>The number of columns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025" y="4437112"/>
            <a:ext cx="6607949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043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Relational Model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terminologies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217985"/>
            <a:ext cx="771525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591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Relational Model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Basic terminologies</a:t>
            </a:r>
          </a:p>
          <a:p>
            <a:pPr lvl="1"/>
            <a:r>
              <a:rPr lang="en-US" dirty="0"/>
              <a:t>Relation</a:t>
            </a:r>
          </a:p>
          <a:p>
            <a:pPr lvl="2"/>
            <a:r>
              <a:rPr lang="en-US" dirty="0"/>
              <a:t>A two-dimensional table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Tuple</a:t>
            </a:r>
          </a:p>
          <a:p>
            <a:pPr lvl="2"/>
            <a:r>
              <a:rPr lang="en-US" dirty="0"/>
              <a:t>A row of the relation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Attribute</a:t>
            </a:r>
          </a:p>
          <a:p>
            <a:pPr lvl="2"/>
            <a:r>
              <a:rPr lang="en-US" dirty="0"/>
              <a:t>A column of the relation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Primary key</a:t>
            </a:r>
          </a:p>
          <a:p>
            <a:pPr lvl="2"/>
            <a:r>
              <a:rPr lang="en-US" altLang="ko-KR" dirty="0"/>
              <a:t>A</a:t>
            </a:r>
            <a:r>
              <a:rPr lang="en-US" dirty="0"/>
              <a:t>n attribute or </a:t>
            </a:r>
            <a:r>
              <a:rPr lang="en-US" altLang="ko-KR" dirty="0"/>
              <a:t>a</a:t>
            </a:r>
            <a:r>
              <a:rPr lang="en-US" dirty="0"/>
              <a:t> set of attributes which helps you to </a:t>
            </a:r>
            <a:r>
              <a:rPr lang="en-US" b="1" dirty="0"/>
              <a:t>UNIQUELY</a:t>
            </a:r>
            <a:r>
              <a:rPr lang="en-US" dirty="0"/>
              <a:t> identify a </a:t>
            </a:r>
            <a:r>
              <a:rPr lang="en-US" altLang="ko-KR" dirty="0"/>
              <a:t>tuple</a:t>
            </a:r>
            <a:r>
              <a:rPr lang="en-US" dirty="0"/>
              <a:t> in a relation</a:t>
            </a:r>
          </a:p>
        </p:txBody>
      </p:sp>
    </p:spTree>
    <p:extLst>
      <p:ext uri="{BB962C8B-B14F-4D97-AF65-F5344CB8AC3E}">
        <p14:creationId xmlns:p14="http://schemas.microsoft.com/office/powerpoint/2010/main" val="1761108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Relational Model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terminologies</a:t>
            </a:r>
          </a:p>
          <a:p>
            <a:pPr lvl="1"/>
            <a:r>
              <a:rPr lang="en-US" dirty="0"/>
              <a:t>Degree</a:t>
            </a:r>
          </a:p>
          <a:p>
            <a:pPr lvl="2"/>
            <a:r>
              <a:rPr lang="en-US" dirty="0"/>
              <a:t>The number of attributes in the relation</a:t>
            </a:r>
          </a:p>
          <a:p>
            <a:pPr lvl="3"/>
            <a:r>
              <a:rPr lang="en-US" dirty="0"/>
              <a:t>The minimum degree of a valid relation must be 1</a:t>
            </a:r>
          </a:p>
          <a:p>
            <a:pPr lvl="3"/>
            <a:r>
              <a:rPr lang="en-US" dirty="0"/>
              <a:t>The degree of the relation does not change often</a:t>
            </a:r>
          </a:p>
          <a:p>
            <a:pPr lvl="3"/>
            <a:endParaRPr lang="en-US" dirty="0"/>
          </a:p>
          <a:p>
            <a:pPr lvl="1"/>
            <a:r>
              <a:rPr lang="en-US" dirty="0"/>
              <a:t>Cardinality</a:t>
            </a:r>
          </a:p>
          <a:p>
            <a:pPr lvl="2"/>
            <a:r>
              <a:rPr lang="en-US" dirty="0"/>
              <a:t>The number of tuples/records in the relation</a:t>
            </a:r>
          </a:p>
          <a:p>
            <a:pPr lvl="3"/>
            <a:r>
              <a:rPr lang="en-US" dirty="0"/>
              <a:t>The cardinality of a valid relation can be 0</a:t>
            </a:r>
          </a:p>
          <a:p>
            <a:pPr lvl="3"/>
            <a:r>
              <a:rPr lang="en-US" dirty="0"/>
              <a:t>The cardinality of the relation keeps changing over time</a:t>
            </a:r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743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Relational Model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terminologies</a:t>
            </a:r>
          </a:p>
          <a:p>
            <a:pPr lvl="1"/>
            <a:r>
              <a:rPr lang="en-US" dirty="0"/>
              <a:t>Domain</a:t>
            </a:r>
          </a:p>
          <a:p>
            <a:pPr lvl="2"/>
            <a:r>
              <a:rPr lang="en-US" altLang="ko-KR" dirty="0"/>
              <a:t>Data type describing the type of values in each column</a:t>
            </a:r>
          </a:p>
          <a:p>
            <a:pPr lvl="3"/>
            <a:r>
              <a:rPr lang="en-US" dirty="0"/>
              <a:t>Example 1: EMPNO </a:t>
            </a:r>
            <a:r>
              <a:rPr lang="en-US" dirty="0" err="1"/>
              <a:t>int</a:t>
            </a:r>
            <a:endParaRPr lang="en-US" dirty="0"/>
          </a:p>
          <a:p>
            <a:pPr lvl="3"/>
            <a:r>
              <a:rPr lang="en-US" dirty="0"/>
              <a:t>Example 2: EMPNAME varchar(20) </a:t>
            </a:r>
          </a:p>
          <a:p>
            <a:pPr lvl="3"/>
            <a:endParaRPr lang="en-US" dirty="0"/>
          </a:p>
          <a:p>
            <a:pPr lvl="1"/>
            <a:r>
              <a:rPr lang="en-US" dirty="0"/>
              <a:t>Relation Schema</a:t>
            </a:r>
          </a:p>
          <a:p>
            <a:pPr lvl="2"/>
            <a:r>
              <a:rPr lang="en-US" dirty="0"/>
              <a:t>Structure of the relation denoted by </a:t>
            </a:r>
            <a:r>
              <a:rPr lang="en-US" b="1" dirty="0"/>
              <a:t>R(A1, A2, … , An)</a:t>
            </a:r>
          </a:p>
          <a:p>
            <a:pPr lvl="2"/>
            <a:r>
              <a:rPr lang="en-US" dirty="0"/>
              <a:t>Ex: EMPLOYEE(EMPNO, EMPNAME, TITLE, DNO, SALARY)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Relation Instance</a:t>
            </a:r>
          </a:p>
          <a:p>
            <a:pPr lvl="2"/>
            <a:r>
              <a:rPr lang="en-US" dirty="0"/>
              <a:t>A set of </a:t>
            </a:r>
            <a:r>
              <a:rPr lang="en-US" i="1" dirty="0"/>
              <a:t>n</a:t>
            </a:r>
            <a:r>
              <a:rPr lang="en-US" dirty="0"/>
              <a:t> tuples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484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Relational Model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Terminology</a:t>
            </a:r>
          </a:p>
          <a:p>
            <a:pPr lvl="1"/>
            <a:r>
              <a:rPr lang="en-US" dirty="0"/>
              <a:t>Example of Relation Instance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639" y="2204864"/>
            <a:ext cx="3662722" cy="44134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9375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Relational Model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Terminology</a:t>
            </a:r>
          </a:p>
          <a:p>
            <a:pPr lvl="1"/>
            <a:r>
              <a:rPr lang="en-US" dirty="0"/>
              <a:t>Relational Database Schema</a:t>
            </a:r>
          </a:p>
          <a:p>
            <a:pPr lvl="2"/>
            <a:r>
              <a:rPr lang="en-US" dirty="0"/>
              <a:t>A set </a:t>
            </a:r>
            <a:r>
              <a:rPr lang="en-US" i="1" dirty="0"/>
              <a:t>S</a:t>
            </a:r>
            <a:r>
              <a:rPr lang="en-US" dirty="0"/>
              <a:t> of relation schemas that belong to the same database</a:t>
            </a:r>
          </a:p>
          <a:p>
            <a:pPr lvl="2"/>
            <a:r>
              <a:rPr lang="en-US" i="1" dirty="0"/>
              <a:t>S</a:t>
            </a:r>
            <a:r>
              <a:rPr lang="en-US" dirty="0"/>
              <a:t> is the name of the whole database schema</a:t>
            </a:r>
          </a:p>
          <a:p>
            <a:pPr lvl="2"/>
            <a:r>
              <a:rPr lang="en-US" i="1" dirty="0"/>
              <a:t>S = {R1, R2, ..., Rn}</a:t>
            </a:r>
          </a:p>
          <a:p>
            <a:pPr lvl="2"/>
            <a:r>
              <a:rPr lang="en-US" i="1" dirty="0"/>
              <a:t>R1, R2, …, Rn </a:t>
            </a:r>
            <a:r>
              <a:rPr lang="en-US" dirty="0"/>
              <a:t>are the names of the individual relation schemas within the database 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Following slide shows a COMPANY database schema with 6 relation schemas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530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Relational Model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Terminology</a:t>
            </a:r>
          </a:p>
          <a:p>
            <a:pPr lvl="1"/>
            <a:r>
              <a:rPr lang="en-US" dirty="0"/>
              <a:t>Relational Database Schema</a:t>
            </a:r>
          </a:p>
          <a:p>
            <a:pPr lvl="2"/>
            <a:r>
              <a:rPr lang="en-US" dirty="0"/>
              <a:t>Example: a COMPANY database schema </a:t>
            </a:r>
          </a:p>
          <a:p>
            <a:pPr lvl="1"/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306" y="2708920"/>
            <a:ext cx="5801388" cy="37123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3814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Relational Model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terminologies</a:t>
            </a:r>
          </a:p>
          <a:p>
            <a:pPr lvl="1"/>
            <a:r>
              <a:rPr lang="en-US" dirty="0"/>
              <a:t>NULL value</a:t>
            </a:r>
          </a:p>
          <a:p>
            <a:pPr lvl="2"/>
            <a:r>
              <a:rPr lang="en-US" dirty="0"/>
              <a:t>Used to indicate ‘unknown’ or ‘not applicable’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Example</a:t>
            </a:r>
          </a:p>
          <a:p>
            <a:pPr lvl="3"/>
            <a:r>
              <a:rPr lang="en-US" dirty="0"/>
              <a:t>You enter a tuple about a new employee in an employee relation. However, the new employee's DNO (department number) may not be determined yet. In this case, </a:t>
            </a:r>
            <a:r>
              <a:rPr lang="en-US" b="1" dirty="0"/>
              <a:t>DNO is unknown or has NULL value</a:t>
            </a:r>
            <a:r>
              <a:rPr lang="en-US" dirty="0"/>
              <a:t>.</a:t>
            </a:r>
          </a:p>
          <a:p>
            <a:pPr lvl="3"/>
            <a:endParaRPr lang="en-US" dirty="0"/>
          </a:p>
          <a:p>
            <a:pPr lvl="2"/>
            <a:r>
              <a:rPr lang="en-US" dirty="0"/>
              <a:t>NULL value is different from a zero in the numeric domain or blank character in the string domain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Different DBMSs use different symbols to represent null values</a:t>
            </a:r>
          </a:p>
        </p:txBody>
      </p:sp>
    </p:spTree>
    <p:extLst>
      <p:ext uri="{BB962C8B-B14F-4D97-AF65-F5344CB8AC3E}">
        <p14:creationId xmlns:p14="http://schemas.microsoft.com/office/powerpoint/2010/main" val="3789772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Fill out the form with correct terminology from relational model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909698"/>
              </p:ext>
            </p:extLst>
          </p:nvPr>
        </p:nvGraphicFramePr>
        <p:xfrm>
          <a:off x="791580" y="1916833"/>
          <a:ext cx="7596844" cy="45434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98422">
                  <a:extLst>
                    <a:ext uri="{9D8B030D-6E8A-4147-A177-3AD203B41FA5}">
                      <a16:colId xmlns:a16="http://schemas.microsoft.com/office/drawing/2014/main" val="1030278292"/>
                    </a:ext>
                  </a:extLst>
                </a:gridCol>
                <a:gridCol w="3798422">
                  <a:extLst>
                    <a:ext uri="{9D8B030D-6E8A-4147-A177-3AD203B41FA5}">
                      <a16:colId xmlns:a16="http://schemas.microsoft.com/office/drawing/2014/main" val="2593953286"/>
                    </a:ext>
                  </a:extLst>
                </a:gridCol>
              </a:tblGrid>
              <a:tr h="5611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Frequently Used</a:t>
                      </a:r>
                    </a:p>
                    <a:p>
                      <a:pPr algn="ctr"/>
                      <a:r>
                        <a:rPr lang="en-US" b="0" dirty="0"/>
                        <a:t>(Informal Terminology)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Relational Model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(Formal Terminology)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029821"/>
                  </a:ext>
                </a:extLst>
              </a:tr>
              <a:tr h="5576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0881901"/>
                  </a:ext>
                </a:extLst>
              </a:tr>
              <a:tr h="5576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8807850"/>
                  </a:ext>
                </a:extLst>
              </a:tr>
              <a:tr h="5576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5822304"/>
                  </a:ext>
                </a:extLst>
              </a:tr>
              <a:tr h="5576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Unknown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1180175"/>
                  </a:ext>
                </a:extLst>
              </a:tr>
              <a:tr h="5576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Table Definition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2038115"/>
                  </a:ext>
                </a:extLst>
              </a:tr>
              <a:tr h="5576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Table with Data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389842"/>
                  </a:ext>
                </a:extLst>
              </a:tr>
              <a:tr h="5576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All Possible Values in a 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5147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4812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Characteristics of Relation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Characteristics of relation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Each relation in a database must have a distinct or unique name </a:t>
            </a:r>
          </a:p>
          <a:p>
            <a:pPr marL="1200150" lvl="2" indent="-342900">
              <a:buFont typeface="+mj-lt"/>
              <a:buAutoNum type="arabicPeriod"/>
            </a:pP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The order of tuples in the relation is NOT important</a:t>
            </a:r>
            <a:endParaRPr 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060" y="3284984"/>
            <a:ext cx="4659881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16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Characteristics of Relation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Characteristics of relation</a:t>
            </a:r>
          </a:p>
          <a:p>
            <a:pPr marL="800100" lvl="1" indent="-342900">
              <a:buFont typeface="+mj-lt"/>
              <a:buAutoNum type="arabicPeriod" startAt="3"/>
            </a:pPr>
            <a:r>
              <a:rPr lang="en-US" dirty="0"/>
              <a:t>Each attribute in a relation must have a </a:t>
            </a:r>
            <a:r>
              <a:rPr lang="en-US" altLang="ko-KR" dirty="0"/>
              <a:t>distinct or unique</a:t>
            </a:r>
            <a:r>
              <a:rPr lang="en-US" dirty="0"/>
              <a:t> name </a:t>
            </a:r>
          </a:p>
          <a:p>
            <a:pPr marL="1200150" lvl="2" indent="-342900">
              <a:buFont typeface="+mj-lt"/>
              <a:buAutoNum type="arabicPeriod"/>
            </a:pPr>
            <a:endParaRPr lang="en-US" dirty="0"/>
          </a:p>
          <a:p>
            <a:pPr marL="800100" lvl="1" indent="-342900">
              <a:buFont typeface="+mj-lt"/>
              <a:buAutoNum type="arabicPeriod" startAt="3"/>
            </a:pPr>
            <a:r>
              <a:rPr lang="en-US" altLang="ko-KR" dirty="0"/>
              <a:t>The order of attributes in the relation is NOT important</a:t>
            </a:r>
            <a:endParaRPr lang="en-US" dirty="0"/>
          </a:p>
          <a:p>
            <a:pPr marL="800100" lvl="1" indent="-342900">
              <a:buFont typeface="+mj-lt"/>
              <a:buAutoNum type="arabicPeriod" startAt="3"/>
            </a:pPr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796" y="3356992"/>
            <a:ext cx="4498407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399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Characteristics of Relation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Characteristics of relation</a:t>
            </a:r>
          </a:p>
          <a:p>
            <a:pPr marL="800100" lvl="1" indent="-342900">
              <a:buFont typeface="+mj-lt"/>
              <a:buAutoNum type="arabicPeriod" startAt="5"/>
            </a:pPr>
            <a:r>
              <a:rPr lang="en-US" dirty="0"/>
              <a:t>A relation does not allow duplicate tuples</a:t>
            </a:r>
          </a:p>
          <a:p>
            <a:pPr marL="800100" lvl="1" indent="-342900">
              <a:buFont typeface="+mj-lt"/>
              <a:buAutoNum type="arabicPeriod" startAt="5"/>
            </a:pPr>
            <a:endParaRPr lang="en-US" dirty="0"/>
          </a:p>
          <a:p>
            <a:pPr marL="800100" lvl="1" indent="-342900">
              <a:buFont typeface="+mj-lt"/>
              <a:buAutoNum type="arabicPeriod" startAt="5"/>
            </a:pPr>
            <a:r>
              <a:rPr lang="en-US" altLang="ko-KR" dirty="0"/>
              <a:t>Each cell contains an indivisible (atomic) value, not a list or set</a:t>
            </a:r>
            <a:endParaRPr lang="en-US" dirty="0"/>
          </a:p>
          <a:p>
            <a:pPr marL="800100" lvl="1" indent="-342900">
              <a:buFont typeface="+mj-lt"/>
              <a:buAutoNum type="arabicPeriod" startAt="5"/>
            </a:pPr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906" y="3501008"/>
            <a:ext cx="5058783" cy="144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35058" y="5125674"/>
            <a:ext cx="6266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Not allowed because these tuples have multiple values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 flipH="1" flipV="1">
            <a:off x="5963450" y="4734276"/>
            <a:ext cx="1368152" cy="391398"/>
          </a:xfrm>
          <a:prstGeom prst="straightConnector1">
            <a:avLst/>
          </a:prstGeom>
          <a:ln w="127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 flipH="1" flipV="1">
            <a:off x="5884005" y="4147179"/>
            <a:ext cx="1447597" cy="978495"/>
          </a:xfrm>
          <a:prstGeom prst="straightConnector1">
            <a:avLst/>
          </a:prstGeom>
          <a:ln w="127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2584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dirty="0"/>
              <a:t>. Keys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Key</a:t>
            </a:r>
          </a:p>
          <a:p>
            <a:pPr lvl="1"/>
            <a:r>
              <a:rPr lang="en-US" altLang="ko-KR" dirty="0"/>
              <a:t>A</a:t>
            </a:r>
            <a:r>
              <a:rPr lang="en-US" dirty="0"/>
              <a:t>n attribute or </a:t>
            </a:r>
            <a:r>
              <a:rPr lang="en-US" altLang="ko-KR" dirty="0"/>
              <a:t>a</a:t>
            </a:r>
            <a:r>
              <a:rPr lang="en-US" dirty="0"/>
              <a:t> set of attributes which helps you to identify a </a:t>
            </a:r>
            <a:r>
              <a:rPr lang="en-US" altLang="ko-KR" dirty="0"/>
              <a:t>tuple</a:t>
            </a:r>
            <a:r>
              <a:rPr lang="en-US" dirty="0"/>
              <a:t> in a relation</a:t>
            </a:r>
          </a:p>
          <a:p>
            <a:pPr lvl="1"/>
            <a:endParaRPr lang="en-US" dirty="0"/>
          </a:p>
          <a:p>
            <a:r>
              <a:rPr lang="en-US" altLang="ko-KR" dirty="0"/>
              <a:t>Types of keys</a:t>
            </a:r>
          </a:p>
          <a:p>
            <a:pPr lvl="1"/>
            <a:r>
              <a:rPr lang="en-US" altLang="ko-KR" dirty="0"/>
              <a:t>Super key</a:t>
            </a:r>
          </a:p>
          <a:p>
            <a:pPr lvl="1"/>
            <a:r>
              <a:rPr lang="en-US" altLang="ko-KR" dirty="0"/>
              <a:t>Candidate key</a:t>
            </a:r>
          </a:p>
          <a:p>
            <a:pPr lvl="1"/>
            <a:r>
              <a:rPr lang="en-US" altLang="ko-KR" dirty="0"/>
              <a:t>Primary key</a:t>
            </a:r>
          </a:p>
          <a:p>
            <a:pPr lvl="1"/>
            <a:r>
              <a:rPr lang="en-US" altLang="ko-KR" dirty="0"/>
              <a:t>Alternate key</a:t>
            </a:r>
          </a:p>
          <a:p>
            <a:pPr lvl="1"/>
            <a:r>
              <a:rPr lang="en-US" altLang="ko-KR" dirty="0"/>
              <a:t>Foreign key</a:t>
            </a:r>
          </a:p>
        </p:txBody>
      </p:sp>
    </p:spTree>
    <p:extLst>
      <p:ext uri="{BB962C8B-B14F-4D97-AF65-F5344CB8AC3E}">
        <p14:creationId xmlns:p14="http://schemas.microsoft.com/office/powerpoint/2010/main" val="2198637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dirty="0"/>
              <a:t>. Keys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/>
              <a:t>Super key</a:t>
            </a:r>
          </a:p>
          <a:p>
            <a:pPr lvl="1"/>
            <a:r>
              <a:rPr lang="en-US" altLang="ko-KR" dirty="0"/>
              <a:t>A</a:t>
            </a:r>
            <a:r>
              <a:rPr lang="en-US" dirty="0"/>
              <a:t>n attribute or </a:t>
            </a:r>
            <a:r>
              <a:rPr lang="en-US" altLang="ko-KR" dirty="0"/>
              <a:t>a</a:t>
            </a:r>
            <a:r>
              <a:rPr lang="en-US" dirty="0"/>
              <a:t> set of attributes </a:t>
            </a:r>
            <a:r>
              <a:rPr lang="en-US" altLang="ko-KR" dirty="0"/>
              <a:t>that uniquely defines a tuples in the relation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Example</a:t>
            </a:r>
          </a:p>
          <a:p>
            <a:pPr lvl="2"/>
            <a:r>
              <a:rPr lang="en-US" altLang="ko-KR" dirty="0"/>
              <a:t>Student(</a:t>
            </a:r>
            <a:r>
              <a:rPr lang="en-US" altLang="ko-KR" dirty="0" err="1"/>
              <a:t>StudentNumber</a:t>
            </a:r>
            <a:r>
              <a:rPr lang="en-US" altLang="ko-KR" dirty="0"/>
              <a:t>, Name, Major, </a:t>
            </a:r>
            <a:r>
              <a:rPr lang="en-US" altLang="ko-KR" dirty="0" err="1"/>
              <a:t>PhoneNumber</a:t>
            </a:r>
            <a:r>
              <a:rPr lang="en-US" altLang="ko-KR" dirty="0"/>
              <a:t>)</a:t>
            </a:r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A</a:t>
            </a:r>
            <a:r>
              <a:rPr lang="en-US" dirty="0"/>
              <a:t> super key is </a:t>
            </a:r>
            <a:r>
              <a:rPr lang="en-US" altLang="ko-KR" dirty="0"/>
              <a:t>a </a:t>
            </a:r>
            <a:r>
              <a:rPr lang="en-US" dirty="0"/>
              <a:t>combination that contains the </a:t>
            </a:r>
            <a:r>
              <a:rPr lang="en-US" altLang="ko-KR" dirty="0" err="1"/>
              <a:t>StudentNumber</a:t>
            </a:r>
            <a:r>
              <a:rPr lang="en-US" altLang="ko-KR" dirty="0"/>
              <a:t> and </a:t>
            </a:r>
            <a:r>
              <a:rPr lang="en-US" altLang="ko-KR" dirty="0" err="1"/>
              <a:t>PhoneNumber</a:t>
            </a:r>
            <a:endParaRPr lang="en-US" altLang="ko-KR" dirty="0"/>
          </a:p>
          <a:p>
            <a:pPr lvl="3"/>
            <a:r>
              <a:rPr lang="en-US" altLang="ko-KR" dirty="0"/>
              <a:t>{</a:t>
            </a:r>
            <a:r>
              <a:rPr lang="en-US" altLang="ko-KR" dirty="0" err="1"/>
              <a:t>StudentNumber</a:t>
            </a:r>
            <a:r>
              <a:rPr lang="en-US" altLang="ko-KR" dirty="0"/>
              <a:t>}</a:t>
            </a:r>
          </a:p>
          <a:p>
            <a:pPr lvl="3"/>
            <a:r>
              <a:rPr lang="en-US" altLang="ko-KR" dirty="0"/>
              <a:t>{</a:t>
            </a:r>
            <a:r>
              <a:rPr lang="en-US" altLang="ko-KR" dirty="0" err="1"/>
              <a:t>StudentNumber</a:t>
            </a:r>
            <a:r>
              <a:rPr lang="en-US" altLang="ko-KR" dirty="0"/>
              <a:t>, Name}</a:t>
            </a:r>
          </a:p>
          <a:p>
            <a:pPr lvl="3"/>
            <a:r>
              <a:rPr lang="en-US" altLang="ko-KR" dirty="0"/>
              <a:t>{</a:t>
            </a:r>
            <a:r>
              <a:rPr lang="en-US" altLang="ko-KR" dirty="0" err="1"/>
              <a:t>StudentNumber</a:t>
            </a:r>
            <a:r>
              <a:rPr lang="en-US" altLang="ko-KR" dirty="0"/>
              <a:t>, Name, Major}</a:t>
            </a:r>
          </a:p>
          <a:p>
            <a:pPr lvl="3"/>
            <a:r>
              <a:rPr lang="en-US" altLang="ko-KR" dirty="0"/>
              <a:t>{</a:t>
            </a:r>
            <a:r>
              <a:rPr lang="en-US" altLang="ko-KR" dirty="0" err="1"/>
              <a:t>StudentNumber</a:t>
            </a:r>
            <a:r>
              <a:rPr lang="en-US" altLang="ko-KR" dirty="0"/>
              <a:t>, Name, Major, </a:t>
            </a:r>
            <a:r>
              <a:rPr lang="en-US" altLang="ko-KR" dirty="0" err="1"/>
              <a:t>PhoneNumber</a:t>
            </a:r>
            <a:r>
              <a:rPr lang="en-US" altLang="ko-KR" dirty="0"/>
              <a:t>}</a:t>
            </a:r>
          </a:p>
          <a:p>
            <a:pPr lvl="3"/>
            <a:r>
              <a:rPr lang="en-US" altLang="ko-KR" dirty="0"/>
              <a:t>{</a:t>
            </a:r>
            <a:r>
              <a:rPr lang="en-US" altLang="ko-KR" dirty="0" err="1"/>
              <a:t>StudentNumber</a:t>
            </a:r>
            <a:r>
              <a:rPr lang="en-US" altLang="ko-KR" dirty="0"/>
              <a:t>, Major}</a:t>
            </a:r>
            <a:endParaRPr lang="en-US" dirty="0"/>
          </a:p>
          <a:p>
            <a:pPr lvl="3"/>
            <a:r>
              <a:rPr lang="en-US" altLang="ko-KR" dirty="0"/>
              <a:t>{</a:t>
            </a:r>
            <a:r>
              <a:rPr lang="en-US" altLang="ko-KR" dirty="0" err="1"/>
              <a:t>StudentNumber</a:t>
            </a:r>
            <a:r>
              <a:rPr lang="en-US" altLang="ko-KR" dirty="0"/>
              <a:t>, Major, </a:t>
            </a:r>
            <a:r>
              <a:rPr lang="en-US" altLang="ko-KR" dirty="0" err="1"/>
              <a:t>PhoneNumber</a:t>
            </a:r>
            <a:r>
              <a:rPr lang="en-US" altLang="ko-KR" dirty="0"/>
              <a:t>}</a:t>
            </a:r>
          </a:p>
          <a:p>
            <a:pPr lvl="3"/>
            <a:r>
              <a:rPr lang="en-US" altLang="ko-KR" dirty="0"/>
              <a:t>{</a:t>
            </a:r>
            <a:r>
              <a:rPr lang="en-US" altLang="ko-KR" dirty="0" err="1"/>
              <a:t>StudentNumber</a:t>
            </a:r>
            <a:r>
              <a:rPr lang="en-US" altLang="ko-KR" dirty="0"/>
              <a:t>, </a:t>
            </a:r>
            <a:r>
              <a:rPr lang="en-US" altLang="ko-KR" dirty="0" err="1"/>
              <a:t>PhoneNumber</a:t>
            </a:r>
            <a:r>
              <a:rPr lang="en-US" altLang="ko-KR" dirty="0"/>
              <a:t>}</a:t>
            </a:r>
          </a:p>
          <a:p>
            <a:pPr lvl="3"/>
            <a:r>
              <a:rPr lang="en-US" altLang="ko-KR" dirty="0"/>
              <a:t>{</a:t>
            </a:r>
            <a:r>
              <a:rPr lang="en-US" altLang="ko-KR" dirty="0" err="1"/>
              <a:t>PhoneNumber</a:t>
            </a:r>
            <a:r>
              <a:rPr lang="en-US" altLang="ko-KR" dirty="0"/>
              <a:t>}</a:t>
            </a:r>
          </a:p>
          <a:p>
            <a:pPr lvl="3"/>
            <a:r>
              <a:rPr lang="en-US" altLang="ko-KR" dirty="0"/>
              <a:t>{</a:t>
            </a:r>
            <a:r>
              <a:rPr lang="en-US" altLang="ko-KR" dirty="0" err="1"/>
              <a:t>PhoneNumber</a:t>
            </a:r>
            <a:r>
              <a:rPr lang="en-US" altLang="ko-KR" dirty="0"/>
              <a:t>, Name}</a:t>
            </a:r>
          </a:p>
          <a:p>
            <a:pPr lvl="3"/>
            <a:r>
              <a:rPr lang="en-US" altLang="ko-KR" dirty="0"/>
              <a:t>{</a:t>
            </a:r>
            <a:r>
              <a:rPr lang="en-US" altLang="ko-KR" dirty="0" err="1"/>
              <a:t>PhoneNumber</a:t>
            </a:r>
            <a:r>
              <a:rPr lang="en-US" altLang="ko-KR" dirty="0"/>
              <a:t>, Name, Major}</a:t>
            </a:r>
          </a:p>
          <a:p>
            <a:pPr lvl="3"/>
            <a:r>
              <a:rPr lang="en-US" altLang="ko-KR" dirty="0"/>
              <a:t>{</a:t>
            </a:r>
            <a:r>
              <a:rPr lang="en-US" altLang="ko-KR" dirty="0" err="1"/>
              <a:t>PhoneNumber</a:t>
            </a:r>
            <a:r>
              <a:rPr lang="en-US" altLang="ko-KR" dirty="0"/>
              <a:t>, Major}</a:t>
            </a:r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189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dirty="0"/>
              <a:t>. Keys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Candidate key</a:t>
            </a:r>
          </a:p>
          <a:p>
            <a:pPr lvl="1"/>
            <a:r>
              <a:rPr lang="en-US" altLang="ko-KR" dirty="0"/>
              <a:t>The smallest subset of super key attributes which are unique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Example</a:t>
            </a:r>
          </a:p>
          <a:p>
            <a:pPr lvl="2"/>
            <a:r>
              <a:rPr lang="en-US" altLang="ko-KR" dirty="0"/>
              <a:t>{</a:t>
            </a:r>
            <a:r>
              <a:rPr lang="en-US" altLang="ko-KR" dirty="0" err="1"/>
              <a:t>StudentNumber</a:t>
            </a:r>
            <a:r>
              <a:rPr lang="en-US" altLang="ko-KR" dirty="0"/>
              <a:t>} and {</a:t>
            </a:r>
            <a:r>
              <a:rPr lang="en-US" altLang="ko-KR" dirty="0" err="1"/>
              <a:t>PhoneNumber</a:t>
            </a:r>
            <a:r>
              <a:rPr lang="en-US" altLang="ko-KR" dirty="0"/>
              <a:t>} are candidate keys 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Primary key</a:t>
            </a:r>
          </a:p>
          <a:p>
            <a:pPr lvl="1"/>
            <a:r>
              <a:rPr lang="en-US" altLang="ko-KR" dirty="0"/>
              <a:t>One of the candidate key</a:t>
            </a:r>
          </a:p>
          <a:p>
            <a:pPr lvl="1"/>
            <a:r>
              <a:rPr lang="en-US" altLang="ko-KR" dirty="0"/>
              <a:t>Underlined attributes in a relation are primary keys 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Example</a:t>
            </a:r>
          </a:p>
          <a:p>
            <a:pPr lvl="2"/>
            <a:r>
              <a:rPr lang="en-US" altLang="ko-KR" dirty="0"/>
              <a:t>{</a:t>
            </a:r>
            <a:r>
              <a:rPr lang="en-US" altLang="ko-KR" dirty="0" err="1"/>
              <a:t>StudentNumber</a:t>
            </a:r>
            <a:r>
              <a:rPr lang="en-US" altLang="ko-KR" dirty="0"/>
              <a:t>} is the primary key</a:t>
            </a:r>
          </a:p>
          <a:p>
            <a:pPr lvl="2"/>
            <a:endParaRPr lang="en-US" altLang="ko-KR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981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dirty="0"/>
              <a:t>. Keys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Alternate key</a:t>
            </a:r>
          </a:p>
          <a:p>
            <a:pPr lvl="1"/>
            <a:r>
              <a:rPr lang="en-US" altLang="ko-KR" dirty="0"/>
              <a:t>Candidate key other than primary key (leftover candidate key)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Example</a:t>
            </a:r>
          </a:p>
          <a:p>
            <a:pPr lvl="2"/>
            <a:r>
              <a:rPr lang="en-US" altLang="ko-KR" dirty="0"/>
              <a:t>{</a:t>
            </a:r>
            <a:r>
              <a:rPr lang="en-US" altLang="ko-KR" dirty="0" err="1"/>
              <a:t>PhoneNumber</a:t>
            </a:r>
            <a:r>
              <a:rPr lang="en-US" altLang="ko-KR" dirty="0"/>
              <a:t>} is the alternate key</a:t>
            </a: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487" y="3789040"/>
            <a:ext cx="5153025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515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dirty="0"/>
              <a:t>. Keys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What are the candidate keys for the following CAR relation?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Which attribute should be the primary key for the CAR relation?</a:t>
            </a:r>
          </a:p>
          <a:p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995" y="2924944"/>
            <a:ext cx="7368010" cy="2880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4158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dirty="0"/>
              <a:t>. Keys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Foreign key</a:t>
            </a:r>
          </a:p>
          <a:p>
            <a:pPr lvl="1"/>
            <a:r>
              <a:rPr lang="en-US" dirty="0"/>
              <a:t>Used to represent the relationship between relations in the database</a:t>
            </a:r>
          </a:p>
          <a:p>
            <a:endParaRPr lang="en-US" dirty="0"/>
          </a:p>
        </p:txBody>
      </p:sp>
      <p:pic>
        <p:nvPicPr>
          <p:cNvPr id="4" name="Picture 2" descr="How to structure a database with multiple join tables - Stack Overflo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2" y="2564904"/>
            <a:ext cx="6251575" cy="370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88259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dirty="0"/>
              <a:t>. Keys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Foreign key</a:t>
            </a:r>
          </a:p>
          <a:p>
            <a:pPr lvl="1"/>
            <a:r>
              <a:rPr lang="en-US" altLang="ko-KR" dirty="0"/>
              <a:t>An attribute </a:t>
            </a:r>
            <a:r>
              <a:rPr lang="en-US" dirty="0"/>
              <a:t>that creates a relationship between two </a:t>
            </a:r>
            <a:r>
              <a:rPr lang="en-US" altLang="ko-KR" dirty="0"/>
              <a:t>relations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Types of foreign key</a:t>
            </a:r>
          </a:p>
          <a:p>
            <a:pPr lvl="2"/>
            <a:r>
              <a:rPr lang="en-US" dirty="0"/>
              <a:t>Foreign key referencing the primary key of another relation</a:t>
            </a:r>
          </a:p>
          <a:p>
            <a:pPr lvl="2"/>
            <a:r>
              <a:rPr lang="en-US" dirty="0"/>
              <a:t>Foreign key referencing the primary key of its own relation</a:t>
            </a:r>
          </a:p>
          <a:p>
            <a:pPr lvl="2"/>
            <a:r>
              <a:rPr lang="en-US" dirty="0"/>
              <a:t>Foreign key that is a </a:t>
            </a:r>
            <a:r>
              <a:rPr lang="en-US" altLang="ko-KR" dirty="0"/>
              <a:t>composite</a:t>
            </a:r>
            <a:r>
              <a:rPr lang="en-US" dirty="0"/>
              <a:t> of the primary key</a:t>
            </a:r>
            <a:r>
              <a:rPr lang="en-US" altLang="ko-KR" dirty="0"/>
              <a:t>s</a:t>
            </a: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5198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dirty="0"/>
              <a:t>. Keys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Types of foreign key</a:t>
            </a:r>
          </a:p>
          <a:p>
            <a:pPr lvl="1"/>
            <a:r>
              <a:rPr lang="en-US" dirty="0"/>
              <a:t>Foreign key referencing the primary key of another relation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2564904"/>
            <a:ext cx="704850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1471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dirty="0"/>
              <a:t>. Keys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Types of foreign key</a:t>
            </a:r>
          </a:p>
          <a:p>
            <a:pPr lvl="1"/>
            <a:r>
              <a:rPr lang="en-US" dirty="0"/>
              <a:t>Foreign key referencing the primary key of another relation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50" y="2564904"/>
            <a:ext cx="681990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264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dirty="0"/>
              <a:t>. Keys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Types of foreign key</a:t>
            </a:r>
          </a:p>
          <a:p>
            <a:pPr lvl="1"/>
            <a:r>
              <a:rPr lang="en-US" dirty="0"/>
              <a:t>Foreign key referencing the primary key of its own relation</a:t>
            </a:r>
          </a:p>
          <a:p>
            <a:pPr lvl="1"/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225" y="2564904"/>
            <a:ext cx="478155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6094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dirty="0"/>
              <a:t>. Keys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Types of foreign key</a:t>
            </a:r>
          </a:p>
          <a:p>
            <a:pPr lvl="1"/>
            <a:r>
              <a:rPr lang="en-US" dirty="0"/>
              <a:t>Foreign key that is a </a:t>
            </a:r>
            <a:r>
              <a:rPr lang="en-US" altLang="ko-KR" dirty="0"/>
              <a:t>composite</a:t>
            </a:r>
            <a:r>
              <a:rPr lang="en-US" dirty="0"/>
              <a:t> of the primary key</a:t>
            </a:r>
            <a:r>
              <a:rPr lang="en-US" altLang="ko-KR" dirty="0"/>
              <a:t>s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37" y="2492896"/>
            <a:ext cx="7477125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883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dirty="0"/>
              <a:t>. Integrity Constraints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Integrity constraints</a:t>
            </a:r>
          </a:p>
          <a:p>
            <a:pPr lvl="1"/>
            <a:r>
              <a:rPr lang="en-US" altLang="ko-KR" dirty="0"/>
              <a:t>A set of rules used to ensure the accuracy and consistency of the relational database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Types of integrity constraints</a:t>
            </a:r>
          </a:p>
          <a:p>
            <a:pPr lvl="2"/>
            <a:r>
              <a:rPr lang="en-US" altLang="ko-KR" dirty="0"/>
              <a:t>Key constraint</a:t>
            </a:r>
          </a:p>
          <a:p>
            <a:pPr lvl="2"/>
            <a:r>
              <a:rPr lang="en-US" altLang="ko-KR" dirty="0"/>
              <a:t>Domain constraint</a:t>
            </a:r>
          </a:p>
          <a:p>
            <a:pPr lvl="2"/>
            <a:r>
              <a:rPr lang="en-US" altLang="ko-KR" dirty="0"/>
              <a:t>Referential integrity constraint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3069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dirty="0"/>
              <a:t>. Integrity Constraints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Key constraint</a:t>
            </a:r>
          </a:p>
          <a:p>
            <a:pPr lvl="1"/>
            <a:r>
              <a:rPr lang="en-US" altLang="ko-KR" dirty="0"/>
              <a:t>A set of constraints related to the primary key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Constraint 1</a:t>
            </a:r>
          </a:p>
          <a:p>
            <a:pPr lvl="2"/>
            <a:r>
              <a:rPr lang="en-US" altLang="ko-KR" dirty="0"/>
              <a:t>E</a:t>
            </a:r>
            <a:r>
              <a:rPr lang="en-US" dirty="0"/>
              <a:t>very </a:t>
            </a:r>
            <a:r>
              <a:rPr lang="en-US" altLang="ko-KR" dirty="0"/>
              <a:t>relation</a:t>
            </a:r>
            <a:r>
              <a:rPr lang="en-US" dirty="0"/>
              <a:t> must have a primary key</a:t>
            </a:r>
          </a:p>
          <a:p>
            <a:pPr lvl="2"/>
            <a:endParaRPr lang="en-US" dirty="0"/>
          </a:p>
          <a:p>
            <a:pPr lvl="1"/>
            <a:r>
              <a:rPr lang="en-US" altLang="ko-KR" dirty="0"/>
              <a:t>Constraint 2</a:t>
            </a:r>
          </a:p>
          <a:p>
            <a:pPr lvl="2"/>
            <a:r>
              <a:rPr lang="en-US" altLang="ko-KR" dirty="0"/>
              <a:t>The</a:t>
            </a:r>
            <a:r>
              <a:rPr lang="en-US" dirty="0"/>
              <a:t> </a:t>
            </a:r>
            <a:r>
              <a:rPr lang="en-US" altLang="ko-KR" dirty="0"/>
              <a:t>attribute</a:t>
            </a:r>
            <a:r>
              <a:rPr lang="en-US" dirty="0"/>
              <a:t> chosen to be the primary key </a:t>
            </a:r>
            <a:r>
              <a:rPr lang="en-US" altLang="ko-KR" dirty="0"/>
              <a:t>must</a:t>
            </a:r>
            <a:r>
              <a:rPr lang="en-US" dirty="0"/>
              <a:t> be unique</a:t>
            </a:r>
          </a:p>
          <a:p>
            <a:pPr lvl="1"/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375" y="4869160"/>
            <a:ext cx="4667250" cy="1381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600" y="6372036"/>
            <a:ext cx="5786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Not allowed. Because primary key must be unique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 flipV="1">
            <a:off x="2483768" y="6021288"/>
            <a:ext cx="1584176" cy="360040"/>
          </a:xfrm>
          <a:prstGeom prst="straightConnector1">
            <a:avLst/>
          </a:prstGeom>
          <a:ln w="127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3766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dirty="0"/>
              <a:t>. Integrity Constraints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ko-KR" dirty="0"/>
              <a:t>Key constraint</a:t>
            </a:r>
          </a:p>
          <a:p>
            <a:pPr lvl="1"/>
            <a:r>
              <a:rPr lang="en-US" altLang="ko-KR" dirty="0"/>
              <a:t>Constraint 3</a:t>
            </a:r>
          </a:p>
          <a:p>
            <a:pPr lvl="2"/>
            <a:r>
              <a:rPr lang="en-US" altLang="ko-KR" dirty="0"/>
              <a:t>The</a:t>
            </a:r>
            <a:r>
              <a:rPr lang="en-US" dirty="0"/>
              <a:t> </a:t>
            </a:r>
            <a:r>
              <a:rPr lang="en-US" altLang="ko-KR" dirty="0"/>
              <a:t>attribute</a:t>
            </a:r>
            <a:r>
              <a:rPr lang="en-US" dirty="0"/>
              <a:t> chosen to be the primary key </a:t>
            </a:r>
            <a:r>
              <a:rPr lang="en-US" altLang="ko-KR" dirty="0"/>
              <a:t>must NOT be NULL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Why a primary key cannot contain a NULL value?</a:t>
            </a:r>
          </a:p>
          <a:p>
            <a:pPr lvl="3"/>
            <a:r>
              <a:rPr lang="en-US" dirty="0"/>
              <a:t>The primary key value is used to identify individual </a:t>
            </a:r>
            <a:r>
              <a:rPr lang="en-US" altLang="ko-KR" dirty="0"/>
              <a:t>tuples</a:t>
            </a:r>
            <a:r>
              <a:rPr lang="en-US" dirty="0"/>
              <a:t> in relation and if the primary key has a null value, then we can't identify those </a:t>
            </a:r>
            <a:r>
              <a:rPr lang="en-US" altLang="ko-KR" dirty="0"/>
              <a:t>tuples</a:t>
            </a:r>
            <a:r>
              <a:rPr lang="en-US" dirty="0"/>
              <a:t>.</a:t>
            </a:r>
          </a:p>
          <a:p>
            <a:pPr lvl="3"/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662" y="2931021"/>
            <a:ext cx="4638675" cy="1362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2538" y="4571836"/>
            <a:ext cx="6744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Not allowed as primary key CANNOT contain a NULL value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6" name="직선 화살표 연결선 5"/>
          <p:cNvCxnSpPr/>
          <p:nvPr/>
        </p:nvCxnSpPr>
        <p:spPr>
          <a:xfrm flipV="1">
            <a:off x="2627784" y="4077072"/>
            <a:ext cx="1584176" cy="494764"/>
          </a:xfrm>
          <a:prstGeom prst="straightConnector1">
            <a:avLst/>
          </a:prstGeom>
          <a:ln w="127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267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dirty="0"/>
              <a:t>. Integrity Constraints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Domain integrity constraint</a:t>
            </a:r>
          </a:p>
          <a:p>
            <a:pPr lvl="1"/>
            <a:r>
              <a:rPr lang="en-US" altLang="ko-KR" dirty="0"/>
              <a:t>Defines a valid set of values for an attribute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Constraint 1</a:t>
            </a:r>
          </a:p>
          <a:p>
            <a:pPr lvl="2"/>
            <a:r>
              <a:rPr lang="en-US" altLang="ko-KR" dirty="0"/>
              <a:t>Domain (data type) of each attribute in a relation must be declared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Constraint 2</a:t>
            </a:r>
          </a:p>
          <a:p>
            <a:pPr lvl="2"/>
            <a:r>
              <a:rPr lang="en-US" dirty="0"/>
              <a:t>Each tuple must have exactly one atomic value for an attribute</a:t>
            </a:r>
          </a:p>
          <a:p>
            <a:pPr lvl="2"/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4716012"/>
            <a:ext cx="5058783" cy="14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67744" y="6340678"/>
            <a:ext cx="6266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Not allowed because these tuples have multiple values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8" name="직선 화살표 연결선 7"/>
          <p:cNvCxnSpPr/>
          <p:nvPr/>
        </p:nvCxnSpPr>
        <p:spPr>
          <a:xfrm flipH="1" flipV="1">
            <a:off x="5796136" y="5949280"/>
            <a:ext cx="1368152" cy="391398"/>
          </a:xfrm>
          <a:prstGeom prst="straightConnector1">
            <a:avLst/>
          </a:prstGeom>
          <a:ln w="127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 flipH="1" flipV="1">
            <a:off x="5716691" y="5362183"/>
            <a:ext cx="1447597" cy="978495"/>
          </a:xfrm>
          <a:prstGeom prst="straightConnector1">
            <a:avLst/>
          </a:prstGeom>
          <a:ln w="127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01891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dirty="0"/>
              <a:t>. Integrity Constraints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Domain integrity constraint</a:t>
            </a:r>
          </a:p>
          <a:p>
            <a:pPr lvl="1"/>
            <a:r>
              <a:rPr lang="en-US" altLang="ko-KR" dirty="0"/>
              <a:t>Constraint 3</a:t>
            </a:r>
          </a:p>
          <a:p>
            <a:pPr lvl="2"/>
            <a:r>
              <a:rPr lang="en-US" altLang="ko-KR" dirty="0"/>
              <a:t>All values within an attribute must be in the same domain </a:t>
            </a:r>
          </a:p>
          <a:p>
            <a:pPr lvl="3"/>
            <a:r>
              <a:rPr lang="en-US" altLang="ko-KR" dirty="0"/>
              <a:t>Must be the same data type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187" y="3212976"/>
            <a:ext cx="4619625" cy="1352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51720" y="5075892"/>
            <a:ext cx="5824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Not allowed because FLOOR is an integer attribute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6" name="직선 화살표 연결선 5"/>
          <p:cNvCxnSpPr>
            <a:stCxn id="5" idx="0"/>
          </p:cNvCxnSpPr>
          <p:nvPr/>
        </p:nvCxnSpPr>
        <p:spPr>
          <a:xfrm flipV="1">
            <a:off x="4964120" y="4365104"/>
            <a:ext cx="1192056" cy="710788"/>
          </a:xfrm>
          <a:prstGeom prst="straightConnector1">
            <a:avLst/>
          </a:prstGeom>
          <a:ln w="127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6726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dirty="0"/>
              <a:t>. Integrity Constraints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Referential</a:t>
            </a:r>
            <a:r>
              <a:rPr lang="ko-KR" altLang="en-US" dirty="0"/>
              <a:t> </a:t>
            </a:r>
            <a:r>
              <a:rPr lang="en-US" altLang="ko-KR" dirty="0"/>
              <a:t>integrity constraint</a:t>
            </a:r>
          </a:p>
          <a:p>
            <a:pPr lvl="1"/>
            <a:r>
              <a:rPr lang="en-US" altLang="ko-KR" dirty="0"/>
              <a:t>A set of constraints related to the foreign key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Constraint 1</a:t>
            </a:r>
            <a:endParaRPr lang="en-US" dirty="0"/>
          </a:p>
          <a:p>
            <a:pPr lvl="2"/>
            <a:r>
              <a:rPr lang="en-US" dirty="0"/>
              <a:t>If a foreign key in </a:t>
            </a:r>
            <a:r>
              <a:rPr lang="en-US" altLang="ko-KR" dirty="0"/>
              <a:t>Relation</a:t>
            </a:r>
            <a:r>
              <a:rPr lang="en-US" dirty="0"/>
              <a:t> </a:t>
            </a:r>
            <a:r>
              <a:rPr lang="en-US" altLang="ko-KR" dirty="0"/>
              <a:t>A</a:t>
            </a:r>
            <a:r>
              <a:rPr lang="en-US" dirty="0"/>
              <a:t> refers to the </a:t>
            </a:r>
            <a:r>
              <a:rPr lang="en-US" altLang="ko-KR" dirty="0"/>
              <a:t>p</a:t>
            </a:r>
            <a:r>
              <a:rPr lang="en-US" dirty="0"/>
              <a:t>rimary </a:t>
            </a:r>
            <a:r>
              <a:rPr lang="en-US" altLang="ko-KR" dirty="0"/>
              <a:t>k</a:t>
            </a:r>
            <a:r>
              <a:rPr lang="en-US" dirty="0"/>
              <a:t>ey of </a:t>
            </a:r>
            <a:r>
              <a:rPr lang="en-US" altLang="ko-KR" dirty="0"/>
              <a:t>Relation</a:t>
            </a:r>
            <a:r>
              <a:rPr lang="en-US" dirty="0"/>
              <a:t> </a:t>
            </a:r>
            <a:r>
              <a:rPr lang="en-US" altLang="ko-KR" dirty="0"/>
              <a:t>B</a:t>
            </a:r>
            <a:r>
              <a:rPr lang="en-US" dirty="0"/>
              <a:t>, then every value of the foreign key in </a:t>
            </a:r>
            <a:r>
              <a:rPr lang="en-US" altLang="ko-KR" dirty="0"/>
              <a:t>Relation</a:t>
            </a:r>
            <a:r>
              <a:rPr lang="en-US" dirty="0"/>
              <a:t> </a:t>
            </a:r>
            <a:r>
              <a:rPr lang="en-US" altLang="ko-KR" dirty="0"/>
              <a:t>A</a:t>
            </a:r>
            <a:r>
              <a:rPr lang="en-US" dirty="0"/>
              <a:t> must be available in </a:t>
            </a:r>
            <a:r>
              <a:rPr lang="en-US" altLang="ko-KR" dirty="0"/>
              <a:t>Relation</a:t>
            </a:r>
            <a:r>
              <a:rPr lang="en-US" dirty="0"/>
              <a:t> </a:t>
            </a:r>
            <a:r>
              <a:rPr lang="en-US" altLang="ko-KR" dirty="0"/>
              <a:t>B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19" y="4365104"/>
            <a:ext cx="5010095" cy="19442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67744" y="6340678"/>
            <a:ext cx="5358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Not allowed because there is no department 5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6" name="직선 화살표 연결선 5"/>
          <p:cNvCxnSpPr/>
          <p:nvPr/>
        </p:nvCxnSpPr>
        <p:spPr>
          <a:xfrm flipH="1" flipV="1">
            <a:off x="4139952" y="6113621"/>
            <a:ext cx="1008112" cy="227057"/>
          </a:xfrm>
          <a:prstGeom prst="straightConnector1">
            <a:avLst/>
          </a:prstGeom>
          <a:ln w="127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56742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Pros and Cons of Relational Model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Pros of Relation Model</a:t>
            </a:r>
          </a:p>
          <a:p>
            <a:pPr lvl="1"/>
            <a:r>
              <a:rPr lang="en-US" dirty="0"/>
              <a:t>Simplicity of model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Ease of use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Accuracy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Data Integrity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Normalization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856473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Pros and Cons of Relational Model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 of Relational Model</a:t>
            </a:r>
          </a:p>
          <a:p>
            <a:pPr lvl="1"/>
            <a:r>
              <a:rPr lang="en-US" dirty="0"/>
              <a:t>Not very good for large databases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Difficult to find the relationship between tables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Because of the complex structure</a:t>
            </a:r>
          </a:p>
          <a:p>
            <a:pPr lvl="2"/>
            <a:r>
              <a:rPr lang="en-US" dirty="0"/>
              <a:t>Response time for queries is high</a:t>
            </a:r>
          </a:p>
          <a:p>
            <a:pPr lvl="2"/>
            <a:r>
              <a:rPr lang="en-US" dirty="0"/>
              <a:t>Lack of scalability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864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</a:t>
            </a:r>
            <a:r>
              <a:rPr lang="en-US" dirty="0"/>
              <a:t>. Summary and Discussions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/>
              <a:t>Relational Model</a:t>
            </a:r>
            <a:endParaRPr lang="en-US" dirty="0"/>
          </a:p>
          <a:p>
            <a:pPr lvl="1"/>
            <a:r>
              <a:rPr lang="en-US" dirty="0"/>
              <a:t>Relational model represents the database as a collection of relations</a:t>
            </a:r>
          </a:p>
          <a:p>
            <a:pPr lvl="2"/>
            <a:r>
              <a:rPr lang="en-US" altLang="ko-KR" dirty="0"/>
              <a:t>Relation = table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Basic Terminologies</a:t>
            </a:r>
          </a:p>
          <a:p>
            <a:pPr lvl="2"/>
            <a:r>
              <a:rPr lang="en-US" altLang="ko-KR" dirty="0"/>
              <a:t>Relation</a:t>
            </a:r>
          </a:p>
          <a:p>
            <a:pPr lvl="2"/>
            <a:r>
              <a:rPr lang="en-US" altLang="ko-KR" dirty="0"/>
              <a:t>Tuple</a:t>
            </a:r>
          </a:p>
          <a:p>
            <a:pPr lvl="2"/>
            <a:r>
              <a:rPr lang="en-US" altLang="ko-KR" dirty="0"/>
              <a:t>Attribute</a:t>
            </a:r>
          </a:p>
          <a:p>
            <a:pPr lvl="2"/>
            <a:r>
              <a:rPr lang="en-US" altLang="ko-KR" dirty="0"/>
              <a:t>Degree</a:t>
            </a:r>
          </a:p>
          <a:p>
            <a:pPr lvl="2"/>
            <a:r>
              <a:rPr lang="en-US" altLang="ko-KR" dirty="0"/>
              <a:t>Cardinality</a:t>
            </a:r>
          </a:p>
          <a:p>
            <a:pPr lvl="2"/>
            <a:r>
              <a:rPr lang="en-US" altLang="ko-KR" dirty="0"/>
              <a:t>Domain</a:t>
            </a:r>
          </a:p>
          <a:p>
            <a:pPr lvl="2"/>
            <a:r>
              <a:rPr lang="en-US" altLang="ko-KR" dirty="0"/>
              <a:t>Relation Schema</a:t>
            </a:r>
          </a:p>
          <a:p>
            <a:pPr lvl="2"/>
            <a:r>
              <a:rPr lang="en-US" altLang="ko-KR" dirty="0"/>
              <a:t>Relation Instance</a:t>
            </a:r>
          </a:p>
          <a:p>
            <a:pPr lvl="2"/>
            <a:r>
              <a:rPr lang="en-US" altLang="ko-KR" dirty="0"/>
              <a:t>Relational Database Schema</a:t>
            </a:r>
          </a:p>
          <a:p>
            <a:pPr lvl="2"/>
            <a:r>
              <a:rPr lang="en-US" altLang="ko-KR" dirty="0"/>
              <a:t>NULL value</a:t>
            </a:r>
          </a:p>
        </p:txBody>
      </p:sp>
    </p:spTree>
    <p:extLst>
      <p:ext uri="{BB962C8B-B14F-4D97-AF65-F5344CB8AC3E}">
        <p14:creationId xmlns:p14="http://schemas.microsoft.com/office/powerpoint/2010/main" val="11376970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</a:t>
            </a:r>
            <a:r>
              <a:rPr lang="en-US" dirty="0"/>
              <a:t>. Summary and Discussions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Characteristics of relational model</a:t>
            </a:r>
          </a:p>
          <a:p>
            <a:endParaRPr lang="en-US" altLang="ko-KR" dirty="0"/>
          </a:p>
          <a:p>
            <a:r>
              <a:rPr lang="en-US" altLang="ko-KR" dirty="0"/>
              <a:t>Keys</a:t>
            </a:r>
          </a:p>
          <a:p>
            <a:pPr lvl="1"/>
            <a:r>
              <a:rPr lang="en-US" altLang="ko-KR" dirty="0"/>
              <a:t>Super key, Candidate key, Primary key, Alternate key, Foreign key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Integrity constraints</a:t>
            </a:r>
          </a:p>
          <a:p>
            <a:pPr lvl="1"/>
            <a:r>
              <a:rPr lang="en-US" altLang="ko-KR" dirty="0"/>
              <a:t>A set of rules used to ensure the accuracy and consistency of the relational database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Types of integrity constraints</a:t>
            </a:r>
          </a:p>
          <a:p>
            <a:pPr lvl="2"/>
            <a:r>
              <a:rPr lang="en-US" altLang="ko-KR" dirty="0"/>
              <a:t>Key constraint</a:t>
            </a:r>
          </a:p>
          <a:p>
            <a:pPr lvl="2"/>
            <a:r>
              <a:rPr lang="en-US" altLang="ko-KR" dirty="0"/>
              <a:t>Domain constraint</a:t>
            </a:r>
          </a:p>
          <a:p>
            <a:pPr lvl="2"/>
            <a:r>
              <a:rPr lang="en-US" altLang="ko-KR" dirty="0"/>
              <a:t>Referential integrity constraint</a:t>
            </a:r>
          </a:p>
          <a:p>
            <a:endParaRPr lang="en-US" altLang="ko-KR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12772</TotalTime>
  <Words>1546</Words>
  <Application>Microsoft Office PowerPoint</Application>
  <PresentationFormat>화면 슬라이드 쇼(4:3)</PresentationFormat>
  <Paragraphs>368</Paragraphs>
  <Slides>39</Slides>
  <Notes>31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0" baseType="lpstr">
      <vt:lpstr>Office 테마</vt:lpstr>
      <vt:lpstr>Relational Model</vt:lpstr>
      <vt:lpstr>Table of Contents</vt:lpstr>
      <vt:lpstr>Last Lecture</vt:lpstr>
      <vt:lpstr>Last Lecture</vt:lpstr>
      <vt:lpstr>Last Lecture</vt:lpstr>
      <vt:lpstr>1. Relational Model</vt:lpstr>
      <vt:lpstr>1. Relational Model</vt:lpstr>
      <vt:lpstr>1. Relational Model</vt:lpstr>
      <vt:lpstr>1. Relational Model</vt:lpstr>
      <vt:lpstr>1. Relational Model</vt:lpstr>
      <vt:lpstr>1. Relational Model</vt:lpstr>
      <vt:lpstr>1. Relational Model</vt:lpstr>
      <vt:lpstr>1. Relational Model</vt:lpstr>
      <vt:lpstr>1. Relational Model</vt:lpstr>
      <vt:lpstr>Quiz</vt:lpstr>
      <vt:lpstr>2. Characteristics of Relation</vt:lpstr>
      <vt:lpstr>2. Characteristics of Relation</vt:lpstr>
      <vt:lpstr>2. Characteristics of Relation</vt:lpstr>
      <vt:lpstr>3. Keys</vt:lpstr>
      <vt:lpstr>3. Keys</vt:lpstr>
      <vt:lpstr>3. Keys</vt:lpstr>
      <vt:lpstr>3. Keys</vt:lpstr>
      <vt:lpstr>3. Keys</vt:lpstr>
      <vt:lpstr>3. Keys</vt:lpstr>
      <vt:lpstr>3. Keys</vt:lpstr>
      <vt:lpstr>3. Keys</vt:lpstr>
      <vt:lpstr>3. Keys</vt:lpstr>
      <vt:lpstr>3. Keys</vt:lpstr>
      <vt:lpstr>3. Keys</vt:lpstr>
      <vt:lpstr>4. Integrity Constraints</vt:lpstr>
      <vt:lpstr>4. Integrity Constraints</vt:lpstr>
      <vt:lpstr>4. Integrity Constraints</vt:lpstr>
      <vt:lpstr>4. Integrity Constraints</vt:lpstr>
      <vt:lpstr>4. Integrity Constraints</vt:lpstr>
      <vt:lpstr>4. Integrity Constraints</vt:lpstr>
      <vt:lpstr>5. Pros and Cons of Relational Model</vt:lpstr>
      <vt:lpstr>5. Pros and Cons of Relational Model</vt:lpstr>
      <vt:lpstr>6. Summary and Discussions</vt:lpstr>
      <vt:lpstr>6. Summary and Discussions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선형대수학  Linear Algebra</dc:title>
  <dc:creator>K.LEE</dc:creator>
  <cp:lastModifiedBy>KIMGYU HYEON</cp:lastModifiedBy>
  <cp:revision>700</cp:revision>
  <cp:lastPrinted>2013-12-26T08:44:45Z</cp:lastPrinted>
  <dcterms:created xsi:type="dcterms:W3CDTF">2013-02-05T02:36:43Z</dcterms:created>
  <dcterms:modified xsi:type="dcterms:W3CDTF">2025-09-10T00:56:06Z</dcterms:modified>
</cp:coreProperties>
</file>