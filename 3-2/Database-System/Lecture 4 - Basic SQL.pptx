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444" r:id="rId3"/>
    <p:sldId id="579" r:id="rId4"/>
    <p:sldId id="580" r:id="rId5"/>
    <p:sldId id="494" r:id="rId6"/>
    <p:sldId id="538" r:id="rId7"/>
    <p:sldId id="495" r:id="rId8"/>
    <p:sldId id="496" r:id="rId9"/>
    <p:sldId id="497" r:id="rId10"/>
    <p:sldId id="498" r:id="rId11"/>
    <p:sldId id="499" r:id="rId12"/>
    <p:sldId id="500" r:id="rId13"/>
    <p:sldId id="501" r:id="rId14"/>
    <p:sldId id="502" r:id="rId15"/>
    <p:sldId id="504" r:id="rId16"/>
    <p:sldId id="503" r:id="rId17"/>
    <p:sldId id="505" r:id="rId18"/>
    <p:sldId id="628" r:id="rId19"/>
    <p:sldId id="506" r:id="rId20"/>
    <p:sldId id="507" r:id="rId21"/>
    <p:sldId id="508" r:id="rId22"/>
    <p:sldId id="509" r:id="rId23"/>
    <p:sldId id="510" r:id="rId24"/>
    <p:sldId id="511" r:id="rId25"/>
    <p:sldId id="512" r:id="rId26"/>
    <p:sldId id="513" r:id="rId27"/>
    <p:sldId id="603" r:id="rId28"/>
    <p:sldId id="604" r:id="rId29"/>
    <p:sldId id="605" r:id="rId30"/>
    <p:sldId id="514" r:id="rId31"/>
    <p:sldId id="515" r:id="rId32"/>
    <p:sldId id="516" r:id="rId33"/>
    <p:sldId id="518" r:id="rId34"/>
    <p:sldId id="517" r:id="rId35"/>
    <p:sldId id="519" r:id="rId36"/>
    <p:sldId id="520" r:id="rId37"/>
    <p:sldId id="521" r:id="rId38"/>
    <p:sldId id="618" r:id="rId39"/>
    <p:sldId id="524" r:id="rId40"/>
    <p:sldId id="526" r:id="rId41"/>
    <p:sldId id="527" r:id="rId42"/>
    <p:sldId id="529" r:id="rId43"/>
    <p:sldId id="530" r:id="rId44"/>
    <p:sldId id="531" r:id="rId45"/>
    <p:sldId id="534" r:id="rId46"/>
    <p:sldId id="535" r:id="rId47"/>
    <p:sldId id="528" r:id="rId48"/>
    <p:sldId id="619" r:id="rId49"/>
    <p:sldId id="532" r:id="rId50"/>
    <p:sldId id="533" r:id="rId51"/>
    <p:sldId id="536" r:id="rId52"/>
    <p:sldId id="537" r:id="rId53"/>
    <p:sldId id="606" r:id="rId54"/>
    <p:sldId id="615" r:id="rId55"/>
    <p:sldId id="609" r:id="rId56"/>
    <p:sldId id="607" r:id="rId57"/>
    <p:sldId id="608" r:id="rId58"/>
    <p:sldId id="624" r:id="rId59"/>
    <p:sldId id="583" r:id="rId60"/>
    <p:sldId id="584" r:id="rId61"/>
    <p:sldId id="585" r:id="rId62"/>
    <p:sldId id="611" r:id="rId63"/>
    <p:sldId id="612" r:id="rId64"/>
    <p:sldId id="622" r:id="rId65"/>
    <p:sldId id="588" r:id="rId66"/>
    <p:sldId id="589" r:id="rId67"/>
    <p:sldId id="590" r:id="rId68"/>
    <p:sldId id="591" r:id="rId69"/>
    <p:sldId id="596" r:id="rId70"/>
    <p:sldId id="597" r:id="rId71"/>
    <p:sldId id="625" r:id="rId72"/>
    <p:sldId id="626" r:id="rId73"/>
    <p:sldId id="627" r:id="rId74"/>
    <p:sldId id="599" r:id="rId75"/>
    <p:sldId id="600" r:id="rId76"/>
    <p:sldId id="601" r:id="rId77"/>
    <p:sldId id="602" r:id="rId78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FBF064"/>
    <a:srgbClr val="FAF064"/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5" autoAdjust="0"/>
    <p:restoredTop sz="97752" autoAdjust="0"/>
  </p:normalViewPr>
  <p:slideViewPr>
    <p:cSldViewPr>
      <p:cViewPr varScale="1">
        <p:scale>
          <a:sx n="111" d="100"/>
          <a:sy n="111" d="100"/>
        </p:scale>
        <p:origin x="17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slide" Target="slides/slide75.xml" /><Relationship Id="rId84" Type="http://schemas.openxmlformats.org/officeDocument/2006/relationships/tableStyles" Target="tableStyles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9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2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3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717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261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26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224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953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595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68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269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910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976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80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829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666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510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072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432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029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964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426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81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1035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95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214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8612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821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43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6751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15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5964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847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8172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9574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19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2129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6165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4382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4058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1742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191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8546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294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6623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32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585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0686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007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1751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782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5333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9580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3386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609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0973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1291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514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399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5814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6993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870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55536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36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>
              <a:defRPr sz="3200" b="1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>
            <a:lvl1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algn="just" latinLnBrk="0"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487C-8DB3-45EB-9538-2500040D0F0E}" type="datetimeFigureOut">
              <a:rPr lang="ko-KR" altLang="en-US" smtClean="0"/>
              <a:pPr/>
              <a:t>2025-09-17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sql_ref_keywords.asp" TargetMode="Externa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MySQL/mysql_datatypes.asp" TargetMode="Externa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8.png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notesSlide" Target="../notesSlides/notesSlide58.xml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59.xml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60.xml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 /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SQL: Basic Queries</a:t>
            </a:r>
            <a:endParaRPr lang="ko-KR" altLang="en-US" dirty="0"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2088232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Database Systems</a:t>
            </a:r>
          </a:p>
          <a:p>
            <a:endParaRPr lang="en-US" altLang="ko-KR" sz="2800" b="1" dirty="0"/>
          </a:p>
          <a:p>
            <a:r>
              <a:rPr lang="en-US" altLang="ko-KR" sz="2000" b="1" dirty="0"/>
              <a:t>Department of Computer Science, CBNU</a:t>
            </a:r>
            <a:endParaRPr lang="ko-KR" altLang="en-US" sz="2000" b="1" dirty="0"/>
          </a:p>
          <a:p>
            <a:r>
              <a:rPr lang="en-US" altLang="ko-KR" sz="2000" b="1" dirty="0"/>
              <a:t>Prof. Nasridinov Aziz (aziz@chungbuk.ac.kr)</a:t>
            </a:r>
            <a:endParaRPr lang="ko-KR" alt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08"/>
    </mc:Choice>
    <mc:Fallback xmlns="">
      <p:transition spd="slow" advTm="672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SQL Overview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Definition Language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Manipulation Language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14623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Relational Model</a:t>
            </a:r>
            <a:endParaRPr lang="en-US" dirty="0"/>
          </a:p>
          <a:p>
            <a:pPr lvl="1"/>
            <a:r>
              <a:rPr lang="en-US" dirty="0"/>
              <a:t>Relational model represents the database as a collection of relations</a:t>
            </a:r>
          </a:p>
          <a:p>
            <a:pPr lvl="2"/>
            <a:r>
              <a:rPr lang="en-US" altLang="ko-KR" dirty="0"/>
              <a:t>Relation = table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Basic Terminologies</a:t>
            </a:r>
          </a:p>
          <a:p>
            <a:pPr lvl="2"/>
            <a:r>
              <a:rPr lang="en-US" altLang="ko-KR" dirty="0"/>
              <a:t>Relation</a:t>
            </a:r>
          </a:p>
          <a:p>
            <a:pPr lvl="2"/>
            <a:r>
              <a:rPr lang="en-US" altLang="ko-KR" dirty="0"/>
              <a:t>Tuple</a:t>
            </a:r>
          </a:p>
          <a:p>
            <a:pPr lvl="2"/>
            <a:r>
              <a:rPr lang="en-US" altLang="ko-KR" dirty="0"/>
              <a:t>Attribute</a:t>
            </a:r>
          </a:p>
          <a:p>
            <a:pPr lvl="2"/>
            <a:r>
              <a:rPr lang="en-US" altLang="ko-KR" dirty="0"/>
              <a:t>Degree</a:t>
            </a:r>
          </a:p>
          <a:p>
            <a:pPr lvl="2"/>
            <a:r>
              <a:rPr lang="en-US" altLang="ko-KR" dirty="0"/>
              <a:t>Cardinality</a:t>
            </a:r>
          </a:p>
          <a:p>
            <a:pPr lvl="2"/>
            <a:r>
              <a:rPr lang="en-US" altLang="ko-KR" dirty="0"/>
              <a:t>Domain</a:t>
            </a:r>
          </a:p>
          <a:p>
            <a:pPr lvl="2"/>
            <a:r>
              <a:rPr lang="en-US" altLang="ko-KR" dirty="0"/>
              <a:t>Relation Schema</a:t>
            </a:r>
          </a:p>
          <a:p>
            <a:pPr lvl="2"/>
            <a:r>
              <a:rPr lang="en-US" altLang="ko-KR" dirty="0"/>
              <a:t>Relation Instance</a:t>
            </a:r>
          </a:p>
          <a:p>
            <a:pPr lvl="2"/>
            <a:r>
              <a:rPr lang="en-US" altLang="ko-KR" dirty="0"/>
              <a:t>Relational Database Schema</a:t>
            </a:r>
          </a:p>
          <a:p>
            <a:pPr lvl="2"/>
            <a:r>
              <a:rPr lang="en-US" altLang="ko-KR" dirty="0"/>
              <a:t>NULL value</a:t>
            </a:r>
          </a:p>
        </p:txBody>
      </p:sp>
    </p:spTree>
    <p:extLst>
      <p:ext uri="{BB962C8B-B14F-4D97-AF65-F5344CB8AC3E}">
        <p14:creationId xmlns:p14="http://schemas.microsoft.com/office/powerpoint/2010/main" val="149476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Last Lecture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Characteristics of relational model</a:t>
            </a:r>
          </a:p>
          <a:p>
            <a:endParaRPr lang="en-US" altLang="ko-KR" dirty="0"/>
          </a:p>
          <a:p>
            <a:r>
              <a:rPr lang="en-US" altLang="ko-KR" dirty="0"/>
              <a:t>Keys</a:t>
            </a:r>
          </a:p>
          <a:p>
            <a:pPr lvl="1"/>
            <a:r>
              <a:rPr lang="en-US" altLang="ko-KR" dirty="0"/>
              <a:t>Super key, Candidate key, Primary key, Alternate key, Foreign key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Integrity constraints</a:t>
            </a:r>
          </a:p>
          <a:p>
            <a:pPr lvl="1"/>
            <a:r>
              <a:rPr lang="en-US" altLang="ko-KR" dirty="0"/>
              <a:t>A set of rules used to ensure the accuracy and consistency of the relational database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Types of integrity constraints</a:t>
            </a:r>
          </a:p>
          <a:p>
            <a:pPr lvl="2"/>
            <a:r>
              <a:rPr lang="en-US" altLang="ko-KR" dirty="0"/>
              <a:t>Key constraint</a:t>
            </a:r>
          </a:p>
          <a:p>
            <a:pPr lvl="2"/>
            <a:r>
              <a:rPr lang="en-US" altLang="ko-KR" dirty="0"/>
              <a:t>Domain constraint</a:t>
            </a:r>
          </a:p>
          <a:p>
            <a:pPr lvl="2"/>
            <a:r>
              <a:rPr lang="en-US" altLang="ko-KR" dirty="0"/>
              <a:t>Referential integrity constraint</a:t>
            </a:r>
          </a:p>
          <a:p>
            <a:endParaRPr lang="en-US" altLang="ko-K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6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SQL Overview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Structural Query Language (SQL)</a:t>
            </a:r>
          </a:p>
          <a:p>
            <a:pPr lvl="1"/>
            <a:r>
              <a:rPr lang="en-US" dirty="0"/>
              <a:t>Define queries to access and manipulate the data from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procedural language, not a programming language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standard language for RDBMS</a:t>
            </a:r>
          </a:p>
          <a:p>
            <a:pPr lvl="2"/>
            <a:r>
              <a:rPr lang="en-US" dirty="0"/>
              <a:t>Oracle, MySQL, Microsoft SQL and others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SQL statements are divided into </a:t>
            </a:r>
            <a:r>
              <a:rPr lang="en-US" altLang="ko-KR" dirty="0"/>
              <a:t>four</a:t>
            </a:r>
            <a:r>
              <a:rPr lang="en-US" dirty="0"/>
              <a:t> major categories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Data Definition Language (DDL)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Data Manipulation Language (DML)</a:t>
            </a:r>
          </a:p>
          <a:p>
            <a:pPr lvl="2"/>
            <a:r>
              <a:rPr lang="en-US" altLang="ko-KR" dirty="0"/>
              <a:t>Data Control Language (DCL)</a:t>
            </a:r>
          </a:p>
          <a:p>
            <a:pPr lvl="2"/>
            <a:r>
              <a:rPr lang="en-US" altLang="ko-KR" dirty="0"/>
              <a:t>Transaction Control Language (TCL)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94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SQL Overview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basic syntax</a:t>
            </a:r>
          </a:p>
          <a:p>
            <a:pPr lvl="1"/>
            <a:r>
              <a:rPr lang="en-US" dirty="0"/>
              <a:t>SQL keywords are NOT case sensitive</a:t>
            </a:r>
          </a:p>
          <a:p>
            <a:pPr lvl="2"/>
            <a:r>
              <a:rPr lang="en-US" dirty="0"/>
              <a:t>select is the same as SELECT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Comments</a:t>
            </a:r>
          </a:p>
          <a:p>
            <a:pPr lvl="2"/>
            <a:r>
              <a:rPr lang="en-US" dirty="0"/>
              <a:t>Single line comments: -- </a:t>
            </a:r>
            <a:r>
              <a:rPr lang="en-US" altLang="ko-KR" dirty="0"/>
              <a:t>(Put the space after --) or #</a:t>
            </a:r>
            <a:endParaRPr lang="en-US" dirty="0"/>
          </a:p>
          <a:p>
            <a:pPr lvl="2"/>
            <a:r>
              <a:rPr lang="en-US" dirty="0"/>
              <a:t>Multi-line comments: text between /* and */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Use semicolon (;) to separate each SQL statement in a database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List of reserved SQL keywords</a:t>
            </a:r>
          </a:p>
          <a:p>
            <a:pPr lvl="2"/>
            <a:r>
              <a:rPr lang="en-US" dirty="0">
                <a:hlinkClick r:id="rId3"/>
              </a:rPr>
              <a:t>https://www.w3schools.com/sql/sql_ref_keywords.asp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0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dirty="0"/>
              <a:t>Notation for defining the database schema</a:t>
            </a:r>
          </a:p>
          <a:p>
            <a:pPr lvl="2"/>
            <a:r>
              <a:rPr lang="en-US" dirty="0"/>
              <a:t>Used to create and modify the structure of your relations and database objects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CREATE </a:t>
            </a:r>
          </a:p>
          <a:p>
            <a:pPr lvl="2"/>
            <a:r>
              <a:rPr lang="en-US" dirty="0"/>
              <a:t>DROP</a:t>
            </a:r>
          </a:p>
          <a:p>
            <a:pPr lvl="2"/>
            <a:r>
              <a:rPr lang="en-US" dirty="0"/>
              <a:t>ALTER</a:t>
            </a:r>
          </a:p>
          <a:p>
            <a:pPr lvl="2"/>
            <a:r>
              <a:rPr lang="en-US" dirty="0"/>
              <a:t>TRUNCATE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54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database</a:t>
            </a:r>
          </a:p>
          <a:p>
            <a:pPr lvl="1"/>
            <a:r>
              <a:rPr lang="en-US" dirty="0"/>
              <a:t>Syntax</a:t>
            </a:r>
          </a:p>
          <a:p>
            <a:pPr lvl="2"/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DATABASE</a:t>
            </a:r>
            <a:r>
              <a:rPr lang="en-US" dirty="0"/>
              <a:t> </a:t>
            </a:r>
            <a:r>
              <a:rPr lang="en-US" i="1" dirty="0" err="1"/>
              <a:t>databasename</a:t>
            </a:r>
            <a:r>
              <a:rPr lang="en-US" i="1" dirty="0"/>
              <a:t>;</a:t>
            </a:r>
          </a:p>
          <a:p>
            <a:pPr lvl="2"/>
            <a:endParaRPr lang="en-US" i="1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DATABASE</a:t>
            </a:r>
            <a:r>
              <a:rPr lang="en-US" dirty="0"/>
              <a:t> </a:t>
            </a:r>
            <a:r>
              <a:rPr lang="en-US" dirty="0" err="1"/>
              <a:t>testDB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You can check a list of databases using the following SQL statement</a:t>
            </a:r>
          </a:p>
          <a:p>
            <a:pPr lvl="2"/>
            <a:r>
              <a:rPr lang="en-US" b="1" dirty="0"/>
              <a:t>SHOW DATABASES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1388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Drop an existing database</a:t>
            </a:r>
          </a:p>
          <a:p>
            <a:pPr lvl="1"/>
            <a:r>
              <a:rPr lang="en-US" dirty="0"/>
              <a:t>Syntax</a:t>
            </a:r>
          </a:p>
          <a:p>
            <a:pPr lvl="2"/>
            <a:r>
              <a:rPr lang="en-US" b="1" dirty="0"/>
              <a:t>DROP</a:t>
            </a:r>
            <a:r>
              <a:rPr lang="en-US" dirty="0"/>
              <a:t> </a:t>
            </a:r>
            <a:r>
              <a:rPr lang="en-US" b="1" dirty="0"/>
              <a:t>DATABASE</a:t>
            </a:r>
            <a:r>
              <a:rPr lang="en-US" dirty="0"/>
              <a:t> </a:t>
            </a:r>
            <a:r>
              <a:rPr lang="en-US" i="1" dirty="0" err="1"/>
              <a:t>databasename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b="1" dirty="0"/>
              <a:t>DROP</a:t>
            </a:r>
            <a:r>
              <a:rPr lang="en-US" dirty="0"/>
              <a:t> </a:t>
            </a:r>
            <a:r>
              <a:rPr lang="en-US" b="1" dirty="0"/>
              <a:t>DATABASE</a:t>
            </a:r>
            <a:r>
              <a:rPr lang="en-US" dirty="0"/>
              <a:t> </a:t>
            </a:r>
            <a:r>
              <a:rPr lang="en-US" dirty="0" err="1"/>
              <a:t>testDB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r>
              <a:rPr lang="en-US" dirty="0"/>
              <a:t>Set as default schema</a:t>
            </a:r>
          </a:p>
          <a:p>
            <a:pPr lvl="1"/>
            <a:r>
              <a:rPr lang="en-US" dirty="0"/>
              <a:t>Syntax</a:t>
            </a:r>
          </a:p>
          <a:p>
            <a:pPr lvl="2"/>
            <a:r>
              <a:rPr lang="en-US" b="1" dirty="0"/>
              <a:t>USE</a:t>
            </a:r>
            <a:r>
              <a:rPr lang="en-US" dirty="0"/>
              <a:t> </a:t>
            </a:r>
            <a:r>
              <a:rPr lang="en-US" i="1" dirty="0" err="1"/>
              <a:t>databasename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b="1" dirty="0"/>
              <a:t>USE</a:t>
            </a:r>
            <a:r>
              <a:rPr lang="en-US" dirty="0"/>
              <a:t> </a:t>
            </a:r>
            <a:r>
              <a:rPr lang="en-US" dirty="0" err="1"/>
              <a:t>testDB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5465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relation</a:t>
            </a:r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r>
              <a:rPr lang="en-US" dirty="0"/>
              <a:t>(</a:t>
            </a:r>
          </a:p>
          <a:p>
            <a:pPr marL="914400" lvl="2" indent="0">
              <a:buNone/>
            </a:pPr>
            <a:r>
              <a:rPr lang="en-US" i="1" dirty="0"/>
              <a:t>	attribute1	datatype,</a:t>
            </a:r>
          </a:p>
          <a:p>
            <a:pPr marL="914400" lvl="2" indent="0">
              <a:buNone/>
            </a:pPr>
            <a:r>
              <a:rPr lang="en-US" i="1" dirty="0"/>
              <a:t>	attribute2	datatype,</a:t>
            </a:r>
          </a:p>
          <a:p>
            <a:pPr marL="914400" lvl="2" indent="0">
              <a:buNone/>
            </a:pPr>
            <a:r>
              <a:rPr lang="en-US" i="1" dirty="0"/>
              <a:t>	attribute3	datatype,</a:t>
            </a:r>
          </a:p>
          <a:p>
            <a:pPr marL="914400" lvl="2" indent="0">
              <a:buNone/>
            </a:pPr>
            <a:r>
              <a:rPr lang="en-US" i="1" dirty="0"/>
              <a:t>	…		…	</a:t>
            </a:r>
          </a:p>
          <a:p>
            <a:pPr marL="914400" lvl="2" indent="0">
              <a:buNone/>
            </a:pPr>
            <a:r>
              <a:rPr lang="en-US" dirty="0"/>
              <a:t>); 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Full list of MySQL Data Types</a:t>
            </a:r>
          </a:p>
          <a:p>
            <a:pPr marL="1200150" lvl="2"/>
            <a:r>
              <a:rPr lang="en-US" dirty="0">
                <a:hlinkClick r:id="rId3"/>
              </a:rPr>
              <a:t>https://www.w3schools.com/MySQL/mysql_datatypes.asp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941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relation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deptno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deptname</a:t>
            </a:r>
            <a:r>
              <a:rPr lang="en-US" dirty="0"/>
              <a:t>	varchar(45),</a:t>
            </a:r>
          </a:p>
          <a:p>
            <a:pPr marL="914400" lvl="2" indent="0">
              <a:buNone/>
            </a:pPr>
            <a:r>
              <a:rPr lang="en-US" dirty="0"/>
              <a:t>	floor		</a:t>
            </a:r>
            <a:r>
              <a:rPr lang="en-US" dirty="0" err="1"/>
              <a:t>int</a:t>
            </a:r>
            <a:r>
              <a:rPr lang="en-US" i="1" dirty="0"/>
              <a:t>	</a:t>
            </a:r>
          </a:p>
          <a:p>
            <a:pPr marL="914400" lvl="2" indent="0">
              <a:buNone/>
            </a:pPr>
            <a:r>
              <a:rPr lang="en-US" dirty="0"/>
              <a:t>); </a:t>
            </a:r>
          </a:p>
          <a:p>
            <a:pPr marL="914400" lvl="2" indent="0">
              <a:buNone/>
            </a:pPr>
            <a:endParaRPr lang="en-US" dirty="0"/>
          </a:p>
          <a:p>
            <a:pPr marL="1200150" lvl="2"/>
            <a:r>
              <a:rPr lang="en-US" dirty="0"/>
              <a:t>The empty </a:t>
            </a:r>
            <a:r>
              <a:rPr lang="en-US" altLang="ko-KR" dirty="0"/>
              <a:t>DEPARTMENT</a:t>
            </a:r>
            <a:r>
              <a:rPr lang="en-US" dirty="0"/>
              <a:t> relation will now look like this:</a:t>
            </a: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5157192"/>
            <a:ext cx="56673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57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Drop an existing relation in a database</a:t>
            </a:r>
          </a:p>
          <a:p>
            <a:pPr lvl="1"/>
            <a:r>
              <a:rPr lang="en-US" dirty="0"/>
              <a:t>Syntax</a:t>
            </a:r>
          </a:p>
          <a:p>
            <a:pPr lvl="2"/>
            <a:r>
              <a:rPr lang="en-US" b="1" dirty="0"/>
              <a:t>DROP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b="1" dirty="0"/>
              <a:t>DROP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department;</a:t>
            </a:r>
          </a:p>
          <a:p>
            <a:pPr lvl="2"/>
            <a:endParaRPr lang="en-US" dirty="0"/>
          </a:p>
          <a:p>
            <a:r>
              <a:rPr lang="en-US" dirty="0"/>
              <a:t>Delete the data inside a relation, but not the relation itself</a:t>
            </a:r>
          </a:p>
          <a:p>
            <a:pPr lvl="1"/>
            <a:r>
              <a:rPr lang="en-US" dirty="0"/>
              <a:t>Syntax</a:t>
            </a:r>
          </a:p>
          <a:p>
            <a:pPr lvl="2"/>
            <a:r>
              <a:rPr lang="en-US" b="1" dirty="0"/>
              <a:t>TRUNCATE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b="1" dirty="0"/>
              <a:t>TRUNCATE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4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relation – Add attribute</a:t>
            </a:r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i="1" dirty="0" err="1"/>
              <a:t>relation_name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ADD</a:t>
            </a:r>
            <a:r>
              <a:rPr lang="en-US" dirty="0"/>
              <a:t> </a:t>
            </a:r>
            <a:r>
              <a:rPr lang="en-US" i="1" dirty="0" err="1"/>
              <a:t>attribute_name</a:t>
            </a:r>
            <a:r>
              <a:rPr lang="en-US" dirty="0"/>
              <a:t> </a:t>
            </a:r>
            <a:r>
              <a:rPr lang="en-US" i="1" dirty="0"/>
              <a:t>datatype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ADD</a:t>
            </a:r>
            <a:r>
              <a:rPr lang="en-US" dirty="0"/>
              <a:t> </a:t>
            </a:r>
            <a:r>
              <a:rPr lang="en-US" dirty="0" err="1"/>
              <a:t>phonenumber</a:t>
            </a:r>
            <a:r>
              <a:rPr lang="en-US" dirty="0"/>
              <a:t> varchar(45);</a:t>
            </a:r>
          </a:p>
          <a:p>
            <a:pPr marL="1200150"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53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relation – Drop attribute</a:t>
            </a:r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i="1" dirty="0" err="1"/>
              <a:t>relation_name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DROP COLUMN </a:t>
            </a:r>
            <a:r>
              <a:rPr lang="en-US" i="1" dirty="0" err="1"/>
              <a:t>attribute_name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DROP COLUMN</a:t>
            </a:r>
            <a:r>
              <a:rPr lang="en-US" dirty="0"/>
              <a:t> </a:t>
            </a:r>
            <a:r>
              <a:rPr lang="en-US" dirty="0" err="1"/>
              <a:t>phonenumber</a:t>
            </a:r>
            <a:r>
              <a:rPr lang="en-US" dirty="0"/>
              <a:t>;</a:t>
            </a:r>
          </a:p>
          <a:p>
            <a:pPr marL="1200150"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29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relation – Change attribute name</a:t>
            </a:r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i="1" dirty="0" err="1"/>
              <a:t>relation_name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CHANGE </a:t>
            </a:r>
            <a:r>
              <a:rPr lang="en-US" i="1" dirty="0" err="1"/>
              <a:t>old_attribute_name</a:t>
            </a:r>
            <a:r>
              <a:rPr lang="en-US" i="1" dirty="0"/>
              <a:t> </a:t>
            </a:r>
            <a:r>
              <a:rPr lang="en-US" i="1" dirty="0" err="1"/>
              <a:t>new_attribute_name</a:t>
            </a:r>
            <a:r>
              <a:rPr lang="en-US" i="1" dirty="0"/>
              <a:t> datatype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CHANGE </a:t>
            </a:r>
            <a:r>
              <a:rPr lang="en-US" dirty="0" err="1"/>
              <a:t>deptname</a:t>
            </a:r>
            <a:r>
              <a:rPr lang="en-US" dirty="0"/>
              <a:t> </a:t>
            </a:r>
            <a:r>
              <a:rPr lang="en-US" dirty="0" err="1"/>
              <a:t>departmentname</a:t>
            </a:r>
            <a:r>
              <a:rPr lang="en-US" dirty="0"/>
              <a:t> varchar(45);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4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relation – Modify attribute</a:t>
            </a:r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i="1" dirty="0" err="1"/>
              <a:t>relation_name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MODIFY COLUMN </a:t>
            </a:r>
            <a:r>
              <a:rPr lang="en-US" i="1" dirty="0" err="1"/>
              <a:t>attribute_name</a:t>
            </a:r>
            <a:r>
              <a:rPr lang="en-US" dirty="0"/>
              <a:t> </a:t>
            </a:r>
            <a:r>
              <a:rPr lang="en-US" i="1" dirty="0"/>
              <a:t>datatype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MODIFY COLUMN</a:t>
            </a:r>
            <a:r>
              <a:rPr lang="en-US" dirty="0"/>
              <a:t> floor varchar(45);</a:t>
            </a:r>
          </a:p>
          <a:p>
            <a:pPr marL="1200150"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906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SQL constraints are used to specify rules for the data in a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MySQL constraints</a:t>
            </a:r>
          </a:p>
          <a:p>
            <a:pPr lvl="2"/>
            <a:r>
              <a:rPr lang="en-US" b="1" dirty="0"/>
              <a:t>NOT NULL</a:t>
            </a:r>
          </a:p>
          <a:p>
            <a:pPr lvl="2"/>
            <a:r>
              <a:rPr lang="en-US" b="1" dirty="0"/>
              <a:t>PRIMARY KEY </a:t>
            </a:r>
          </a:p>
          <a:p>
            <a:pPr lvl="2"/>
            <a:r>
              <a:rPr lang="en-US" b="1" dirty="0"/>
              <a:t>FOREIGN KEY </a:t>
            </a:r>
          </a:p>
          <a:p>
            <a:pPr lvl="2"/>
            <a:r>
              <a:rPr lang="en-US" b="1" dirty="0"/>
              <a:t>UNIQUE</a:t>
            </a:r>
            <a:endParaRPr lang="en-US" dirty="0"/>
          </a:p>
          <a:p>
            <a:pPr lvl="2"/>
            <a:r>
              <a:rPr lang="en-US" b="1" dirty="0"/>
              <a:t>CHECK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DEFAULT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CREATE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04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 Constraints in MySQL Workbench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01" y="1815033"/>
            <a:ext cx="6308197" cy="4494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직사각형 12"/>
          <p:cNvSpPr/>
          <p:nvPr/>
        </p:nvSpPr>
        <p:spPr>
          <a:xfrm>
            <a:off x="3851920" y="2852936"/>
            <a:ext cx="324036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65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Constraints can be specified when the relation is created with the CREATE TABLE statement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can also specify constraints after the relation is created with the ALTER TABLE statement</a:t>
            </a:r>
          </a:p>
          <a:p>
            <a:endParaRPr lang="en-US" dirty="0"/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r>
              <a:rPr lang="en-US" dirty="0"/>
              <a:t>(</a:t>
            </a:r>
          </a:p>
          <a:p>
            <a:pPr marL="914400" lvl="2" indent="0">
              <a:buNone/>
            </a:pPr>
            <a:r>
              <a:rPr lang="en-US" i="1" dirty="0"/>
              <a:t>	attribute1	datatype		</a:t>
            </a:r>
            <a:r>
              <a:rPr lang="en-US" i="1" dirty="0">
                <a:solidFill>
                  <a:srgbClr val="0070C0"/>
                </a:solidFill>
              </a:rPr>
              <a:t>constraint</a:t>
            </a:r>
            <a:r>
              <a:rPr lang="en-US" i="1" dirty="0"/>
              <a:t>,</a:t>
            </a:r>
          </a:p>
          <a:p>
            <a:pPr marL="914400" lvl="2" indent="0">
              <a:buNone/>
            </a:pPr>
            <a:r>
              <a:rPr lang="en-US" i="1" dirty="0"/>
              <a:t>	attribute2	datatype		</a:t>
            </a:r>
            <a:r>
              <a:rPr lang="en-US" i="1" dirty="0">
                <a:solidFill>
                  <a:srgbClr val="0070C0"/>
                </a:solidFill>
              </a:rPr>
              <a:t>constraint</a:t>
            </a:r>
            <a:r>
              <a:rPr lang="en-US" i="1" dirty="0"/>
              <a:t>,</a:t>
            </a:r>
          </a:p>
          <a:p>
            <a:pPr marL="914400" lvl="2" indent="0">
              <a:buNone/>
            </a:pPr>
            <a:r>
              <a:rPr lang="en-US" i="1" dirty="0"/>
              <a:t>	attribute3	datatype		</a:t>
            </a:r>
            <a:r>
              <a:rPr lang="en-US" i="1" dirty="0">
                <a:solidFill>
                  <a:srgbClr val="0070C0"/>
                </a:solidFill>
              </a:rPr>
              <a:t>constraint</a:t>
            </a:r>
            <a:r>
              <a:rPr lang="en-US" i="1" dirty="0"/>
              <a:t>,</a:t>
            </a:r>
          </a:p>
          <a:p>
            <a:pPr marL="914400" lvl="2" indent="0">
              <a:buNone/>
            </a:pPr>
            <a:r>
              <a:rPr lang="en-US" i="1" dirty="0"/>
              <a:t>	…		…	</a:t>
            </a:r>
          </a:p>
          <a:p>
            <a:pPr marL="914400" lvl="2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70864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NOT NULL constraint</a:t>
            </a:r>
          </a:p>
          <a:p>
            <a:pPr lvl="1"/>
            <a:r>
              <a:rPr lang="en-US" dirty="0"/>
              <a:t>By default, an attribute can hold NULL values</a:t>
            </a:r>
          </a:p>
          <a:p>
            <a:pPr lvl="2"/>
            <a:r>
              <a:rPr lang="en-US" dirty="0"/>
              <a:t>The NOT NULL constraint enforces an attribute to NOT accept NULL values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deptno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NOT NULL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deptname</a:t>
            </a:r>
            <a:r>
              <a:rPr lang="en-US" dirty="0"/>
              <a:t>	varchar(45)	</a:t>
            </a:r>
            <a:r>
              <a:rPr lang="en-US" dirty="0">
                <a:solidFill>
                  <a:srgbClr val="0070C0"/>
                </a:solidFill>
              </a:rPr>
              <a:t>NOT NULL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floor		</a:t>
            </a:r>
            <a:r>
              <a:rPr lang="en-US" dirty="0" err="1"/>
              <a:t>int</a:t>
            </a:r>
            <a:r>
              <a:rPr lang="en-US" i="1" dirty="0"/>
              <a:t>	</a:t>
            </a:r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</a:t>
            </a:r>
          </a:p>
          <a:p>
            <a:pPr marL="97155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71550" lvl="2" indent="0">
              <a:buNone/>
            </a:pPr>
            <a:r>
              <a:rPr lang="en-US" b="1" dirty="0"/>
              <a:t>MODIFY</a:t>
            </a:r>
            <a:r>
              <a:rPr lang="en-US" dirty="0"/>
              <a:t> floor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/>
              <a:t>NOT NULL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509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PRIMARY KEY constraint</a:t>
            </a:r>
          </a:p>
          <a:p>
            <a:pPr lvl="1"/>
            <a:r>
              <a:rPr lang="en-US" dirty="0"/>
              <a:t>The PRIMARY KEY constraint uniquely identifies each tuple in a relation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Primary keys must contain </a:t>
            </a:r>
            <a:r>
              <a:rPr lang="en-US" altLang="ko-KR" dirty="0"/>
              <a:t>unique</a:t>
            </a:r>
            <a:r>
              <a:rPr lang="en-US" dirty="0"/>
              <a:t> values, and cannot contain NULL values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deptno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NOT NULL,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deptname</a:t>
            </a:r>
            <a:r>
              <a:rPr lang="en-US" dirty="0"/>
              <a:t>	varchar(45)	NOT NULL,</a:t>
            </a:r>
          </a:p>
          <a:p>
            <a:pPr marL="914400" lvl="2" indent="0">
              <a:buNone/>
            </a:pPr>
            <a:r>
              <a:rPr lang="en-US" dirty="0"/>
              <a:t>	floor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CONSTRAINT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PK_Department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PRIMARY KEY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deptno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69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KEY constraint</a:t>
            </a:r>
          </a:p>
          <a:p>
            <a:pPr lvl="1"/>
            <a:r>
              <a:rPr lang="en-US" dirty="0"/>
              <a:t>You can also drop PRIMARY KEY constraint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DROP PRIMARY KEY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To create a PRIMARY KEY constraint on the “</a:t>
            </a:r>
            <a:r>
              <a:rPr lang="en-US" dirty="0" err="1"/>
              <a:t>deptno</a:t>
            </a:r>
            <a:r>
              <a:rPr lang="en-US" dirty="0"/>
              <a:t>” attribute when the relation is already created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department</a:t>
            </a:r>
          </a:p>
          <a:p>
            <a:pPr marL="914400" lvl="2" indent="0">
              <a:buNone/>
            </a:pPr>
            <a:r>
              <a:rPr lang="en-US" b="1" dirty="0"/>
              <a:t>ADD CONSTRAINT </a:t>
            </a:r>
            <a:r>
              <a:rPr lang="en-US" dirty="0" err="1"/>
              <a:t>PK_Department</a:t>
            </a:r>
            <a:r>
              <a:rPr lang="en-US" b="1" dirty="0"/>
              <a:t> PRIMARY KEY </a:t>
            </a:r>
            <a:r>
              <a:rPr lang="en-US" dirty="0"/>
              <a:t>(</a:t>
            </a:r>
            <a:r>
              <a:rPr lang="en-US" dirty="0" err="1"/>
              <a:t>deptno</a:t>
            </a: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33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FOREIGN KEY constraint</a:t>
            </a:r>
          </a:p>
          <a:p>
            <a:pPr lvl="1"/>
            <a:r>
              <a:rPr lang="en-US" altLang="ko-KR" dirty="0"/>
              <a:t>Used to </a:t>
            </a:r>
            <a:r>
              <a:rPr lang="en-US" dirty="0"/>
              <a:t>create a relationship between two </a:t>
            </a:r>
            <a:r>
              <a:rPr lang="en-US" altLang="ko-KR" dirty="0"/>
              <a:t>relations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Types of foreign key</a:t>
            </a:r>
          </a:p>
          <a:p>
            <a:pPr lvl="2"/>
            <a:r>
              <a:rPr lang="en-US" dirty="0"/>
              <a:t>Foreign key referencing the primary key of another relation</a:t>
            </a:r>
          </a:p>
          <a:p>
            <a:pPr lvl="2"/>
            <a:r>
              <a:rPr lang="en-US" dirty="0"/>
              <a:t>Foreign key referencing the primary key of its own relation</a:t>
            </a:r>
          </a:p>
          <a:p>
            <a:pPr lvl="2"/>
            <a:r>
              <a:rPr lang="en-US" dirty="0"/>
              <a:t>Foreign key that is a composite of the primary keys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relation with the foreign key is called the </a:t>
            </a:r>
            <a:r>
              <a:rPr lang="en-US" b="1" dirty="0"/>
              <a:t>referencing relation </a:t>
            </a:r>
            <a:r>
              <a:rPr lang="en-US" dirty="0"/>
              <a:t>(or child relation), and the relation with the primary key is called the </a:t>
            </a:r>
            <a:r>
              <a:rPr lang="en-US" b="1" dirty="0"/>
              <a:t>referenced relation </a:t>
            </a:r>
            <a:r>
              <a:rPr lang="en-US" dirty="0"/>
              <a:t>(or parent relation)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013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FOREIGN KEY constraint</a:t>
            </a:r>
          </a:p>
          <a:p>
            <a:pPr lvl="1"/>
            <a:r>
              <a:rPr lang="en-US" dirty="0"/>
              <a:t>Referencing relation: EMPLOYEE; Referenced relation : DEPARTMENT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2795225"/>
            <a:ext cx="5279726" cy="3828653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 flipV="1">
            <a:off x="3467447" y="5039702"/>
            <a:ext cx="0" cy="288032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467447" y="5039702"/>
            <a:ext cx="4032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7499895" y="3023478"/>
            <a:ext cx="0" cy="2016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067847" y="3023478"/>
            <a:ext cx="432048" cy="0"/>
          </a:xfrm>
          <a:prstGeom prst="line">
            <a:avLst/>
          </a:prstGeom>
          <a:ln>
            <a:head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37452" y="5044979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Referencing</a:t>
            </a:r>
          </a:p>
        </p:txBody>
      </p:sp>
      <p:cxnSp>
        <p:nvCxnSpPr>
          <p:cNvPr id="30" name="직선 연결선 29"/>
          <p:cNvCxnSpPr/>
          <p:nvPr/>
        </p:nvCxnSpPr>
        <p:spPr>
          <a:xfrm flipV="1">
            <a:off x="5508104" y="258201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275856" y="2582010"/>
            <a:ext cx="0" cy="288032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275856" y="2582010"/>
            <a:ext cx="2232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25148" y="2276872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Referencing</a:t>
            </a:r>
          </a:p>
        </p:txBody>
      </p:sp>
    </p:spTree>
    <p:extLst>
      <p:ext uri="{BB962C8B-B14F-4D97-AF65-F5344CB8AC3E}">
        <p14:creationId xmlns:p14="http://schemas.microsoft.com/office/powerpoint/2010/main" val="835590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54461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FOREIGN KEY constraint</a:t>
            </a:r>
          </a:p>
          <a:p>
            <a:pPr lvl="1"/>
            <a:r>
              <a:rPr lang="en-US" altLang="ko-KR" dirty="0"/>
              <a:t>Syntax</a:t>
            </a:r>
          </a:p>
          <a:p>
            <a:pPr marL="914400" lvl="2" indent="0">
              <a:buNone/>
            </a:pPr>
            <a:r>
              <a:rPr lang="en-US" altLang="ko-KR" b="1" dirty="0"/>
              <a:t>CONSTRAINT</a:t>
            </a:r>
            <a:r>
              <a:rPr lang="en-US" altLang="ko-KR" dirty="0"/>
              <a:t> </a:t>
            </a:r>
            <a:r>
              <a:rPr lang="en-US" altLang="ko-KR" i="1" dirty="0" err="1"/>
              <a:t>FK_name</a:t>
            </a:r>
            <a:r>
              <a:rPr lang="en-US" altLang="ko-KR" dirty="0"/>
              <a:t> </a:t>
            </a:r>
          </a:p>
          <a:p>
            <a:pPr marL="914400" lvl="2" indent="0">
              <a:buNone/>
            </a:pPr>
            <a:r>
              <a:rPr lang="en-US" altLang="ko-KR" b="1" dirty="0"/>
              <a:t>FOREIGN KEY </a:t>
            </a:r>
            <a:r>
              <a:rPr lang="en-US" altLang="ko-KR" dirty="0"/>
              <a:t>(</a:t>
            </a:r>
            <a:r>
              <a:rPr lang="en-US" altLang="ko-KR" i="1" dirty="0" err="1"/>
              <a:t>FK_attribute</a:t>
            </a:r>
            <a:r>
              <a:rPr lang="en-US" altLang="ko-KR" dirty="0"/>
              <a:t>) </a:t>
            </a:r>
            <a:r>
              <a:rPr lang="en-US" altLang="ko-KR" b="1" dirty="0"/>
              <a:t>REFERENCES</a:t>
            </a:r>
            <a:r>
              <a:rPr lang="en-US" altLang="ko-KR" dirty="0"/>
              <a:t> </a:t>
            </a:r>
            <a:r>
              <a:rPr lang="en-US" altLang="ko-KR" i="1" dirty="0" err="1"/>
              <a:t>parent_relation</a:t>
            </a:r>
            <a:r>
              <a:rPr lang="en-US" altLang="ko-KR" i="1" dirty="0"/>
              <a:t>(</a:t>
            </a:r>
            <a:r>
              <a:rPr lang="en-US" altLang="ko-KR" i="1" dirty="0" err="1"/>
              <a:t>PK_attribute</a:t>
            </a:r>
            <a:r>
              <a:rPr lang="en-US" altLang="ko-KR" i="1" dirty="0"/>
              <a:t>)</a:t>
            </a:r>
            <a:endParaRPr lang="en-US" i="1" dirty="0"/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employee(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empno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NOT NULL,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empname</a:t>
            </a:r>
            <a:r>
              <a:rPr lang="en-US" dirty="0"/>
              <a:t>		varchar(45),</a:t>
            </a:r>
          </a:p>
          <a:p>
            <a:pPr marL="914400" lvl="2" indent="0">
              <a:buNone/>
            </a:pPr>
            <a:r>
              <a:rPr lang="en-US" dirty="0"/>
              <a:t>	title		varchar(45),</a:t>
            </a:r>
          </a:p>
          <a:p>
            <a:pPr marL="914400" lvl="2" indent="0">
              <a:buNone/>
            </a:pPr>
            <a:r>
              <a:rPr lang="en-US" dirty="0"/>
              <a:t>	manager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salary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PK_Employee</a:t>
            </a:r>
            <a:r>
              <a:rPr lang="en-US" dirty="0"/>
              <a:t> </a:t>
            </a:r>
            <a:r>
              <a:rPr lang="en-US" b="1" dirty="0"/>
              <a:t>PRIMARY KEY </a:t>
            </a: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),</a:t>
            </a:r>
            <a:endParaRPr lang="en-US" i="1" dirty="0"/>
          </a:p>
          <a:p>
            <a:pPr marL="914400" lvl="2" indent="0"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CONSTRAINT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FK_Employee_Manager</a:t>
            </a:r>
            <a:endParaRPr lang="en-US" dirty="0">
              <a:solidFill>
                <a:srgbClr val="0070C0"/>
              </a:solidFill>
            </a:endParaRPr>
          </a:p>
          <a:p>
            <a:pPr marL="914400" lvl="2" indent="0">
              <a:buNone/>
            </a:pPr>
            <a:r>
              <a:rPr lang="en-US" b="1" dirty="0">
                <a:solidFill>
                  <a:srgbClr val="0070C0"/>
                </a:solidFill>
              </a:rPr>
              <a:t>	FOREIGN KEY </a:t>
            </a:r>
            <a:r>
              <a:rPr lang="en-US" dirty="0">
                <a:solidFill>
                  <a:srgbClr val="0070C0"/>
                </a:solidFill>
              </a:rPr>
              <a:t>(manager) </a:t>
            </a:r>
            <a:r>
              <a:rPr lang="en-US" b="1" dirty="0">
                <a:solidFill>
                  <a:srgbClr val="0070C0"/>
                </a:solidFill>
              </a:rPr>
              <a:t>REFERENCES</a:t>
            </a:r>
            <a:r>
              <a:rPr lang="en-US" dirty="0">
                <a:solidFill>
                  <a:srgbClr val="0070C0"/>
                </a:solidFill>
              </a:rPr>
              <a:t> employee(</a:t>
            </a:r>
            <a:r>
              <a:rPr lang="en-US" dirty="0" err="1">
                <a:solidFill>
                  <a:srgbClr val="0070C0"/>
                </a:solidFill>
              </a:rPr>
              <a:t>empno</a:t>
            </a:r>
            <a:r>
              <a:rPr lang="en-US" dirty="0">
                <a:solidFill>
                  <a:srgbClr val="0070C0"/>
                </a:solidFill>
              </a:rPr>
              <a:t>),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CONSTRAINT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FK_Department_Employee</a:t>
            </a:r>
            <a:endParaRPr lang="en-US" dirty="0">
              <a:solidFill>
                <a:srgbClr val="0070C0"/>
              </a:solidFill>
            </a:endParaRPr>
          </a:p>
          <a:p>
            <a:pPr marL="914400" lvl="2" indent="0"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FOREIGN KEY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dno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b="1" dirty="0">
                <a:solidFill>
                  <a:srgbClr val="0070C0"/>
                </a:solidFill>
              </a:rPr>
              <a:t>REFERENCES</a:t>
            </a:r>
            <a:r>
              <a:rPr lang="en-US" dirty="0">
                <a:solidFill>
                  <a:srgbClr val="0070C0"/>
                </a:solidFill>
              </a:rPr>
              <a:t> department(</a:t>
            </a:r>
            <a:r>
              <a:rPr lang="en-US" dirty="0" err="1">
                <a:solidFill>
                  <a:srgbClr val="0070C0"/>
                </a:solidFill>
              </a:rPr>
              <a:t>deptno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022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FOREIGN KEY constraint</a:t>
            </a:r>
          </a:p>
          <a:p>
            <a:pPr lvl="1"/>
            <a:r>
              <a:rPr lang="en-US" dirty="0"/>
              <a:t>To drop FOREIGN KEY constraint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employee</a:t>
            </a:r>
          </a:p>
          <a:p>
            <a:pPr marL="914400" lvl="2" indent="0">
              <a:buNone/>
            </a:pPr>
            <a:r>
              <a:rPr lang="en-US" b="1" dirty="0"/>
              <a:t>DROP FOREIGN KEY</a:t>
            </a:r>
            <a:r>
              <a:rPr lang="en-US" dirty="0"/>
              <a:t> </a:t>
            </a:r>
            <a:r>
              <a:rPr lang="en-US" dirty="0" err="1"/>
              <a:t>FK_Department_Employee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To add FOREIGN KEY constraint</a:t>
            </a:r>
          </a:p>
          <a:p>
            <a:pPr marL="914400" lvl="2" indent="0">
              <a:buNone/>
            </a:pPr>
            <a:r>
              <a:rPr lang="en-US" b="1" dirty="0"/>
              <a:t>ALTER TABLE </a:t>
            </a:r>
            <a:r>
              <a:rPr lang="en-US" dirty="0"/>
              <a:t>employee</a:t>
            </a:r>
          </a:p>
          <a:p>
            <a:pPr marL="914400" lvl="2" indent="0">
              <a:buNone/>
            </a:pPr>
            <a:r>
              <a:rPr lang="en-US" b="1" dirty="0"/>
              <a:t>ADD CONSTRAINT </a:t>
            </a:r>
            <a:r>
              <a:rPr lang="en-US" dirty="0" err="1"/>
              <a:t>FK_Department_Employee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FOREIGN KEY </a:t>
            </a:r>
            <a:r>
              <a:rPr lang="en-US" dirty="0"/>
              <a:t>(</a:t>
            </a:r>
            <a:r>
              <a:rPr lang="en-US" dirty="0" err="1"/>
              <a:t>dno</a:t>
            </a:r>
            <a:r>
              <a:rPr lang="en-US" dirty="0"/>
              <a:t>) </a:t>
            </a:r>
            <a:r>
              <a:rPr lang="en-US" b="1" dirty="0"/>
              <a:t>REFERENCES</a:t>
            </a:r>
            <a:r>
              <a:rPr lang="en-US" dirty="0"/>
              <a:t> department(</a:t>
            </a:r>
            <a:r>
              <a:rPr lang="en-US" dirty="0" err="1"/>
              <a:t>deptno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3161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en-US" dirty="0"/>
          </a:p>
          <a:p>
            <a:pPr lvl="1"/>
            <a:r>
              <a:rPr lang="en-US" dirty="0"/>
              <a:t>Referencing relation: EMPLOYEE; Referenced relation : DEPARTMENT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2795225"/>
            <a:ext cx="5279726" cy="3828653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 flipV="1">
            <a:off x="3467447" y="5039702"/>
            <a:ext cx="0" cy="288032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467447" y="5039702"/>
            <a:ext cx="4032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7499895" y="3023478"/>
            <a:ext cx="0" cy="2016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7067847" y="3023478"/>
            <a:ext cx="432048" cy="0"/>
          </a:xfrm>
          <a:prstGeom prst="line">
            <a:avLst/>
          </a:prstGeom>
          <a:ln>
            <a:head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37452" y="5044979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Referencing</a:t>
            </a:r>
          </a:p>
        </p:txBody>
      </p:sp>
      <p:cxnSp>
        <p:nvCxnSpPr>
          <p:cNvPr id="30" name="직선 연결선 29"/>
          <p:cNvCxnSpPr/>
          <p:nvPr/>
        </p:nvCxnSpPr>
        <p:spPr>
          <a:xfrm flipV="1">
            <a:off x="5508104" y="258201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275856" y="2582010"/>
            <a:ext cx="0" cy="288032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275856" y="2582010"/>
            <a:ext cx="2232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25148" y="2276872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Referencing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4727" y="6205279"/>
            <a:ext cx="340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1. Create DEPARTMENT table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1442" y="2454065"/>
            <a:ext cx="304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2. Create EMPLOYEE table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153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Summary</a:t>
            </a:r>
            <a:endParaRPr lang="en-US" dirty="0"/>
          </a:p>
          <a:p>
            <a:pPr lvl="1"/>
            <a:r>
              <a:rPr lang="en-US" altLang="ko-KR" dirty="0"/>
              <a:t>First create DEPARTMENT table with PRIMARY KEY constraint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DEPARTMENT Table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department(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deptno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NOT NULL,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deptname</a:t>
            </a:r>
            <a:r>
              <a:rPr lang="en-US" dirty="0"/>
              <a:t>	varchar(45)	NOT NULL,</a:t>
            </a:r>
          </a:p>
          <a:p>
            <a:pPr marL="914400" lvl="2" indent="0">
              <a:buNone/>
            </a:pPr>
            <a:r>
              <a:rPr lang="en-US" dirty="0"/>
              <a:t>	floor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PK_Department</a:t>
            </a:r>
            <a:r>
              <a:rPr lang="en-US" dirty="0"/>
              <a:t> </a:t>
            </a:r>
            <a:r>
              <a:rPr lang="en-US" b="1" dirty="0"/>
              <a:t>PRIMARY KEY </a:t>
            </a:r>
            <a:r>
              <a:rPr lang="en-US" dirty="0"/>
              <a:t>(</a:t>
            </a:r>
            <a:r>
              <a:rPr lang="en-US" dirty="0" err="1"/>
              <a:t>deptno</a:t>
            </a:r>
            <a:r>
              <a:rPr lang="en-US" dirty="0"/>
              <a:t>)</a:t>
            </a:r>
            <a:endParaRPr lang="en-US" i="1" dirty="0"/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40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Definition Language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Summary</a:t>
            </a:r>
          </a:p>
          <a:p>
            <a:pPr lvl="1"/>
            <a:r>
              <a:rPr lang="en-US" altLang="ko-KR" dirty="0"/>
              <a:t>Then create EMPLOYEE table with FOREING KEY constraint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employee(</a:t>
            </a:r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dirty="0" err="1"/>
              <a:t>empno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		</a:t>
            </a:r>
            <a:r>
              <a:rPr lang="en-US" b="1" dirty="0"/>
              <a:t>NOT NULL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empname</a:t>
            </a:r>
            <a:r>
              <a:rPr lang="en-US" dirty="0"/>
              <a:t>	varchar(45),</a:t>
            </a:r>
          </a:p>
          <a:p>
            <a:pPr marL="914400" lvl="2" indent="0">
              <a:buNone/>
            </a:pPr>
            <a:r>
              <a:rPr lang="en-US" dirty="0"/>
              <a:t>	title		varchar(45)</a:t>
            </a:r>
          </a:p>
          <a:p>
            <a:pPr marL="914400" lvl="2" indent="0">
              <a:buNone/>
            </a:pPr>
            <a:r>
              <a:rPr lang="en-US" dirty="0"/>
              <a:t>	manager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salary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 err="1"/>
              <a:t>dno</a:t>
            </a:r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914400" lvl="2" indent="0">
              <a:buNone/>
            </a:pPr>
            <a:r>
              <a:rPr lang="en-US" altLang="ko-KR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PK_Employee</a:t>
            </a:r>
            <a:r>
              <a:rPr lang="en-US" dirty="0"/>
              <a:t> </a:t>
            </a:r>
            <a:r>
              <a:rPr lang="en-US" b="1" dirty="0"/>
              <a:t>PRIMARY KEY </a:t>
            </a:r>
            <a:r>
              <a:rPr lang="en-US" dirty="0"/>
              <a:t>(</a:t>
            </a:r>
            <a:r>
              <a:rPr lang="en-US" dirty="0" err="1"/>
              <a:t>empno</a:t>
            </a:r>
            <a:r>
              <a:rPr lang="en-US" dirty="0"/>
              <a:t>),</a:t>
            </a:r>
            <a:endParaRPr lang="en-US" i="1" dirty="0"/>
          </a:p>
          <a:p>
            <a:pPr marL="914400" lvl="2" indent="0"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FK_Employee_Manager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	FOREIGN KEY </a:t>
            </a:r>
            <a:r>
              <a:rPr lang="en-US" dirty="0"/>
              <a:t>(manager) </a:t>
            </a:r>
            <a:r>
              <a:rPr lang="en-US" b="1" dirty="0"/>
              <a:t>REFERENCES</a:t>
            </a:r>
            <a:r>
              <a:rPr lang="en-US" dirty="0"/>
              <a:t> employee(</a:t>
            </a:r>
            <a:r>
              <a:rPr lang="en-US" dirty="0" err="1"/>
              <a:t>empno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b="1" dirty="0"/>
              <a:t>CONSTRAINT</a:t>
            </a:r>
            <a:r>
              <a:rPr lang="en-US" dirty="0"/>
              <a:t> </a:t>
            </a:r>
            <a:r>
              <a:rPr lang="en-US" dirty="0" err="1"/>
              <a:t>FK_Department_Employee</a:t>
            </a:r>
            <a:endParaRPr lang="en-US" dirty="0"/>
          </a:p>
          <a:p>
            <a:pPr marL="914400" lvl="2" indent="0">
              <a:buNone/>
            </a:pPr>
            <a:r>
              <a:rPr lang="en-US" i="1" dirty="0"/>
              <a:t>	</a:t>
            </a:r>
            <a:r>
              <a:rPr lang="en-US" b="1" dirty="0"/>
              <a:t>FOREIGN KEY</a:t>
            </a:r>
            <a:r>
              <a:rPr lang="en-US" dirty="0"/>
              <a:t> (</a:t>
            </a:r>
            <a:r>
              <a:rPr lang="en-US" dirty="0" err="1"/>
              <a:t>dno</a:t>
            </a:r>
            <a:r>
              <a:rPr lang="en-US" dirty="0"/>
              <a:t>) </a:t>
            </a:r>
            <a:r>
              <a:rPr lang="en-US" b="1" dirty="0"/>
              <a:t>REFERENCES</a:t>
            </a:r>
            <a:r>
              <a:rPr lang="en-US" dirty="0"/>
              <a:t> department(</a:t>
            </a:r>
            <a:r>
              <a:rPr lang="en-US" dirty="0" err="1"/>
              <a:t>deptno</a:t>
            </a:r>
            <a:r>
              <a:rPr lang="en-US" dirty="0"/>
              <a:t>)</a:t>
            </a:r>
            <a:endParaRPr lang="en-US" altLang="ko-KR" dirty="0"/>
          </a:p>
          <a:p>
            <a:pPr marL="914400" lvl="2" indent="0">
              <a:buNone/>
            </a:pPr>
            <a:r>
              <a:rPr lang="en-US" dirty="0"/>
              <a:t>);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952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dirty="0"/>
              <a:t>A language for searching, modifying, inserting and deleting the desired data in the database</a:t>
            </a:r>
          </a:p>
          <a:p>
            <a:pPr lvl="2"/>
            <a:r>
              <a:rPr lang="en-US" dirty="0"/>
              <a:t>DML also known as query language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INSERT</a:t>
            </a:r>
          </a:p>
          <a:p>
            <a:pPr lvl="2"/>
            <a:r>
              <a:rPr lang="en-US" dirty="0"/>
              <a:t>UPDATE</a:t>
            </a:r>
          </a:p>
          <a:p>
            <a:pPr lvl="2"/>
            <a:r>
              <a:rPr lang="en-US" dirty="0"/>
              <a:t>DELETE</a:t>
            </a:r>
          </a:p>
          <a:p>
            <a:pPr lvl="2"/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1926989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INSERT INTO statement</a:t>
            </a:r>
          </a:p>
          <a:p>
            <a:pPr lvl="1"/>
            <a:r>
              <a:rPr lang="en-US" dirty="0"/>
              <a:t>Used to insert tuples into the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Specify both the attributes names and the values to be inserted</a:t>
            </a:r>
          </a:p>
          <a:p>
            <a:pPr marL="914400" lvl="2" indent="0">
              <a:buNone/>
            </a:pPr>
            <a:r>
              <a:rPr lang="en-US" b="1" dirty="0"/>
              <a:t>INSERT INTO</a:t>
            </a:r>
            <a:r>
              <a:rPr lang="en-US" dirty="0"/>
              <a:t> </a:t>
            </a:r>
            <a:r>
              <a:rPr lang="en-US" i="1" dirty="0" err="1"/>
              <a:t>relation_name</a:t>
            </a:r>
            <a:r>
              <a:rPr lang="en-US" dirty="0"/>
              <a:t> (</a:t>
            </a:r>
            <a:r>
              <a:rPr lang="en-US" i="1" dirty="0"/>
              <a:t>attribute1</a:t>
            </a:r>
            <a:r>
              <a:rPr lang="en-US" dirty="0"/>
              <a:t>,</a:t>
            </a:r>
            <a:r>
              <a:rPr lang="en-US" i="1" dirty="0"/>
              <a:t> attribute2</a:t>
            </a:r>
            <a:r>
              <a:rPr lang="en-US" dirty="0"/>
              <a:t>,</a:t>
            </a:r>
            <a:r>
              <a:rPr lang="en-US" i="1" dirty="0"/>
              <a:t> attribute3</a:t>
            </a:r>
            <a:r>
              <a:rPr lang="en-US" dirty="0"/>
              <a:t>, ...) </a:t>
            </a:r>
            <a:r>
              <a:rPr lang="en-US" b="1" dirty="0"/>
              <a:t>VALUES</a:t>
            </a:r>
            <a:r>
              <a:rPr lang="en-US" dirty="0"/>
              <a:t> (</a:t>
            </a:r>
            <a:r>
              <a:rPr lang="en-US" i="1" dirty="0"/>
              <a:t>value1</a:t>
            </a:r>
            <a:r>
              <a:rPr lang="en-US" dirty="0"/>
              <a:t>,</a:t>
            </a:r>
            <a:r>
              <a:rPr lang="en-US" i="1" dirty="0"/>
              <a:t> value2</a:t>
            </a:r>
            <a:r>
              <a:rPr lang="en-US" dirty="0"/>
              <a:t>,</a:t>
            </a:r>
            <a:r>
              <a:rPr lang="en-US" i="1" dirty="0"/>
              <a:t> value3</a:t>
            </a:r>
            <a:r>
              <a:rPr lang="en-US" dirty="0"/>
              <a:t>, ...);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If you are adding values for all the attributes of the relation, you do not need to specify the attribute names in the SQL query</a:t>
            </a:r>
          </a:p>
          <a:p>
            <a:pPr marL="971550" lvl="2" indent="0">
              <a:buNone/>
            </a:pPr>
            <a:r>
              <a:rPr lang="en-US" b="1" dirty="0"/>
              <a:t>INSERT INTO </a:t>
            </a:r>
            <a:r>
              <a:rPr lang="en-US" i="1" dirty="0" err="1"/>
              <a:t>relation_name</a:t>
            </a:r>
            <a:r>
              <a:rPr lang="en-US" i="1" dirty="0"/>
              <a:t> </a:t>
            </a:r>
          </a:p>
          <a:p>
            <a:pPr marL="971550" lvl="2" indent="0">
              <a:buNone/>
            </a:pPr>
            <a:r>
              <a:rPr lang="en-US" b="1" dirty="0"/>
              <a:t>VALUES</a:t>
            </a:r>
            <a:r>
              <a:rPr lang="en-US" dirty="0"/>
              <a:t> (</a:t>
            </a:r>
            <a:r>
              <a:rPr lang="en-US" i="1" dirty="0"/>
              <a:t>value1, value2, value3, ...</a:t>
            </a:r>
            <a:r>
              <a:rPr lang="en-US" dirty="0"/>
              <a:t>);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686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INSERT INTO statement</a:t>
            </a:r>
          </a:p>
          <a:p>
            <a:pPr lvl="1"/>
            <a:r>
              <a:rPr lang="en-US" dirty="0"/>
              <a:t>Example of inserting a single tuple</a:t>
            </a:r>
          </a:p>
          <a:p>
            <a:pPr marL="914400" lvl="2" indent="0">
              <a:buNone/>
            </a:pPr>
            <a:r>
              <a:rPr lang="en-US" b="1" dirty="0"/>
              <a:t>INSERT INTO </a:t>
            </a:r>
            <a:r>
              <a:rPr lang="en-US" dirty="0"/>
              <a:t>department (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deptname</a:t>
            </a:r>
            <a:r>
              <a:rPr lang="en-US" dirty="0"/>
              <a:t>, floor)</a:t>
            </a:r>
          </a:p>
          <a:p>
            <a:pPr marL="914400" lvl="2" indent="0">
              <a:buNone/>
            </a:pPr>
            <a:r>
              <a:rPr lang="en-US" b="1" dirty="0"/>
              <a:t>VALUES</a:t>
            </a:r>
            <a:r>
              <a:rPr lang="en-US" dirty="0"/>
              <a:t> (1, '</a:t>
            </a:r>
            <a:r>
              <a:rPr lang="ko-KR" altLang="en-US" dirty="0"/>
              <a:t>영업</a:t>
            </a:r>
            <a:r>
              <a:rPr lang="en-US" altLang="ko-KR" dirty="0"/>
              <a:t>'</a:t>
            </a:r>
            <a:r>
              <a:rPr lang="en-US" dirty="0"/>
              <a:t>, 8);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 of inserting multiple tuples</a:t>
            </a:r>
          </a:p>
          <a:p>
            <a:pPr marL="914400" lvl="2" indent="0">
              <a:buNone/>
            </a:pPr>
            <a:r>
              <a:rPr lang="en-US" b="1" dirty="0"/>
              <a:t>INSERT INTO </a:t>
            </a:r>
            <a:r>
              <a:rPr lang="en-US" dirty="0"/>
              <a:t>department </a:t>
            </a:r>
          </a:p>
          <a:p>
            <a:pPr marL="914400" lvl="2" indent="0">
              <a:buNone/>
            </a:pPr>
            <a:r>
              <a:rPr lang="en-US" dirty="0"/>
              <a:t>	(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deptname</a:t>
            </a:r>
            <a:r>
              <a:rPr lang="en-US" dirty="0"/>
              <a:t>, floor)</a:t>
            </a:r>
          </a:p>
          <a:p>
            <a:pPr marL="914400" lvl="2" indent="0">
              <a:buNone/>
            </a:pPr>
            <a:r>
              <a:rPr lang="en-US" b="1" dirty="0"/>
              <a:t>VALUES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dirty="0"/>
              <a:t>	(2, '</a:t>
            </a:r>
            <a:r>
              <a:rPr lang="ko-KR" altLang="en-US" dirty="0"/>
              <a:t>기획</a:t>
            </a:r>
            <a:r>
              <a:rPr lang="en-US" altLang="ko-KR" dirty="0"/>
              <a:t>'</a:t>
            </a:r>
            <a:r>
              <a:rPr lang="en-US" dirty="0"/>
              <a:t>, 10),</a:t>
            </a:r>
          </a:p>
          <a:p>
            <a:pPr marL="914400" lvl="2" indent="0">
              <a:buNone/>
            </a:pPr>
            <a:r>
              <a:rPr lang="en-US" dirty="0"/>
              <a:t>	(3, '</a:t>
            </a:r>
            <a:r>
              <a:rPr lang="ko-KR" altLang="en-US" dirty="0"/>
              <a:t>개발</a:t>
            </a:r>
            <a:r>
              <a:rPr lang="en-US" dirty="0"/>
              <a:t>', 9),</a:t>
            </a:r>
          </a:p>
          <a:p>
            <a:pPr marL="914400" lvl="2" indent="0">
              <a:buNone/>
            </a:pPr>
            <a:r>
              <a:rPr lang="en-US" dirty="0"/>
              <a:t>	(4, '</a:t>
            </a:r>
            <a:r>
              <a:rPr lang="ko-KR" altLang="en-US" dirty="0"/>
              <a:t>충무</a:t>
            </a:r>
            <a:r>
              <a:rPr lang="en-US" dirty="0"/>
              <a:t>', 7);</a:t>
            </a:r>
          </a:p>
          <a:p>
            <a:pPr marL="1200150"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53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328592"/>
          </a:xfrm>
        </p:spPr>
        <p:txBody>
          <a:bodyPr>
            <a:normAutofit/>
          </a:bodyPr>
          <a:lstStyle/>
          <a:p>
            <a:r>
              <a:rPr lang="en-US" dirty="0"/>
              <a:t>The INSERT INTO statement</a:t>
            </a:r>
          </a:p>
          <a:p>
            <a:pPr lvl="1"/>
            <a:r>
              <a:rPr lang="en-US" dirty="0"/>
              <a:t>The INSERT INTO statement without attribute names</a:t>
            </a:r>
          </a:p>
          <a:p>
            <a:pPr marL="914400" lvl="2" indent="0">
              <a:buNone/>
            </a:pPr>
            <a:r>
              <a:rPr lang="en-US" b="1" dirty="0"/>
              <a:t>INSERT INTO </a:t>
            </a:r>
            <a:r>
              <a:rPr lang="en-US" dirty="0"/>
              <a:t>employee 	</a:t>
            </a:r>
          </a:p>
          <a:p>
            <a:pPr marL="914400" lvl="2" indent="0">
              <a:buNone/>
            </a:pPr>
            <a:r>
              <a:rPr lang="en-US" b="1" dirty="0"/>
              <a:t>VALUES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dirty="0"/>
              <a:t>	(4377, '</a:t>
            </a:r>
            <a:r>
              <a:rPr lang="ko-KR" altLang="en-US" dirty="0" err="1"/>
              <a:t>이성래</a:t>
            </a:r>
            <a:r>
              <a:rPr lang="en-US" dirty="0"/>
              <a:t>', '</a:t>
            </a:r>
            <a:r>
              <a:rPr lang="ko-KR" altLang="en-US" dirty="0"/>
              <a:t>사장</a:t>
            </a:r>
            <a:r>
              <a:rPr lang="en-US" dirty="0"/>
              <a:t>'</a:t>
            </a:r>
            <a:r>
              <a:rPr lang="en-US" altLang="ko-KR" dirty="0"/>
              <a:t>, NULL, 5000000, 2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(3011, '</a:t>
            </a:r>
            <a:r>
              <a:rPr lang="ko-KR" altLang="en-US" dirty="0" err="1"/>
              <a:t>이수민</a:t>
            </a:r>
            <a:r>
              <a:rPr lang="en-US" dirty="0"/>
              <a:t>', '</a:t>
            </a:r>
            <a:r>
              <a:rPr lang="ko-KR" altLang="en-US" dirty="0"/>
              <a:t>부장</a:t>
            </a:r>
            <a:r>
              <a:rPr lang="en-US" dirty="0"/>
              <a:t>'</a:t>
            </a:r>
            <a:r>
              <a:rPr lang="en-US" altLang="ko-KR" dirty="0"/>
              <a:t>, 4377, 4000000, 3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(3426, '</a:t>
            </a:r>
            <a:r>
              <a:rPr lang="ko-KR" altLang="en-US" dirty="0" err="1"/>
              <a:t>박영권</a:t>
            </a:r>
            <a:r>
              <a:rPr lang="en-US" dirty="0"/>
              <a:t>', '</a:t>
            </a:r>
            <a:r>
              <a:rPr lang="ko-KR" altLang="en-US" dirty="0"/>
              <a:t>과장</a:t>
            </a:r>
            <a:r>
              <a:rPr lang="en-US" dirty="0"/>
              <a:t>'</a:t>
            </a:r>
            <a:r>
              <a:rPr lang="en-US" altLang="ko-KR" dirty="0"/>
              <a:t>, 4377, 3000000, 1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(1003, '</a:t>
            </a:r>
            <a:r>
              <a:rPr lang="ko-KR" altLang="en-US" dirty="0"/>
              <a:t>조민희</a:t>
            </a:r>
            <a:r>
              <a:rPr lang="en-US" dirty="0"/>
              <a:t>', '</a:t>
            </a:r>
            <a:r>
              <a:rPr lang="ko-KR" altLang="en-US" dirty="0"/>
              <a:t>과장</a:t>
            </a:r>
            <a:r>
              <a:rPr lang="en-US" dirty="0"/>
              <a:t>'</a:t>
            </a:r>
            <a:r>
              <a:rPr lang="en-US" altLang="ko-KR" dirty="0"/>
              <a:t>, 4377, 3000000, 2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(2106, '</a:t>
            </a:r>
            <a:r>
              <a:rPr lang="ko-KR" altLang="en-US" dirty="0"/>
              <a:t>김창섭</a:t>
            </a:r>
            <a:r>
              <a:rPr lang="en-US" dirty="0"/>
              <a:t>', '</a:t>
            </a:r>
            <a:r>
              <a:rPr lang="ko-KR" altLang="en-US" dirty="0"/>
              <a:t>대리</a:t>
            </a:r>
            <a:r>
              <a:rPr lang="en-US" dirty="0"/>
              <a:t>'</a:t>
            </a:r>
            <a:r>
              <a:rPr lang="en-US" altLang="ko-KR" dirty="0"/>
              <a:t>, 1003, 2500000, 2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(3427, '</a:t>
            </a:r>
            <a:r>
              <a:rPr lang="ko-KR" altLang="en-US" dirty="0" err="1"/>
              <a:t>최종철</a:t>
            </a:r>
            <a:r>
              <a:rPr lang="en-US" dirty="0"/>
              <a:t>', '</a:t>
            </a:r>
            <a:r>
              <a:rPr lang="ko-KR" altLang="en-US" dirty="0"/>
              <a:t>사원</a:t>
            </a:r>
            <a:r>
              <a:rPr lang="en-US" dirty="0"/>
              <a:t>'</a:t>
            </a:r>
            <a:r>
              <a:rPr lang="en-US" altLang="ko-KR" dirty="0"/>
              <a:t>, 3011, 1500000, 3</a:t>
            </a:r>
            <a:r>
              <a:rPr lang="en-US" dirty="0"/>
              <a:t>),</a:t>
            </a:r>
          </a:p>
          <a:p>
            <a:pPr marL="914400" lvl="2" indent="0">
              <a:buNone/>
            </a:pPr>
            <a:r>
              <a:rPr lang="en-US" dirty="0"/>
              <a:t>	(1365, '</a:t>
            </a:r>
            <a:r>
              <a:rPr lang="ko-KR" altLang="en-US" dirty="0" err="1"/>
              <a:t>김상원</a:t>
            </a:r>
            <a:r>
              <a:rPr lang="en-US" dirty="0"/>
              <a:t>', '</a:t>
            </a:r>
            <a:r>
              <a:rPr lang="ko-KR" altLang="en-US" dirty="0"/>
              <a:t>사원</a:t>
            </a:r>
            <a:r>
              <a:rPr lang="en-US" dirty="0"/>
              <a:t>'</a:t>
            </a:r>
            <a:r>
              <a:rPr lang="en-US" altLang="ko-KR" dirty="0"/>
              <a:t>, 3426, 1500000, 1</a:t>
            </a:r>
            <a:r>
              <a:rPr lang="en-US" dirty="0"/>
              <a:t>);</a:t>
            </a:r>
          </a:p>
          <a:p>
            <a:pPr marL="914400" lvl="2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45927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UPDATE statement</a:t>
            </a:r>
          </a:p>
          <a:p>
            <a:pPr lvl="1"/>
            <a:r>
              <a:rPr lang="en-US" dirty="0"/>
              <a:t>Used to modify the existing tuples in a relation</a:t>
            </a:r>
          </a:p>
          <a:p>
            <a:pPr marL="914400" lvl="2" indent="0">
              <a:buNone/>
            </a:pPr>
            <a:r>
              <a:rPr lang="en-US" b="1" dirty="0"/>
              <a:t>UPDATE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SET</a:t>
            </a:r>
            <a:r>
              <a:rPr lang="en-US" dirty="0"/>
              <a:t> </a:t>
            </a:r>
            <a:r>
              <a:rPr lang="en-US" i="1" dirty="0"/>
              <a:t>attribute1</a:t>
            </a:r>
            <a:r>
              <a:rPr lang="en-US" dirty="0"/>
              <a:t> = </a:t>
            </a:r>
            <a:r>
              <a:rPr lang="en-US" i="1" dirty="0"/>
              <a:t>value1</a:t>
            </a:r>
            <a:r>
              <a:rPr lang="en-US" dirty="0"/>
              <a:t>, </a:t>
            </a:r>
            <a:r>
              <a:rPr lang="en-US" i="1" dirty="0"/>
              <a:t>attribute2</a:t>
            </a:r>
            <a:r>
              <a:rPr lang="en-US" dirty="0"/>
              <a:t> = </a:t>
            </a:r>
            <a:r>
              <a:rPr lang="en-US" i="1" dirty="0"/>
              <a:t>value2</a:t>
            </a:r>
            <a:r>
              <a:rPr lang="en-US" dirty="0"/>
              <a:t>, ...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i="1" dirty="0"/>
              <a:t>condition</a:t>
            </a:r>
            <a:r>
              <a:rPr lang="en-US" dirty="0"/>
              <a:t>;</a:t>
            </a:r>
          </a:p>
          <a:p>
            <a:endParaRPr lang="en-US" dirty="0"/>
          </a:p>
          <a:p>
            <a:pPr lvl="1"/>
            <a:r>
              <a:rPr lang="en-US" dirty="0"/>
              <a:t>Example: Suppose that a person with an employee number 1365</a:t>
            </a:r>
            <a:r>
              <a:rPr lang="ko-KR" altLang="en-US" dirty="0"/>
              <a:t> </a:t>
            </a:r>
            <a:r>
              <a:rPr lang="en-US" altLang="ko-KR" dirty="0"/>
              <a:t>received the promotion from </a:t>
            </a:r>
            <a:r>
              <a:rPr lang="en-US" dirty="0"/>
              <a:t>'</a:t>
            </a:r>
            <a:r>
              <a:rPr lang="ko-KR" altLang="en-US" dirty="0"/>
              <a:t>사원</a:t>
            </a:r>
            <a:r>
              <a:rPr lang="en-US" dirty="0"/>
              <a:t>'</a:t>
            </a:r>
            <a:r>
              <a:rPr lang="ko-KR" altLang="en-US" dirty="0"/>
              <a:t> </a:t>
            </a:r>
            <a:r>
              <a:rPr lang="en-US" altLang="ko-KR" dirty="0"/>
              <a:t>to </a:t>
            </a:r>
            <a:r>
              <a:rPr lang="en-US" dirty="0"/>
              <a:t>'</a:t>
            </a:r>
            <a:r>
              <a:rPr lang="ko-KR" altLang="en-US" dirty="0"/>
              <a:t>대리</a:t>
            </a:r>
            <a:r>
              <a:rPr lang="en-US" dirty="0"/>
              <a:t>'</a:t>
            </a:r>
            <a:r>
              <a:rPr lang="en-US" altLang="ko-KR" dirty="0"/>
              <a:t> and his salary is increased from 1500000 to 2500000. Use UPDATE statement to make this change:</a:t>
            </a:r>
          </a:p>
          <a:p>
            <a:pPr marL="914400" lvl="2" indent="0">
              <a:buNone/>
            </a:pPr>
            <a:r>
              <a:rPr lang="en-US" b="1" dirty="0"/>
              <a:t>UPDATE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SET</a:t>
            </a:r>
            <a:r>
              <a:rPr lang="en-US" dirty="0"/>
              <a:t> title = '</a:t>
            </a:r>
            <a:r>
              <a:rPr lang="ko-KR" altLang="en-US" dirty="0"/>
              <a:t>대리</a:t>
            </a:r>
            <a:r>
              <a:rPr lang="en-US" dirty="0"/>
              <a:t>', salary = </a:t>
            </a:r>
            <a:r>
              <a:rPr lang="en-US" altLang="ko-KR" dirty="0"/>
              <a:t>2500000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empno</a:t>
            </a:r>
            <a:r>
              <a:rPr lang="en-US" dirty="0"/>
              <a:t> = 1365;</a:t>
            </a:r>
          </a:p>
        </p:txBody>
      </p:sp>
    </p:spTree>
    <p:extLst>
      <p:ext uri="{BB962C8B-B14F-4D97-AF65-F5344CB8AC3E}">
        <p14:creationId xmlns:p14="http://schemas.microsoft.com/office/powerpoint/2010/main" val="4204764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DELETE statement</a:t>
            </a:r>
          </a:p>
          <a:p>
            <a:pPr lvl="1"/>
            <a:r>
              <a:rPr lang="en-US" dirty="0"/>
              <a:t>Used to delete existing tuples in a relation</a:t>
            </a:r>
          </a:p>
          <a:p>
            <a:pPr marL="914400" lvl="2" indent="0">
              <a:buNone/>
            </a:pPr>
            <a:r>
              <a:rPr lang="en-US" b="1" dirty="0"/>
              <a:t>DELETE</a:t>
            </a:r>
            <a:r>
              <a:rPr lang="en-US" dirty="0"/>
              <a:t> </a:t>
            </a: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i="1" dirty="0" err="1"/>
              <a:t>relation_name</a:t>
            </a:r>
            <a:r>
              <a:rPr lang="en-US" dirty="0"/>
              <a:t> </a:t>
            </a: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i="1" dirty="0"/>
              <a:t>condition</a:t>
            </a:r>
            <a:r>
              <a:rPr lang="en-US" dirty="0"/>
              <a:t>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Example: Suppose that a person with an employee number 2106 quit the job. Use DELETE statement to remove the tuple related to 2106</a:t>
            </a:r>
          </a:p>
          <a:p>
            <a:pPr marL="914400" lvl="2" indent="0">
              <a:buNone/>
            </a:pPr>
            <a:r>
              <a:rPr lang="en-US" b="1" dirty="0"/>
              <a:t>DELETE</a:t>
            </a:r>
            <a:r>
              <a:rPr lang="en-US" dirty="0"/>
              <a:t> </a:t>
            </a:r>
            <a:r>
              <a:rPr lang="en-US" b="1" dirty="0"/>
              <a:t>FROM</a:t>
            </a:r>
            <a:r>
              <a:rPr lang="en-US" dirty="0"/>
              <a:t> employee </a:t>
            </a: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empno</a:t>
            </a:r>
            <a:r>
              <a:rPr lang="en-US" dirty="0"/>
              <a:t> = 2106;</a:t>
            </a:r>
          </a:p>
        </p:txBody>
      </p:sp>
    </p:spTree>
    <p:extLst>
      <p:ext uri="{BB962C8B-B14F-4D97-AF65-F5344CB8AC3E}">
        <p14:creationId xmlns:p14="http://schemas.microsoft.com/office/powerpoint/2010/main" val="3592601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Used to select/retrieve tuples from a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		[</a:t>
            </a:r>
            <a:r>
              <a:rPr lang="en-US" b="1" dirty="0"/>
              <a:t>DISTINCT</a:t>
            </a:r>
            <a:r>
              <a:rPr lang="en-US" dirty="0"/>
              <a:t>] attribute(s)	(1)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		relation(s)		(2)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WHERE</a:t>
            </a:r>
            <a:r>
              <a:rPr lang="en-US" dirty="0"/>
              <a:t>	condition]		(3)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GROUP BY</a:t>
            </a:r>
            <a:r>
              <a:rPr lang="en-US" dirty="0"/>
              <a:t>	attribute(s)]		(4)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HAVING	</a:t>
            </a:r>
            <a:r>
              <a:rPr lang="en-US" dirty="0"/>
              <a:t>condition]		(5)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ORDER BY</a:t>
            </a:r>
            <a:r>
              <a:rPr lang="en-US" dirty="0"/>
              <a:t>	attribute(s)]		(6)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LIMIT</a:t>
            </a:r>
            <a:r>
              <a:rPr lang="en-US" dirty="0"/>
              <a:t>		number];		(7)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6444208" y="2996952"/>
            <a:ext cx="360040" cy="720080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오른쪽 중괄호 4"/>
          <p:cNvSpPr/>
          <p:nvPr/>
        </p:nvSpPr>
        <p:spPr>
          <a:xfrm>
            <a:off x="6444208" y="3789040"/>
            <a:ext cx="360040" cy="2088232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8264" y="3172326"/>
            <a:ext cx="14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8263" y="443246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862221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Example: Select all attributes of department relation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deptno</a:t>
            </a:r>
            <a:r>
              <a:rPr lang="en-US" dirty="0"/>
              <a:t>, </a:t>
            </a:r>
            <a:r>
              <a:rPr lang="en-US" dirty="0" err="1"/>
              <a:t>deptname</a:t>
            </a:r>
            <a:r>
              <a:rPr lang="en-US" dirty="0"/>
              <a:t>, floor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department;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department;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4293096"/>
            <a:ext cx="3600000" cy="208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98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INSERT INTO </a:t>
            </a:r>
            <a:r>
              <a:rPr lang="en-US" altLang="ko-KR" dirty="0"/>
              <a:t>SELECT </a:t>
            </a:r>
            <a:r>
              <a:rPr lang="en-US" dirty="0"/>
              <a:t>statement</a:t>
            </a:r>
          </a:p>
          <a:p>
            <a:pPr lvl="1"/>
            <a:r>
              <a:rPr lang="en-US" altLang="ko-KR" dirty="0"/>
              <a:t>C</a:t>
            </a:r>
            <a:r>
              <a:rPr lang="en-US" dirty="0"/>
              <a:t>opies data from one table and inserts it into another table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b="1" dirty="0"/>
              <a:t>INSERT INTO</a:t>
            </a:r>
            <a:r>
              <a:rPr lang="en-US" dirty="0"/>
              <a:t> Customers (</a:t>
            </a:r>
            <a:r>
              <a:rPr lang="en-US" dirty="0" err="1"/>
              <a:t>CustomerName</a:t>
            </a:r>
            <a:r>
              <a:rPr lang="en-US" dirty="0"/>
              <a:t>, City, Country)</a:t>
            </a:r>
          </a:p>
          <a:p>
            <a:pPr lvl="2"/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SupplierName</a:t>
            </a:r>
            <a:r>
              <a:rPr lang="en-US" dirty="0"/>
              <a:t>, City, Country FROM Suppliers;</a:t>
            </a:r>
          </a:p>
          <a:p>
            <a:pPr lvl="2"/>
            <a:endParaRPr lang="en-US" dirty="0"/>
          </a:p>
          <a:p>
            <a:r>
              <a:rPr lang="en-US" altLang="ko-KR" dirty="0"/>
              <a:t>The SELECT INTO statement</a:t>
            </a:r>
          </a:p>
          <a:p>
            <a:pPr lvl="1"/>
            <a:r>
              <a:rPr lang="en-US" altLang="ko-KR" dirty="0"/>
              <a:t>C</a:t>
            </a:r>
            <a:r>
              <a:rPr lang="en-US" dirty="0"/>
              <a:t>opies data from one table and inserts it into a new table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b="1" dirty="0"/>
              <a:t>SELECT</a:t>
            </a:r>
            <a:r>
              <a:rPr lang="en-US" dirty="0"/>
              <a:t> * </a:t>
            </a:r>
            <a:r>
              <a:rPr lang="en-US" b="1" dirty="0"/>
              <a:t>INTO</a:t>
            </a:r>
            <a:r>
              <a:rPr lang="en-US" dirty="0"/>
              <a:t> CustomersBackup2017</a:t>
            </a:r>
          </a:p>
          <a:p>
            <a:pPr lvl="2"/>
            <a:r>
              <a:rPr lang="en-US" b="1" dirty="0"/>
              <a:t>FROM</a:t>
            </a:r>
            <a:r>
              <a:rPr lang="en-US" dirty="0"/>
              <a:t> Customers;</a:t>
            </a:r>
          </a:p>
        </p:txBody>
      </p:sp>
    </p:spTree>
    <p:extLst>
      <p:ext uri="{BB962C8B-B14F-4D97-AF65-F5344CB8AC3E}">
        <p14:creationId xmlns:p14="http://schemas.microsoft.com/office/powerpoint/2010/main" val="1019494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Example: Search the titles of all employees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title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employee;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000" y="3284983"/>
            <a:ext cx="1080000" cy="302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7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Example: Search only distinct titles of all employees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DISTINCT</a:t>
            </a:r>
            <a:r>
              <a:rPr lang="en-US" dirty="0"/>
              <a:t> title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employee;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000" y="3356992"/>
            <a:ext cx="1080000" cy="231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21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Example: Retrieve all information about employees in department 2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DNO = 2; 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3717032"/>
            <a:ext cx="69151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57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AND operator</a:t>
            </a:r>
          </a:p>
          <a:p>
            <a:pPr lvl="1"/>
            <a:r>
              <a:rPr lang="en-US" dirty="0"/>
              <a:t>The AND operator displays a tuple if all the conditions separated by AND are TRUE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Search for the names and salaries of employees with a manager position and working in department 1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salary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title = '</a:t>
            </a:r>
            <a:r>
              <a:rPr lang="ko-KR" altLang="en-US" dirty="0"/>
              <a:t>과장</a:t>
            </a:r>
            <a:r>
              <a:rPr lang="en-US" dirty="0"/>
              <a:t>'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dno</a:t>
            </a:r>
            <a:r>
              <a:rPr lang="en-US" dirty="0"/>
              <a:t> = 1;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301" y="5157192"/>
            <a:ext cx="331339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00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SELECT statement – AND operator </a:t>
            </a:r>
          </a:p>
          <a:p>
            <a:pPr lvl="1"/>
            <a:r>
              <a:rPr lang="en-US" dirty="0"/>
              <a:t>Example: Search for the names and salaries of employees whose job title is a manager and do not belong to department 1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salary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title = '</a:t>
            </a:r>
            <a:r>
              <a:rPr lang="ko-KR" altLang="en-US" dirty="0"/>
              <a:t>과장</a:t>
            </a:r>
            <a:r>
              <a:rPr lang="en-US" dirty="0"/>
              <a:t>'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dno</a:t>
            </a:r>
            <a:r>
              <a:rPr lang="en-US" dirty="0"/>
              <a:t> &lt;&gt; 1;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r>
              <a:rPr lang="en-US" dirty="0"/>
              <a:t>Note that in some versions of SQL, &lt;&gt; operator may be written as !=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00" y="4077072"/>
            <a:ext cx="310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57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SELECT statement – AND operator </a:t>
            </a:r>
          </a:p>
          <a:p>
            <a:pPr lvl="1"/>
            <a:r>
              <a:rPr lang="en-US" dirty="0"/>
              <a:t>Example: Search for the names, positions, and salaries of employees with a salary of 3,000,000 won or more and less than 4,500,000 won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title, salary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salary </a:t>
            </a:r>
            <a:r>
              <a:rPr lang="en-US" b="1" dirty="0"/>
              <a:t>BETWEEN</a:t>
            </a:r>
            <a:r>
              <a:rPr lang="en-US" dirty="0"/>
              <a:t> 3000000 </a:t>
            </a:r>
            <a:r>
              <a:rPr lang="en-US" b="1" dirty="0"/>
              <a:t>AND</a:t>
            </a:r>
            <a:r>
              <a:rPr lang="en-US" dirty="0"/>
              <a:t> 4500000;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title, salary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salary &gt;= 3000000 </a:t>
            </a:r>
            <a:r>
              <a:rPr lang="en-US" b="1" dirty="0"/>
              <a:t>AND</a:t>
            </a:r>
            <a:r>
              <a:rPr lang="en-US" dirty="0"/>
              <a:t> salary &lt;= 4500000;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50" y="4869160"/>
            <a:ext cx="39243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77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OR operator </a:t>
            </a:r>
          </a:p>
          <a:p>
            <a:pPr lvl="1"/>
            <a:r>
              <a:rPr lang="en-US" dirty="0"/>
              <a:t>The OR operator displays a tuple if any of the conditions separated by OR is TRUE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Search for employees who have title '</a:t>
            </a:r>
            <a:r>
              <a:rPr lang="ko-KR" altLang="en-US" dirty="0"/>
              <a:t>대리</a:t>
            </a:r>
            <a:r>
              <a:rPr lang="en-US" altLang="ko-KR" dirty="0"/>
              <a:t>' or</a:t>
            </a:r>
            <a:r>
              <a:rPr lang="en-US" dirty="0"/>
              <a:t> '</a:t>
            </a:r>
            <a:r>
              <a:rPr lang="ko-KR" altLang="en-US" dirty="0"/>
              <a:t>사원</a:t>
            </a:r>
            <a:r>
              <a:rPr lang="en-US" altLang="ko-KR" dirty="0"/>
              <a:t>'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title = '</a:t>
            </a:r>
            <a:r>
              <a:rPr lang="ko-KR" altLang="en-US" dirty="0"/>
              <a:t>대리</a:t>
            </a:r>
            <a:r>
              <a:rPr lang="en-US" altLang="ko-KR" dirty="0"/>
              <a:t>' </a:t>
            </a:r>
            <a:r>
              <a:rPr lang="en-US" b="1" dirty="0"/>
              <a:t>OR</a:t>
            </a:r>
            <a:r>
              <a:rPr lang="en-US" dirty="0"/>
              <a:t> title = '</a:t>
            </a:r>
            <a:r>
              <a:rPr lang="ko-KR" altLang="en-US" dirty="0"/>
              <a:t>사원</a:t>
            </a:r>
            <a:r>
              <a:rPr lang="en-US" dirty="0"/>
              <a:t>'</a:t>
            </a:r>
            <a:r>
              <a:rPr lang="en-US" altLang="ko-KR" dirty="0"/>
              <a:t>;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604" y="4941168"/>
            <a:ext cx="4650792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308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NOT operator </a:t>
            </a:r>
          </a:p>
          <a:p>
            <a:pPr lvl="1"/>
            <a:r>
              <a:rPr lang="en-US" dirty="0"/>
              <a:t>The NOT operator displays a tuple if the condition(s) is NOT TRUE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Search all information related to employees except the owner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b="1" dirty="0"/>
              <a:t>NOT</a:t>
            </a:r>
            <a:r>
              <a:rPr lang="en-US" dirty="0"/>
              <a:t> title = </a:t>
            </a:r>
            <a:r>
              <a:rPr lang="en-US" altLang="ko-KR" dirty="0"/>
              <a:t>'</a:t>
            </a:r>
            <a:r>
              <a:rPr lang="ko-KR" altLang="en-US" dirty="0"/>
              <a:t>사장</a:t>
            </a:r>
            <a:r>
              <a:rPr lang="en-US" altLang="ko-KR" dirty="0"/>
              <a:t>'</a:t>
            </a:r>
            <a:r>
              <a:rPr lang="en-US" dirty="0"/>
              <a:t>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984" y="4437112"/>
            <a:ext cx="4922033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88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LIKE operator</a:t>
            </a:r>
          </a:p>
          <a:p>
            <a:pPr lvl="1"/>
            <a:r>
              <a:rPr lang="en-US" dirty="0"/>
              <a:t>Example: Search for the names, titles, and department numbers of employees with the Lee surname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title, </a:t>
            </a:r>
            <a:r>
              <a:rPr lang="en-US" dirty="0" err="1"/>
              <a:t>dno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 </a:t>
            </a:r>
            <a:r>
              <a:rPr lang="en-US" b="1" dirty="0"/>
              <a:t>LIKE</a:t>
            </a:r>
            <a:r>
              <a:rPr lang="en-US" dirty="0"/>
              <a:t> '</a:t>
            </a:r>
            <a:r>
              <a:rPr lang="ko-KR" altLang="en-US" dirty="0"/>
              <a:t>이</a:t>
            </a:r>
            <a:r>
              <a:rPr lang="en-US" altLang="ko-KR" dirty="0"/>
              <a:t>%</a:t>
            </a:r>
            <a:r>
              <a:rPr lang="en-US" dirty="0"/>
              <a:t>';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75" y="4077072"/>
            <a:ext cx="36004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37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LIKE operator</a:t>
            </a:r>
          </a:p>
          <a:p>
            <a:pPr lvl="1"/>
            <a:r>
              <a:rPr lang="en-US" altLang="ko-KR" dirty="0"/>
              <a:t>Other cases of LIKE operator with ‘%’ and ‘_’ keywords</a:t>
            </a:r>
            <a:endParaRPr lang="en-US" dirty="0"/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45" y="2460540"/>
            <a:ext cx="7777509" cy="2801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01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IN operator</a:t>
            </a:r>
          </a:p>
          <a:p>
            <a:pPr lvl="1"/>
            <a:r>
              <a:rPr lang="en-US" dirty="0"/>
              <a:t>Example: Retrieve all information about employees belonging to department 1 or department 3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*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dno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(1, 3);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3933056"/>
            <a:ext cx="67437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47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Arithmetic Operators</a:t>
            </a:r>
          </a:p>
          <a:p>
            <a:pPr lvl="1"/>
            <a:r>
              <a:rPr lang="en-US" dirty="0"/>
              <a:t>Example: Retrieve the names, current salaries, and salaries increased by 10% for employees with a manager position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dirty="0" err="1"/>
              <a:t>empname</a:t>
            </a:r>
            <a:r>
              <a:rPr lang="en-US" dirty="0"/>
              <a:t>, salary, salary * 1.1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newsalary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 title = </a:t>
            </a:r>
            <a:r>
              <a:rPr lang="en-US" altLang="ko-KR" dirty="0"/>
              <a:t>'</a:t>
            </a:r>
            <a:r>
              <a:rPr lang="ko-KR" altLang="en-US" dirty="0"/>
              <a:t>과장</a:t>
            </a:r>
            <a:r>
              <a:rPr lang="en-US" altLang="ko-KR" dirty="0"/>
              <a:t>'</a:t>
            </a:r>
            <a:r>
              <a:rPr lang="en-US" dirty="0"/>
              <a:t>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162" y="4077072"/>
            <a:ext cx="42576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608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– Aggregation Functions</a:t>
            </a:r>
          </a:p>
          <a:p>
            <a:pPr lvl="1"/>
            <a:r>
              <a:rPr lang="en-US" dirty="0"/>
              <a:t>Applied to one attribute of a relation and returns a single value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Can only appear in SELECT and HAVING clauses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Aggregation functions</a:t>
            </a:r>
          </a:p>
          <a:p>
            <a:pPr lvl="2"/>
            <a:r>
              <a:rPr lang="en-US" dirty="0"/>
              <a:t>COUNT – counts the number of tuples or values</a:t>
            </a:r>
          </a:p>
          <a:p>
            <a:pPr lvl="2"/>
            <a:r>
              <a:rPr lang="en-US" dirty="0"/>
              <a:t>SUM – sums the values</a:t>
            </a:r>
          </a:p>
          <a:p>
            <a:pPr lvl="2"/>
            <a:r>
              <a:rPr lang="en-US" dirty="0"/>
              <a:t>AVG – returns the average of values</a:t>
            </a:r>
          </a:p>
          <a:p>
            <a:pPr lvl="2"/>
            <a:r>
              <a:rPr lang="en-US" dirty="0"/>
              <a:t>MAX – returns maximum value</a:t>
            </a:r>
          </a:p>
          <a:p>
            <a:pPr lvl="2"/>
            <a:r>
              <a:rPr lang="en-US" dirty="0"/>
              <a:t>MIN – returns min value</a:t>
            </a:r>
          </a:p>
        </p:txBody>
      </p:sp>
    </p:spTree>
    <p:extLst>
      <p:ext uri="{BB962C8B-B14F-4D97-AF65-F5344CB8AC3E}">
        <p14:creationId xmlns:p14="http://schemas.microsoft.com/office/powerpoint/2010/main" val="10322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10445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SELECT statement – Aggregation Functions</a:t>
            </a:r>
          </a:p>
          <a:p>
            <a:pPr lvl="1"/>
            <a:r>
              <a:rPr lang="en-US" dirty="0"/>
              <a:t>Example: Show the maximum and average salary of all employees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AVG</a:t>
            </a:r>
            <a:r>
              <a:rPr lang="en-US" dirty="0"/>
              <a:t>(salary)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avgsalary</a:t>
            </a:r>
            <a:r>
              <a:rPr lang="en-US" dirty="0"/>
              <a:t>, </a:t>
            </a:r>
            <a:r>
              <a:rPr lang="en-US" b="1" dirty="0"/>
              <a:t>MAX</a:t>
            </a:r>
            <a:r>
              <a:rPr lang="en-US" dirty="0"/>
              <a:t>(salary)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maxsalary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Example: Count all tuples in employee relation</a:t>
            </a:r>
          </a:p>
          <a:p>
            <a:pPr marL="971550" lvl="2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COUNT</a:t>
            </a:r>
            <a:r>
              <a:rPr lang="en-US" dirty="0"/>
              <a:t>(*) </a:t>
            </a:r>
            <a:r>
              <a:rPr lang="en-US" b="1" dirty="0"/>
              <a:t>AS</a:t>
            </a:r>
            <a:r>
              <a:rPr lang="en-US" dirty="0"/>
              <a:t> </a:t>
            </a:r>
            <a:r>
              <a:rPr lang="en-US" dirty="0" err="1"/>
              <a:t>allTuples</a:t>
            </a:r>
            <a:endParaRPr lang="en-US" dirty="0"/>
          </a:p>
          <a:p>
            <a:pPr marL="971550" lvl="2" indent="0">
              <a:buNone/>
            </a:pPr>
            <a:r>
              <a:rPr lang="en-US" b="1" dirty="0"/>
              <a:t>FROM</a:t>
            </a:r>
            <a:r>
              <a:rPr lang="en-US" dirty="0"/>
              <a:t> employee;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488" y="2798980"/>
            <a:ext cx="3589024" cy="90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5301208"/>
            <a:ext cx="1790700" cy="904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37655" y="5373216"/>
            <a:ext cx="1068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allTuples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6348" y="577970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011846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Quiz 1</a:t>
            </a:r>
          </a:p>
          <a:p>
            <a:pPr lvl="1"/>
            <a:r>
              <a:rPr lang="en-US" altLang="ko-KR" dirty="0"/>
              <a:t>Given the following WORLD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Find how many languages are spoken in the USA</a:t>
            </a:r>
            <a:endParaRPr lang="en-US" dirty="0"/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71" y="2276872"/>
            <a:ext cx="6326658" cy="3307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5026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about data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10" y="1988840"/>
            <a:ext cx="6871179" cy="4103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4146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Answer to Query 1</a:t>
            </a:r>
          </a:p>
          <a:p>
            <a:pPr marL="457200" lvl="1" indent="0">
              <a:buNone/>
            </a:pPr>
            <a:r>
              <a:rPr lang="en-US" b="1" dirty="0"/>
              <a:t>SELECT</a:t>
            </a:r>
            <a:r>
              <a:rPr lang="en-US" dirty="0"/>
              <a:t> COUNT(*) </a:t>
            </a:r>
            <a:r>
              <a:rPr lang="en-US" altLang="ko-KR" b="1" dirty="0"/>
              <a:t>AS</a:t>
            </a:r>
            <a:r>
              <a:rPr lang="en-US" altLang="ko-KR" dirty="0"/>
              <a:t> </a:t>
            </a:r>
            <a:r>
              <a:rPr lang="en-US" altLang="ko-KR" dirty="0" err="1"/>
              <a:t>LanguagesInUSA</a:t>
            </a:r>
            <a:endParaRPr lang="en-US" dirty="0"/>
          </a:p>
          <a:p>
            <a:pPr marL="457200" lvl="1" indent="0">
              <a:buNone/>
            </a:pP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CountryLanguage</a:t>
            </a:r>
            <a:endParaRPr lang="en-US" dirty="0"/>
          </a:p>
          <a:p>
            <a:pPr marL="457200" lvl="1" indent="0">
              <a:buNone/>
            </a:pPr>
            <a:r>
              <a:rPr lang="en-US" b="1" dirty="0"/>
              <a:t>WHERE</a:t>
            </a:r>
            <a:r>
              <a:rPr lang="en-US" dirty="0"/>
              <a:t> </a:t>
            </a:r>
            <a:r>
              <a:rPr lang="en-US" dirty="0" err="1"/>
              <a:t>CountryCode</a:t>
            </a:r>
            <a:r>
              <a:rPr lang="en-US" dirty="0"/>
              <a:t> = 'USA';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13" y="3501048"/>
            <a:ext cx="2412973" cy="7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4063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Quiz 2</a:t>
            </a:r>
          </a:p>
          <a:p>
            <a:pPr lvl="1"/>
            <a:r>
              <a:rPr lang="en-US" altLang="ko-KR" dirty="0"/>
              <a:t>Given the following WORLD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Find total amount of languages in the world</a:t>
            </a:r>
            <a:endParaRPr lang="en-US" dirty="0"/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71" y="2276872"/>
            <a:ext cx="6326658" cy="3307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38158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Answer to </a:t>
            </a:r>
            <a:r>
              <a:rPr lang="en-US" dirty="0"/>
              <a:t>Query 2: Count how many languages are in the world</a:t>
            </a:r>
          </a:p>
          <a:p>
            <a:pPr marL="457200" lvl="1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COUNT</a:t>
            </a:r>
            <a:r>
              <a:rPr lang="en-US" dirty="0"/>
              <a:t>(Language)</a:t>
            </a:r>
          </a:p>
          <a:p>
            <a:pPr marL="457200" lvl="1" indent="0">
              <a:buNone/>
            </a:pP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CountryLanguage</a:t>
            </a:r>
            <a:r>
              <a:rPr lang="en-US" dirty="0"/>
              <a:t> 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altLang="ko-KR" dirty="0"/>
              <a:t>Answer to </a:t>
            </a:r>
            <a:r>
              <a:rPr lang="en-US" dirty="0"/>
              <a:t>Query 2: Count how many languages are in the world</a:t>
            </a:r>
          </a:p>
          <a:p>
            <a:pPr marL="457200" lvl="1" indent="0">
              <a:buNone/>
            </a:pP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COUNT</a:t>
            </a:r>
            <a:r>
              <a:rPr lang="en-US" dirty="0"/>
              <a:t>( </a:t>
            </a:r>
            <a:r>
              <a:rPr lang="en-US" b="1" dirty="0"/>
              <a:t>DISTINCT</a:t>
            </a:r>
            <a:r>
              <a:rPr lang="en-US" dirty="0"/>
              <a:t> Language)</a:t>
            </a:r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 err="1"/>
              <a:t>CountryLanguage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473" y="2780928"/>
            <a:ext cx="2501053" cy="7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999" y="5445224"/>
            <a:ext cx="3276000" cy="9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61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Query 2 Explanation</a:t>
            </a:r>
          </a:p>
          <a:p>
            <a:pPr lvl="1"/>
            <a:r>
              <a:rPr lang="en-US" altLang="ko-KR" dirty="0"/>
              <a:t>There are many duplicated records in Language attribute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780928"/>
            <a:ext cx="6210300" cy="361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직사각형 5"/>
          <p:cNvSpPr/>
          <p:nvPr/>
        </p:nvSpPr>
        <p:spPr>
          <a:xfrm>
            <a:off x="3500686" y="3140968"/>
            <a:ext cx="1656184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3500686" y="3870598"/>
            <a:ext cx="1656184" cy="1790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3500686" y="5671567"/>
            <a:ext cx="1656184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5004048" y="2564904"/>
            <a:ext cx="949313" cy="5760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14570" y="2164214"/>
            <a:ext cx="231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Duplicated Records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223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Used to select/retrieve tuples from a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		[</a:t>
            </a:r>
            <a:r>
              <a:rPr lang="en-US" b="1" dirty="0"/>
              <a:t>DISTINCT</a:t>
            </a:r>
            <a:r>
              <a:rPr lang="en-US" dirty="0"/>
              <a:t>] attribute(s)	(1)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		relation(s)		(2)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WHERE</a:t>
            </a:r>
            <a:r>
              <a:rPr lang="en-US" dirty="0"/>
              <a:t>	condition]		(3)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b="1" dirty="0">
                <a:solidFill>
                  <a:srgbClr val="0070C0"/>
                </a:solidFill>
              </a:rPr>
              <a:t>GROUP BY</a:t>
            </a:r>
            <a:r>
              <a:rPr lang="en-US" dirty="0">
                <a:solidFill>
                  <a:srgbClr val="0070C0"/>
                </a:solidFill>
              </a:rPr>
              <a:t>	attribute(s)]		(4)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b="1" dirty="0">
                <a:solidFill>
                  <a:srgbClr val="0070C0"/>
                </a:solidFill>
              </a:rPr>
              <a:t>HAVING	</a:t>
            </a:r>
            <a:r>
              <a:rPr lang="en-US" dirty="0">
                <a:solidFill>
                  <a:srgbClr val="0070C0"/>
                </a:solidFill>
              </a:rPr>
              <a:t>condition]		(5)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b="1" dirty="0">
                <a:solidFill>
                  <a:srgbClr val="0070C0"/>
                </a:solidFill>
              </a:rPr>
              <a:t>ORDER BY</a:t>
            </a:r>
            <a:r>
              <a:rPr lang="en-US" dirty="0">
                <a:solidFill>
                  <a:srgbClr val="0070C0"/>
                </a:solidFill>
              </a:rPr>
              <a:t>	attribute(s)]		(6)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b="1" dirty="0">
                <a:solidFill>
                  <a:srgbClr val="0070C0"/>
                </a:solidFill>
              </a:rPr>
              <a:t>LIMIT</a:t>
            </a:r>
            <a:r>
              <a:rPr lang="en-US" dirty="0">
                <a:solidFill>
                  <a:srgbClr val="0070C0"/>
                </a:solidFill>
              </a:rPr>
              <a:t>		number];		(7)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6444208" y="2996952"/>
            <a:ext cx="360040" cy="720080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오른쪽 중괄호 4"/>
          <p:cNvSpPr/>
          <p:nvPr/>
        </p:nvSpPr>
        <p:spPr>
          <a:xfrm>
            <a:off x="6444208" y="3789040"/>
            <a:ext cx="360040" cy="2088232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8264" y="3172326"/>
            <a:ext cx="14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8263" y="443246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8619829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The GROUP BY statement</a:t>
            </a:r>
          </a:p>
          <a:p>
            <a:pPr lvl="1"/>
            <a:r>
              <a:rPr lang="en-US" altLang="ko-KR" dirty="0"/>
              <a:t>Used to group tuples with the same value in the attribute</a:t>
            </a:r>
          </a:p>
          <a:p>
            <a:pPr lvl="2"/>
            <a:r>
              <a:rPr lang="en-US" altLang="ko-KR" b="1" dirty="0">
                <a:solidFill>
                  <a:srgbClr val="FF0000"/>
                </a:solidFill>
              </a:rPr>
              <a:t>In the result, one tuple is created for each group</a:t>
            </a:r>
          </a:p>
          <a:p>
            <a:pPr lvl="2"/>
            <a:endParaRPr lang="en-US" dirty="0"/>
          </a:p>
          <a:p>
            <a:pPr lvl="1"/>
            <a:r>
              <a:rPr lang="en-US" altLang="ko-KR" dirty="0"/>
              <a:t>We often use GROUP BY with aggregation functions (COUNT, SUM, AVG, MAX, MIN) 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Example: Group employees by department number, and show the department number, average salary, and maximum salary in each department</a:t>
            </a:r>
          </a:p>
          <a:p>
            <a:pPr marL="914400" lvl="2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	</a:t>
            </a:r>
            <a:r>
              <a:rPr lang="en-US" altLang="ko-KR" dirty="0" err="1"/>
              <a:t>dno</a:t>
            </a:r>
            <a:r>
              <a:rPr lang="en-US" altLang="ko-KR" dirty="0"/>
              <a:t>, </a:t>
            </a:r>
            <a:r>
              <a:rPr lang="en-US" altLang="ko-KR" b="1" dirty="0"/>
              <a:t>AVG</a:t>
            </a:r>
            <a:r>
              <a:rPr lang="en-US" altLang="ko-KR" dirty="0"/>
              <a:t>(salary) as </a:t>
            </a:r>
            <a:r>
              <a:rPr lang="en-US" altLang="ko-KR" dirty="0" err="1"/>
              <a:t>avgsal</a:t>
            </a:r>
            <a:r>
              <a:rPr lang="en-US" altLang="ko-KR" dirty="0"/>
              <a:t>, </a:t>
            </a:r>
            <a:r>
              <a:rPr lang="en-US" altLang="ko-KR" b="1" dirty="0"/>
              <a:t>MAX</a:t>
            </a:r>
            <a:r>
              <a:rPr lang="en-US" altLang="ko-KR" dirty="0"/>
              <a:t>(salary) as </a:t>
            </a:r>
            <a:r>
              <a:rPr lang="en-US" altLang="ko-KR" dirty="0" err="1"/>
              <a:t>maxsal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		employee</a:t>
            </a:r>
          </a:p>
          <a:p>
            <a:pPr marL="914400" lvl="2" indent="0">
              <a:buNone/>
            </a:pPr>
            <a:r>
              <a:rPr lang="en-US" altLang="ko-KR" b="1" dirty="0"/>
              <a:t>GROUP</a:t>
            </a:r>
            <a:r>
              <a:rPr lang="en-US" altLang="ko-KR" dirty="0"/>
              <a:t> </a:t>
            </a:r>
            <a:r>
              <a:rPr lang="en-US" altLang="ko-KR" b="1" dirty="0"/>
              <a:t>BY</a:t>
            </a:r>
            <a:r>
              <a:rPr lang="en-US" altLang="ko-KR" dirty="0"/>
              <a:t> 	</a:t>
            </a:r>
            <a:r>
              <a:rPr lang="en-US" altLang="ko-KR" dirty="0" err="1"/>
              <a:t>dno</a:t>
            </a:r>
            <a:r>
              <a:rPr lang="en-US" altLang="ko-KR" dirty="0"/>
              <a:t>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693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GROUP BY statement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" y="2060848"/>
            <a:ext cx="73437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006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Quiz 3</a:t>
            </a:r>
          </a:p>
          <a:p>
            <a:pPr lvl="1"/>
            <a:r>
              <a:rPr lang="en-US" altLang="ko-KR" dirty="0"/>
              <a:t>Given the following WORLD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dirty="0"/>
              <a:t>How many countries speak each language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71" y="2276872"/>
            <a:ext cx="6326658" cy="3307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38471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Answer to </a:t>
            </a:r>
            <a:r>
              <a:rPr lang="en-US" dirty="0"/>
              <a:t>Query 3: How many countries speak each language </a:t>
            </a:r>
          </a:p>
          <a:p>
            <a:pPr lvl="1"/>
            <a:r>
              <a:rPr lang="en-US" b="1" dirty="0"/>
              <a:t>SELECT</a:t>
            </a:r>
            <a:r>
              <a:rPr lang="en-US" dirty="0"/>
              <a:t> Language, </a:t>
            </a:r>
            <a:r>
              <a:rPr lang="en-US" b="1" dirty="0"/>
              <a:t>COUNT</a:t>
            </a:r>
            <a:r>
              <a:rPr lang="en-US" dirty="0"/>
              <a:t>(</a:t>
            </a:r>
            <a:r>
              <a:rPr lang="en-US" dirty="0" err="1"/>
              <a:t>CountryCode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CountryLanguage</a:t>
            </a:r>
            <a:endParaRPr lang="en-US" dirty="0"/>
          </a:p>
          <a:p>
            <a:pPr lvl="1"/>
            <a:r>
              <a:rPr lang="en-US" b="1" dirty="0"/>
              <a:t>GROUP BY</a:t>
            </a:r>
            <a:r>
              <a:rPr lang="en-US" dirty="0"/>
              <a:t> Language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796" y="3356992"/>
            <a:ext cx="3672408" cy="286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494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Quiz 3 Explanation</a:t>
            </a:r>
          </a:p>
          <a:p>
            <a:pPr lvl="1"/>
            <a:r>
              <a:rPr lang="en-US" altLang="ko-KR" dirty="0"/>
              <a:t>Group by Language attribute: Arawakan, Armenian, </a:t>
            </a:r>
            <a:r>
              <a:rPr lang="en-US" altLang="ko-KR" dirty="0" err="1"/>
              <a:t>Asami</a:t>
            </a:r>
            <a:r>
              <a:rPr lang="en-US" altLang="ko-KR" dirty="0"/>
              <a:t>, </a:t>
            </a:r>
            <a:r>
              <a:rPr lang="en-US" altLang="ko-KR" dirty="0" err="1"/>
              <a:t>etc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492896"/>
            <a:ext cx="6210300" cy="3619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직사각형 4"/>
          <p:cNvSpPr/>
          <p:nvPr/>
        </p:nvSpPr>
        <p:spPr>
          <a:xfrm>
            <a:off x="3284662" y="2852936"/>
            <a:ext cx="1656184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3284662" y="3582566"/>
            <a:ext cx="1656184" cy="1790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3284662" y="5383535"/>
            <a:ext cx="1656184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282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The HAVING statement</a:t>
            </a:r>
          </a:p>
          <a:p>
            <a:pPr lvl="1"/>
            <a:r>
              <a:rPr lang="en-US" altLang="ko-KR" dirty="0"/>
              <a:t>Used to create a condition on a group of tuples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Attributes appearing in the HAVING </a:t>
            </a:r>
            <a:r>
              <a:rPr lang="en-US" altLang="ko-KR" dirty="0"/>
              <a:t>statement</a:t>
            </a:r>
            <a:r>
              <a:rPr lang="en-US" dirty="0"/>
              <a:t> must appear in the GROUP BY clause or be included in a aggregate function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Example: Group employees by department number, and show the department number, average salary, and maximum salary for the department with the average salary of 2,500,000 Korean Won.</a:t>
            </a:r>
            <a:endParaRPr lang="en-US" dirty="0"/>
          </a:p>
          <a:p>
            <a:pPr marL="914400" lvl="2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	</a:t>
            </a:r>
            <a:r>
              <a:rPr lang="en-US" altLang="ko-KR" dirty="0" err="1"/>
              <a:t>dno</a:t>
            </a:r>
            <a:r>
              <a:rPr lang="en-US" altLang="ko-KR" dirty="0"/>
              <a:t>, </a:t>
            </a:r>
            <a:r>
              <a:rPr lang="en-US" altLang="ko-KR" b="1" dirty="0"/>
              <a:t>AVG</a:t>
            </a:r>
            <a:r>
              <a:rPr lang="en-US" altLang="ko-KR" dirty="0"/>
              <a:t>(salary) as </a:t>
            </a:r>
            <a:r>
              <a:rPr lang="en-US" altLang="ko-KR" dirty="0" err="1"/>
              <a:t>avgsal</a:t>
            </a:r>
            <a:r>
              <a:rPr lang="en-US" altLang="ko-KR" dirty="0"/>
              <a:t>, </a:t>
            </a:r>
            <a:r>
              <a:rPr lang="en-US" altLang="ko-KR" b="1" dirty="0"/>
              <a:t>MAX</a:t>
            </a:r>
            <a:r>
              <a:rPr lang="en-US" altLang="ko-KR" dirty="0"/>
              <a:t>(salary) as </a:t>
            </a:r>
            <a:r>
              <a:rPr lang="en-US" altLang="ko-KR" dirty="0" err="1"/>
              <a:t>maxsal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 		employee</a:t>
            </a:r>
          </a:p>
          <a:p>
            <a:pPr marL="914400" lvl="2" indent="0">
              <a:buNone/>
            </a:pPr>
            <a:r>
              <a:rPr lang="en-US" altLang="ko-KR" b="1" dirty="0"/>
              <a:t>GROUP</a:t>
            </a:r>
            <a:r>
              <a:rPr lang="en-US" altLang="ko-KR" dirty="0"/>
              <a:t> </a:t>
            </a:r>
            <a:r>
              <a:rPr lang="en-US" altLang="ko-KR" b="1" dirty="0"/>
              <a:t>BY</a:t>
            </a:r>
            <a:r>
              <a:rPr lang="en-US" altLang="ko-KR" dirty="0"/>
              <a:t> 	</a:t>
            </a:r>
            <a:r>
              <a:rPr lang="en-US" altLang="ko-KR" dirty="0" err="1"/>
              <a:t>dno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b="1" dirty="0"/>
              <a:t>HAVING</a:t>
            </a:r>
            <a:r>
              <a:rPr lang="en-US" altLang="ko-KR" dirty="0"/>
              <a:t>	 </a:t>
            </a:r>
            <a:r>
              <a:rPr lang="en-US" altLang="ko-KR" dirty="0" err="1"/>
              <a:t>avgsal</a:t>
            </a:r>
            <a:r>
              <a:rPr lang="en-US" altLang="ko-KR" dirty="0"/>
              <a:t> &gt;= 2500000;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20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HAVING statement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22" y="1844824"/>
            <a:ext cx="680475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069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The ORDER BY statement</a:t>
            </a:r>
          </a:p>
          <a:p>
            <a:pPr lvl="1"/>
            <a:r>
              <a:rPr lang="en-US" altLang="ko-KR" dirty="0"/>
              <a:t>By default</a:t>
            </a:r>
            <a:r>
              <a:rPr lang="en-US" dirty="0"/>
              <a:t>, </a:t>
            </a:r>
            <a:r>
              <a:rPr lang="en-US" altLang="ko-KR" dirty="0"/>
              <a:t>the tuples</a:t>
            </a:r>
            <a:r>
              <a:rPr lang="en-US" dirty="0"/>
              <a:t> are presented to the user in the order </a:t>
            </a:r>
            <a:r>
              <a:rPr lang="en-US" altLang="ko-KR" dirty="0"/>
              <a:t>i</a:t>
            </a:r>
            <a:r>
              <a:rPr lang="en-US" dirty="0"/>
              <a:t>nserted in the relation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The ORDER BY statement is used to sort the resulting relation in ascending or descending order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Types of ORDER BY statement</a:t>
            </a:r>
          </a:p>
          <a:p>
            <a:pPr lvl="2"/>
            <a:r>
              <a:rPr lang="en-US" dirty="0"/>
              <a:t>Default sort order is ascending (ASC)</a:t>
            </a:r>
          </a:p>
          <a:p>
            <a:pPr lvl="2"/>
            <a:r>
              <a:rPr lang="en-US" dirty="0"/>
              <a:t>Sort order can be specified in descending order by specifying DESC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null value appears first in ascending order and last in descending order</a:t>
            </a:r>
          </a:p>
        </p:txBody>
      </p:sp>
    </p:spTree>
    <p:extLst>
      <p:ext uri="{BB962C8B-B14F-4D97-AF65-F5344CB8AC3E}">
        <p14:creationId xmlns:p14="http://schemas.microsoft.com/office/powerpoint/2010/main" val="2648257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ORDER BY statement</a:t>
            </a:r>
          </a:p>
          <a:p>
            <a:pPr lvl="1"/>
            <a:r>
              <a:rPr lang="en-US" altLang="ko-KR" dirty="0"/>
              <a:t>Example: Search for the salary, title, and name of employees in department 2 and sort them in ascending order of salaries</a:t>
            </a:r>
          </a:p>
          <a:p>
            <a:pPr marL="914400" lvl="2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		salary, title, </a:t>
            </a:r>
            <a:r>
              <a:rPr lang="en-US" altLang="ko-KR" dirty="0" err="1"/>
              <a:t>empname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b="1" dirty="0"/>
              <a:t>FROM</a:t>
            </a:r>
            <a:r>
              <a:rPr lang="en-US" altLang="ko-KR" dirty="0"/>
              <a:t>		employee</a:t>
            </a:r>
          </a:p>
          <a:p>
            <a:pPr marL="914400" lvl="2" indent="0">
              <a:buNone/>
            </a:pPr>
            <a:r>
              <a:rPr lang="en-US" altLang="ko-KR" b="1" dirty="0"/>
              <a:t>WHERE</a:t>
            </a:r>
            <a:r>
              <a:rPr lang="en-US" altLang="ko-KR" dirty="0"/>
              <a:t>		</a:t>
            </a:r>
            <a:r>
              <a:rPr lang="en-US" altLang="ko-KR" dirty="0" err="1"/>
              <a:t>dno</a:t>
            </a:r>
            <a:r>
              <a:rPr lang="en-US" altLang="ko-KR" dirty="0"/>
              <a:t> = 2</a:t>
            </a:r>
          </a:p>
          <a:p>
            <a:pPr marL="914400" lvl="2" indent="0">
              <a:buNone/>
            </a:pPr>
            <a:r>
              <a:rPr lang="en-US" altLang="ko-KR" b="1" dirty="0"/>
              <a:t>ORDER</a:t>
            </a:r>
            <a:r>
              <a:rPr lang="en-US" altLang="ko-KR" dirty="0"/>
              <a:t> </a:t>
            </a:r>
            <a:r>
              <a:rPr lang="en-US" altLang="ko-KR" b="1" dirty="0"/>
              <a:t>BY</a:t>
            </a:r>
            <a:r>
              <a:rPr lang="en-US" altLang="ko-KR" dirty="0"/>
              <a:t>	salary;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426" y="4437112"/>
            <a:ext cx="3963147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939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381642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The LIMIT statement</a:t>
            </a:r>
          </a:p>
          <a:p>
            <a:pPr lvl="1"/>
            <a:r>
              <a:rPr lang="en-US" altLang="ko-KR" dirty="0"/>
              <a:t>Used to specify the number of records to return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The LIMIT statement is useful on large tables with thousands of records</a:t>
            </a:r>
          </a:p>
          <a:p>
            <a:pPr lvl="2"/>
            <a:r>
              <a:rPr lang="en-US" altLang="ko-KR" dirty="0"/>
              <a:t>Returning a large number of records can impact performance</a:t>
            </a:r>
          </a:p>
          <a:p>
            <a:pPr lvl="2"/>
            <a:endParaRPr lang="en-US" dirty="0"/>
          </a:p>
          <a:p>
            <a:pPr lvl="1"/>
            <a:r>
              <a:rPr lang="en-US" altLang="ko-KR" dirty="0"/>
              <a:t>Example: Show the first three records from the employee table</a:t>
            </a:r>
          </a:p>
          <a:p>
            <a:pPr lvl="2"/>
            <a:r>
              <a:rPr lang="en-US" altLang="ko-KR" b="1" dirty="0"/>
              <a:t>SELECT </a:t>
            </a:r>
            <a:r>
              <a:rPr lang="ko-KR" altLang="en-US" dirty="0"/>
              <a:t>*</a:t>
            </a:r>
            <a:endParaRPr lang="en-US" altLang="ko-KR" dirty="0"/>
          </a:p>
          <a:p>
            <a:pPr lvl="2"/>
            <a:r>
              <a:rPr lang="en-US" altLang="ko-KR" b="1" dirty="0"/>
              <a:t>FROM</a:t>
            </a:r>
            <a:r>
              <a:rPr lang="en-US" altLang="ko-KR" dirty="0"/>
              <a:t>	 employee</a:t>
            </a:r>
          </a:p>
          <a:p>
            <a:pPr lvl="2"/>
            <a:r>
              <a:rPr lang="en-US" altLang="ko-KR" b="1" dirty="0"/>
              <a:t>LIMIT</a:t>
            </a:r>
            <a:r>
              <a:rPr lang="en-US" altLang="ko-KR" dirty="0"/>
              <a:t> 3;</a:t>
            </a:r>
          </a:p>
          <a:p>
            <a:pPr lvl="3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04" y="5157192"/>
            <a:ext cx="5333593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157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LIMIT statement</a:t>
            </a:r>
          </a:p>
          <a:p>
            <a:pPr lvl="1"/>
            <a:r>
              <a:rPr lang="en-US" altLang="ko-KR" dirty="0"/>
              <a:t>You can also use LIMIT to show the top or the bottom tuples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Example: Show an employee with the highest salary</a:t>
            </a:r>
          </a:p>
          <a:p>
            <a:pPr lvl="2"/>
            <a:r>
              <a:rPr lang="en-US" altLang="ko-KR" b="1" dirty="0"/>
              <a:t>SELECT </a:t>
            </a:r>
            <a:r>
              <a:rPr lang="ko-KR" altLang="en-US" dirty="0"/>
              <a:t>*</a:t>
            </a:r>
            <a:endParaRPr lang="en-US" altLang="ko-KR" dirty="0"/>
          </a:p>
          <a:p>
            <a:pPr lvl="2"/>
            <a:r>
              <a:rPr lang="en-US" altLang="ko-KR" b="1" dirty="0"/>
              <a:t>FROM</a:t>
            </a:r>
            <a:r>
              <a:rPr lang="en-US" altLang="ko-KR" dirty="0"/>
              <a:t>	 employee</a:t>
            </a:r>
          </a:p>
          <a:p>
            <a:pPr lvl="2"/>
            <a:r>
              <a:rPr lang="en-US" altLang="ko-KR" b="1" dirty="0"/>
              <a:t>ORDER BY </a:t>
            </a:r>
            <a:r>
              <a:rPr lang="en-US" altLang="ko-KR" dirty="0"/>
              <a:t>salary </a:t>
            </a:r>
            <a:r>
              <a:rPr lang="en-US" altLang="ko-KR" b="1" dirty="0"/>
              <a:t>DESC</a:t>
            </a:r>
          </a:p>
          <a:p>
            <a:pPr lvl="2"/>
            <a:r>
              <a:rPr lang="en-US" altLang="ko-KR" b="1" dirty="0"/>
              <a:t>LIMIT</a:t>
            </a:r>
            <a:r>
              <a:rPr lang="en-US" altLang="ko-KR" dirty="0"/>
              <a:t> 1;</a:t>
            </a:r>
          </a:p>
          <a:p>
            <a:pPr lvl="2"/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4797152"/>
            <a:ext cx="61912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792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16624"/>
          </a:xfrm>
        </p:spPr>
        <p:txBody>
          <a:bodyPr>
            <a:normAutofit/>
          </a:bodyPr>
          <a:lstStyle/>
          <a:p>
            <a:r>
              <a:rPr lang="en-US" altLang="ko-KR" dirty="0"/>
              <a:t>Quiz 4</a:t>
            </a:r>
          </a:p>
          <a:p>
            <a:pPr lvl="1"/>
            <a:r>
              <a:rPr lang="en-US" altLang="ko-KR" dirty="0"/>
              <a:t>Given the following WORLD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dirty="0"/>
              <a:t>Find languages that are spoken in at least 3 different countries with percentage at least 50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71" y="2276872"/>
            <a:ext cx="6326658" cy="3307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40547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More about data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10" y="1988840"/>
            <a:ext cx="6871179" cy="4103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03734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Manipulation Language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Answer to </a:t>
            </a:r>
            <a:r>
              <a:rPr lang="en-US" dirty="0"/>
              <a:t>Query </a:t>
            </a:r>
            <a:r>
              <a:rPr lang="en-US" altLang="ko-KR" dirty="0"/>
              <a:t>4</a:t>
            </a:r>
            <a:r>
              <a:rPr lang="en-US" dirty="0"/>
              <a:t>: Find languages that are spoken in at least 3 different countries with percentage at least 50. </a:t>
            </a:r>
          </a:p>
          <a:p>
            <a:pPr lvl="1"/>
            <a:r>
              <a:rPr lang="en-US" b="1" dirty="0"/>
              <a:t>SELECT</a:t>
            </a:r>
            <a:r>
              <a:rPr lang="en-US" dirty="0"/>
              <a:t> Language, COUNT(</a:t>
            </a:r>
            <a:r>
              <a:rPr lang="en-US" dirty="0" err="1"/>
              <a:t>CountryCode</a:t>
            </a:r>
            <a:r>
              <a:rPr lang="en-US" dirty="0"/>
              <a:t>) AS N</a:t>
            </a:r>
          </a:p>
          <a:p>
            <a:pPr lvl="1"/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CountryLanguage</a:t>
            </a:r>
            <a:endParaRPr lang="en-US" dirty="0"/>
          </a:p>
          <a:p>
            <a:pPr lvl="1"/>
            <a:r>
              <a:rPr lang="en-US" b="1" dirty="0"/>
              <a:t>WHERE</a:t>
            </a:r>
            <a:r>
              <a:rPr lang="en-US" dirty="0"/>
              <a:t> Percentage &gt;= 50</a:t>
            </a:r>
          </a:p>
          <a:p>
            <a:pPr lvl="1"/>
            <a:r>
              <a:rPr lang="en-US" b="1" dirty="0"/>
              <a:t>GROUP BY </a:t>
            </a:r>
            <a:r>
              <a:rPr lang="en-US" dirty="0"/>
              <a:t>Language</a:t>
            </a:r>
          </a:p>
          <a:p>
            <a:pPr lvl="1"/>
            <a:r>
              <a:rPr lang="en-US" b="1" dirty="0"/>
              <a:t>HAVING</a:t>
            </a:r>
            <a:r>
              <a:rPr lang="en-US" dirty="0"/>
              <a:t> N &gt; 2</a:t>
            </a:r>
          </a:p>
          <a:p>
            <a:pPr lvl="1"/>
            <a:r>
              <a:rPr lang="en-US" b="1" dirty="0"/>
              <a:t>ORDER BY </a:t>
            </a:r>
            <a:r>
              <a:rPr lang="en-US" dirty="0"/>
              <a:t>N </a:t>
            </a:r>
            <a:r>
              <a:rPr lang="en-US" b="1" dirty="0"/>
              <a:t>DESC</a:t>
            </a:r>
            <a:r>
              <a:rPr lang="en-US" dirty="0"/>
              <a:t> ;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068960"/>
            <a:ext cx="3672408" cy="3272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3631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dirty="0"/>
              <a:t>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dirty="0"/>
              <a:t>Notation for defining the database schema</a:t>
            </a:r>
          </a:p>
          <a:p>
            <a:pPr lvl="2"/>
            <a:r>
              <a:rPr lang="en-US" dirty="0"/>
              <a:t>Used to create and modify the structure of your relations and database objects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CREATE </a:t>
            </a:r>
          </a:p>
          <a:p>
            <a:pPr lvl="2"/>
            <a:r>
              <a:rPr lang="en-US" dirty="0"/>
              <a:t>DROP</a:t>
            </a:r>
          </a:p>
          <a:p>
            <a:pPr lvl="2"/>
            <a:r>
              <a:rPr lang="en-US" dirty="0"/>
              <a:t>ALTER</a:t>
            </a:r>
          </a:p>
          <a:p>
            <a:pPr lvl="2"/>
            <a:r>
              <a:rPr lang="en-US" dirty="0"/>
              <a:t>TRUNCATE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60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dirty="0"/>
              <a:t>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constraints</a:t>
            </a:r>
          </a:p>
          <a:p>
            <a:pPr lvl="1"/>
            <a:r>
              <a:rPr lang="en-US" dirty="0"/>
              <a:t>SQL constraints are used to specify rules for the data in a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MySQL constraints</a:t>
            </a:r>
          </a:p>
          <a:p>
            <a:pPr lvl="2"/>
            <a:r>
              <a:rPr lang="en-US" b="1" dirty="0"/>
              <a:t>NOT NULL</a:t>
            </a:r>
          </a:p>
          <a:p>
            <a:pPr lvl="2"/>
            <a:r>
              <a:rPr lang="en-US" b="1" dirty="0"/>
              <a:t>PRIMARY KEY </a:t>
            </a:r>
          </a:p>
          <a:p>
            <a:pPr lvl="2"/>
            <a:r>
              <a:rPr lang="en-US" b="1" dirty="0"/>
              <a:t>FOREIGN KEY </a:t>
            </a:r>
          </a:p>
          <a:p>
            <a:pPr lvl="2"/>
            <a:r>
              <a:rPr lang="en-US" b="1" dirty="0"/>
              <a:t>UNIQUE</a:t>
            </a:r>
            <a:endParaRPr lang="en-US" dirty="0"/>
          </a:p>
          <a:p>
            <a:pPr lvl="2"/>
            <a:r>
              <a:rPr lang="en-US" b="1" dirty="0"/>
              <a:t>CHECK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DEFAULT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85906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dirty="0"/>
              <a:t>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dirty="0"/>
              <a:t>A language for searching, modifying, inserting and deleting the desired data in the database</a:t>
            </a:r>
          </a:p>
          <a:p>
            <a:pPr lvl="2"/>
            <a:r>
              <a:rPr lang="en-US" dirty="0"/>
              <a:t>DML also known as query language</a:t>
            </a:r>
          </a:p>
          <a:p>
            <a:endParaRPr lang="en-US" dirty="0"/>
          </a:p>
          <a:p>
            <a:pPr lvl="1"/>
            <a:r>
              <a:rPr lang="en-US" dirty="0"/>
              <a:t>Statements</a:t>
            </a:r>
          </a:p>
          <a:p>
            <a:pPr lvl="2"/>
            <a:r>
              <a:rPr lang="en-US" dirty="0"/>
              <a:t>INSERT</a:t>
            </a:r>
          </a:p>
          <a:p>
            <a:pPr lvl="2"/>
            <a:r>
              <a:rPr lang="en-US" dirty="0"/>
              <a:t>UPDATE</a:t>
            </a:r>
          </a:p>
          <a:p>
            <a:pPr lvl="2"/>
            <a:r>
              <a:rPr lang="en-US" dirty="0"/>
              <a:t>DELETE</a:t>
            </a:r>
          </a:p>
          <a:p>
            <a:pPr lvl="2"/>
            <a:r>
              <a:rPr lang="en-US" dirty="0"/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13418626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dirty="0"/>
              <a:t>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</a:t>
            </a:r>
          </a:p>
          <a:p>
            <a:pPr lvl="1"/>
            <a:r>
              <a:rPr lang="en-US" dirty="0"/>
              <a:t>Used to select/retrieve tuples from a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Syntax</a:t>
            </a:r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		[</a:t>
            </a:r>
            <a:r>
              <a:rPr lang="en-US" b="1" dirty="0"/>
              <a:t>DISTINCT</a:t>
            </a:r>
            <a:r>
              <a:rPr lang="en-US" dirty="0"/>
              <a:t>] attribute(s)	(1)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		relation(s)		(2)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WHERE</a:t>
            </a:r>
            <a:r>
              <a:rPr lang="en-US" dirty="0"/>
              <a:t>	condition]		(3)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GROUP BY</a:t>
            </a:r>
            <a:r>
              <a:rPr lang="en-US" dirty="0"/>
              <a:t>	attribute(s)]		(4)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HAVING	</a:t>
            </a:r>
            <a:r>
              <a:rPr lang="en-US" dirty="0"/>
              <a:t>condition]		(5)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ORDER BY</a:t>
            </a:r>
            <a:r>
              <a:rPr lang="en-US" dirty="0"/>
              <a:t>	attribute(s)]		(6)</a:t>
            </a:r>
          </a:p>
          <a:p>
            <a:pPr marL="914400" lvl="2" indent="0">
              <a:buNone/>
            </a:pPr>
            <a:r>
              <a:rPr lang="en-US" dirty="0"/>
              <a:t>[</a:t>
            </a:r>
            <a:r>
              <a:rPr lang="en-US" b="1" dirty="0"/>
              <a:t>LIMIT</a:t>
            </a:r>
            <a:r>
              <a:rPr lang="en-US" dirty="0"/>
              <a:t>		number];		(7)</a:t>
            </a:r>
          </a:p>
        </p:txBody>
      </p:sp>
      <p:sp>
        <p:nvSpPr>
          <p:cNvPr id="4" name="오른쪽 중괄호 3"/>
          <p:cNvSpPr/>
          <p:nvPr/>
        </p:nvSpPr>
        <p:spPr>
          <a:xfrm>
            <a:off x="6444208" y="2996952"/>
            <a:ext cx="360040" cy="720080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오른쪽 중괄호 4"/>
          <p:cNvSpPr/>
          <p:nvPr/>
        </p:nvSpPr>
        <p:spPr>
          <a:xfrm>
            <a:off x="6444208" y="3789040"/>
            <a:ext cx="360040" cy="2088232"/>
          </a:xfrm>
          <a:prstGeom prst="rightBrace">
            <a:avLst>
              <a:gd name="adj1" fmla="val 40079"/>
              <a:gd name="adj2" fmla="val 51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48264" y="3172326"/>
            <a:ext cx="14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8263" y="443246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15166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15262</TotalTime>
  <Words>3698</Words>
  <Application>Microsoft Office PowerPoint</Application>
  <PresentationFormat>화면 슬라이드 쇼(4:3)</PresentationFormat>
  <Paragraphs>810</Paragraphs>
  <Slides>77</Slides>
  <Notes>64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78" baseType="lpstr">
      <vt:lpstr>Office 테마</vt:lpstr>
      <vt:lpstr>SQL: Basic Queries</vt:lpstr>
      <vt:lpstr>Table of Contents</vt:lpstr>
      <vt:lpstr>Last Lecture</vt:lpstr>
      <vt:lpstr>Last Lecture</vt:lpstr>
      <vt:lpstr>1. SQL Overview</vt:lpstr>
      <vt:lpstr>1. SQL Overview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2. Data Definition Language 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3. Data Manipulation Language</vt:lpstr>
      <vt:lpstr>4. Summary and Discussions</vt:lpstr>
      <vt:lpstr>4. Summary and Discussions</vt:lpstr>
      <vt:lpstr>4. Summary and Discussions</vt:lpstr>
      <vt:lpstr>4. Summary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선형대수학  Linear Algebra</dc:title>
  <dc:creator>K.LEE</dc:creator>
  <cp:lastModifiedBy>KIMGYU HYEON</cp:lastModifiedBy>
  <cp:revision>776</cp:revision>
  <cp:lastPrinted>2013-12-26T08:44:45Z</cp:lastPrinted>
  <dcterms:created xsi:type="dcterms:W3CDTF">2013-02-05T02:36:43Z</dcterms:created>
  <dcterms:modified xsi:type="dcterms:W3CDTF">2025-09-17T01:00:37Z</dcterms:modified>
</cp:coreProperties>
</file>