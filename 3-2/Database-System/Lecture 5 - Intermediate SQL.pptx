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598" r:id="rId3"/>
    <p:sldId id="599" r:id="rId4"/>
    <p:sldId id="600" r:id="rId5"/>
    <p:sldId id="601" r:id="rId6"/>
    <p:sldId id="603" r:id="rId7"/>
    <p:sldId id="444" r:id="rId8"/>
    <p:sldId id="616" r:id="rId9"/>
    <p:sldId id="605" r:id="rId10"/>
    <p:sldId id="608" r:id="rId11"/>
    <p:sldId id="610" r:id="rId12"/>
    <p:sldId id="607" r:id="rId13"/>
    <p:sldId id="612" r:id="rId14"/>
    <p:sldId id="611" r:id="rId15"/>
    <p:sldId id="565" r:id="rId16"/>
    <p:sldId id="620" r:id="rId17"/>
    <p:sldId id="566" r:id="rId18"/>
    <p:sldId id="591" r:id="rId19"/>
    <p:sldId id="587" r:id="rId20"/>
    <p:sldId id="588" r:id="rId21"/>
    <p:sldId id="589" r:id="rId22"/>
    <p:sldId id="590" r:id="rId23"/>
    <p:sldId id="617" r:id="rId24"/>
    <p:sldId id="618" r:id="rId25"/>
    <p:sldId id="619" r:id="rId26"/>
    <p:sldId id="613" r:id="rId27"/>
    <p:sldId id="614" r:id="rId28"/>
    <p:sldId id="615" r:id="rId29"/>
    <p:sldId id="582" r:id="rId30"/>
  </p:sldIdLst>
  <p:sldSz cx="9144000" cy="6858000" type="screen4x3"/>
  <p:notesSz cx="6797675" cy="98742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99"/>
    <a:srgbClr val="FBF064"/>
    <a:srgbClr val="FAF064"/>
    <a:srgbClr val="0033C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7752" autoAdjust="0"/>
  </p:normalViewPr>
  <p:slideViewPr>
    <p:cSldViewPr>
      <p:cViewPr varScale="1">
        <p:scale>
          <a:sx n="111" d="100"/>
          <a:sy n="111" d="100"/>
        </p:scale>
        <p:origin x="176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viewProps" Target="view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handoutMaster" Target="handoutMasters/handoutMaster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theme" Target="theme/theme1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862" cy="493177"/>
          </a:xfrm>
          <a:prstGeom prst="rect">
            <a:avLst/>
          </a:prstGeom>
        </p:spPr>
        <p:txBody>
          <a:bodyPr vert="horz" lIns="87940" tIns="43970" rIns="87940" bIns="4397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294" y="0"/>
            <a:ext cx="2945862" cy="493177"/>
          </a:xfrm>
          <a:prstGeom prst="rect">
            <a:avLst/>
          </a:prstGeom>
        </p:spPr>
        <p:txBody>
          <a:bodyPr vert="horz" lIns="87940" tIns="43970" rIns="87940" bIns="43970" rtlCol="0"/>
          <a:lstStyle>
            <a:lvl1pPr algn="r">
              <a:defRPr sz="1200"/>
            </a:lvl1pPr>
          </a:lstStyle>
          <a:p>
            <a:fld id="{FAD56397-96EB-4B9B-B73E-B0DE894BA706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79543"/>
            <a:ext cx="2945862" cy="493177"/>
          </a:xfrm>
          <a:prstGeom prst="rect">
            <a:avLst/>
          </a:prstGeom>
        </p:spPr>
        <p:txBody>
          <a:bodyPr vert="horz" lIns="87940" tIns="43970" rIns="87940" bIns="4397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294" y="9379543"/>
            <a:ext cx="2945862" cy="493177"/>
          </a:xfrm>
          <a:prstGeom prst="rect">
            <a:avLst/>
          </a:prstGeom>
        </p:spPr>
        <p:txBody>
          <a:bodyPr vert="horz" lIns="87940" tIns="43970" rIns="87940" bIns="43970" rtlCol="0" anchor="b"/>
          <a:lstStyle>
            <a:lvl1pPr algn="r">
              <a:defRPr sz="1200"/>
            </a:lvl1pPr>
          </a:lstStyle>
          <a:p>
            <a:fld id="{785EE255-EB82-498D-BBDB-CD68D29556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6485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3713"/>
          </a:xfrm>
          <a:prstGeom prst="rect">
            <a:avLst/>
          </a:prstGeom>
        </p:spPr>
        <p:txBody>
          <a:bodyPr vert="horz" lIns="95257" tIns="47628" rIns="95257" bIns="4762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3713"/>
          </a:xfrm>
          <a:prstGeom prst="rect">
            <a:avLst/>
          </a:prstGeom>
        </p:spPr>
        <p:txBody>
          <a:bodyPr vert="horz" lIns="95257" tIns="47628" rIns="95257" bIns="47628" rtlCol="0"/>
          <a:lstStyle>
            <a:lvl1pPr algn="r">
              <a:defRPr sz="1300"/>
            </a:lvl1pPr>
          </a:lstStyle>
          <a:p>
            <a:fld id="{8138FCCD-07B7-47B0-A7AA-A03D63EC9D3F}" type="datetimeFigureOut">
              <a:rPr lang="ko-KR" altLang="en-US" smtClean="0"/>
              <a:pPr/>
              <a:t>2025-09-24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0275" y="741363"/>
            <a:ext cx="4937125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257" tIns="47628" rIns="95257" bIns="4762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2"/>
          </a:xfrm>
          <a:prstGeom prst="rect">
            <a:avLst/>
          </a:prstGeom>
        </p:spPr>
        <p:txBody>
          <a:bodyPr vert="horz" lIns="95257" tIns="47628" rIns="95257" bIns="47628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8825"/>
            <a:ext cx="2945659" cy="493713"/>
          </a:xfrm>
          <a:prstGeom prst="rect">
            <a:avLst/>
          </a:prstGeom>
        </p:spPr>
        <p:txBody>
          <a:bodyPr vert="horz" lIns="95257" tIns="47628" rIns="95257" bIns="4762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378825"/>
            <a:ext cx="2945659" cy="493713"/>
          </a:xfrm>
          <a:prstGeom prst="rect">
            <a:avLst/>
          </a:prstGeom>
        </p:spPr>
        <p:txBody>
          <a:bodyPr vert="horz" lIns="95257" tIns="47628" rIns="95257" bIns="47628" rtlCol="0" anchor="b"/>
          <a:lstStyle>
            <a:lvl1pPr algn="r">
              <a:defRPr sz="1300"/>
            </a:lvl1pPr>
          </a:lstStyle>
          <a:p>
            <a:fld id="{206250C4-0E9A-42DD-85A1-087716A785B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5936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891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686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6534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5586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0930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90546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7120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84309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27961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55187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4770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46482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519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34802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3067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67366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8018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63767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39048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209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5154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20645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72531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2292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>
            <a:lvl1pPr>
              <a:defRPr sz="3200" b="1" baseline="0">
                <a:latin typeface="Tahoma" panose="020B0604030504040204" pitchFamily="34" charset="0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328592"/>
          </a:xfrm>
        </p:spPr>
        <p:txBody>
          <a:bodyPr>
            <a:normAutofit/>
          </a:bodyPr>
          <a:lstStyle>
            <a:lvl1pPr algn="just" latinLnBrk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v"/>
              <a:defRPr sz="2000" baseline="0">
                <a:latin typeface="Tahoma" panose="020B0604030504040204" pitchFamily="34" charset="0"/>
                <a:ea typeface="맑은 고딕" panose="020B0503020000020004" pitchFamily="50" charset="-127"/>
              </a:defRPr>
            </a:lvl1pPr>
            <a:lvl2pPr algn="just" latinLnBrk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§"/>
              <a:defRPr sz="1800" baseline="0">
                <a:latin typeface="Tahoma" panose="020B0604030504040204" pitchFamily="34" charset="0"/>
                <a:ea typeface="맑은 고딕" panose="020B0503020000020004" pitchFamily="50" charset="-127"/>
              </a:defRPr>
            </a:lvl2pPr>
            <a:lvl3pPr algn="just" latinLnBrk="0">
              <a:lnSpc>
                <a:spcPct val="150000"/>
              </a:lnSpc>
              <a:spcBef>
                <a:spcPts val="0"/>
              </a:spcBef>
              <a:defRPr sz="1800" baseline="0">
                <a:latin typeface="Tahoma" panose="020B0604030504040204" pitchFamily="34" charset="0"/>
                <a:ea typeface="맑은 고딕" panose="020B0503020000020004" pitchFamily="50" charset="-127"/>
              </a:defRPr>
            </a:lvl3pPr>
            <a:lvl4pPr algn="just" latinLnBrk="0">
              <a:lnSpc>
                <a:spcPct val="150000"/>
              </a:lnSpc>
              <a:spcBef>
                <a:spcPts val="0"/>
              </a:spcBef>
              <a:defRPr sz="1600" baseline="0">
                <a:latin typeface="Tahoma" panose="020B0604030504040204" pitchFamily="34" charset="0"/>
                <a:ea typeface="맑은 고딕" panose="020B0503020000020004" pitchFamily="50" charset="-127"/>
              </a:defRPr>
            </a:lvl4pPr>
            <a:lvl5pPr algn="just" latinLnBrk="0">
              <a:lnSpc>
                <a:spcPct val="150000"/>
              </a:lnSpc>
              <a:spcBef>
                <a:spcPts val="0"/>
              </a:spcBef>
              <a:defRPr sz="1600" baseline="0">
                <a:latin typeface="Tahoma" panose="020B0604030504040204" pitchFamily="34" charset="0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8B487C-8DB3-45EB-9538-2500040D0F0E}" type="datetimeFigureOut">
              <a:rPr lang="ko-KR" altLang="en-US" smtClean="0"/>
              <a:pPr/>
              <a:t>2025-09-24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2.png" /><Relationship Id="rId5" Type="http://schemas.openxmlformats.org/officeDocument/2006/relationships/image" Target="../media/image11.png" /><Relationship Id="rId4" Type="http://schemas.openxmlformats.org/officeDocument/2006/relationships/image" Target="../media/image10.png" 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2.xml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11560" y="1844824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SQL: Intermediate Queries</a:t>
            </a:r>
            <a:endParaRPr lang="ko-KR" altLang="en-US" dirty="0">
              <a:latin typeface="Tahoma" panose="020B0604030504040204" pitchFamily="34" charset="0"/>
              <a:ea typeface="HY견고딕" pitchFamily="18" charset="-127"/>
              <a:cs typeface="Tahoma" panose="020B0604030504040204" pitchFamily="34" charset="0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61048"/>
            <a:ext cx="6400800" cy="2088232"/>
          </a:xfrm>
        </p:spPr>
        <p:txBody>
          <a:bodyPr>
            <a:normAutofit/>
          </a:bodyPr>
          <a:lstStyle/>
          <a:p>
            <a:r>
              <a:rPr lang="en-US" altLang="ko-KR" sz="2800" b="1" dirty="0"/>
              <a:t>Database Systems</a:t>
            </a:r>
          </a:p>
          <a:p>
            <a:endParaRPr lang="en-US" altLang="ko-KR" sz="2800" b="1" dirty="0"/>
          </a:p>
          <a:p>
            <a:r>
              <a:rPr lang="en-US" altLang="ko-KR" sz="2000" b="1" dirty="0"/>
              <a:t>Department of Computer Science, CBNU</a:t>
            </a:r>
            <a:endParaRPr lang="ko-KR" altLang="en-US" sz="2000" b="1" dirty="0"/>
          </a:p>
          <a:p>
            <a:r>
              <a:rPr lang="en-US" altLang="ko-KR" sz="2000" b="1" dirty="0"/>
              <a:t>Prof. Nasridinov Aziz (aziz@chungbuk.ac.kr)</a:t>
            </a:r>
            <a:endParaRPr lang="ko-KR" altLang="en-US" sz="20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208"/>
    </mc:Choice>
    <mc:Fallback xmlns="">
      <p:transition spd="slow" advTm="6720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 the Last Lecture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Definition Language (DDL)</a:t>
            </a:r>
          </a:p>
          <a:p>
            <a:pPr lvl="1"/>
            <a:r>
              <a:rPr lang="en-US" dirty="0"/>
              <a:t>Notation for defining the database schema</a:t>
            </a:r>
          </a:p>
          <a:p>
            <a:pPr lvl="2"/>
            <a:r>
              <a:rPr lang="en-US" dirty="0"/>
              <a:t>Used to create and modify the structure of your relations and database objects</a:t>
            </a:r>
          </a:p>
          <a:p>
            <a:endParaRPr lang="en-US" dirty="0"/>
          </a:p>
          <a:p>
            <a:pPr lvl="1"/>
            <a:r>
              <a:rPr lang="en-US" dirty="0"/>
              <a:t>Statements</a:t>
            </a:r>
          </a:p>
          <a:p>
            <a:pPr lvl="2"/>
            <a:r>
              <a:rPr lang="en-US" dirty="0"/>
              <a:t>CREATE </a:t>
            </a:r>
          </a:p>
          <a:p>
            <a:pPr lvl="2"/>
            <a:r>
              <a:rPr lang="en-US" dirty="0"/>
              <a:t>DROP</a:t>
            </a:r>
          </a:p>
          <a:p>
            <a:pPr lvl="2"/>
            <a:r>
              <a:rPr lang="en-US" dirty="0"/>
              <a:t>ALTER</a:t>
            </a:r>
          </a:p>
          <a:p>
            <a:pPr lvl="2"/>
            <a:r>
              <a:rPr lang="en-US" dirty="0"/>
              <a:t>TRUNCATE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886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 the Last Lecture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MySQL constraints</a:t>
            </a:r>
          </a:p>
          <a:p>
            <a:pPr lvl="1"/>
            <a:r>
              <a:rPr lang="en-US" dirty="0"/>
              <a:t>SQL constraints are used to specify rules for the data in a relation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MySQL constraints</a:t>
            </a:r>
          </a:p>
          <a:p>
            <a:pPr lvl="2"/>
            <a:r>
              <a:rPr lang="en-US" b="1" dirty="0">
                <a:solidFill>
                  <a:schemeClr val="accent1"/>
                </a:solidFill>
              </a:rPr>
              <a:t>NOT NULL</a:t>
            </a:r>
          </a:p>
          <a:p>
            <a:pPr lvl="2"/>
            <a:r>
              <a:rPr lang="en-US" b="1" dirty="0">
                <a:solidFill>
                  <a:schemeClr val="accent1"/>
                </a:solidFill>
              </a:rPr>
              <a:t>PRIMARY KEY </a:t>
            </a:r>
          </a:p>
          <a:p>
            <a:pPr lvl="2"/>
            <a:r>
              <a:rPr lang="en-US" b="1" dirty="0">
                <a:solidFill>
                  <a:schemeClr val="accent1"/>
                </a:solidFill>
              </a:rPr>
              <a:t>FOREIGN KEY </a:t>
            </a:r>
          </a:p>
          <a:p>
            <a:pPr lvl="2"/>
            <a:r>
              <a:rPr lang="en-US" b="1" dirty="0"/>
              <a:t>UNIQUE</a:t>
            </a:r>
            <a:endParaRPr lang="en-US" dirty="0"/>
          </a:p>
          <a:p>
            <a:pPr lvl="2"/>
            <a:r>
              <a:rPr lang="en-US" b="1" dirty="0"/>
              <a:t>CHECK</a:t>
            </a:r>
            <a:r>
              <a:rPr lang="en-US" dirty="0"/>
              <a:t> </a:t>
            </a:r>
          </a:p>
          <a:p>
            <a:pPr lvl="2"/>
            <a:r>
              <a:rPr lang="en-US" b="1" dirty="0"/>
              <a:t>DEFAULT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91741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 the Last Lecture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Manipulation Language (DML)</a:t>
            </a:r>
          </a:p>
          <a:p>
            <a:pPr lvl="1"/>
            <a:r>
              <a:rPr lang="en-US" dirty="0"/>
              <a:t>A language for searching, modifying, inserting and deleting the desired data in the database</a:t>
            </a:r>
          </a:p>
          <a:p>
            <a:pPr lvl="2"/>
            <a:r>
              <a:rPr lang="en-US" dirty="0"/>
              <a:t>DML also known as query language</a:t>
            </a:r>
          </a:p>
          <a:p>
            <a:endParaRPr lang="en-US" dirty="0"/>
          </a:p>
          <a:p>
            <a:pPr lvl="1"/>
            <a:r>
              <a:rPr lang="en-US" dirty="0"/>
              <a:t>Statements</a:t>
            </a:r>
          </a:p>
          <a:p>
            <a:pPr lvl="2"/>
            <a:r>
              <a:rPr lang="en-US" dirty="0"/>
              <a:t>INSERT</a:t>
            </a:r>
          </a:p>
          <a:p>
            <a:pPr lvl="2"/>
            <a:r>
              <a:rPr lang="en-US" dirty="0"/>
              <a:t>UPDATE</a:t>
            </a:r>
          </a:p>
          <a:p>
            <a:pPr lvl="2"/>
            <a:r>
              <a:rPr lang="en-US" dirty="0"/>
              <a:t>DELETE</a:t>
            </a:r>
          </a:p>
          <a:p>
            <a:pPr lvl="2"/>
            <a:r>
              <a:rPr lang="en-US" dirty="0"/>
              <a:t>SELECT</a:t>
            </a:r>
          </a:p>
        </p:txBody>
      </p:sp>
    </p:spTree>
    <p:extLst>
      <p:ext uri="{BB962C8B-B14F-4D97-AF65-F5344CB8AC3E}">
        <p14:creationId xmlns:p14="http://schemas.microsoft.com/office/powerpoint/2010/main" val="3891750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 the Last Lecture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SELECT statement</a:t>
            </a:r>
          </a:p>
          <a:p>
            <a:pPr lvl="1"/>
            <a:r>
              <a:rPr lang="en-US" dirty="0"/>
              <a:t>Used to select/retrieve tuples from a database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Syntax</a:t>
            </a:r>
          </a:p>
          <a:p>
            <a:pPr marL="914400" lvl="2" indent="0">
              <a:buNone/>
            </a:pPr>
            <a:r>
              <a:rPr lang="en-US" b="1" dirty="0"/>
              <a:t>SELECT</a:t>
            </a:r>
            <a:r>
              <a:rPr lang="en-US" dirty="0"/>
              <a:t>		[</a:t>
            </a:r>
            <a:r>
              <a:rPr lang="en-US" b="1" dirty="0"/>
              <a:t>DISTINCT</a:t>
            </a:r>
            <a:r>
              <a:rPr lang="en-US" dirty="0"/>
              <a:t>] attribute(s)	(1)</a:t>
            </a:r>
          </a:p>
          <a:p>
            <a:pPr marL="914400" lvl="2" indent="0">
              <a:buNone/>
            </a:pPr>
            <a:r>
              <a:rPr lang="en-US" b="1" dirty="0"/>
              <a:t>FROM</a:t>
            </a:r>
            <a:r>
              <a:rPr lang="en-US" dirty="0"/>
              <a:t>		relation(s)		(2)</a:t>
            </a:r>
          </a:p>
          <a:p>
            <a:pPr marL="914400" lvl="2" indent="0">
              <a:buNone/>
            </a:pPr>
            <a:r>
              <a:rPr lang="en-US" dirty="0"/>
              <a:t>[</a:t>
            </a:r>
            <a:r>
              <a:rPr lang="en-US" b="1" dirty="0"/>
              <a:t>WHERE</a:t>
            </a:r>
            <a:r>
              <a:rPr lang="en-US" dirty="0"/>
              <a:t>	condition]		(3)</a:t>
            </a:r>
          </a:p>
          <a:p>
            <a:pPr marL="914400" lvl="2" indent="0">
              <a:buNone/>
            </a:pPr>
            <a:r>
              <a:rPr lang="en-US" dirty="0"/>
              <a:t>[</a:t>
            </a:r>
            <a:r>
              <a:rPr lang="en-US" b="1" dirty="0"/>
              <a:t>GROUP BY</a:t>
            </a:r>
            <a:r>
              <a:rPr lang="en-US" dirty="0"/>
              <a:t>	attribute(s)]		(4)</a:t>
            </a:r>
          </a:p>
          <a:p>
            <a:pPr marL="914400" lvl="2" indent="0">
              <a:buNone/>
            </a:pPr>
            <a:r>
              <a:rPr lang="en-US" dirty="0"/>
              <a:t>[</a:t>
            </a:r>
            <a:r>
              <a:rPr lang="en-US" b="1" dirty="0"/>
              <a:t>HAVING	</a:t>
            </a:r>
            <a:r>
              <a:rPr lang="en-US" dirty="0"/>
              <a:t>condition]		(5)</a:t>
            </a:r>
          </a:p>
          <a:p>
            <a:pPr marL="914400" lvl="2" indent="0">
              <a:buNone/>
            </a:pPr>
            <a:r>
              <a:rPr lang="en-US" dirty="0"/>
              <a:t>[</a:t>
            </a:r>
            <a:r>
              <a:rPr lang="en-US" b="1" dirty="0"/>
              <a:t>ORDER BY</a:t>
            </a:r>
            <a:r>
              <a:rPr lang="en-US" dirty="0"/>
              <a:t>	attribute(s)]		(6)</a:t>
            </a:r>
          </a:p>
          <a:p>
            <a:pPr marL="914400" lvl="2" indent="0">
              <a:buNone/>
            </a:pPr>
            <a:r>
              <a:rPr lang="en-US" dirty="0"/>
              <a:t>[</a:t>
            </a:r>
            <a:r>
              <a:rPr lang="en-US" b="1" dirty="0"/>
              <a:t>LIMIT</a:t>
            </a:r>
            <a:r>
              <a:rPr lang="en-US" dirty="0"/>
              <a:t>		number];		(7)</a:t>
            </a:r>
          </a:p>
        </p:txBody>
      </p:sp>
      <p:sp>
        <p:nvSpPr>
          <p:cNvPr id="4" name="오른쪽 중괄호 3"/>
          <p:cNvSpPr/>
          <p:nvPr/>
        </p:nvSpPr>
        <p:spPr>
          <a:xfrm>
            <a:off x="6444208" y="2996952"/>
            <a:ext cx="360040" cy="720080"/>
          </a:xfrm>
          <a:prstGeom prst="rightBrace">
            <a:avLst>
              <a:gd name="adj1" fmla="val 40079"/>
              <a:gd name="adj2" fmla="val 5120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오른쪽 중괄호 4"/>
          <p:cNvSpPr/>
          <p:nvPr/>
        </p:nvSpPr>
        <p:spPr>
          <a:xfrm>
            <a:off x="6444208" y="3789040"/>
            <a:ext cx="360040" cy="2088232"/>
          </a:xfrm>
          <a:prstGeom prst="rightBrace">
            <a:avLst>
              <a:gd name="adj1" fmla="val 40079"/>
              <a:gd name="adj2" fmla="val 5120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948264" y="3172326"/>
            <a:ext cx="1441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Compulsory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8263" y="4432466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1072739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 the Last Lecture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800" dirty="0"/>
              <a:t>The GROUP BY statement</a:t>
            </a:r>
          </a:p>
          <a:p>
            <a:pPr lvl="1"/>
            <a:r>
              <a:rPr lang="en-US" altLang="ko-KR" sz="1600" dirty="0"/>
              <a:t>Query: Group the employees by department and calculate </a:t>
            </a:r>
            <a:r>
              <a:rPr lang="en-US" altLang="ko-KR" sz="1600" dirty="0" err="1"/>
              <a:t>avg</a:t>
            </a:r>
            <a:r>
              <a:rPr lang="en-US" altLang="ko-KR" sz="1600" dirty="0"/>
              <a:t> and max salaries</a:t>
            </a:r>
          </a:p>
          <a:p>
            <a:pPr marL="914400" lvl="2" indent="0">
              <a:buNone/>
            </a:pPr>
            <a:r>
              <a:rPr lang="en-US" altLang="ko-KR" sz="1600" b="1" dirty="0"/>
              <a:t>SELECT</a:t>
            </a:r>
            <a:r>
              <a:rPr lang="en-US" altLang="ko-KR" sz="1600" dirty="0"/>
              <a:t> 		</a:t>
            </a:r>
            <a:r>
              <a:rPr lang="en-US" altLang="ko-KR" sz="1600" dirty="0" err="1"/>
              <a:t>dno</a:t>
            </a:r>
            <a:r>
              <a:rPr lang="en-US" altLang="ko-KR" sz="1600" dirty="0"/>
              <a:t>, </a:t>
            </a:r>
            <a:r>
              <a:rPr lang="en-US" altLang="ko-KR" sz="1600" b="1" dirty="0"/>
              <a:t>AVG</a:t>
            </a:r>
            <a:r>
              <a:rPr lang="en-US" altLang="ko-KR" sz="1600" dirty="0"/>
              <a:t>(salary) as </a:t>
            </a:r>
            <a:r>
              <a:rPr lang="en-US" altLang="ko-KR" sz="1600" dirty="0" err="1"/>
              <a:t>avgsal</a:t>
            </a:r>
            <a:r>
              <a:rPr lang="en-US" altLang="ko-KR" sz="1600" dirty="0"/>
              <a:t>, </a:t>
            </a:r>
            <a:r>
              <a:rPr lang="en-US" altLang="ko-KR" sz="1600" b="1" dirty="0"/>
              <a:t>MAX</a:t>
            </a:r>
            <a:r>
              <a:rPr lang="en-US" altLang="ko-KR" sz="1600" dirty="0"/>
              <a:t>(salary) as </a:t>
            </a:r>
            <a:r>
              <a:rPr lang="en-US" altLang="ko-KR" sz="1600" dirty="0" err="1"/>
              <a:t>maxsal</a:t>
            </a:r>
            <a:endParaRPr lang="en-US" altLang="ko-KR" sz="1600" dirty="0"/>
          </a:p>
          <a:p>
            <a:pPr marL="914400" lvl="2" indent="0">
              <a:buNone/>
            </a:pPr>
            <a:r>
              <a:rPr lang="en-US" altLang="ko-KR" sz="1600" b="1" dirty="0"/>
              <a:t>FROM</a:t>
            </a:r>
            <a:r>
              <a:rPr lang="en-US" altLang="ko-KR" sz="1600" dirty="0"/>
              <a:t> 		employee</a:t>
            </a:r>
          </a:p>
          <a:p>
            <a:pPr marL="914400" lvl="2" indent="0">
              <a:buNone/>
            </a:pPr>
            <a:r>
              <a:rPr lang="en-US" altLang="ko-KR" sz="1600" b="1" dirty="0"/>
              <a:t>GROUP</a:t>
            </a:r>
            <a:r>
              <a:rPr lang="en-US" altLang="ko-KR" sz="1600" dirty="0"/>
              <a:t> </a:t>
            </a:r>
            <a:r>
              <a:rPr lang="en-US" altLang="ko-KR" sz="1600" b="1" dirty="0"/>
              <a:t>BY</a:t>
            </a:r>
            <a:r>
              <a:rPr lang="en-US" altLang="ko-KR" sz="1600" dirty="0"/>
              <a:t> 	</a:t>
            </a:r>
            <a:r>
              <a:rPr lang="en-US" altLang="ko-KR" sz="1600" dirty="0" err="1"/>
              <a:t>dno</a:t>
            </a:r>
            <a:r>
              <a:rPr lang="en-US" altLang="ko-KR" sz="1600" dirty="0"/>
              <a:t>;</a:t>
            </a:r>
          </a:p>
          <a:p>
            <a:pPr lvl="1"/>
            <a:endParaRPr lang="en-US" sz="16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924" y="3356992"/>
            <a:ext cx="6048151" cy="327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597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Table of Contents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ko-KR" dirty="0"/>
              <a:t>Intermediate DDL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dirty="0"/>
              <a:t>Intermediate DML</a:t>
            </a:r>
          </a:p>
          <a:p>
            <a:pPr marL="685800" lvl="1"/>
            <a:r>
              <a:rPr lang="en-US" altLang="ko-KR" dirty="0"/>
              <a:t>Join queries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Summary and Discussions</a:t>
            </a:r>
          </a:p>
        </p:txBody>
      </p:sp>
    </p:spTree>
    <p:extLst>
      <p:ext uri="{BB962C8B-B14F-4D97-AF65-F5344CB8AC3E}">
        <p14:creationId xmlns:p14="http://schemas.microsoft.com/office/powerpoint/2010/main" val="1462334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Intermediate DDL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</a:t>
            </a:r>
          </a:p>
        </p:txBody>
      </p:sp>
    </p:spTree>
    <p:extLst>
      <p:ext uri="{BB962C8B-B14F-4D97-AF65-F5344CB8AC3E}">
        <p14:creationId xmlns:p14="http://schemas.microsoft.com/office/powerpoint/2010/main" val="2148937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Intermediate DDL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MySQL constraints</a:t>
            </a:r>
          </a:p>
          <a:p>
            <a:pPr lvl="1"/>
            <a:r>
              <a:rPr lang="en-US" dirty="0"/>
              <a:t>SQL constraints are used to specify rules for the data in a relation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MySQL constraints</a:t>
            </a:r>
          </a:p>
          <a:p>
            <a:pPr lvl="2"/>
            <a:r>
              <a:rPr lang="en-US" b="1" dirty="0"/>
              <a:t>NOT NULL</a:t>
            </a:r>
          </a:p>
          <a:p>
            <a:pPr lvl="2"/>
            <a:r>
              <a:rPr lang="en-US" b="1" dirty="0"/>
              <a:t>PRIMARY KEY </a:t>
            </a:r>
          </a:p>
          <a:p>
            <a:pPr lvl="2"/>
            <a:r>
              <a:rPr lang="en-US" b="1" dirty="0"/>
              <a:t>FOREIGN KEY </a:t>
            </a:r>
          </a:p>
          <a:p>
            <a:pPr lvl="2"/>
            <a:r>
              <a:rPr lang="en-US" b="1" dirty="0">
                <a:solidFill>
                  <a:srgbClr val="0070C0"/>
                </a:solidFill>
              </a:rPr>
              <a:t>UNIQUE</a:t>
            </a:r>
            <a:endParaRPr lang="en-US" dirty="0">
              <a:solidFill>
                <a:srgbClr val="0070C0"/>
              </a:solidFill>
            </a:endParaRPr>
          </a:p>
          <a:p>
            <a:pPr lvl="2"/>
            <a:r>
              <a:rPr lang="en-US" b="1" dirty="0">
                <a:solidFill>
                  <a:srgbClr val="0070C0"/>
                </a:solidFill>
              </a:rPr>
              <a:t>CHECK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  <a:p>
            <a:pPr lvl="2"/>
            <a:r>
              <a:rPr lang="en-US" b="1" dirty="0">
                <a:solidFill>
                  <a:srgbClr val="0070C0"/>
                </a:solidFill>
              </a:rPr>
              <a:t>DEFAULT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00830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Intermediate DDL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UNIQUE constraint</a:t>
            </a:r>
          </a:p>
          <a:p>
            <a:pPr lvl="1"/>
            <a:r>
              <a:rPr lang="en-US" altLang="ko-KR" dirty="0"/>
              <a:t>E</a:t>
            </a:r>
            <a:r>
              <a:rPr lang="en-US" dirty="0"/>
              <a:t>nsures that all values in a</a:t>
            </a:r>
            <a:r>
              <a:rPr lang="en-US" altLang="ko-KR" dirty="0"/>
              <a:t>n</a:t>
            </a:r>
            <a:r>
              <a:rPr lang="en-US" dirty="0"/>
              <a:t> </a:t>
            </a:r>
            <a:r>
              <a:rPr lang="en-US" altLang="ko-KR" dirty="0"/>
              <a:t>attribute</a:t>
            </a:r>
            <a:r>
              <a:rPr lang="en-US" dirty="0"/>
              <a:t> are different</a:t>
            </a:r>
          </a:p>
          <a:p>
            <a:pPr lvl="1"/>
            <a:endParaRPr lang="en-US" dirty="0"/>
          </a:p>
          <a:p>
            <a:pPr lvl="1"/>
            <a:r>
              <a:rPr lang="en-US" altLang="ko-KR" dirty="0"/>
              <a:t>UNIQUE constraint vs. PRIMARY KEY constraint</a:t>
            </a:r>
          </a:p>
          <a:p>
            <a:pPr lvl="2"/>
            <a:r>
              <a:rPr lang="en-US" dirty="0"/>
              <a:t>Both the UNIQUE and PRIMARY KEY constraints provide a guarantee for uniqueness for a</a:t>
            </a:r>
            <a:r>
              <a:rPr lang="en-US" altLang="ko-KR" dirty="0"/>
              <a:t>n</a:t>
            </a:r>
            <a:r>
              <a:rPr lang="en-US" dirty="0"/>
              <a:t> </a:t>
            </a:r>
            <a:r>
              <a:rPr lang="en-US" altLang="ko-KR" dirty="0"/>
              <a:t>attribute</a:t>
            </a:r>
            <a:r>
              <a:rPr lang="en-US" dirty="0"/>
              <a:t> or set of </a:t>
            </a:r>
            <a:r>
              <a:rPr lang="en-US" altLang="ko-KR" dirty="0"/>
              <a:t>attributes</a:t>
            </a:r>
            <a:endParaRPr lang="en-US" dirty="0"/>
          </a:p>
          <a:p>
            <a:pPr lvl="2"/>
            <a:endParaRPr lang="en-US" dirty="0"/>
          </a:p>
          <a:p>
            <a:pPr lvl="2"/>
            <a:r>
              <a:rPr lang="en-US" dirty="0"/>
              <a:t>A PRIMARY KEY constraint automatically has a UNIQUE constraint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However, you can have many UNIQUE constraints per </a:t>
            </a:r>
            <a:r>
              <a:rPr lang="en-US" altLang="ko-KR" dirty="0"/>
              <a:t>relation</a:t>
            </a:r>
            <a:r>
              <a:rPr lang="en-US" dirty="0"/>
              <a:t>, but only one PRIMARY KEY constraint per </a:t>
            </a:r>
            <a:r>
              <a:rPr lang="en-US" altLang="ko-KR" dirty="0"/>
              <a:t>relation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561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Intermediate DDL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DEFAULT constraint</a:t>
            </a:r>
          </a:p>
          <a:p>
            <a:pPr lvl="1"/>
            <a:r>
              <a:rPr lang="en-US" altLang="ko-KR" dirty="0"/>
              <a:t>U</a:t>
            </a:r>
            <a:r>
              <a:rPr lang="en-US" dirty="0"/>
              <a:t>sed to set a default value for a</a:t>
            </a:r>
            <a:r>
              <a:rPr lang="en-US" altLang="ko-KR" dirty="0"/>
              <a:t>n attribute</a:t>
            </a:r>
            <a:endParaRPr lang="en-US" dirty="0"/>
          </a:p>
          <a:p>
            <a:pPr lvl="2"/>
            <a:r>
              <a:rPr lang="en-US" dirty="0"/>
              <a:t>The default value will be added to all new </a:t>
            </a:r>
            <a:r>
              <a:rPr lang="en-US" altLang="ko-KR" dirty="0"/>
              <a:t>tuples</a:t>
            </a:r>
            <a:r>
              <a:rPr lang="en-US" dirty="0"/>
              <a:t>, if no other value is specified</a:t>
            </a:r>
          </a:p>
          <a:p>
            <a:pPr lvl="1"/>
            <a:endParaRPr lang="en-US" dirty="0"/>
          </a:p>
          <a:p>
            <a:r>
              <a:rPr lang="en-US" altLang="ko-KR" dirty="0"/>
              <a:t>CHECK constraint</a:t>
            </a:r>
          </a:p>
          <a:p>
            <a:pPr lvl="1"/>
            <a:r>
              <a:rPr lang="en-US" dirty="0"/>
              <a:t>The CHECK constraint is used to limit the value range that can be placed in a column</a:t>
            </a:r>
          </a:p>
          <a:p>
            <a:pPr lvl="2"/>
            <a:r>
              <a:rPr lang="en-US" altLang="ko-KR" dirty="0"/>
              <a:t>I</a:t>
            </a:r>
            <a:r>
              <a:rPr lang="en-US" dirty="0"/>
              <a:t>t will allow only certain values for this column</a:t>
            </a:r>
          </a:p>
          <a:p>
            <a:pPr marL="914400" lvl="2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52407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Intermediate DDL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/>
              <a:t>Example for MySQL constraints</a:t>
            </a:r>
            <a:endParaRPr lang="en-US" dirty="0"/>
          </a:p>
          <a:p>
            <a:pPr marL="914400" lvl="2" indent="0">
              <a:buNone/>
            </a:pPr>
            <a:r>
              <a:rPr lang="en-US" b="1" dirty="0"/>
              <a:t>CREATE</a:t>
            </a:r>
            <a:r>
              <a:rPr lang="en-US" dirty="0"/>
              <a:t> </a:t>
            </a:r>
            <a:r>
              <a:rPr lang="en-US" b="1" dirty="0"/>
              <a:t>TABLE</a:t>
            </a:r>
            <a:r>
              <a:rPr lang="en-US" dirty="0"/>
              <a:t> employee(</a:t>
            </a:r>
          </a:p>
          <a:p>
            <a:pPr marL="914400" lvl="2" indent="0">
              <a:buNone/>
            </a:pPr>
            <a:r>
              <a:rPr lang="en-US" i="1" dirty="0"/>
              <a:t>	</a:t>
            </a:r>
            <a:r>
              <a:rPr lang="en-US" dirty="0" err="1"/>
              <a:t>empno</a:t>
            </a:r>
            <a:r>
              <a:rPr lang="en-US" dirty="0"/>
              <a:t>		</a:t>
            </a:r>
            <a:r>
              <a:rPr lang="en-US" dirty="0" err="1"/>
              <a:t>int</a:t>
            </a:r>
            <a:r>
              <a:rPr lang="en-US" dirty="0"/>
              <a:t>		</a:t>
            </a:r>
            <a:r>
              <a:rPr lang="en-US" b="1" dirty="0"/>
              <a:t>NOT NULL</a:t>
            </a:r>
            <a:r>
              <a:rPr lang="en-US" dirty="0"/>
              <a:t>,</a:t>
            </a:r>
          </a:p>
          <a:p>
            <a:pPr marL="914400" lvl="2" indent="0">
              <a:buNone/>
            </a:pPr>
            <a:r>
              <a:rPr lang="en-US" dirty="0"/>
              <a:t>	</a:t>
            </a:r>
            <a:r>
              <a:rPr lang="en-US" dirty="0" err="1"/>
              <a:t>empname</a:t>
            </a:r>
            <a:r>
              <a:rPr lang="en-US" dirty="0"/>
              <a:t>		varchar(45),</a:t>
            </a:r>
          </a:p>
          <a:p>
            <a:pPr marL="914400" lvl="2" indent="0">
              <a:buNone/>
            </a:pPr>
            <a:r>
              <a:rPr lang="en-US" dirty="0"/>
              <a:t>	title		varchar(45)		</a:t>
            </a:r>
            <a:r>
              <a:rPr lang="en-US" altLang="ko-KR" b="1" dirty="0">
                <a:solidFill>
                  <a:srgbClr val="0070C0"/>
                </a:solidFill>
              </a:rPr>
              <a:t>DEFAULT</a:t>
            </a:r>
            <a:r>
              <a:rPr lang="en-US" altLang="ko-KR" dirty="0">
                <a:solidFill>
                  <a:srgbClr val="0070C0"/>
                </a:solidFill>
              </a:rPr>
              <a:t> '</a:t>
            </a:r>
            <a:r>
              <a:rPr lang="ko-KR" altLang="en-US" dirty="0">
                <a:solidFill>
                  <a:srgbClr val="0070C0"/>
                </a:solidFill>
              </a:rPr>
              <a:t>사원</a:t>
            </a:r>
            <a:r>
              <a:rPr lang="en-US" altLang="ko-KR" dirty="0">
                <a:solidFill>
                  <a:srgbClr val="0070C0"/>
                </a:solidFill>
              </a:rPr>
              <a:t>'</a:t>
            </a:r>
            <a:r>
              <a:rPr lang="en-US" dirty="0"/>
              <a:t>,</a:t>
            </a:r>
          </a:p>
          <a:p>
            <a:pPr marL="914400" lvl="2" indent="0">
              <a:buNone/>
            </a:pPr>
            <a:r>
              <a:rPr lang="en-US" dirty="0"/>
              <a:t>	manager		</a:t>
            </a:r>
            <a:r>
              <a:rPr lang="en-US" dirty="0" err="1"/>
              <a:t>int</a:t>
            </a:r>
            <a:r>
              <a:rPr lang="en-US" dirty="0"/>
              <a:t>,</a:t>
            </a:r>
          </a:p>
          <a:p>
            <a:pPr marL="914400" lvl="2" indent="0">
              <a:buNone/>
            </a:pPr>
            <a:r>
              <a:rPr lang="en-US" dirty="0"/>
              <a:t>	salary		</a:t>
            </a:r>
            <a:r>
              <a:rPr lang="en-US" dirty="0" err="1"/>
              <a:t>int</a:t>
            </a:r>
            <a:r>
              <a:rPr lang="en-US" dirty="0"/>
              <a:t>,</a:t>
            </a:r>
          </a:p>
          <a:p>
            <a:pPr marL="914400" lvl="2" indent="0">
              <a:buNone/>
            </a:pPr>
            <a:r>
              <a:rPr lang="en-US" dirty="0"/>
              <a:t>	</a:t>
            </a:r>
            <a:r>
              <a:rPr lang="en-US" dirty="0" err="1"/>
              <a:t>dno</a:t>
            </a:r>
            <a:r>
              <a:rPr lang="en-US" dirty="0"/>
              <a:t>		</a:t>
            </a:r>
            <a:r>
              <a:rPr lang="en-US" dirty="0" err="1"/>
              <a:t>int</a:t>
            </a:r>
            <a:r>
              <a:rPr lang="en-US" dirty="0"/>
              <a:t>,</a:t>
            </a:r>
          </a:p>
          <a:p>
            <a:pPr marL="914400" lvl="2" indent="0">
              <a:buNone/>
            </a:pPr>
            <a:r>
              <a:rPr lang="en-US" altLang="ko-KR" dirty="0"/>
              <a:t>	</a:t>
            </a:r>
            <a:r>
              <a:rPr lang="en-US" b="1" dirty="0"/>
              <a:t>CONSTRAINT</a:t>
            </a:r>
            <a:r>
              <a:rPr lang="en-US" dirty="0"/>
              <a:t> </a:t>
            </a:r>
            <a:r>
              <a:rPr lang="en-US" dirty="0" err="1"/>
              <a:t>PK_Employee</a:t>
            </a:r>
            <a:r>
              <a:rPr lang="en-US" dirty="0"/>
              <a:t> </a:t>
            </a:r>
            <a:r>
              <a:rPr lang="en-US" b="1" dirty="0"/>
              <a:t>PRIMARY KEY </a:t>
            </a:r>
            <a:r>
              <a:rPr lang="en-US" dirty="0"/>
              <a:t>(</a:t>
            </a:r>
            <a:r>
              <a:rPr lang="en-US" dirty="0" err="1"/>
              <a:t>empno</a:t>
            </a:r>
            <a:r>
              <a:rPr lang="en-US" dirty="0"/>
              <a:t>),</a:t>
            </a:r>
            <a:endParaRPr lang="en-US" i="1" dirty="0"/>
          </a:p>
          <a:p>
            <a:pPr marL="914400" lvl="2" indent="0">
              <a:buNone/>
            </a:pPr>
            <a:r>
              <a:rPr lang="en-US" i="1" dirty="0">
                <a:solidFill>
                  <a:srgbClr val="0070C0"/>
                </a:solidFill>
              </a:rPr>
              <a:t>	</a:t>
            </a:r>
            <a:r>
              <a:rPr lang="en-US" b="1" dirty="0"/>
              <a:t>CONSTRAINT</a:t>
            </a:r>
            <a:r>
              <a:rPr lang="en-US" dirty="0"/>
              <a:t> </a:t>
            </a:r>
            <a:r>
              <a:rPr lang="en-US" dirty="0" err="1"/>
              <a:t>FK_Employee_Manager</a:t>
            </a:r>
            <a:endParaRPr lang="en-US" dirty="0"/>
          </a:p>
          <a:p>
            <a:pPr marL="914400" lvl="2" indent="0">
              <a:buNone/>
            </a:pPr>
            <a:r>
              <a:rPr lang="en-US" b="1" dirty="0"/>
              <a:t>	FOREIGN KEY </a:t>
            </a:r>
            <a:r>
              <a:rPr lang="en-US" dirty="0"/>
              <a:t>(manager) </a:t>
            </a:r>
            <a:r>
              <a:rPr lang="en-US" b="1" dirty="0"/>
              <a:t>REFERENCES</a:t>
            </a:r>
            <a:r>
              <a:rPr lang="en-US" dirty="0"/>
              <a:t> employee(</a:t>
            </a:r>
            <a:r>
              <a:rPr lang="en-US" dirty="0" err="1"/>
              <a:t>empno</a:t>
            </a:r>
            <a:r>
              <a:rPr lang="en-US" dirty="0"/>
              <a:t>),</a:t>
            </a:r>
          </a:p>
          <a:p>
            <a:pPr marL="914400" lvl="2" indent="0">
              <a:buNone/>
            </a:pPr>
            <a:r>
              <a:rPr lang="en-US" dirty="0"/>
              <a:t>	</a:t>
            </a:r>
            <a:r>
              <a:rPr lang="en-US" b="1" dirty="0"/>
              <a:t>CONSTRAINT</a:t>
            </a:r>
            <a:r>
              <a:rPr lang="en-US" dirty="0"/>
              <a:t> </a:t>
            </a:r>
            <a:r>
              <a:rPr lang="en-US" dirty="0" err="1"/>
              <a:t>FK_Department_Employee</a:t>
            </a:r>
            <a:endParaRPr lang="en-US" dirty="0"/>
          </a:p>
          <a:p>
            <a:pPr marL="914400" lvl="2" indent="0">
              <a:buNone/>
            </a:pPr>
            <a:r>
              <a:rPr lang="en-US" i="1" dirty="0"/>
              <a:t>	</a:t>
            </a:r>
            <a:r>
              <a:rPr lang="en-US" b="1" dirty="0"/>
              <a:t>FOREIGN KEY</a:t>
            </a:r>
            <a:r>
              <a:rPr lang="en-US" dirty="0"/>
              <a:t> (</a:t>
            </a:r>
            <a:r>
              <a:rPr lang="en-US" dirty="0" err="1"/>
              <a:t>dno</a:t>
            </a:r>
            <a:r>
              <a:rPr lang="en-US" dirty="0"/>
              <a:t>) </a:t>
            </a:r>
            <a:r>
              <a:rPr lang="en-US" b="1" dirty="0"/>
              <a:t>REFERENCES</a:t>
            </a:r>
            <a:r>
              <a:rPr lang="en-US" dirty="0"/>
              <a:t> department(</a:t>
            </a:r>
            <a:r>
              <a:rPr lang="en-US" dirty="0" err="1"/>
              <a:t>deptno</a:t>
            </a:r>
            <a:r>
              <a:rPr lang="en-US" dirty="0"/>
              <a:t>)</a:t>
            </a:r>
            <a:r>
              <a:rPr lang="en-US" altLang="ko-KR" dirty="0"/>
              <a:t>,</a:t>
            </a:r>
          </a:p>
          <a:p>
            <a:pPr marL="914400" lvl="2" indent="0">
              <a:buNone/>
            </a:pPr>
            <a:r>
              <a:rPr lang="en-US" altLang="ko-KR" b="1" dirty="0">
                <a:solidFill>
                  <a:srgbClr val="0070C0"/>
                </a:solidFill>
              </a:rPr>
              <a:t>	CONSTRAINT</a:t>
            </a:r>
            <a:r>
              <a:rPr lang="en-US" altLang="ko-KR" dirty="0">
                <a:solidFill>
                  <a:srgbClr val="0070C0"/>
                </a:solidFill>
              </a:rPr>
              <a:t> </a:t>
            </a:r>
            <a:r>
              <a:rPr lang="en-US" altLang="ko-KR" dirty="0" err="1">
                <a:solidFill>
                  <a:srgbClr val="0070C0"/>
                </a:solidFill>
              </a:rPr>
              <a:t>UQ_empname</a:t>
            </a:r>
            <a:r>
              <a:rPr lang="en-US" altLang="ko-KR" dirty="0">
                <a:solidFill>
                  <a:srgbClr val="0070C0"/>
                </a:solidFill>
              </a:rPr>
              <a:t> </a:t>
            </a:r>
            <a:r>
              <a:rPr lang="en-US" altLang="ko-KR" b="1" dirty="0">
                <a:solidFill>
                  <a:srgbClr val="0070C0"/>
                </a:solidFill>
              </a:rPr>
              <a:t>UNIQUE</a:t>
            </a:r>
            <a:r>
              <a:rPr lang="en-US" altLang="ko-KR" dirty="0">
                <a:solidFill>
                  <a:srgbClr val="0070C0"/>
                </a:solidFill>
              </a:rPr>
              <a:t> (</a:t>
            </a:r>
            <a:r>
              <a:rPr lang="en-US" altLang="ko-KR" dirty="0" err="1">
                <a:solidFill>
                  <a:srgbClr val="0070C0"/>
                </a:solidFill>
              </a:rPr>
              <a:t>empname</a:t>
            </a:r>
            <a:r>
              <a:rPr lang="en-US" altLang="ko-KR" dirty="0">
                <a:solidFill>
                  <a:srgbClr val="0070C0"/>
                </a:solidFill>
              </a:rPr>
              <a:t>),</a:t>
            </a:r>
          </a:p>
          <a:p>
            <a:pPr marL="914400" lvl="2" indent="0">
              <a:buNone/>
            </a:pPr>
            <a:r>
              <a:rPr lang="en-US" altLang="ko-KR" dirty="0">
                <a:solidFill>
                  <a:srgbClr val="0070C0"/>
                </a:solidFill>
              </a:rPr>
              <a:t>	</a:t>
            </a:r>
            <a:r>
              <a:rPr lang="en-US" altLang="ko-KR" b="1" dirty="0">
                <a:solidFill>
                  <a:srgbClr val="0070C0"/>
                </a:solidFill>
              </a:rPr>
              <a:t>CONSTRAINT</a:t>
            </a:r>
            <a:r>
              <a:rPr lang="en-US" altLang="ko-KR" dirty="0">
                <a:solidFill>
                  <a:srgbClr val="0070C0"/>
                </a:solidFill>
              </a:rPr>
              <a:t> </a:t>
            </a:r>
            <a:r>
              <a:rPr lang="en-US" altLang="ko-KR" dirty="0" err="1">
                <a:solidFill>
                  <a:srgbClr val="0070C0"/>
                </a:solidFill>
              </a:rPr>
              <a:t>CH_salary</a:t>
            </a:r>
            <a:r>
              <a:rPr lang="en-US" altLang="ko-KR" dirty="0">
                <a:solidFill>
                  <a:srgbClr val="0070C0"/>
                </a:solidFill>
              </a:rPr>
              <a:t> </a:t>
            </a:r>
            <a:r>
              <a:rPr lang="en-US" altLang="ko-KR" b="1" dirty="0">
                <a:solidFill>
                  <a:srgbClr val="0070C0"/>
                </a:solidFill>
              </a:rPr>
              <a:t>CHECK</a:t>
            </a:r>
            <a:r>
              <a:rPr lang="en-US" altLang="ko-KR" dirty="0">
                <a:solidFill>
                  <a:srgbClr val="0070C0"/>
                </a:solidFill>
              </a:rPr>
              <a:t> (salary &lt; 6000000),</a:t>
            </a:r>
          </a:p>
          <a:p>
            <a:pPr marL="914400" lvl="2" indent="0">
              <a:buNone/>
            </a:pPr>
            <a:r>
              <a:rPr lang="en-US" altLang="ko-KR" dirty="0">
                <a:solidFill>
                  <a:srgbClr val="0070C0"/>
                </a:solidFill>
              </a:rPr>
              <a:t>	</a:t>
            </a:r>
            <a:r>
              <a:rPr lang="en-US" altLang="ko-KR" b="1" dirty="0">
                <a:solidFill>
                  <a:srgbClr val="0070C0"/>
                </a:solidFill>
              </a:rPr>
              <a:t>CONSTRAINT</a:t>
            </a:r>
            <a:r>
              <a:rPr lang="en-US" altLang="ko-KR" dirty="0">
                <a:solidFill>
                  <a:srgbClr val="0070C0"/>
                </a:solidFill>
              </a:rPr>
              <a:t> </a:t>
            </a:r>
            <a:r>
              <a:rPr lang="en-US" altLang="ko-KR" dirty="0" err="1">
                <a:solidFill>
                  <a:srgbClr val="0070C0"/>
                </a:solidFill>
              </a:rPr>
              <a:t>CH_dno</a:t>
            </a:r>
            <a:r>
              <a:rPr lang="en-US" altLang="ko-KR" dirty="0">
                <a:solidFill>
                  <a:srgbClr val="0070C0"/>
                </a:solidFill>
              </a:rPr>
              <a:t> </a:t>
            </a:r>
            <a:r>
              <a:rPr lang="en-US" altLang="ko-KR" b="1" dirty="0">
                <a:solidFill>
                  <a:srgbClr val="0070C0"/>
                </a:solidFill>
              </a:rPr>
              <a:t>CHECK</a:t>
            </a:r>
            <a:r>
              <a:rPr lang="en-US" altLang="ko-KR" dirty="0">
                <a:solidFill>
                  <a:srgbClr val="0070C0"/>
                </a:solidFill>
              </a:rPr>
              <a:t> (</a:t>
            </a:r>
            <a:r>
              <a:rPr lang="en-US" altLang="ko-KR" dirty="0" err="1">
                <a:solidFill>
                  <a:srgbClr val="0070C0"/>
                </a:solidFill>
              </a:rPr>
              <a:t>dno</a:t>
            </a:r>
            <a:r>
              <a:rPr lang="en-US" altLang="ko-KR" dirty="0">
                <a:solidFill>
                  <a:srgbClr val="0070C0"/>
                </a:solidFill>
              </a:rPr>
              <a:t> IN (1, 2, 3, 4, 5, 6))</a:t>
            </a:r>
            <a:endParaRPr lang="en-US" altLang="ko-KR" dirty="0"/>
          </a:p>
          <a:p>
            <a:pPr marL="914400" lvl="2" indent="0">
              <a:buNone/>
            </a:pPr>
            <a:r>
              <a:rPr lang="en-US" dirty="0"/>
              <a:t>);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87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Intermediate DML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</a:t>
            </a:r>
          </a:p>
        </p:txBody>
      </p:sp>
    </p:spTree>
    <p:extLst>
      <p:ext uri="{BB962C8B-B14F-4D97-AF65-F5344CB8AC3E}">
        <p14:creationId xmlns:p14="http://schemas.microsoft.com/office/powerpoint/2010/main" val="1978988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Intermediate DML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Join Queries</a:t>
            </a:r>
          </a:p>
          <a:p>
            <a:pPr lvl="1"/>
            <a:r>
              <a:rPr lang="en-US" dirty="0"/>
              <a:t>Using the EMPLOYEE table, find the department in which the employee named '</a:t>
            </a:r>
            <a:r>
              <a:rPr lang="ko-KR" altLang="en-US" dirty="0"/>
              <a:t>김창섭</a:t>
            </a:r>
            <a:r>
              <a:rPr lang="en-US" altLang="ko-KR" dirty="0"/>
              <a:t>' </a:t>
            </a:r>
            <a:r>
              <a:rPr lang="en-US" dirty="0"/>
              <a:t>works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Query</a:t>
            </a:r>
          </a:p>
          <a:p>
            <a:pPr marL="914400" lvl="2" indent="0">
              <a:buNone/>
            </a:pPr>
            <a:r>
              <a:rPr lang="en-US" altLang="ko-KR" b="1" dirty="0"/>
              <a:t>SELECT</a:t>
            </a:r>
            <a:r>
              <a:rPr lang="en-US" altLang="ko-KR" dirty="0"/>
              <a:t> 	*</a:t>
            </a:r>
          </a:p>
          <a:p>
            <a:pPr marL="914400" lvl="2" indent="0">
              <a:buNone/>
            </a:pPr>
            <a:r>
              <a:rPr lang="en-US" altLang="ko-KR" b="1" dirty="0"/>
              <a:t>FROM</a:t>
            </a:r>
            <a:r>
              <a:rPr lang="en-US" altLang="ko-KR" dirty="0"/>
              <a:t> 		employee</a:t>
            </a:r>
          </a:p>
          <a:p>
            <a:pPr marL="914400" lvl="2" indent="0">
              <a:buNone/>
            </a:pPr>
            <a:r>
              <a:rPr lang="en-US" altLang="ko-KR" b="1" dirty="0"/>
              <a:t>WHERE</a:t>
            </a:r>
            <a:r>
              <a:rPr lang="en-US" altLang="ko-KR" dirty="0"/>
              <a:t> 	</a:t>
            </a:r>
            <a:r>
              <a:rPr lang="en-US" altLang="ko-KR" dirty="0" err="1"/>
              <a:t>empname</a:t>
            </a:r>
            <a:r>
              <a:rPr lang="en-US" altLang="ko-KR" dirty="0"/>
              <a:t> = </a:t>
            </a:r>
            <a:r>
              <a:rPr lang="en-US" dirty="0"/>
              <a:t>'</a:t>
            </a:r>
            <a:r>
              <a:rPr lang="ko-KR" altLang="en-US" dirty="0"/>
              <a:t>김창섭</a:t>
            </a:r>
            <a:r>
              <a:rPr lang="en-US" altLang="ko-KR" dirty="0"/>
              <a:t>';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337" y="2636912"/>
            <a:ext cx="5267325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671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Intermediate DML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Join Query</a:t>
            </a:r>
          </a:p>
          <a:p>
            <a:pPr lvl="1"/>
            <a:r>
              <a:rPr lang="en-US" dirty="0"/>
              <a:t>Combines tuples from two or more relations based on a common attribute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942" y="2780928"/>
            <a:ext cx="5612115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058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Intermediate DML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Join Query</a:t>
            </a:r>
          </a:p>
          <a:p>
            <a:pPr lvl="1"/>
            <a:r>
              <a:rPr lang="en-US" altLang="ko-KR" dirty="0"/>
              <a:t>Syntax</a:t>
            </a:r>
          </a:p>
          <a:p>
            <a:pPr marL="914400" lvl="2" indent="0">
              <a:buNone/>
            </a:pPr>
            <a:r>
              <a:rPr lang="en-US" b="1" dirty="0"/>
              <a:t>SELECT</a:t>
            </a:r>
            <a:r>
              <a:rPr lang="en-US" dirty="0"/>
              <a:t> table1.column1, table2.column2</a:t>
            </a:r>
          </a:p>
          <a:p>
            <a:pPr marL="914400" lvl="2" indent="0">
              <a:buNone/>
            </a:pPr>
            <a:r>
              <a:rPr lang="en-US" b="1" dirty="0"/>
              <a:t>FROM</a:t>
            </a:r>
            <a:r>
              <a:rPr lang="en-US" dirty="0"/>
              <a:t> table1</a:t>
            </a:r>
          </a:p>
          <a:p>
            <a:pPr marL="914400" lvl="2" indent="0">
              <a:buNone/>
            </a:pPr>
            <a:r>
              <a:rPr lang="en-US" b="1" dirty="0"/>
              <a:t>JOIN</a:t>
            </a:r>
            <a:r>
              <a:rPr lang="en-US" dirty="0"/>
              <a:t> table2 </a:t>
            </a:r>
            <a:r>
              <a:rPr lang="en-US" b="1" dirty="0"/>
              <a:t>ON</a:t>
            </a:r>
            <a:r>
              <a:rPr lang="en-US" dirty="0"/>
              <a:t> </a:t>
            </a:r>
          </a:p>
          <a:p>
            <a:pPr marL="914400" lvl="2" indent="0">
              <a:buNone/>
            </a:pPr>
            <a:r>
              <a:rPr lang="en-US" dirty="0"/>
              <a:t>	table1.common_column = table2.common_column;</a:t>
            </a:r>
          </a:p>
          <a:p>
            <a:pPr marL="914400" lvl="2" indent="0">
              <a:buNone/>
            </a:pPr>
            <a:endParaRPr lang="en-US" dirty="0"/>
          </a:p>
          <a:p>
            <a:pPr lvl="1"/>
            <a:r>
              <a:rPr lang="en-US" altLang="ko-KR" dirty="0"/>
              <a:t>Example </a:t>
            </a:r>
            <a:r>
              <a:rPr lang="en-US" dirty="0"/>
              <a:t>Query</a:t>
            </a:r>
          </a:p>
          <a:p>
            <a:pPr marL="914400" lvl="2" indent="0">
              <a:buNone/>
            </a:pPr>
            <a:r>
              <a:rPr lang="en-US" b="1" dirty="0"/>
              <a:t>SELECT</a:t>
            </a:r>
            <a:r>
              <a:rPr lang="en-US" dirty="0"/>
              <a:t> *</a:t>
            </a:r>
          </a:p>
          <a:p>
            <a:pPr marL="914400" lvl="2" indent="0">
              <a:buNone/>
            </a:pPr>
            <a:r>
              <a:rPr lang="en-US" b="1" dirty="0"/>
              <a:t>FROM</a:t>
            </a:r>
            <a:r>
              <a:rPr lang="en-US" dirty="0"/>
              <a:t> employee</a:t>
            </a:r>
          </a:p>
          <a:p>
            <a:pPr marL="914400" lvl="2" indent="0">
              <a:buNone/>
            </a:pPr>
            <a:r>
              <a:rPr lang="en-US" b="1" dirty="0"/>
              <a:t>JOIN</a:t>
            </a:r>
            <a:r>
              <a:rPr lang="en-US" dirty="0"/>
              <a:t> department </a:t>
            </a:r>
            <a:r>
              <a:rPr lang="en-US" b="1" dirty="0"/>
              <a:t>ON</a:t>
            </a:r>
            <a:r>
              <a:rPr lang="en-US" dirty="0"/>
              <a:t> </a:t>
            </a:r>
            <a:r>
              <a:rPr lang="en-US" dirty="0" err="1"/>
              <a:t>employee.dno</a:t>
            </a:r>
            <a:r>
              <a:rPr lang="en-US" dirty="0"/>
              <a:t> = </a:t>
            </a:r>
            <a:r>
              <a:rPr lang="en-US" dirty="0" err="1"/>
              <a:t>department.deptno</a:t>
            </a:r>
            <a:endParaRPr lang="en-US" dirty="0"/>
          </a:p>
          <a:p>
            <a:pPr marL="914400" lvl="2" indent="0">
              <a:buNone/>
            </a:pPr>
            <a:r>
              <a:rPr lang="en-US" altLang="ko-KR" b="1" dirty="0"/>
              <a:t>WHERE</a:t>
            </a:r>
            <a:r>
              <a:rPr lang="en-US" altLang="ko-KR" dirty="0"/>
              <a:t> </a:t>
            </a:r>
            <a:r>
              <a:rPr lang="en-US" altLang="ko-KR" dirty="0" err="1"/>
              <a:t>empname</a:t>
            </a:r>
            <a:r>
              <a:rPr lang="en-US" altLang="ko-KR" dirty="0"/>
              <a:t> = </a:t>
            </a:r>
            <a:r>
              <a:rPr lang="en-US" dirty="0"/>
              <a:t>'</a:t>
            </a:r>
            <a:r>
              <a:rPr lang="ko-KR" altLang="en-US" dirty="0"/>
              <a:t>김창섭</a:t>
            </a:r>
            <a:r>
              <a:rPr lang="en-US" altLang="ko-KR" dirty="0"/>
              <a:t>';</a:t>
            </a:r>
          </a:p>
          <a:p>
            <a:pPr marL="914400" lvl="2" indent="0">
              <a:buNone/>
            </a:pPr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176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Intermediate DML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Join Query</a:t>
            </a:r>
          </a:p>
          <a:p>
            <a:pPr lvl="1"/>
            <a:r>
              <a:rPr lang="en-US" dirty="0"/>
              <a:t>How it works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700" y="2348880"/>
            <a:ext cx="6996600" cy="36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8434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Intermediate DML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Join Query (Example)</a:t>
            </a:r>
          </a:p>
          <a:p>
            <a:pPr lvl="1"/>
            <a:r>
              <a:rPr lang="en-US" dirty="0"/>
              <a:t>Q1: Show the countries and their cities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27" y="2420888"/>
            <a:ext cx="7328145" cy="3600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십자형 5"/>
          <p:cNvSpPr/>
          <p:nvPr/>
        </p:nvSpPr>
        <p:spPr>
          <a:xfrm>
            <a:off x="2627784" y="3573016"/>
            <a:ext cx="720080" cy="648072"/>
          </a:xfrm>
          <a:prstGeom prst="plus">
            <a:avLst>
              <a:gd name="adj" fmla="val 41336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725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Intermediate DML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Join Query (Example)</a:t>
            </a:r>
          </a:p>
          <a:p>
            <a:pPr lvl="1"/>
            <a:r>
              <a:rPr lang="en-US" dirty="0"/>
              <a:t>Q1: Show the countries and their cities</a:t>
            </a:r>
          </a:p>
          <a:p>
            <a:pPr marL="914400" lvl="2" indent="0">
              <a:buNone/>
            </a:pPr>
            <a:r>
              <a:rPr lang="en-US" b="1" dirty="0"/>
              <a:t>SELECT</a:t>
            </a:r>
            <a:r>
              <a:rPr lang="en-US" dirty="0"/>
              <a:t> </a:t>
            </a:r>
            <a:r>
              <a:rPr lang="en-US" dirty="0" err="1"/>
              <a:t>CountryCode</a:t>
            </a:r>
            <a:r>
              <a:rPr lang="en-US" dirty="0"/>
              <a:t>, Name</a:t>
            </a:r>
          </a:p>
          <a:p>
            <a:pPr marL="914400" lvl="2" indent="0">
              <a:buNone/>
            </a:pPr>
            <a:r>
              <a:rPr lang="en-US" b="1" dirty="0"/>
              <a:t>FROM</a:t>
            </a:r>
            <a:r>
              <a:rPr lang="en-US" dirty="0"/>
              <a:t> city</a:t>
            </a:r>
          </a:p>
          <a:p>
            <a:pPr marL="914400" lvl="2" indent="0">
              <a:buNone/>
            </a:pPr>
            <a:r>
              <a:rPr lang="en-US" b="1" dirty="0"/>
              <a:t>ORDER BY </a:t>
            </a:r>
            <a:r>
              <a:rPr lang="en-US" dirty="0" err="1"/>
              <a:t>CountryCode</a:t>
            </a:r>
            <a:r>
              <a:rPr lang="en-US" dirty="0"/>
              <a:t>;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Explanation</a:t>
            </a:r>
          </a:p>
          <a:p>
            <a:pPr lvl="2"/>
            <a:r>
              <a:rPr lang="en-US" dirty="0"/>
              <a:t>You can find the countries and their cities from CITY table by simply looking through </a:t>
            </a:r>
            <a:r>
              <a:rPr lang="en-US" dirty="0" err="1"/>
              <a:t>CountryCode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2174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Intermediate DML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Join Query (Example)</a:t>
            </a:r>
          </a:p>
          <a:p>
            <a:pPr lvl="1"/>
            <a:r>
              <a:rPr lang="en-US" dirty="0"/>
              <a:t>Q1: Show the countries and their cities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Result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804" y="2538522"/>
            <a:ext cx="3528392" cy="39826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51679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Intermediate DML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Join Query (Example)</a:t>
            </a:r>
          </a:p>
          <a:p>
            <a:pPr lvl="1"/>
            <a:r>
              <a:rPr lang="en-US" dirty="0"/>
              <a:t>Q1: Show the countries and their cities (</a:t>
            </a:r>
            <a:r>
              <a:rPr lang="en-US" b="1" dirty="0">
                <a:solidFill>
                  <a:srgbClr val="FF0000"/>
                </a:solidFill>
              </a:rPr>
              <a:t>Better Query!</a:t>
            </a:r>
            <a:r>
              <a:rPr lang="en-US" dirty="0"/>
              <a:t>)</a:t>
            </a:r>
          </a:p>
          <a:p>
            <a:pPr marL="914400" lvl="2" indent="0">
              <a:buNone/>
            </a:pPr>
            <a:r>
              <a:rPr lang="en-US" b="1" dirty="0"/>
              <a:t>SELECT</a:t>
            </a:r>
            <a:r>
              <a:rPr lang="en-US" dirty="0"/>
              <a:t> </a:t>
            </a:r>
            <a:r>
              <a:rPr lang="en-US" dirty="0" err="1"/>
              <a:t>country.Name</a:t>
            </a:r>
            <a:r>
              <a:rPr lang="en-US" dirty="0"/>
              <a:t>, </a:t>
            </a:r>
            <a:r>
              <a:rPr lang="en-US" dirty="0" err="1"/>
              <a:t>city.Name</a:t>
            </a:r>
            <a:endParaRPr lang="en-US" dirty="0"/>
          </a:p>
          <a:p>
            <a:pPr marL="914400" lvl="2" indent="0">
              <a:buNone/>
            </a:pPr>
            <a:r>
              <a:rPr lang="en-US" b="1" dirty="0"/>
              <a:t>FROM</a:t>
            </a:r>
            <a:r>
              <a:rPr lang="en-US" dirty="0"/>
              <a:t> city</a:t>
            </a:r>
          </a:p>
          <a:p>
            <a:pPr marL="914400" lvl="2" indent="0">
              <a:buNone/>
            </a:pPr>
            <a:r>
              <a:rPr lang="en-US" b="1" dirty="0"/>
              <a:t>JOIN</a:t>
            </a:r>
            <a:r>
              <a:rPr lang="en-US" dirty="0"/>
              <a:t> country </a:t>
            </a:r>
            <a:r>
              <a:rPr lang="en-US" b="1" dirty="0"/>
              <a:t>ON</a:t>
            </a:r>
            <a:r>
              <a:rPr lang="en-US" dirty="0"/>
              <a:t> </a:t>
            </a:r>
            <a:r>
              <a:rPr lang="en-US" dirty="0" err="1"/>
              <a:t>city.CountryCode</a:t>
            </a:r>
            <a:r>
              <a:rPr lang="en-US" dirty="0"/>
              <a:t> = </a:t>
            </a:r>
            <a:r>
              <a:rPr lang="en-US" dirty="0" err="1"/>
              <a:t>country.Code</a:t>
            </a:r>
            <a:r>
              <a:rPr lang="en-US" dirty="0"/>
              <a:t>;</a:t>
            </a:r>
          </a:p>
          <a:p>
            <a:pPr marL="914400" lvl="2" indent="0">
              <a:buNone/>
            </a:pPr>
            <a:endParaRPr lang="en-US" dirty="0"/>
          </a:p>
          <a:p>
            <a:pPr lvl="1"/>
            <a:r>
              <a:rPr lang="en-US" dirty="0"/>
              <a:t>Q1: Show the countries and their cities (</a:t>
            </a:r>
            <a:r>
              <a:rPr lang="en-US" b="1" dirty="0">
                <a:solidFill>
                  <a:srgbClr val="FF0000"/>
                </a:solidFill>
              </a:rPr>
              <a:t>EVEN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Better Query!</a:t>
            </a:r>
            <a:r>
              <a:rPr lang="en-US" dirty="0"/>
              <a:t>)</a:t>
            </a:r>
          </a:p>
          <a:p>
            <a:pPr marL="914400" lvl="2" indent="0">
              <a:buNone/>
            </a:pPr>
            <a:r>
              <a:rPr lang="en-US" b="1" dirty="0"/>
              <a:t>SELECT</a:t>
            </a:r>
            <a:r>
              <a:rPr lang="en-US" dirty="0"/>
              <a:t> </a:t>
            </a:r>
            <a:r>
              <a:rPr lang="en-US" dirty="0" err="1"/>
              <a:t>C.Name</a:t>
            </a:r>
            <a:r>
              <a:rPr lang="en-US" dirty="0"/>
              <a:t>, </a:t>
            </a:r>
            <a:r>
              <a:rPr lang="en-US" dirty="0" err="1"/>
              <a:t>T.Name</a:t>
            </a:r>
            <a:r>
              <a:rPr lang="en-US" dirty="0"/>
              <a:t> </a:t>
            </a:r>
          </a:p>
          <a:p>
            <a:pPr marL="914400" lvl="2" indent="0">
              <a:buNone/>
            </a:pPr>
            <a:r>
              <a:rPr lang="en-US" b="1" dirty="0"/>
              <a:t>FROM </a:t>
            </a:r>
            <a:r>
              <a:rPr lang="en-US" dirty="0"/>
              <a:t>city T</a:t>
            </a:r>
          </a:p>
          <a:p>
            <a:pPr marL="914400" lvl="2" indent="0">
              <a:buNone/>
            </a:pPr>
            <a:r>
              <a:rPr lang="en-US" b="1" dirty="0"/>
              <a:t>JOIN</a:t>
            </a:r>
            <a:r>
              <a:rPr lang="en-US" dirty="0"/>
              <a:t> country C </a:t>
            </a:r>
            <a:r>
              <a:rPr lang="en-US" b="1" dirty="0"/>
              <a:t>ON</a:t>
            </a:r>
            <a:r>
              <a:rPr lang="en-US" dirty="0"/>
              <a:t> </a:t>
            </a:r>
            <a:r>
              <a:rPr lang="en-US" dirty="0" err="1"/>
              <a:t>T.CountryCode</a:t>
            </a:r>
            <a:r>
              <a:rPr lang="en-US" dirty="0"/>
              <a:t> = </a:t>
            </a:r>
            <a:r>
              <a:rPr lang="en-US" dirty="0" err="1"/>
              <a:t>C.Code</a:t>
            </a:r>
            <a:r>
              <a:rPr lang="en-US" dirty="0"/>
              <a:t>;</a:t>
            </a:r>
          </a:p>
          <a:p>
            <a:pPr marL="914400" lvl="2" indent="0">
              <a:buNone/>
            </a:pPr>
            <a:endParaRPr lang="en-US" dirty="0"/>
          </a:p>
          <a:p>
            <a:pPr lvl="1"/>
            <a:r>
              <a:rPr lang="en-US" dirty="0"/>
              <a:t>Q1: Show the countries and their cities (</a:t>
            </a:r>
            <a:r>
              <a:rPr lang="en-US" b="1" dirty="0">
                <a:solidFill>
                  <a:srgbClr val="FF0000"/>
                </a:solidFill>
              </a:rPr>
              <a:t>THE BEST!</a:t>
            </a:r>
            <a:r>
              <a:rPr lang="en-US" dirty="0"/>
              <a:t>)</a:t>
            </a:r>
          </a:p>
          <a:p>
            <a:pPr marL="914400" lvl="2" indent="0">
              <a:buNone/>
            </a:pPr>
            <a:r>
              <a:rPr lang="en-US" b="1" dirty="0"/>
              <a:t>SELECT</a:t>
            </a:r>
            <a:r>
              <a:rPr lang="en-US" dirty="0"/>
              <a:t> </a:t>
            </a:r>
            <a:r>
              <a:rPr lang="en-US" dirty="0" err="1"/>
              <a:t>C.Name</a:t>
            </a:r>
            <a:r>
              <a:rPr lang="en-US" dirty="0"/>
              <a:t> </a:t>
            </a:r>
            <a:r>
              <a:rPr lang="en-US" b="1" dirty="0"/>
              <a:t>AS</a:t>
            </a:r>
            <a:r>
              <a:rPr lang="en-US" dirty="0"/>
              <a:t> </a:t>
            </a:r>
            <a:r>
              <a:rPr lang="en-US" dirty="0" err="1"/>
              <a:t>Country_Name</a:t>
            </a:r>
            <a:r>
              <a:rPr lang="en-US" dirty="0"/>
              <a:t>, </a:t>
            </a:r>
            <a:r>
              <a:rPr lang="en-US" dirty="0" err="1"/>
              <a:t>T.Name</a:t>
            </a:r>
            <a:r>
              <a:rPr lang="en-US" dirty="0"/>
              <a:t> </a:t>
            </a:r>
            <a:r>
              <a:rPr lang="en-US" b="1" dirty="0"/>
              <a:t>AS</a:t>
            </a:r>
            <a:r>
              <a:rPr lang="en-US" dirty="0"/>
              <a:t> </a:t>
            </a:r>
            <a:r>
              <a:rPr lang="en-US" dirty="0" err="1"/>
              <a:t>City_Name</a:t>
            </a:r>
            <a:endParaRPr lang="en-US" dirty="0"/>
          </a:p>
          <a:p>
            <a:pPr marL="914400" lvl="2" indent="0">
              <a:buNone/>
            </a:pPr>
            <a:r>
              <a:rPr lang="en-US" b="1" dirty="0"/>
              <a:t>FROM</a:t>
            </a:r>
            <a:r>
              <a:rPr lang="en-US" dirty="0"/>
              <a:t> city T</a:t>
            </a:r>
          </a:p>
          <a:p>
            <a:pPr marL="914400" lvl="2" indent="0">
              <a:buNone/>
            </a:pPr>
            <a:r>
              <a:rPr lang="en-US" b="1" dirty="0"/>
              <a:t>JOIN</a:t>
            </a:r>
            <a:r>
              <a:rPr lang="en-US" dirty="0"/>
              <a:t> country C </a:t>
            </a:r>
            <a:r>
              <a:rPr lang="en-US" b="1" dirty="0"/>
              <a:t>ON</a:t>
            </a:r>
            <a:r>
              <a:rPr lang="en-US" dirty="0"/>
              <a:t> </a:t>
            </a:r>
            <a:r>
              <a:rPr lang="en-US" dirty="0" err="1"/>
              <a:t>T.CountryCode</a:t>
            </a:r>
            <a:r>
              <a:rPr lang="en-US" dirty="0"/>
              <a:t> = </a:t>
            </a:r>
            <a:r>
              <a:rPr lang="en-US" dirty="0" err="1"/>
              <a:t>C.Code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9750363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Intermediate DML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Join Query (Example)</a:t>
            </a:r>
          </a:p>
          <a:p>
            <a:pPr lvl="1"/>
            <a:r>
              <a:rPr lang="en-US" dirty="0"/>
              <a:t>Q1: Show the countries and their cities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Result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5468" y="2611986"/>
            <a:ext cx="3673064" cy="39133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02429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Intermediate DML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Join Query (Example)</a:t>
            </a:r>
          </a:p>
          <a:p>
            <a:pPr lvl="1"/>
            <a:r>
              <a:rPr lang="en-US" dirty="0"/>
              <a:t>Q</a:t>
            </a:r>
            <a:r>
              <a:rPr lang="en-US" altLang="ko-KR" dirty="0"/>
              <a:t>2</a:t>
            </a:r>
            <a:r>
              <a:rPr lang="en-US" dirty="0"/>
              <a:t>: </a:t>
            </a:r>
            <a:r>
              <a:rPr lang="en-US" altLang="ko-KR" dirty="0"/>
              <a:t>Language used in Berlin and where it is located? 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27" y="2420888"/>
            <a:ext cx="7328145" cy="3600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십자형 5"/>
          <p:cNvSpPr/>
          <p:nvPr/>
        </p:nvSpPr>
        <p:spPr>
          <a:xfrm>
            <a:off x="2627784" y="3573016"/>
            <a:ext cx="720080" cy="648072"/>
          </a:xfrm>
          <a:prstGeom prst="plus">
            <a:avLst>
              <a:gd name="adj" fmla="val 41336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십자형 6"/>
          <p:cNvSpPr/>
          <p:nvPr/>
        </p:nvSpPr>
        <p:spPr>
          <a:xfrm>
            <a:off x="5415126" y="3537012"/>
            <a:ext cx="720080" cy="648072"/>
          </a:xfrm>
          <a:prstGeom prst="plus">
            <a:avLst>
              <a:gd name="adj" fmla="val 41336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7385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Intermediate DML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Join Query (Example)</a:t>
            </a:r>
          </a:p>
          <a:p>
            <a:pPr lvl="1"/>
            <a:r>
              <a:rPr lang="en-US" dirty="0"/>
              <a:t>Q</a:t>
            </a:r>
            <a:r>
              <a:rPr lang="en-US" altLang="ko-KR" dirty="0"/>
              <a:t>2</a:t>
            </a:r>
            <a:r>
              <a:rPr lang="en-US" dirty="0"/>
              <a:t>: </a:t>
            </a:r>
            <a:r>
              <a:rPr lang="en-US" altLang="ko-KR" dirty="0"/>
              <a:t>Language used in Berlin and where it is located? </a:t>
            </a:r>
          </a:p>
          <a:p>
            <a:pPr lvl="1"/>
            <a:endParaRPr lang="en-US" dirty="0"/>
          </a:p>
          <a:p>
            <a:pPr lvl="1"/>
            <a:r>
              <a:rPr lang="en-US" altLang="ko-KR" dirty="0"/>
              <a:t>Query</a:t>
            </a:r>
          </a:p>
          <a:p>
            <a:pPr marL="914400" lvl="2" indent="0">
              <a:buNone/>
            </a:pPr>
            <a:r>
              <a:rPr lang="en-US" b="1" dirty="0"/>
              <a:t>SELECT</a:t>
            </a:r>
            <a:r>
              <a:rPr lang="en-US" dirty="0"/>
              <a:t> </a:t>
            </a:r>
            <a:r>
              <a:rPr lang="en-US" dirty="0" err="1"/>
              <a:t>T.Name</a:t>
            </a:r>
            <a:r>
              <a:rPr lang="en-US" dirty="0"/>
              <a:t> </a:t>
            </a:r>
            <a:r>
              <a:rPr lang="en-US" b="1" dirty="0"/>
              <a:t>AS</a:t>
            </a:r>
            <a:r>
              <a:rPr lang="en-US" dirty="0"/>
              <a:t> City,</a:t>
            </a:r>
          </a:p>
          <a:p>
            <a:pPr marL="914400" lvl="2" indent="0">
              <a:buNone/>
            </a:pPr>
            <a:r>
              <a:rPr lang="en-US" dirty="0"/>
              <a:t>       	</a:t>
            </a:r>
            <a:r>
              <a:rPr lang="en-US" dirty="0" err="1"/>
              <a:t>C.Name</a:t>
            </a:r>
            <a:r>
              <a:rPr lang="en-US" dirty="0"/>
              <a:t> </a:t>
            </a:r>
            <a:r>
              <a:rPr lang="en-US" b="1" dirty="0"/>
              <a:t>AS</a:t>
            </a:r>
            <a:r>
              <a:rPr lang="en-US" dirty="0"/>
              <a:t> Country,</a:t>
            </a:r>
          </a:p>
          <a:p>
            <a:pPr marL="914400" lvl="2" indent="0">
              <a:buNone/>
            </a:pPr>
            <a:r>
              <a:rPr lang="en-US" dirty="0"/>
              <a:t>       	</a:t>
            </a:r>
            <a:r>
              <a:rPr lang="en-US" dirty="0" err="1"/>
              <a:t>L.Language</a:t>
            </a:r>
            <a:r>
              <a:rPr lang="en-US" dirty="0"/>
              <a:t>,</a:t>
            </a:r>
          </a:p>
          <a:p>
            <a:pPr marL="914400" lvl="2" indent="0">
              <a:buNone/>
            </a:pPr>
            <a:r>
              <a:rPr lang="en-US" dirty="0"/>
              <a:t>       	</a:t>
            </a:r>
            <a:r>
              <a:rPr lang="en-US" dirty="0" err="1"/>
              <a:t>L.Percentage</a:t>
            </a:r>
            <a:endParaRPr lang="en-US" dirty="0"/>
          </a:p>
          <a:p>
            <a:pPr marL="914400" lvl="2" indent="0">
              <a:buNone/>
            </a:pPr>
            <a:r>
              <a:rPr lang="en-US" b="1" dirty="0"/>
              <a:t>FROM</a:t>
            </a:r>
            <a:r>
              <a:rPr lang="en-US" dirty="0"/>
              <a:t> city T</a:t>
            </a:r>
          </a:p>
          <a:p>
            <a:pPr marL="914400" lvl="2" indent="0">
              <a:buNone/>
            </a:pPr>
            <a:r>
              <a:rPr lang="en-US" b="1" dirty="0"/>
              <a:t>JOIN</a:t>
            </a:r>
            <a:r>
              <a:rPr lang="en-US" dirty="0"/>
              <a:t> country C </a:t>
            </a:r>
            <a:r>
              <a:rPr lang="en-US" b="1" dirty="0"/>
              <a:t>ON</a:t>
            </a:r>
            <a:r>
              <a:rPr lang="en-US" dirty="0"/>
              <a:t> </a:t>
            </a:r>
            <a:r>
              <a:rPr lang="en-US" dirty="0" err="1"/>
              <a:t>T.CountryCode</a:t>
            </a:r>
            <a:r>
              <a:rPr lang="en-US" dirty="0"/>
              <a:t> = </a:t>
            </a:r>
            <a:r>
              <a:rPr lang="en-US" dirty="0" err="1"/>
              <a:t>C.Code</a:t>
            </a:r>
            <a:endParaRPr lang="en-US" dirty="0"/>
          </a:p>
          <a:p>
            <a:pPr marL="914400" lvl="2" indent="0">
              <a:buNone/>
            </a:pPr>
            <a:r>
              <a:rPr lang="en-US" b="1" dirty="0"/>
              <a:t>JOIN</a:t>
            </a:r>
            <a:r>
              <a:rPr lang="en-US" dirty="0"/>
              <a:t> </a:t>
            </a:r>
            <a:r>
              <a:rPr lang="en-US" dirty="0" err="1"/>
              <a:t>countrylanguage</a:t>
            </a:r>
            <a:r>
              <a:rPr lang="en-US" dirty="0"/>
              <a:t> L </a:t>
            </a:r>
            <a:r>
              <a:rPr lang="en-US" b="1" dirty="0"/>
              <a:t>ON</a:t>
            </a:r>
            <a:r>
              <a:rPr lang="en-US" dirty="0"/>
              <a:t> </a:t>
            </a:r>
            <a:r>
              <a:rPr lang="en-US" dirty="0" err="1"/>
              <a:t>C.Code</a:t>
            </a:r>
            <a:r>
              <a:rPr lang="en-US" dirty="0"/>
              <a:t> = </a:t>
            </a:r>
            <a:r>
              <a:rPr lang="en-US" dirty="0" err="1"/>
              <a:t>L.CountryCode</a:t>
            </a:r>
            <a:endParaRPr lang="en-US" dirty="0"/>
          </a:p>
          <a:p>
            <a:pPr marL="914400" lvl="2" indent="0">
              <a:buNone/>
            </a:pPr>
            <a:r>
              <a:rPr lang="en-US" b="1" dirty="0"/>
              <a:t>WHERE</a:t>
            </a:r>
            <a:r>
              <a:rPr lang="en-US" dirty="0"/>
              <a:t> </a:t>
            </a:r>
            <a:r>
              <a:rPr lang="en-US" dirty="0" err="1"/>
              <a:t>T.Name</a:t>
            </a:r>
            <a:r>
              <a:rPr lang="en-US" dirty="0"/>
              <a:t> = 'Berlin' </a:t>
            </a:r>
            <a:r>
              <a:rPr lang="en-US" b="1" dirty="0"/>
              <a:t>AND</a:t>
            </a:r>
            <a:r>
              <a:rPr lang="en-US" dirty="0"/>
              <a:t> </a:t>
            </a:r>
            <a:r>
              <a:rPr lang="en-US" dirty="0" err="1"/>
              <a:t>L.IsOfficial</a:t>
            </a:r>
            <a:r>
              <a:rPr lang="en-US" dirty="0"/>
              <a:t> = 'T';</a:t>
            </a:r>
          </a:p>
          <a:p>
            <a:pPr lvl="2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2162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Intermediate DML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Join Query (Example)</a:t>
            </a:r>
          </a:p>
          <a:p>
            <a:pPr lvl="1"/>
            <a:r>
              <a:rPr lang="en-US" dirty="0"/>
              <a:t>Q</a:t>
            </a:r>
            <a:r>
              <a:rPr lang="en-US" altLang="ko-KR" dirty="0"/>
              <a:t>2</a:t>
            </a:r>
            <a:r>
              <a:rPr lang="en-US" dirty="0"/>
              <a:t>: </a:t>
            </a:r>
            <a:r>
              <a:rPr lang="en-US" altLang="ko-KR" dirty="0"/>
              <a:t>Language used in Berlin and where it is located? </a:t>
            </a:r>
          </a:p>
          <a:p>
            <a:pPr lvl="1"/>
            <a:endParaRPr lang="en-US" dirty="0"/>
          </a:p>
          <a:p>
            <a:pPr lvl="1"/>
            <a:r>
              <a:rPr lang="en-US" altLang="ko-KR" dirty="0"/>
              <a:t>Result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337" y="3140968"/>
            <a:ext cx="5267325" cy="8096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026449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Intermediate </a:t>
            </a:r>
            <a:r>
              <a:rPr lang="en-US" dirty="0"/>
              <a:t>DML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Other types of join queries</a:t>
            </a:r>
          </a:p>
          <a:p>
            <a:pPr lvl="1"/>
            <a:r>
              <a:rPr lang="en-US" dirty="0"/>
              <a:t>(INNER) JOIN</a:t>
            </a:r>
          </a:p>
          <a:p>
            <a:pPr lvl="2"/>
            <a:r>
              <a:rPr lang="en-US" dirty="0"/>
              <a:t>Returns records that have matching values in both tables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LEFT JOIN</a:t>
            </a:r>
          </a:p>
          <a:p>
            <a:pPr lvl="2"/>
            <a:r>
              <a:rPr lang="en-US" dirty="0"/>
              <a:t>Returns all records from the left table, and the matched records from the right table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RIGHT JOIN</a:t>
            </a:r>
          </a:p>
          <a:p>
            <a:pPr lvl="2"/>
            <a:r>
              <a:rPr lang="en-US" dirty="0"/>
              <a:t>Returns all records from the right table, and the matched records from the left table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CROSS JOIN</a:t>
            </a:r>
          </a:p>
          <a:p>
            <a:pPr lvl="2"/>
            <a:r>
              <a:rPr lang="en-US" dirty="0"/>
              <a:t>Returns all possible combinations</a:t>
            </a:r>
          </a:p>
        </p:txBody>
      </p:sp>
    </p:spTree>
    <p:extLst>
      <p:ext uri="{BB962C8B-B14F-4D97-AF65-F5344CB8AC3E}">
        <p14:creationId xmlns:p14="http://schemas.microsoft.com/office/powerpoint/2010/main" val="6621612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Intermediate </a:t>
            </a:r>
            <a:r>
              <a:rPr lang="en-US" dirty="0"/>
              <a:t>DML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Other types of join queries</a:t>
            </a:r>
          </a:p>
          <a:p>
            <a:endParaRPr 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2132856"/>
            <a:ext cx="2520000" cy="181014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5224" y="2106112"/>
            <a:ext cx="2520000" cy="186362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3648" y="4365104"/>
            <a:ext cx="2520000" cy="185746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5224" y="4543498"/>
            <a:ext cx="2520000" cy="181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3183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Intermediate </a:t>
            </a:r>
            <a:r>
              <a:rPr lang="en-US" dirty="0"/>
              <a:t>DML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Other types of join queries</a:t>
            </a:r>
          </a:p>
          <a:p>
            <a:pPr lvl="1"/>
            <a:r>
              <a:rPr lang="en-US" dirty="0"/>
              <a:t>Examples in Korean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b="29309"/>
          <a:stretch/>
        </p:blipFill>
        <p:spPr>
          <a:xfrm>
            <a:off x="544968" y="2456892"/>
            <a:ext cx="8054064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1097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Summary and Discussions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ko-KR" dirty="0"/>
              <a:t>Intermediate DDL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dirty="0"/>
              <a:t>Intermediate DML</a:t>
            </a:r>
          </a:p>
          <a:p>
            <a:pPr marL="685800" lvl="1"/>
            <a:r>
              <a:rPr lang="en-US" altLang="ko-KR" dirty="0"/>
              <a:t>Join queries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918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18007</TotalTime>
  <Words>1086</Words>
  <Application>Microsoft Office PowerPoint</Application>
  <PresentationFormat>화면 슬라이드 쇼(4:3)</PresentationFormat>
  <Paragraphs>264</Paragraphs>
  <Slides>29</Slides>
  <Notes>24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0" baseType="lpstr">
      <vt:lpstr>Office 테마</vt:lpstr>
      <vt:lpstr>SQL: Intermediate Queries</vt:lpstr>
      <vt:lpstr>In the Last Lecture</vt:lpstr>
      <vt:lpstr>In the Last Lecture</vt:lpstr>
      <vt:lpstr>In the Last Lecture</vt:lpstr>
      <vt:lpstr>In the Last Lecture</vt:lpstr>
      <vt:lpstr>In the Last Lecture</vt:lpstr>
      <vt:lpstr>Table of Contents</vt:lpstr>
      <vt:lpstr>Intermediate DDL</vt:lpstr>
      <vt:lpstr>1. Intermediate DDL</vt:lpstr>
      <vt:lpstr>1. Intermediate DDL</vt:lpstr>
      <vt:lpstr>1. Intermediate DDL</vt:lpstr>
      <vt:lpstr>1. Intermediate DDL</vt:lpstr>
      <vt:lpstr>Intermediate DML</vt:lpstr>
      <vt:lpstr>2. Intermediate DML</vt:lpstr>
      <vt:lpstr>2. Intermediate DML</vt:lpstr>
      <vt:lpstr>2. Intermediate DML</vt:lpstr>
      <vt:lpstr>2. Intermediate DML</vt:lpstr>
      <vt:lpstr>2. Intermediate DML</vt:lpstr>
      <vt:lpstr>2. Intermediate DML</vt:lpstr>
      <vt:lpstr>2. Intermediate DML</vt:lpstr>
      <vt:lpstr>2. Intermediate DML</vt:lpstr>
      <vt:lpstr>2. Intermediate DML</vt:lpstr>
      <vt:lpstr>2. Intermediate DML</vt:lpstr>
      <vt:lpstr>2. Intermediate DML</vt:lpstr>
      <vt:lpstr>2. Intermediate DML</vt:lpstr>
      <vt:lpstr>2. Intermediate DML</vt:lpstr>
      <vt:lpstr>2. Intermediate DML</vt:lpstr>
      <vt:lpstr>2. Intermediate DML</vt:lpstr>
      <vt:lpstr>3. Summary and Discussions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선형대수학  Linear Algebra</dc:title>
  <dc:creator>K.LEE</dc:creator>
  <cp:lastModifiedBy>KIMGYU HYEON</cp:lastModifiedBy>
  <cp:revision>882</cp:revision>
  <cp:lastPrinted>2013-12-26T08:44:45Z</cp:lastPrinted>
  <dcterms:created xsi:type="dcterms:W3CDTF">2013-02-05T02:36:43Z</dcterms:created>
  <dcterms:modified xsi:type="dcterms:W3CDTF">2025-09-24T00:56:32Z</dcterms:modified>
</cp:coreProperties>
</file>