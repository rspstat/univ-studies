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659" r:id="rId3"/>
    <p:sldId id="641" r:id="rId4"/>
    <p:sldId id="660" r:id="rId5"/>
    <p:sldId id="661" r:id="rId6"/>
    <p:sldId id="662" r:id="rId7"/>
    <p:sldId id="663" r:id="rId8"/>
    <p:sldId id="664" r:id="rId9"/>
    <p:sldId id="665" r:id="rId10"/>
    <p:sldId id="666" r:id="rId11"/>
    <p:sldId id="645" r:id="rId12"/>
    <p:sldId id="642" r:id="rId13"/>
    <p:sldId id="646" r:id="rId14"/>
    <p:sldId id="647" r:id="rId15"/>
    <p:sldId id="648" r:id="rId16"/>
    <p:sldId id="649" r:id="rId17"/>
    <p:sldId id="650" r:id="rId18"/>
    <p:sldId id="651" r:id="rId19"/>
    <p:sldId id="652" r:id="rId20"/>
    <p:sldId id="653" r:id="rId21"/>
    <p:sldId id="644" r:id="rId22"/>
    <p:sldId id="667" r:id="rId23"/>
    <p:sldId id="672" r:id="rId24"/>
    <p:sldId id="622" r:id="rId25"/>
    <p:sldId id="623" r:id="rId26"/>
    <p:sldId id="624" r:id="rId27"/>
    <p:sldId id="627" r:id="rId28"/>
    <p:sldId id="673" r:id="rId29"/>
    <p:sldId id="674" r:id="rId30"/>
    <p:sldId id="628" r:id="rId31"/>
    <p:sldId id="630" r:id="rId32"/>
    <p:sldId id="654" r:id="rId33"/>
    <p:sldId id="655" r:id="rId34"/>
    <p:sldId id="669" r:id="rId35"/>
    <p:sldId id="671" r:id="rId36"/>
    <p:sldId id="636" r:id="rId37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FBF064"/>
    <a:srgbClr val="FAF064"/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7752" autoAdjust="0"/>
  </p:normalViewPr>
  <p:slideViewPr>
    <p:cSldViewPr>
      <p:cViewPr varScale="1">
        <p:scale>
          <a:sx n="111" d="100"/>
          <a:sy n="111" d="100"/>
        </p:scale>
        <p:origin x="15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9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24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6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17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53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284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85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6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70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637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74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418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438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2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32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89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>
              <a:defRPr sz="3200" b="1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>
            <a:lvl1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algn="just" latinLnBrk="0"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487C-8DB3-45EB-9538-2500040D0F0E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8.emf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SQL: Advanced Queries</a:t>
            </a:r>
            <a:endParaRPr lang="ko-KR" altLang="en-US" dirty="0"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2088232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Database Systems</a:t>
            </a:r>
          </a:p>
          <a:p>
            <a:endParaRPr lang="en-US" altLang="ko-KR" sz="2800" b="1" dirty="0"/>
          </a:p>
          <a:p>
            <a:r>
              <a:rPr lang="en-US" altLang="ko-KR" sz="2000" b="1" dirty="0"/>
              <a:t>Department of Computer Science, CBNU</a:t>
            </a:r>
            <a:endParaRPr lang="ko-KR" altLang="en-US" sz="2000" b="1" dirty="0"/>
          </a:p>
          <a:p>
            <a:r>
              <a:rPr lang="en-US" altLang="ko-KR" sz="2000" b="1" dirty="0"/>
              <a:t>Prof. Nasridinov Aziz (aziz@chungbuk.ac.kr)</a:t>
            </a:r>
            <a:endParaRPr lang="ko-KR" alt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08"/>
    </mc:Choice>
    <mc:Fallback xmlns="">
      <p:transition spd="slow" advTm="672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SQL constraints are used to specify rules for the data in a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MySQL constraints</a:t>
            </a:r>
          </a:p>
          <a:p>
            <a:pPr lvl="2"/>
            <a:r>
              <a:rPr lang="en-US" b="1" dirty="0"/>
              <a:t>NOT NULL</a:t>
            </a:r>
          </a:p>
          <a:p>
            <a:pPr lvl="2"/>
            <a:r>
              <a:rPr lang="en-US" b="1" dirty="0"/>
              <a:t>PRIMARY KEY </a:t>
            </a:r>
          </a:p>
          <a:p>
            <a:pPr lvl="2"/>
            <a:r>
              <a:rPr lang="en-US" b="1" dirty="0"/>
              <a:t>FOREIGN KEY 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UNIQUE</a:t>
            </a:r>
            <a:endParaRPr lang="en-US" dirty="0">
              <a:solidFill>
                <a:srgbClr val="0070C0"/>
              </a:solidFill>
            </a:endParaRP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CHECK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DEFAULT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442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</a:t>
            </a:r>
          </a:p>
          <a:p>
            <a:pPr lvl="1"/>
            <a:r>
              <a:rPr lang="en-US" dirty="0"/>
              <a:t>Combines tuples from two or more relations based on a common attribute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698979"/>
            <a:ext cx="2520000" cy="18101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224" y="2717500"/>
            <a:ext cx="2520000" cy="18636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653136"/>
            <a:ext cx="2520000" cy="18574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224" y="4831530"/>
            <a:ext cx="2520000" cy="181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5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Q1: Find the team name for each player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6772"/>
          <a:stretch/>
        </p:blipFill>
        <p:spPr>
          <a:xfrm>
            <a:off x="656697" y="2638637"/>
            <a:ext cx="3454397" cy="11521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21" y="4629707"/>
            <a:ext cx="3458444" cy="14761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14700"/>
            <a:ext cx="4011874" cy="21602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256663" y="3871681"/>
            <a:ext cx="2254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</a:t>
            </a:r>
            <a:r>
              <a:rPr lang="en-US" altLang="ko-KR" sz="1600" i="1" dirty="0"/>
              <a:t>ADDRESS</a:t>
            </a:r>
            <a:r>
              <a:rPr lang="en-US" sz="1600" dirty="0"/>
              <a:t> 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0043" y="6186790"/>
            <a:ext cx="190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</a:t>
            </a:r>
            <a:r>
              <a:rPr lang="en-US" altLang="ko-KR" sz="1600" i="1" dirty="0"/>
              <a:t>TEAM</a:t>
            </a:r>
            <a:r>
              <a:rPr lang="en-US" sz="1600" dirty="0"/>
              <a:t> 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508" y="5421687"/>
            <a:ext cx="20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The </a:t>
            </a:r>
            <a:r>
              <a:rPr lang="en-US" altLang="ko-KR" sz="1600" i="1"/>
              <a:t>PLAYER</a:t>
            </a:r>
            <a:r>
              <a:rPr lang="en-US" sz="1600"/>
              <a:t> </a:t>
            </a:r>
            <a:r>
              <a:rPr lang="en-US" sz="1600" dirty="0"/>
              <a:t>relation</a:t>
            </a:r>
          </a:p>
        </p:txBody>
      </p:sp>
    </p:spTree>
    <p:extLst>
      <p:ext uri="{BB962C8B-B14F-4D97-AF65-F5344CB8AC3E}">
        <p14:creationId xmlns:p14="http://schemas.microsoft.com/office/powerpoint/2010/main" val="178746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Q1: Find the team name for each player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Easy Solution</a:t>
            </a:r>
          </a:p>
          <a:p>
            <a:pPr lvl="2"/>
            <a:r>
              <a:rPr lang="en-US" altLang="ko-KR" b="1" dirty="0"/>
              <a:t>SELECT</a:t>
            </a:r>
            <a:r>
              <a:rPr lang="en-US" altLang="ko-KR" dirty="0"/>
              <a:t> </a:t>
            </a:r>
            <a:r>
              <a:rPr lang="en-US" altLang="ko-KR" dirty="0" err="1"/>
              <a:t>Player_Name</a:t>
            </a:r>
            <a:r>
              <a:rPr lang="en-US" altLang="ko-KR" dirty="0"/>
              <a:t>, </a:t>
            </a:r>
            <a:r>
              <a:rPr lang="en-US" altLang="ko-KR" dirty="0" err="1"/>
              <a:t>Team_ID</a:t>
            </a:r>
            <a:endParaRPr lang="en-US" altLang="ko-KR" dirty="0"/>
          </a:p>
          <a:p>
            <a:pPr lvl="2"/>
            <a:r>
              <a:rPr lang="en-US" altLang="ko-KR" b="1" dirty="0"/>
              <a:t>FROM</a:t>
            </a:r>
            <a:r>
              <a:rPr lang="en-US" altLang="ko-KR" dirty="0"/>
              <a:t> Player;</a:t>
            </a:r>
          </a:p>
          <a:p>
            <a:pPr lvl="2"/>
            <a:endParaRPr lang="en-US" dirty="0"/>
          </a:p>
          <a:p>
            <a:pPr lvl="1"/>
            <a:r>
              <a:rPr lang="en-US" altLang="ko-KR" dirty="0"/>
              <a:t>Problem with this solution</a:t>
            </a:r>
          </a:p>
          <a:p>
            <a:pPr lvl="2"/>
            <a:r>
              <a:rPr lang="en-US" altLang="ko-KR" dirty="0"/>
              <a:t>Only retrieves the </a:t>
            </a:r>
            <a:r>
              <a:rPr lang="en-US" altLang="ko-KR" dirty="0" err="1"/>
              <a:t>Team_ID</a:t>
            </a:r>
            <a:r>
              <a:rPr lang="en-US" altLang="ko-KR" dirty="0"/>
              <a:t>, but we DO NOT know the team names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5157192"/>
            <a:ext cx="32861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6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Q1: Find the team name for each player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Best Solution</a:t>
            </a:r>
          </a:p>
          <a:p>
            <a:pPr lvl="2"/>
            <a:r>
              <a:rPr lang="en-US" altLang="ko-KR" dirty="0"/>
              <a:t>Join PLAYER and TEAM tables </a:t>
            </a:r>
          </a:p>
          <a:p>
            <a:pPr lvl="3"/>
            <a:r>
              <a:rPr lang="en-US" altLang="ko-KR" u="sng" dirty="0"/>
              <a:t>STEP 1:</a:t>
            </a:r>
            <a:r>
              <a:rPr lang="en-US" altLang="ko-KR" dirty="0"/>
              <a:t> Find the common attributes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4077072"/>
            <a:ext cx="3458444" cy="14761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077072"/>
            <a:ext cx="4011874" cy="21602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33378" y="5634155"/>
            <a:ext cx="190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</a:t>
            </a:r>
            <a:r>
              <a:rPr lang="en-US" altLang="ko-KR" sz="1600" i="1" dirty="0"/>
              <a:t>TEAM</a:t>
            </a:r>
            <a:r>
              <a:rPr lang="en-US" sz="1600" dirty="0"/>
              <a:t> 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0068" y="6284059"/>
            <a:ext cx="20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The </a:t>
            </a:r>
            <a:r>
              <a:rPr lang="en-US" altLang="ko-KR" sz="1600" i="1"/>
              <a:t>PLAYER</a:t>
            </a:r>
            <a:r>
              <a:rPr lang="en-US" sz="1600"/>
              <a:t> </a:t>
            </a:r>
            <a:r>
              <a:rPr lang="en-US" sz="1600" dirty="0"/>
              <a:t>relation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779912" y="4077072"/>
            <a:ext cx="843522" cy="216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5049852" y="4077072"/>
            <a:ext cx="962308" cy="1476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직선 화살표 연결선 9"/>
          <p:cNvCxnSpPr>
            <a:endCxn id="9" idx="2"/>
          </p:cNvCxnSpPr>
          <p:nvPr/>
        </p:nvCxnSpPr>
        <p:spPr>
          <a:xfrm flipV="1">
            <a:off x="4623434" y="5553237"/>
            <a:ext cx="907572" cy="507794"/>
          </a:xfrm>
          <a:prstGeom prst="straightConnector1">
            <a:avLst/>
          </a:prstGeom>
          <a:ln w="15875">
            <a:solidFill>
              <a:srgbClr val="FF0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Q1: Find the team name for each player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Best Solution</a:t>
            </a:r>
          </a:p>
          <a:p>
            <a:pPr lvl="2"/>
            <a:r>
              <a:rPr lang="en-US" altLang="ko-KR" dirty="0"/>
              <a:t>Join PLAYER and TEAM tables </a:t>
            </a:r>
          </a:p>
          <a:p>
            <a:pPr lvl="3"/>
            <a:r>
              <a:rPr lang="en-US" altLang="ko-KR" u="sng" dirty="0"/>
              <a:t>STEP 2:</a:t>
            </a:r>
            <a:r>
              <a:rPr lang="en-US" altLang="ko-KR" dirty="0"/>
              <a:t> Set up the join condition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b="1" dirty="0"/>
              <a:t>SELECT</a:t>
            </a:r>
            <a:r>
              <a:rPr lang="en-US" altLang="ko-KR" dirty="0"/>
              <a:t> P. </a:t>
            </a:r>
            <a:r>
              <a:rPr lang="en-US" altLang="ko-KR" dirty="0" err="1"/>
              <a:t>Player_Name</a:t>
            </a:r>
            <a:r>
              <a:rPr lang="en-US" altLang="ko-KR" dirty="0"/>
              <a:t>, </a:t>
            </a:r>
            <a:r>
              <a:rPr lang="en-US" altLang="ko-KR" dirty="0" err="1"/>
              <a:t>T.Team_Name</a:t>
            </a:r>
            <a:endParaRPr lang="en-US" altLang="ko-KR" dirty="0"/>
          </a:p>
          <a:p>
            <a:pPr lvl="2"/>
            <a:r>
              <a:rPr lang="en-US" altLang="ko-KR" b="1" dirty="0"/>
              <a:t>FROM</a:t>
            </a:r>
            <a:r>
              <a:rPr lang="en-US" altLang="ko-KR" dirty="0"/>
              <a:t> Player P</a:t>
            </a:r>
          </a:p>
          <a:p>
            <a:pPr lvl="2"/>
            <a:r>
              <a:rPr lang="en-US" altLang="ko-KR" b="1" dirty="0"/>
              <a:t>JOIN</a:t>
            </a:r>
            <a:r>
              <a:rPr lang="en-US" altLang="ko-KR" dirty="0"/>
              <a:t> Team T ON </a:t>
            </a:r>
            <a:r>
              <a:rPr lang="en-US" altLang="ko-KR" dirty="0" err="1"/>
              <a:t>P.Team_ID</a:t>
            </a:r>
            <a:r>
              <a:rPr lang="en-US" altLang="ko-KR" dirty="0"/>
              <a:t> = </a:t>
            </a:r>
            <a:r>
              <a:rPr lang="en-US" altLang="ko-KR" dirty="0" err="1"/>
              <a:t>T.Team_ID</a:t>
            </a:r>
            <a:r>
              <a:rPr lang="en-US" altLang="ko-KR" dirty="0"/>
              <a:t>;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dirty="0"/>
          </a:p>
        </p:txBody>
      </p:sp>
      <p:cxnSp>
        <p:nvCxnSpPr>
          <p:cNvPr id="4" name="직선 화살표 연결선 3"/>
          <p:cNvCxnSpPr>
            <a:stCxn id="5" idx="0"/>
          </p:cNvCxnSpPr>
          <p:nvPr/>
        </p:nvCxnSpPr>
        <p:spPr>
          <a:xfrm flipH="1" flipV="1">
            <a:off x="4788024" y="5373216"/>
            <a:ext cx="2001206" cy="648072"/>
          </a:xfrm>
          <a:prstGeom prst="straightConnector1">
            <a:avLst/>
          </a:prstGeom>
          <a:ln w="15875">
            <a:solidFill>
              <a:srgbClr val="FF0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68144" y="6021288"/>
            <a:ext cx="184217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JOIN condition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563888" y="5373216"/>
            <a:ext cx="2448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96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Q2: Find the number of players in each team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Best Solution</a:t>
            </a:r>
          </a:p>
          <a:p>
            <a:pPr lvl="2"/>
            <a:r>
              <a:rPr lang="en-US" altLang="ko-KR" dirty="0"/>
              <a:t>Group the players by teams</a:t>
            </a:r>
          </a:p>
          <a:p>
            <a:pPr lvl="3"/>
            <a:r>
              <a:rPr lang="en-US" altLang="ko-KR" u="sng" dirty="0"/>
              <a:t>STEP 1:</a:t>
            </a:r>
            <a:r>
              <a:rPr lang="en-US" altLang="ko-KR" dirty="0"/>
              <a:t> Find the attribute to make groups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80" y="3905004"/>
            <a:ext cx="3115039" cy="26331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27983" y="3910408"/>
            <a:ext cx="1701535" cy="2614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Q2: Find the number of players in each team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Best Solution</a:t>
            </a:r>
          </a:p>
          <a:p>
            <a:pPr lvl="2"/>
            <a:r>
              <a:rPr lang="en-US" altLang="ko-KR" dirty="0"/>
              <a:t>Group the players by teams</a:t>
            </a:r>
          </a:p>
          <a:p>
            <a:pPr lvl="3"/>
            <a:r>
              <a:rPr lang="en-US" altLang="ko-KR" u="sng" dirty="0"/>
              <a:t>STEP 2:</a:t>
            </a:r>
            <a:r>
              <a:rPr lang="en-US" altLang="ko-KR" dirty="0"/>
              <a:t> Add aggregation function</a:t>
            </a:r>
          </a:p>
          <a:p>
            <a:pPr lvl="2"/>
            <a:endParaRPr lang="en-US" dirty="0"/>
          </a:p>
          <a:p>
            <a:pPr lvl="2"/>
            <a:r>
              <a:rPr lang="en-US" altLang="ko-KR" b="1" dirty="0"/>
              <a:t>SELECT</a:t>
            </a:r>
            <a:r>
              <a:rPr lang="en-US" altLang="ko-KR" dirty="0"/>
              <a:t> P. </a:t>
            </a:r>
            <a:r>
              <a:rPr lang="en-US" altLang="ko-KR" dirty="0" err="1"/>
              <a:t>Player_Name</a:t>
            </a:r>
            <a:r>
              <a:rPr lang="en-US" altLang="ko-KR" dirty="0"/>
              <a:t>, count(</a:t>
            </a:r>
            <a:r>
              <a:rPr lang="en-US" altLang="ko-KR" dirty="0" err="1"/>
              <a:t>T.Team_Name</a:t>
            </a:r>
            <a:r>
              <a:rPr lang="en-US" altLang="ko-KR" dirty="0"/>
              <a:t>) AS </a:t>
            </a:r>
            <a:r>
              <a:rPr lang="en-US" altLang="ko-KR" dirty="0" err="1"/>
              <a:t>PlayerCounter</a:t>
            </a:r>
            <a:endParaRPr lang="en-US" altLang="ko-KR" dirty="0"/>
          </a:p>
          <a:p>
            <a:pPr lvl="2"/>
            <a:r>
              <a:rPr lang="en-US" altLang="ko-KR" b="1" dirty="0"/>
              <a:t>FROM</a:t>
            </a:r>
            <a:r>
              <a:rPr lang="en-US" altLang="ko-KR" dirty="0"/>
              <a:t> Player P</a:t>
            </a:r>
          </a:p>
          <a:p>
            <a:pPr lvl="2"/>
            <a:r>
              <a:rPr lang="en-US" altLang="ko-KR" b="1" dirty="0"/>
              <a:t>JOIN</a:t>
            </a:r>
            <a:r>
              <a:rPr lang="en-US" altLang="ko-KR" dirty="0"/>
              <a:t> Team T ON </a:t>
            </a:r>
            <a:r>
              <a:rPr lang="en-US" altLang="ko-KR" dirty="0" err="1"/>
              <a:t>P.Team_ID</a:t>
            </a:r>
            <a:r>
              <a:rPr lang="en-US" altLang="ko-KR" dirty="0"/>
              <a:t> = </a:t>
            </a:r>
            <a:r>
              <a:rPr lang="en-US" altLang="ko-KR" dirty="0" err="1"/>
              <a:t>T.Team_ID</a:t>
            </a:r>
            <a:endParaRPr lang="en-US" altLang="ko-KR" dirty="0"/>
          </a:p>
          <a:p>
            <a:pPr lvl="2"/>
            <a:r>
              <a:rPr lang="en-US" altLang="ko-KR" b="1" dirty="0"/>
              <a:t>GROUP BY </a:t>
            </a:r>
            <a:r>
              <a:rPr lang="en-US" altLang="ko-KR" dirty="0" err="1"/>
              <a:t>T.Team_Name</a:t>
            </a:r>
            <a:r>
              <a:rPr lang="en-US" altLang="ko-KR" dirty="0"/>
              <a:t>;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0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Query </a:t>
            </a:r>
            <a:r>
              <a:rPr lang="en-US" altLang="ko-KR" dirty="0"/>
              <a:t>(Example)</a:t>
            </a:r>
            <a:endParaRPr lang="en-US" dirty="0"/>
          </a:p>
          <a:p>
            <a:pPr lvl="1"/>
            <a:r>
              <a:rPr lang="en-US" altLang="ko-KR" dirty="0"/>
              <a:t>Q2: Find the number of players in each team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Best Solution</a:t>
            </a:r>
          </a:p>
          <a:p>
            <a:pPr lvl="2"/>
            <a:r>
              <a:rPr lang="en-US" altLang="ko-KR" dirty="0"/>
              <a:t>Group the players by teams</a:t>
            </a:r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49" y="3645024"/>
            <a:ext cx="3425102" cy="269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2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Advanced DDL</a:t>
            </a:r>
          </a:p>
          <a:p>
            <a:pPr marL="685800" lvl="1"/>
            <a:r>
              <a:rPr lang="en-US" altLang="ko-KR" dirty="0"/>
              <a:t>Referential actions</a:t>
            </a:r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Advanced DML</a:t>
            </a:r>
          </a:p>
          <a:p>
            <a:pPr marL="685800" lvl="1"/>
            <a:r>
              <a:rPr lang="en-US" altLang="ko-KR" dirty="0"/>
              <a:t>Nested queries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and Discussions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60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DDL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0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Referential Actions</a:t>
            </a:r>
          </a:p>
          <a:p>
            <a:pPr lvl="1"/>
            <a:r>
              <a:rPr lang="en-US" sz="1600" dirty="0"/>
              <a:t>UPDATE or DELETE operation may affect a primary key value in the parent relation that has matching tuples in the child relation</a:t>
            </a:r>
          </a:p>
          <a:p>
            <a:pPr lvl="2"/>
            <a:r>
              <a:rPr lang="en-US" sz="1600" dirty="0"/>
              <a:t>Suppose that you want to delete department 3 from DEPARTMENT relation. What will happed to matching tuples in the EMPLOYEE relation?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501008"/>
            <a:ext cx="5156464" cy="249622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062000" y="4653136"/>
            <a:ext cx="2088232" cy="28803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003492" y="4413059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3492" y="5064303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5055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Referential Actions</a:t>
            </a:r>
          </a:p>
          <a:p>
            <a:pPr lvl="1"/>
            <a:r>
              <a:rPr lang="en-US" dirty="0"/>
              <a:t>The result of UPDATE and DELETE depends on the referential actions of FOREIGN KEY constraint</a:t>
            </a:r>
          </a:p>
          <a:p>
            <a:pPr lvl="2"/>
            <a:r>
              <a:rPr lang="en-US" dirty="0"/>
              <a:t>CASCADE, NO ACTION, RESTRICT, SET NULL, SET DEFAULT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Referential actions must be added to the FOREIGN KEY constraint</a:t>
            </a:r>
          </a:p>
          <a:p>
            <a:endParaRPr 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296144" y="398996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DELETE CASCADE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DELETE NO ACTION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DELETE RESTRICT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DELETE SET NULL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DELETE SET DEFAULT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896544" y="398996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UPDATE CASCADE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UPDATE NO ACTION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UPDATE RESTRICT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UPDATE SET NULL</a:t>
            </a:r>
          </a:p>
          <a:p>
            <a:pPr marL="742950" lvl="1" indent="-285750">
              <a:buFont typeface="맑은 고딕" panose="020B0503020000020004" pitchFamily="50" charset="-127"/>
              <a:buChar char="–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UPDATE SET DEFAULT</a:t>
            </a:r>
          </a:p>
        </p:txBody>
      </p:sp>
    </p:spTree>
    <p:extLst>
      <p:ext uri="{BB962C8B-B14F-4D97-AF65-F5344CB8AC3E}">
        <p14:creationId xmlns:p14="http://schemas.microsoft.com/office/powerpoint/2010/main" val="1463349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Creating a table with referential actions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employee(</a:t>
            </a: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i="1" dirty="0"/>
              <a:t>	</a:t>
            </a:r>
            <a:r>
              <a:rPr lang="en-US" dirty="0" err="1"/>
              <a:t>empno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</a:t>
            </a:r>
            <a:r>
              <a:rPr lang="en-US" b="1" dirty="0"/>
              <a:t>NOT NULL</a:t>
            </a:r>
            <a:r>
              <a:rPr lang="en-US" dirty="0"/>
              <a:t>,</a:t>
            </a: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dirty="0"/>
              <a:t>	</a:t>
            </a:r>
            <a:r>
              <a:rPr lang="en-US" dirty="0" err="1"/>
              <a:t>empname</a:t>
            </a:r>
            <a:r>
              <a:rPr lang="en-US" dirty="0"/>
              <a:t>	varchar(45),</a:t>
            </a: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dirty="0"/>
              <a:t>	</a:t>
            </a:r>
            <a:r>
              <a:rPr lang="en-US" dirty="0" err="1"/>
              <a:t>dno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FK_Department_Employee</a:t>
            </a:r>
            <a:endParaRPr lang="en-US" dirty="0"/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i="1" dirty="0"/>
              <a:t>	</a:t>
            </a:r>
            <a:r>
              <a:rPr lang="en-US" b="1" dirty="0"/>
              <a:t>FOREIGN KEY</a:t>
            </a:r>
            <a:r>
              <a:rPr lang="en-US" dirty="0"/>
              <a:t> (</a:t>
            </a:r>
            <a:r>
              <a:rPr lang="en-US" dirty="0" err="1"/>
              <a:t>dno</a:t>
            </a:r>
            <a:r>
              <a:rPr lang="en-US" dirty="0"/>
              <a:t>) </a:t>
            </a: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b="1" dirty="0"/>
              <a:t>	REFERENCES</a:t>
            </a:r>
            <a:r>
              <a:rPr lang="en-US" dirty="0"/>
              <a:t> department(</a:t>
            </a:r>
            <a:r>
              <a:rPr lang="en-US" dirty="0" err="1"/>
              <a:t>deptno</a:t>
            </a:r>
            <a:r>
              <a:rPr lang="en-US" dirty="0"/>
              <a:t>) </a:t>
            </a:r>
            <a:r>
              <a:rPr lang="en-US" b="1" dirty="0">
                <a:solidFill>
                  <a:srgbClr val="0070C0"/>
                </a:solidFill>
              </a:rPr>
              <a:t>ON DELETE CASCADE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914400" lvl="2" indent="0" defTabSz="760413">
              <a:buNone/>
              <a:tabLst>
                <a:tab pos="1435100" algn="l"/>
              </a:tabLst>
            </a:pPr>
            <a:r>
              <a:rPr lang="en-US" altLang="ko-KR" b="1" dirty="0">
                <a:solidFill>
                  <a:srgbClr val="0070C0"/>
                </a:solidFill>
              </a:rPr>
              <a:t>	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57930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Referential Actions – CASCADE</a:t>
            </a:r>
          </a:p>
          <a:p>
            <a:pPr lvl="1"/>
            <a:r>
              <a:rPr lang="en-US" dirty="0"/>
              <a:t>Delete or update the tuples from the parent relation and automatically delete or update the matching tuples in the child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MySQL, you can specify CASCADE action for delete as follows:</a:t>
            </a:r>
          </a:p>
          <a:p>
            <a:pPr lvl="2"/>
            <a:r>
              <a:rPr lang="en-US" dirty="0"/>
              <a:t>ON DELETE CASCADE</a:t>
            </a:r>
          </a:p>
          <a:p>
            <a:pPr lvl="2"/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80" y="4005064"/>
            <a:ext cx="7038439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62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Referential Actions – CASCADE</a:t>
            </a:r>
          </a:p>
          <a:p>
            <a:pPr lvl="1"/>
            <a:r>
              <a:rPr lang="en-US" dirty="0"/>
              <a:t>In MySQL, you can specify CASCADE action for update as follows:</a:t>
            </a:r>
          </a:p>
          <a:p>
            <a:pPr lvl="2"/>
            <a:r>
              <a:rPr lang="en-US" dirty="0"/>
              <a:t>ON UPDATE CASCADE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708920"/>
            <a:ext cx="5188421" cy="393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7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Referential Actions – SET NULL</a:t>
            </a:r>
          </a:p>
          <a:p>
            <a:pPr lvl="1"/>
            <a:r>
              <a:rPr lang="en-US" dirty="0"/>
              <a:t>Delete or update the tuples from the parent relation and set the foreign key attribute(s) in the child relation to NULL</a:t>
            </a:r>
          </a:p>
          <a:p>
            <a:endParaRPr lang="en-US" dirty="0"/>
          </a:p>
          <a:p>
            <a:pPr lvl="1"/>
            <a:r>
              <a:rPr lang="en-US" dirty="0"/>
              <a:t>In MySQL, you can specify CASCADE action as follows:</a:t>
            </a:r>
          </a:p>
          <a:p>
            <a:pPr lvl="2"/>
            <a:r>
              <a:rPr lang="en-US" dirty="0"/>
              <a:t>ON DELETE SET NULL</a:t>
            </a:r>
          </a:p>
          <a:p>
            <a:pPr lvl="2"/>
            <a:r>
              <a:rPr lang="en-US" dirty="0"/>
              <a:t>ON UPDATE SET NULL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4365104"/>
            <a:ext cx="62960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22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Advanced DDL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Referential Actions – RESTRICT and NO ACTION</a:t>
            </a:r>
          </a:p>
          <a:p>
            <a:pPr lvl="1"/>
            <a:r>
              <a:rPr lang="en-US" dirty="0"/>
              <a:t>Rejects the delete or update operation for the parent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MySQL, both RESTRICT and NO ACTION are equivalent</a:t>
            </a:r>
          </a:p>
          <a:p>
            <a:pPr lvl="2"/>
            <a:r>
              <a:rPr lang="en-US" dirty="0"/>
              <a:t>ON DELETE RESTRICT or ON DELETE NO ACTION</a:t>
            </a:r>
          </a:p>
          <a:p>
            <a:pPr lvl="2"/>
            <a:r>
              <a:rPr lang="en-US" dirty="0"/>
              <a:t>ON UPDATE RESTRICT or ON UPDATE NO ACTION</a:t>
            </a:r>
          </a:p>
          <a:p>
            <a:pPr lvl="2"/>
            <a:endParaRPr lang="en-US" dirty="0"/>
          </a:p>
          <a:p>
            <a:r>
              <a:rPr lang="en-US" dirty="0"/>
              <a:t>Referential Actions - SET DEFAULT </a:t>
            </a:r>
          </a:p>
          <a:p>
            <a:pPr lvl="1"/>
            <a:r>
              <a:rPr lang="en-US" dirty="0"/>
              <a:t>Currently, MySQL does not support SET DEFAULT action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66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Quiz</a:t>
            </a:r>
          </a:p>
          <a:p>
            <a:pPr lvl="1"/>
            <a:r>
              <a:rPr lang="en-US" sz="1600" dirty="0"/>
              <a:t>Given the following relational database with two relations. Describe what happens to the ORDER relation in the following cases</a:t>
            </a:r>
            <a:r>
              <a:rPr lang="en-US" altLang="ko-KR" sz="1600" dirty="0"/>
              <a:t>: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857250" lvl="1" indent="-342900">
              <a:buFont typeface="+mj-lt"/>
              <a:buAutoNum type="arabicPeriod"/>
            </a:pPr>
            <a:r>
              <a:rPr lang="en-US" altLang="ko-KR" sz="1600" dirty="0"/>
              <a:t>Delete customer with ID 1003 (</a:t>
            </a:r>
            <a:r>
              <a:rPr lang="en-US" altLang="ko-KR" sz="1600" dirty="0" err="1"/>
              <a:t>CustID</a:t>
            </a:r>
            <a:r>
              <a:rPr lang="en-US" altLang="ko-KR" sz="1600" dirty="0"/>
              <a:t> = 1003) from CUSTOMER relation when referential action is CASCADE.</a:t>
            </a:r>
          </a:p>
          <a:p>
            <a:pPr marL="857250" lvl="1" indent="-342900">
              <a:buFont typeface="+mj-lt"/>
              <a:buAutoNum type="arabicPeriod"/>
            </a:pPr>
            <a:r>
              <a:rPr lang="en-US" altLang="ko-KR" sz="1600" dirty="0"/>
              <a:t>Delete customer with ID 1002 (</a:t>
            </a:r>
            <a:r>
              <a:rPr lang="en-US" altLang="ko-KR" sz="1600" dirty="0" err="1"/>
              <a:t>CustID</a:t>
            </a:r>
            <a:r>
              <a:rPr lang="en-US" altLang="ko-KR" sz="1600" dirty="0"/>
              <a:t> = 1002) from CUSTOMER relation when referential action is RESTRICT.</a:t>
            </a:r>
          </a:p>
          <a:p>
            <a:pPr marL="857250" lvl="1" indent="-342900">
              <a:buFont typeface="+mj-lt"/>
              <a:buAutoNum type="arabicPeriod"/>
            </a:pPr>
            <a:r>
              <a:rPr lang="en-US" altLang="ko-KR" sz="1600" dirty="0"/>
              <a:t>Delete customer with ID 1000 (</a:t>
            </a:r>
            <a:r>
              <a:rPr lang="en-US" altLang="ko-KR" sz="1600" dirty="0" err="1"/>
              <a:t>CustID</a:t>
            </a:r>
            <a:r>
              <a:rPr lang="en-US" altLang="ko-KR" sz="1600" dirty="0"/>
              <a:t> = 1000) from CUSTOMER relation when referential action is SET NULL.</a:t>
            </a:r>
          </a:p>
          <a:p>
            <a:pPr marL="857250" lvl="1" indent="-342900">
              <a:buFont typeface="+mj-lt"/>
              <a:buAutoNum type="arabicPeriod"/>
            </a:pPr>
            <a:r>
              <a:rPr lang="en-US" altLang="ko-KR" sz="1600" dirty="0"/>
              <a:t>Delete customer with ID 1001 (</a:t>
            </a:r>
            <a:r>
              <a:rPr lang="en-US" altLang="ko-KR" sz="1600" dirty="0" err="1"/>
              <a:t>CustID</a:t>
            </a:r>
            <a:r>
              <a:rPr lang="en-US" altLang="ko-KR" sz="1600" dirty="0"/>
              <a:t> = 1001) from CUSTOMER relation when referential action is CASCADE.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67" y="2348880"/>
            <a:ext cx="6829266" cy="1625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7779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432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</a:t>
            </a:r>
            <a:r>
              <a:rPr lang="en-US" dirty="0"/>
              <a:t>ested query</a:t>
            </a:r>
          </a:p>
          <a:p>
            <a:pPr lvl="1"/>
            <a:r>
              <a:rPr lang="en-US" dirty="0"/>
              <a:t>SELECT that appears inside another SQL statement</a:t>
            </a:r>
          </a:p>
          <a:p>
            <a:pPr lvl="2"/>
            <a:r>
              <a:rPr lang="en-US" dirty="0"/>
              <a:t>Also called subquery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Where they can appear</a:t>
            </a:r>
          </a:p>
          <a:p>
            <a:pPr lvl="2"/>
            <a:r>
              <a:rPr lang="en-US" dirty="0"/>
              <a:t>WHERE / HAVING (most common)</a:t>
            </a:r>
          </a:p>
          <a:p>
            <a:pPr lvl="2"/>
            <a:r>
              <a:rPr lang="en-US" dirty="0"/>
              <a:t>FROM (as a derived table)</a:t>
            </a:r>
          </a:p>
          <a:p>
            <a:pPr lvl="2"/>
            <a:r>
              <a:rPr lang="en-US" dirty="0"/>
              <a:t>SELECT list</a:t>
            </a:r>
          </a:p>
          <a:p>
            <a:pPr lvl="2"/>
            <a:r>
              <a:rPr lang="en-US" dirty="0"/>
              <a:t>INSERT, UPDATE, DELETE</a:t>
            </a:r>
          </a:p>
        </p:txBody>
      </p:sp>
    </p:spTree>
    <p:extLst>
      <p:ext uri="{BB962C8B-B14F-4D97-AF65-F5344CB8AC3E}">
        <p14:creationId xmlns:p14="http://schemas.microsoft.com/office/powerpoint/2010/main" val="2335048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Advantages of Nested Queries</a:t>
            </a:r>
          </a:p>
          <a:p>
            <a:pPr lvl="1"/>
            <a:r>
              <a:rPr lang="en-US" dirty="0"/>
              <a:t>Improves Readability and Logical Flow</a:t>
            </a:r>
          </a:p>
          <a:p>
            <a:pPr lvl="1"/>
            <a:r>
              <a:rPr lang="en-US" dirty="0"/>
              <a:t>Enables Stepwise Filtering</a:t>
            </a:r>
          </a:p>
          <a:p>
            <a:pPr lvl="1"/>
            <a:r>
              <a:rPr lang="en-US" dirty="0"/>
              <a:t>Useful for Complex Scenarios</a:t>
            </a:r>
          </a:p>
          <a:p>
            <a:pPr lvl="1"/>
            <a:endParaRPr lang="en-US" dirty="0"/>
          </a:p>
          <a:p>
            <a:r>
              <a:rPr lang="en-US" altLang="ko-KR" dirty="0"/>
              <a:t>Disadvantages of Nested Queries</a:t>
            </a:r>
          </a:p>
          <a:p>
            <a:pPr lvl="1"/>
            <a:r>
              <a:rPr lang="en-US" altLang="ko-KR" dirty="0"/>
              <a:t>Often slower</a:t>
            </a:r>
          </a:p>
          <a:p>
            <a:pPr lvl="1"/>
            <a:r>
              <a:rPr lang="en-US" altLang="ko-KR" dirty="0"/>
              <a:t>Harder to optimize</a:t>
            </a:r>
          </a:p>
          <a:p>
            <a:pPr lvl="1"/>
            <a:r>
              <a:rPr lang="en-US" altLang="ko-KR" dirty="0"/>
              <a:t>JOIN is preferred when two tables are queried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4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Nested Query</a:t>
            </a:r>
          </a:p>
          <a:p>
            <a:pPr lvl="1"/>
            <a:r>
              <a:rPr lang="en-US" dirty="0"/>
              <a:t>SELECT statement included in the WHERE statement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The result of a nested query can return one of the followings</a:t>
            </a:r>
          </a:p>
          <a:p>
            <a:pPr lvl="2"/>
            <a:r>
              <a:rPr lang="en-US" dirty="0"/>
              <a:t>A single value</a:t>
            </a:r>
          </a:p>
          <a:p>
            <a:pPr lvl="2"/>
            <a:r>
              <a:rPr lang="en-US" dirty="0"/>
              <a:t>A relation with one attribute</a:t>
            </a:r>
          </a:p>
          <a:p>
            <a:pPr lvl="2"/>
            <a:r>
              <a:rPr lang="en-US" dirty="0"/>
              <a:t>A relation with multiple attributes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085" y="2276872"/>
            <a:ext cx="523383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21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64497"/>
            <a:ext cx="8229600" cy="5328592"/>
          </a:xfrm>
        </p:spPr>
        <p:txBody>
          <a:bodyPr/>
          <a:lstStyle/>
          <a:p>
            <a:r>
              <a:rPr lang="en-US" dirty="0"/>
              <a:t>Nested Query - When a single value is returned</a:t>
            </a:r>
          </a:p>
          <a:p>
            <a:pPr lvl="1"/>
            <a:r>
              <a:rPr lang="en-US" dirty="0"/>
              <a:t>Example: Retrieve the names and titles of all employees with the same title as </a:t>
            </a:r>
            <a:r>
              <a:rPr lang="ko-KR" altLang="en-US" dirty="0" err="1"/>
              <a:t>박영권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result of example query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2708920"/>
            <a:ext cx="5400000" cy="21151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00" y="5517232"/>
            <a:ext cx="1973400" cy="9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28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Query - When a single value is returned</a:t>
            </a:r>
          </a:p>
          <a:p>
            <a:pPr lvl="1"/>
            <a:r>
              <a:rPr lang="en-US" dirty="0"/>
              <a:t>Q</a:t>
            </a:r>
            <a:r>
              <a:rPr lang="en-US" altLang="ko-KR" dirty="0"/>
              <a:t>1</a:t>
            </a:r>
            <a:r>
              <a:rPr lang="en-US" dirty="0"/>
              <a:t>: Countries that have the same independence year with South Korea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Name, </a:t>
            </a:r>
            <a:r>
              <a:rPr lang="en-US" dirty="0" err="1"/>
              <a:t>IndepYear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Country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IndepYear</a:t>
            </a:r>
            <a:r>
              <a:rPr lang="en-US" dirty="0"/>
              <a:t> = </a:t>
            </a:r>
          </a:p>
          <a:p>
            <a:pPr marL="914400" lvl="2" indent="0">
              <a:buNone/>
            </a:pPr>
            <a:r>
              <a:rPr lang="en-US" dirty="0"/>
              <a:t>	(</a:t>
            </a: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IndepYear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b="1" dirty="0"/>
              <a:t>FROM</a:t>
            </a:r>
            <a:r>
              <a:rPr lang="en-US" dirty="0"/>
              <a:t> Country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b="1" dirty="0"/>
              <a:t>WHERE</a:t>
            </a:r>
            <a:r>
              <a:rPr lang="en-US" dirty="0"/>
              <a:t> Name = 'South Korea');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Result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453" y="5013176"/>
            <a:ext cx="3363094" cy="1557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5029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Query – When a relation with one attribute is returned</a:t>
            </a:r>
          </a:p>
          <a:p>
            <a:pPr lvl="1"/>
            <a:r>
              <a:rPr lang="en-US" dirty="0"/>
              <a:t>When a relation with one attribute is returned, use IN, ANY, ALL operators in WHERE statement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Search for the names of employee who work in Sales or Development departments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4437581"/>
            <a:ext cx="5734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61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Query – When a relation with one attribute is returned</a:t>
            </a:r>
          </a:p>
          <a:p>
            <a:pPr lvl="1"/>
            <a:r>
              <a:rPr lang="en-US" altLang="ko-KR" dirty="0"/>
              <a:t>Note that most of the nested queries can be written using JOIN 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Previous example can be rewritten as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E.EMPNAME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 </a:t>
            </a:r>
            <a:r>
              <a:rPr lang="en-US" b="1" dirty="0"/>
              <a:t>AS</a:t>
            </a:r>
            <a:r>
              <a:rPr lang="en-US" dirty="0"/>
              <a:t> E</a:t>
            </a:r>
          </a:p>
          <a:p>
            <a:pPr marL="914400" lvl="2" indent="0">
              <a:buNone/>
            </a:pPr>
            <a:r>
              <a:rPr lang="en-US" b="1" dirty="0"/>
              <a:t>JOIN</a:t>
            </a:r>
            <a:r>
              <a:rPr lang="en-US" dirty="0"/>
              <a:t> DEPARTMENT </a:t>
            </a:r>
            <a:r>
              <a:rPr lang="en-US" b="1" dirty="0"/>
              <a:t>AS</a:t>
            </a:r>
            <a:r>
              <a:rPr lang="en-US" dirty="0"/>
              <a:t> D </a:t>
            </a:r>
            <a:r>
              <a:rPr lang="en-US" b="1" dirty="0"/>
              <a:t>ON</a:t>
            </a:r>
            <a:r>
              <a:rPr lang="en-US" dirty="0"/>
              <a:t> E.DNO = D.DEPTNO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D.DEPTNAME </a:t>
            </a:r>
            <a:r>
              <a:rPr lang="en-US" b="1" dirty="0"/>
              <a:t>IN</a:t>
            </a:r>
            <a:r>
              <a:rPr lang="en-US" dirty="0"/>
              <a:t> ('</a:t>
            </a:r>
            <a:r>
              <a:rPr lang="ko-KR" altLang="en-US" dirty="0"/>
              <a:t>영업</a:t>
            </a:r>
            <a:r>
              <a:rPr lang="en-US" altLang="ko-KR" dirty="0"/>
              <a:t>', '</a:t>
            </a:r>
            <a:r>
              <a:rPr lang="ko-KR" altLang="en-US" dirty="0"/>
              <a:t>개발</a:t>
            </a:r>
            <a:r>
              <a:rPr lang="en-US" altLang="ko-KR" dirty="0"/>
              <a:t>');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654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Query – When a relation with one attribute is returned</a:t>
            </a:r>
          </a:p>
          <a:p>
            <a:pPr lvl="1"/>
            <a:r>
              <a:rPr lang="en-US" dirty="0"/>
              <a:t>Use the subquery form to explain the concept of nested queries</a:t>
            </a:r>
          </a:p>
          <a:p>
            <a:pPr lvl="1"/>
            <a:r>
              <a:rPr lang="en-US" dirty="0"/>
              <a:t>Use the JOIN form to show how table relationships can replace subqueries for clarity and performance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Nested Queries vs. JOIN queries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4" y="4221088"/>
            <a:ext cx="7801051" cy="2077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4606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Nested Query - When a relation with one attribute is returned</a:t>
            </a:r>
          </a:p>
          <a:p>
            <a:pPr lvl="1"/>
            <a:r>
              <a:rPr lang="en-US" sz="1600" dirty="0"/>
              <a:t>Q</a:t>
            </a:r>
            <a:r>
              <a:rPr lang="en-US" altLang="ko-KR" sz="1600" dirty="0"/>
              <a:t>2</a:t>
            </a:r>
            <a:r>
              <a:rPr lang="en-US" sz="1600" dirty="0"/>
              <a:t>: Find countries in Asia that have cities with population of more than 5 million</a:t>
            </a:r>
          </a:p>
          <a:p>
            <a:pPr marL="914400" lvl="2" indent="0">
              <a:buNone/>
            </a:pPr>
            <a:r>
              <a:rPr lang="en-US" sz="1600" dirty="0"/>
              <a:t>SELECT </a:t>
            </a:r>
            <a:r>
              <a:rPr lang="en-US" sz="1600" dirty="0" err="1"/>
              <a:t>C.Name</a:t>
            </a:r>
            <a:endParaRPr lang="en-US" sz="1600" dirty="0"/>
          </a:p>
          <a:p>
            <a:pPr marL="914400" lvl="2" indent="0">
              <a:buNone/>
            </a:pPr>
            <a:r>
              <a:rPr lang="en-US" sz="1600" dirty="0"/>
              <a:t>FROM Country C</a:t>
            </a:r>
          </a:p>
          <a:p>
            <a:pPr marL="914400" lvl="2" indent="0">
              <a:buNone/>
            </a:pPr>
            <a:r>
              <a:rPr lang="en-US" altLang="ko-KR" sz="1600" dirty="0"/>
              <a:t>WHERE</a:t>
            </a:r>
            <a:r>
              <a:rPr lang="en-US" sz="1600" dirty="0"/>
              <a:t> </a:t>
            </a:r>
            <a:r>
              <a:rPr lang="en-US" sz="1600" dirty="0" err="1"/>
              <a:t>C.Code</a:t>
            </a:r>
            <a:r>
              <a:rPr lang="en-US" sz="1600" dirty="0"/>
              <a:t> IN (SELECT </a:t>
            </a:r>
            <a:r>
              <a:rPr lang="en-US" sz="1600" dirty="0" err="1"/>
              <a:t>T.CountryCode</a:t>
            </a:r>
            <a:endParaRPr lang="en-US" sz="1600" dirty="0"/>
          </a:p>
          <a:p>
            <a:pPr marL="914400" lvl="2" indent="0">
              <a:buNone/>
            </a:pPr>
            <a:r>
              <a:rPr lang="en-US" sz="1600" dirty="0"/>
              <a:t>               FROM City T</a:t>
            </a:r>
          </a:p>
          <a:p>
            <a:pPr marL="914400" lvl="2" indent="0">
              <a:buNone/>
            </a:pPr>
            <a:r>
              <a:rPr lang="en-US" sz="1600" dirty="0"/>
              <a:t>               WHERE </a:t>
            </a:r>
            <a:r>
              <a:rPr lang="en-US" sz="1600" dirty="0" err="1"/>
              <a:t>T.Population</a:t>
            </a:r>
            <a:r>
              <a:rPr lang="en-US" sz="1600" dirty="0"/>
              <a:t> &gt; 5000000);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Result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66" y="4437112"/>
            <a:ext cx="1791868" cy="223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51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Intermediate </a:t>
            </a:r>
            <a:r>
              <a:rPr lang="en-US" dirty="0"/>
              <a:t>DML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Query – When a relation with multiple attribute is returned</a:t>
            </a:r>
          </a:p>
          <a:p>
            <a:pPr lvl="1"/>
            <a:r>
              <a:rPr lang="en-US" dirty="0"/>
              <a:t>When a relation with multiple attribute is returned, use EXIST operator in WHERE statement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Search for the names of employee who work in Sales or Development departments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00" y="4509120"/>
            <a:ext cx="6120000" cy="17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86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altLang="ko-KR" dirty="0"/>
              <a:t>Nested Queries (Derived Table)</a:t>
            </a:r>
          </a:p>
          <a:p>
            <a:pPr lvl="1"/>
            <a:r>
              <a:rPr lang="en-US" altLang="ko-KR" sz="2000" dirty="0"/>
              <a:t>Derived Table</a:t>
            </a:r>
          </a:p>
          <a:p>
            <a:pPr lvl="2"/>
            <a:r>
              <a:rPr lang="en-US" altLang="ko-KR" sz="2000" dirty="0"/>
              <a:t>Temporary table created from a subquery in the FROM clause</a:t>
            </a:r>
          </a:p>
          <a:p>
            <a:pPr lvl="3"/>
            <a:r>
              <a:rPr lang="en-US" altLang="ko-KR" sz="1800" dirty="0"/>
              <a:t>It is not stored in the database; it exists only while the outer query runs</a:t>
            </a:r>
          </a:p>
          <a:p>
            <a:pPr lvl="3"/>
            <a:endParaRPr lang="en-US" altLang="ko-KR" sz="1800" dirty="0"/>
          </a:p>
          <a:p>
            <a:pPr lvl="1"/>
            <a:r>
              <a:rPr lang="en-US" altLang="ko-KR" sz="2000" dirty="0"/>
              <a:t>Syntax</a:t>
            </a:r>
          </a:p>
          <a:p>
            <a:pPr lvl="2"/>
            <a:r>
              <a:rPr lang="en-US" altLang="ko-KR" sz="2000" b="1" dirty="0"/>
              <a:t>SELECT</a:t>
            </a:r>
            <a:r>
              <a:rPr lang="en-US" altLang="ko-KR" sz="2000" dirty="0"/>
              <a:t> ...</a:t>
            </a:r>
          </a:p>
          <a:p>
            <a:pPr lvl="2"/>
            <a:r>
              <a:rPr lang="en-US" altLang="ko-KR" sz="2000" b="1" dirty="0"/>
              <a:t>FROM</a:t>
            </a:r>
            <a:r>
              <a:rPr lang="en-US" altLang="ko-KR" sz="2000" dirty="0"/>
              <a:t> ( &lt;subquery&gt; ) AS </a:t>
            </a:r>
            <a:r>
              <a:rPr lang="en-US" altLang="ko-KR" sz="2000" dirty="0" err="1"/>
              <a:t>derived_table</a:t>
            </a:r>
            <a:endParaRPr lang="en-US" altLang="ko-KR" sz="2000" dirty="0"/>
          </a:p>
          <a:p>
            <a:pPr lvl="2"/>
            <a:r>
              <a:rPr lang="en-US" altLang="ko-KR" sz="2000" b="1" dirty="0"/>
              <a:t>WHERE</a:t>
            </a:r>
            <a:r>
              <a:rPr lang="en-US" altLang="ko-KR" sz="2000" dirty="0"/>
              <a:t> ...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endParaRPr lang="en-US" altLang="ko-KR" sz="2000" dirty="0"/>
          </a:p>
          <a:p>
            <a:pPr marL="1485900" lvl="2" indent="-342900" algn="just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1485900" lvl="2" indent="-342900" algn="just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endParaRPr lang="en-US" altLang="ko-KR" sz="20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altLang="ko-KR" b="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5BB3-32CE-49BF-9097-616F5826DF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16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altLang="ko-KR" dirty="0"/>
              <a:t>MySQL Nested Queries (Derived Table)</a:t>
            </a:r>
          </a:p>
          <a:p>
            <a:pPr lvl="1"/>
            <a:r>
              <a:rPr lang="en-US" altLang="ko-KR" dirty="0"/>
              <a:t>Q3: Find all countries in Europe with population more than 50 million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Query</a:t>
            </a:r>
          </a:p>
          <a:p>
            <a:pPr lvl="2" indent="0" algn="just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</a:t>
            </a:r>
            <a:r>
              <a:rPr lang="en-US" altLang="ko-KR" dirty="0" err="1"/>
              <a:t>C.Name</a:t>
            </a:r>
            <a:endParaRPr lang="en-US" altLang="ko-KR" dirty="0"/>
          </a:p>
          <a:p>
            <a:pPr lvl="2" indent="0" algn="just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(</a:t>
            </a:r>
            <a:r>
              <a:rPr lang="en-US" altLang="ko-KR" b="1" dirty="0"/>
              <a:t>SELECT</a:t>
            </a:r>
            <a:r>
              <a:rPr lang="en-US" altLang="ko-KR" dirty="0"/>
              <a:t> Name, Continent</a:t>
            </a:r>
          </a:p>
          <a:p>
            <a:pPr lvl="2" indent="0" algn="just">
              <a:buNone/>
            </a:pPr>
            <a:r>
              <a:rPr lang="en-US" altLang="ko-KR" dirty="0"/>
              <a:t>	</a:t>
            </a:r>
            <a:r>
              <a:rPr lang="en-US" altLang="ko-KR" b="1" dirty="0"/>
              <a:t>FROM</a:t>
            </a:r>
            <a:r>
              <a:rPr lang="en-US" altLang="ko-KR" dirty="0"/>
              <a:t> Country</a:t>
            </a:r>
          </a:p>
          <a:p>
            <a:pPr lvl="2" indent="0" algn="just">
              <a:buNone/>
            </a:pPr>
            <a:r>
              <a:rPr lang="en-US" altLang="ko-KR" dirty="0"/>
              <a:t>	</a:t>
            </a:r>
            <a:r>
              <a:rPr lang="en-US" altLang="ko-KR" b="1" dirty="0"/>
              <a:t>WHERE</a:t>
            </a:r>
            <a:r>
              <a:rPr lang="en-US" altLang="ko-KR" dirty="0"/>
              <a:t> Population &gt;50000000) </a:t>
            </a:r>
          </a:p>
          <a:p>
            <a:pPr lvl="2" indent="0" algn="just">
              <a:buNone/>
            </a:pPr>
            <a:r>
              <a:rPr lang="en-US" altLang="ko-KR" b="1" dirty="0"/>
              <a:t>AS</a:t>
            </a:r>
            <a:r>
              <a:rPr lang="en-US" altLang="ko-KR" dirty="0"/>
              <a:t> C</a:t>
            </a:r>
          </a:p>
          <a:p>
            <a:pPr lvl="2" indent="0" algn="just">
              <a:buNone/>
            </a:pPr>
            <a:r>
              <a:rPr lang="en-US" altLang="ko-KR" b="1" dirty="0"/>
              <a:t>WHERE</a:t>
            </a:r>
            <a:r>
              <a:rPr lang="en-US" altLang="ko-KR" dirty="0"/>
              <a:t> </a:t>
            </a:r>
            <a:r>
              <a:rPr lang="en-US" altLang="ko-KR" dirty="0" err="1"/>
              <a:t>C.Continent</a:t>
            </a:r>
            <a:r>
              <a:rPr lang="en-US" altLang="ko-KR" dirty="0"/>
              <a:t> = 'Europe' ;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1485900" lvl="2" indent="-342900" algn="just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1485900" lvl="2" indent="-342900" algn="just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altLang="ko-KR" b="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5BB3-32CE-49BF-9097-616F5826DF88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3212976"/>
            <a:ext cx="2628900" cy="255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217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 Nested Queries (Derived Table)</a:t>
            </a:r>
          </a:p>
          <a:p>
            <a:pPr lvl="1"/>
            <a:r>
              <a:rPr lang="en-US" altLang="ko-KR" dirty="0"/>
              <a:t>Note that you can create above query using more simple version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More simple version</a:t>
            </a:r>
          </a:p>
          <a:p>
            <a:pPr lvl="2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Name, Continent</a:t>
            </a:r>
          </a:p>
          <a:p>
            <a:pPr lvl="2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Country</a:t>
            </a:r>
          </a:p>
          <a:p>
            <a:pPr lvl="2" indent="0">
              <a:buNone/>
            </a:pPr>
            <a:r>
              <a:rPr lang="en-US" altLang="ko-KR" b="1" dirty="0"/>
              <a:t>WHERE</a:t>
            </a:r>
            <a:r>
              <a:rPr lang="en-US" altLang="ko-KR" dirty="0"/>
              <a:t> Population &gt;50000000</a:t>
            </a:r>
          </a:p>
          <a:p>
            <a:endParaRPr lang="en-US" dirty="0"/>
          </a:p>
          <a:p>
            <a:pPr lvl="1"/>
            <a:r>
              <a:rPr lang="en-US" altLang="ko-KR" dirty="0"/>
              <a:t>Then, why derived table is useful?</a:t>
            </a:r>
          </a:p>
          <a:p>
            <a:pPr lvl="2"/>
            <a:r>
              <a:rPr lang="en-US" altLang="ko-KR" dirty="0"/>
              <a:t>I</a:t>
            </a:r>
            <a:r>
              <a:rPr lang="en-US" dirty="0"/>
              <a:t>t makes the query </a:t>
            </a:r>
            <a:r>
              <a:rPr lang="en-US" altLang="ko-KR" dirty="0"/>
              <a:t>more </a:t>
            </a:r>
            <a:r>
              <a:rPr lang="en-US" dirty="0"/>
              <a:t>simple or clear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06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DML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 Nested Queries (Derived Table)</a:t>
            </a:r>
          </a:p>
          <a:p>
            <a:pPr lvl="1"/>
            <a:r>
              <a:rPr lang="en-US" altLang="ko-KR" dirty="0"/>
              <a:t>Q4: Count large countries by population and group them by continents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Query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Continent, COUNT(*) AS </a:t>
            </a:r>
            <a:r>
              <a:rPr lang="en-US" dirty="0" err="1"/>
              <a:t>NumLargeCountries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(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  <a:r>
              <a:rPr lang="en-US" b="1" dirty="0"/>
              <a:t>SELECT</a:t>
            </a:r>
            <a:r>
              <a:rPr lang="en-US" dirty="0"/>
              <a:t> Name, Continent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  <a:r>
              <a:rPr lang="en-US" b="1" dirty="0"/>
              <a:t>FROM</a:t>
            </a:r>
            <a:r>
              <a:rPr lang="en-US" dirty="0"/>
              <a:t> Country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  <a:r>
              <a:rPr lang="en-US" b="1" dirty="0"/>
              <a:t>WHERE</a:t>
            </a:r>
            <a:r>
              <a:rPr lang="en-US" dirty="0"/>
              <a:t> Population &gt; 50000000</a:t>
            </a:r>
          </a:p>
          <a:p>
            <a:pPr marL="914400" lvl="2" indent="0">
              <a:buNone/>
            </a:pPr>
            <a:r>
              <a:rPr lang="en-US" dirty="0"/>
              <a:t>) </a:t>
            </a:r>
            <a:r>
              <a:rPr lang="en-US" b="1" dirty="0"/>
              <a:t>AS</a:t>
            </a:r>
            <a:r>
              <a:rPr lang="en-US" dirty="0"/>
              <a:t> C</a:t>
            </a:r>
          </a:p>
          <a:p>
            <a:pPr marL="914400" lvl="2" indent="0">
              <a:buNone/>
            </a:pPr>
            <a:r>
              <a:rPr lang="en-US" b="1" dirty="0"/>
              <a:t>GROUP BY </a:t>
            </a:r>
            <a:r>
              <a:rPr lang="en-US" dirty="0"/>
              <a:t>Continent;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4149080"/>
            <a:ext cx="3492653" cy="170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50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See you next time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22212</TotalTime>
  <Words>1484</Words>
  <Application>Microsoft Office PowerPoint</Application>
  <PresentationFormat>화면 슬라이드 쇼(4:3)</PresentationFormat>
  <Paragraphs>350</Paragraphs>
  <Slides>36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테마</vt:lpstr>
      <vt:lpstr>SQL: Advanced Queries</vt:lpstr>
      <vt:lpstr>Last Lecture</vt:lpstr>
      <vt:lpstr>Last Lecture</vt:lpstr>
      <vt:lpstr>Last Lecture</vt:lpstr>
      <vt:lpstr>Last Lecture</vt:lpstr>
      <vt:lpstr>Last Lecture</vt:lpstr>
      <vt:lpstr>Last Lecture</vt:lpstr>
      <vt:lpstr>Last Lecture</vt:lpstr>
      <vt:lpstr>Last Lecture</vt:lpstr>
      <vt:lpstr>Last Lecture</vt:lpstr>
      <vt:lpstr>Table of Contents</vt:lpstr>
      <vt:lpstr>Advanced DDL</vt:lpstr>
      <vt:lpstr>1. Advanced DDL</vt:lpstr>
      <vt:lpstr>1. Advanced DDL</vt:lpstr>
      <vt:lpstr>1. Advanced DDL</vt:lpstr>
      <vt:lpstr>1. Advanced DDL</vt:lpstr>
      <vt:lpstr>1. Advanced DDL</vt:lpstr>
      <vt:lpstr>1. Advanced DDL</vt:lpstr>
      <vt:lpstr>1. Advanced DDL</vt:lpstr>
      <vt:lpstr>Quiz</vt:lpstr>
      <vt:lpstr>Advanced DML</vt:lpstr>
      <vt:lpstr>2. Intermediate DML</vt:lpstr>
      <vt:lpstr>Advanced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2. Intermediate DML</vt:lpstr>
      <vt:lpstr>Advanced DML</vt:lpstr>
      <vt:lpstr>Advanced DML</vt:lpstr>
      <vt:lpstr>Advanced DML</vt:lpstr>
      <vt:lpstr>Advanced DML</vt:lpstr>
      <vt:lpstr>See you 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선형대수학  Linear Algebra</dc:title>
  <dc:creator>K.LEE</dc:creator>
  <cp:lastModifiedBy>KIMGYU HYEON</cp:lastModifiedBy>
  <cp:revision>915</cp:revision>
  <cp:lastPrinted>2013-12-26T08:44:45Z</cp:lastPrinted>
  <dcterms:created xsi:type="dcterms:W3CDTF">2013-02-05T02:36:43Z</dcterms:created>
  <dcterms:modified xsi:type="dcterms:W3CDTF">2025-10-01T00:57:22Z</dcterms:modified>
</cp:coreProperties>
</file>