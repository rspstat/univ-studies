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557" r:id="rId2"/>
    <p:sldId id="562" r:id="rId3"/>
    <p:sldId id="506" r:id="rId4"/>
    <p:sldId id="507" r:id="rId5"/>
    <p:sldId id="508" r:id="rId6"/>
    <p:sldId id="554" r:id="rId7"/>
    <p:sldId id="541" r:id="rId8"/>
    <p:sldId id="570" r:id="rId9"/>
    <p:sldId id="509" r:id="rId10"/>
    <p:sldId id="510" r:id="rId11"/>
    <p:sldId id="542" r:id="rId12"/>
    <p:sldId id="571" r:id="rId13"/>
    <p:sldId id="511" r:id="rId14"/>
    <p:sldId id="512" r:id="rId15"/>
    <p:sldId id="543" r:id="rId16"/>
    <p:sldId id="514" r:id="rId17"/>
    <p:sldId id="515" r:id="rId18"/>
    <p:sldId id="544" r:id="rId19"/>
    <p:sldId id="545" r:id="rId20"/>
    <p:sldId id="516" r:id="rId21"/>
    <p:sldId id="517" r:id="rId22"/>
    <p:sldId id="546" r:id="rId23"/>
    <p:sldId id="518" r:id="rId24"/>
    <p:sldId id="563" r:id="rId25"/>
    <p:sldId id="564" r:id="rId26"/>
    <p:sldId id="547" r:id="rId27"/>
    <p:sldId id="520" r:id="rId28"/>
    <p:sldId id="521" r:id="rId29"/>
    <p:sldId id="548" r:id="rId30"/>
    <p:sldId id="522" r:id="rId31"/>
    <p:sldId id="523" r:id="rId32"/>
    <p:sldId id="524" r:id="rId33"/>
    <p:sldId id="525" r:id="rId34"/>
    <p:sldId id="565" r:id="rId35"/>
    <p:sldId id="566" r:id="rId36"/>
    <p:sldId id="550" r:id="rId37"/>
  </p:sldIdLst>
  <p:sldSz cx="9144000" cy="6858000" type="screen4x3"/>
  <p:notesSz cx="9856788" cy="6784975"/>
  <p:kinsoku lang="ko-KR" invalStChars="!%),.:;?]}’”〕〉》」』】°′″℃￠！％），．：；？］｝" invalEndChars="([\{‘“〔〈《「『【＄（［￦｛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신명조" charset="-127"/>
        <a:ea typeface="신명조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487">
          <p15:clr>
            <a:srgbClr val="A4A3A4"/>
          </p15:clr>
        </p15:guide>
        <p15:guide id="2" pos="4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CCFF"/>
    <a:srgbClr val="6633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3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05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1980" y="-96"/>
      </p:cViewPr>
      <p:guideLst>
        <p:guide orient="horz" pos="1487"/>
        <p:guide pos="4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tableStyles" Target="tableStyles.xml" 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.xml" /><Relationship Id="rId1" Type="http://schemas.openxmlformats.org/officeDocument/2006/relationships/slide" Target="slides/slide2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5C1A5C1-263C-E8D8-2953-35E5478D30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-1588"/>
            <a:ext cx="4271963" cy="339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794D68B-3734-7685-8A18-30343F68E8C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6413" y="-1588"/>
            <a:ext cx="4271962" cy="339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DBF316D-6487-DE1B-1450-5A1203E06C0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6445250"/>
            <a:ext cx="427196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9002FF5-28AE-3C10-8F21-D656714D2DD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6413" y="6445250"/>
            <a:ext cx="4271962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000" i="1">
                <a:latin typeface="Arial" panose="020B0604020202020204" pitchFamily="34" charset="0"/>
                <a:ea typeface="돋움" panose="020B0600000101010101" pitchFamily="34" charset="-127"/>
              </a:defRPr>
            </a:lvl1pPr>
          </a:lstStyle>
          <a:p>
            <a:fld id="{861D9517-6624-49FD-8FEC-2C9E7556BC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971CFAF-2860-8013-41A9-C42D0410D18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-1588"/>
            <a:ext cx="4271963" cy="339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20BA06F-464D-F3A3-F995-8200EC31259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586413" y="-1588"/>
            <a:ext cx="4271962" cy="339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9EA5B78-5162-3B57-1816-C6D90D107AE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8500" y="514350"/>
            <a:ext cx="3379788" cy="25352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4DA4545A-FF6E-623B-FEBA-0E5126ACE59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14450" y="3222625"/>
            <a:ext cx="7227888" cy="305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7625" rIns="92075" bIns="476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문자열 유형을 편집하려면 누르십시오</a:t>
            </a:r>
            <a:r>
              <a:rPr lang="en-US" altLang="ko-KR" noProof="0"/>
              <a:t>.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0556637-C343-D424-D5A9-B279E66754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6445250"/>
            <a:ext cx="427196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lnSpc>
                <a:spcPct val="100000"/>
              </a:lnSpc>
              <a:defRPr sz="1000" i="1">
                <a:latin typeface="Arial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A360E45-CD29-D5E1-72CF-8915505DA3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6413" y="6445250"/>
            <a:ext cx="4271962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000" i="1">
                <a:latin typeface="Arial" panose="020B0604020202020204" pitchFamily="34" charset="0"/>
                <a:ea typeface="돋움" panose="020B0600000101010101" pitchFamily="34" charset="-127"/>
              </a:defRPr>
            </a:lvl1pPr>
          </a:lstStyle>
          <a:p>
            <a:fld id="{05A3950A-DB46-438A-9E41-0866A456C5E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23925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1pPr>
    <a:lvl2pPr marL="460375" algn="l" defTabSz="923925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2pPr>
    <a:lvl3pPr marL="919163" algn="l" defTabSz="923925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3pPr>
    <a:lvl4pPr marL="1381125" algn="l" defTabSz="923925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4pPr>
    <a:lvl5pPr marL="1839913" algn="l" defTabSz="923925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이미지 개체 틀 1">
            <a:extLst>
              <a:ext uri="{FF2B5EF4-FFF2-40B4-BE49-F238E27FC236}">
                <a16:creationId xmlns:a16="http://schemas.microsoft.com/office/drawing/2014/main" id="{8DDA9C68-3B04-22A2-D7A2-59CEA00B11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슬라이드 노트 개체 틀 2">
            <a:extLst>
              <a:ext uri="{FF2B5EF4-FFF2-40B4-BE49-F238E27FC236}">
                <a16:creationId xmlns:a16="http://schemas.microsoft.com/office/drawing/2014/main" id="{2830B477-D6DD-E922-F8A3-808D9FA72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돋움" panose="020B0600000101010101" pitchFamily="34" charset="-127"/>
            </a:endParaRPr>
          </a:p>
        </p:txBody>
      </p:sp>
      <p:sp>
        <p:nvSpPr>
          <p:cNvPr id="5124" name="슬라이드 번호 개체 틀 3">
            <a:extLst>
              <a:ext uri="{FF2B5EF4-FFF2-40B4-BE49-F238E27FC236}">
                <a16:creationId xmlns:a16="http://schemas.microsoft.com/office/drawing/2014/main" id="{E13819A1-C609-E1C1-D1FB-BA54EF506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23C20477-5CBA-4981-A563-1C0A57B47487}" type="slidenum">
              <a:rPr lang="en-US" altLang="ko-KR" sz="1000"/>
              <a:pPr>
                <a:spcBef>
                  <a:spcPct val="0"/>
                </a:spcBef>
              </a:pPr>
              <a:t>1</a:t>
            </a:fld>
            <a:endParaRPr lang="en-US" altLang="ko-KR"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16770C3-E056-7F3A-C9A2-5CADE36DB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B6DA9E44-1CE8-4405-B6BC-6DBD7F5605BA}" type="slidenum">
              <a:rPr lang="en-US" altLang="ko-KR" sz="1000"/>
              <a:pPr>
                <a:spcBef>
                  <a:spcPct val="0"/>
                </a:spcBef>
              </a:pPr>
              <a:t>2</a:t>
            </a:fld>
            <a:endParaRPr lang="en-US" altLang="ko-KR" sz="10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439D3A1-CF24-B581-319A-70A7DDCEA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385E104-8894-E0AE-036B-092CE5EAD7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2C616640-6E83-CFB9-DFE6-093780DDD4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1339CC19-46CF-4BEE-8E7D-D3616F35D8FA}" type="slidenum">
              <a:rPr lang="en-US" altLang="ko-KR" sz="1000"/>
              <a:pPr>
                <a:spcBef>
                  <a:spcPct val="0"/>
                </a:spcBef>
              </a:pPr>
              <a:t>3</a:t>
            </a:fld>
            <a:endParaRPr lang="en-US" altLang="ko-KR" sz="10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3437A7A-3759-5914-B21B-EE61C01911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8CE4E2F-CC26-6EDE-8D86-F2F0EE117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E280AE84-D267-3F0A-7013-D84A3EBB4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DC06672D-9DA8-4FA4-B9DD-47A510DE28B5}" type="slidenum">
              <a:rPr lang="en-US" altLang="ko-KR" sz="1000"/>
              <a:pPr>
                <a:spcBef>
                  <a:spcPct val="0"/>
                </a:spcBef>
              </a:pPr>
              <a:t>4</a:t>
            </a:fld>
            <a:endParaRPr lang="en-US" altLang="ko-KR" sz="10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99B2C2C-9829-8B1C-570A-C39BE8F2F5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01B4B0F4-EC0C-E29F-6272-64640B9FC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AABB0B00-D9D8-5C90-9888-DF4DF622DF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21C7BFFE-2A1B-4C42-ADA4-0FAB2105D18C}" type="slidenum">
              <a:rPr lang="en-US" altLang="ko-KR" sz="1000"/>
              <a:pPr>
                <a:spcBef>
                  <a:spcPct val="0"/>
                </a:spcBef>
              </a:pPr>
              <a:t>5</a:t>
            </a:fld>
            <a:endParaRPr lang="en-US" altLang="ko-KR" sz="10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F61E8902-E35E-79B1-F518-3EC724D8DE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D62920B-B918-0862-6176-882CA515F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8B472E7-03DC-73A1-DDB4-DA57EBC5BD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702A1DF2-159E-4B1B-B06A-0218B39AA464}" type="slidenum">
              <a:rPr lang="en-US" altLang="ko-KR" sz="1000"/>
              <a:pPr>
                <a:spcBef>
                  <a:spcPct val="0"/>
                </a:spcBef>
              </a:pPr>
              <a:t>6</a:t>
            </a:fld>
            <a:endParaRPr lang="en-US" altLang="ko-KR" sz="10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E6F05FE-86D2-E178-4C5B-6422D833D4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B336AC0-2F95-F07C-EC5A-FE24B2448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34EEAAEE-5AE2-73A4-9BBB-F31D7EE980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44C2F6D4-B333-434D-B21C-E3AF410383C4}" type="slidenum">
              <a:rPr lang="en-US" altLang="ko-KR" sz="1000"/>
              <a:pPr>
                <a:spcBef>
                  <a:spcPct val="0"/>
                </a:spcBef>
              </a:pPr>
              <a:t>7</a:t>
            </a:fld>
            <a:endParaRPr lang="en-US" altLang="ko-KR" sz="10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3AA6E10-56B0-D253-A7B7-293FAC6477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A919303-0107-5291-2A66-AC984C6C5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343407B4-F35C-D978-A53C-D2266C4F8D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174C7634-1412-4EBB-A50F-CE13B1C375E9}" type="slidenum">
              <a:rPr lang="en-US" altLang="ko-KR" sz="1000"/>
              <a:pPr>
                <a:spcBef>
                  <a:spcPct val="0"/>
                </a:spcBef>
              </a:pPr>
              <a:t>8</a:t>
            </a:fld>
            <a:endParaRPr lang="en-US" altLang="ko-KR" sz="10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D7FCD75-63E8-09B2-F17E-32AF4562C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6F5739A-F2AD-9C19-2CF9-7D8591509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C3DF4573-9358-0A62-8696-6F2901F35B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05B13990-1F79-4FE2-9F51-7C2870603B2A}" type="slidenum">
              <a:rPr lang="en-US" altLang="ko-KR" sz="1000"/>
              <a:pPr>
                <a:spcBef>
                  <a:spcPct val="0"/>
                </a:spcBef>
              </a:pPr>
              <a:t>9</a:t>
            </a:fld>
            <a:endParaRPr lang="en-US" altLang="ko-KR" sz="10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BD4637EE-3A69-2351-2E6C-CB3A3E33F1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ADD6A3A4-058F-0696-D716-479F1DFAAC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8CA47943-856D-B036-8CAE-09BE483A75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A2FA685B-A55B-4180-819E-962394A7349C}" type="slidenum">
              <a:rPr lang="en-US" altLang="ko-KR" sz="1000"/>
              <a:pPr>
                <a:spcBef>
                  <a:spcPct val="0"/>
                </a:spcBef>
              </a:pPr>
              <a:t>10</a:t>
            </a:fld>
            <a:endParaRPr lang="en-US" altLang="ko-KR" sz="10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7D53598-6E3B-9300-5E12-F45D163A84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B163DBDC-7178-A88A-4FD1-1F14AB471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61C8C2AD-5876-F719-27BD-EECCB217F5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1AD84FA1-814E-48E4-A114-3CF2D4EBDBA1}" type="slidenum">
              <a:rPr lang="en-US" altLang="ko-KR" sz="1000"/>
              <a:pPr>
                <a:spcBef>
                  <a:spcPct val="0"/>
                </a:spcBef>
              </a:pPr>
              <a:t>11</a:t>
            </a:fld>
            <a:endParaRPr lang="en-US" altLang="ko-KR" sz="10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A5EB397F-814F-A511-7AB9-ED43A2207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341BFE2-1272-04AC-B402-1C78E876E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BE867E72-E38F-527F-DB4D-49B06F9AB0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F60639C-4D37-4809-A8CB-494A65835272}" type="slidenum">
              <a:rPr lang="en-US" altLang="ko-KR" sz="1000"/>
              <a:pPr>
                <a:spcBef>
                  <a:spcPct val="0"/>
                </a:spcBef>
              </a:pPr>
              <a:t>12</a:t>
            </a:fld>
            <a:endParaRPr lang="en-US" altLang="ko-KR" sz="10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7579DD5D-D343-21EE-6ED7-5179E47826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491C2D2-6DFD-2010-8DB8-7D5682942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DCBF1CD-1B37-356A-AE00-A58C86B8BC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8C63F0B-BEB5-444B-94DC-0DA69C2AA5FE}" type="slidenum">
              <a:rPr lang="en-US" altLang="ko-KR" sz="1000"/>
              <a:pPr>
                <a:spcBef>
                  <a:spcPct val="0"/>
                </a:spcBef>
              </a:pPr>
              <a:t>13</a:t>
            </a:fld>
            <a:endParaRPr lang="en-US" altLang="ko-KR" sz="10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68E4FB6-7DEA-8F54-82FF-5474B5620D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C0FC51D-D6C4-CC4F-19DA-D855662B53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19C7D6D0-1297-3D20-1DCC-3494A2630E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611F30E-1BB2-4A16-A013-DFA84EE40DAE}" type="slidenum">
              <a:rPr lang="en-US" altLang="ko-KR" sz="1000"/>
              <a:pPr>
                <a:spcBef>
                  <a:spcPct val="0"/>
                </a:spcBef>
              </a:pPr>
              <a:t>14</a:t>
            </a:fld>
            <a:endParaRPr lang="en-US" altLang="ko-KR" sz="10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A51536C-C49F-5E99-E14C-2537AEA5B0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12E61627-9AB1-556E-0873-9D4C960E2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34AA36FA-9043-B68D-8A67-4D22D71A04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EAC3ABCE-D3C7-4730-B53D-AC1219564AEA}" type="slidenum">
              <a:rPr lang="en-US" altLang="ko-KR" sz="1000"/>
              <a:pPr>
                <a:spcBef>
                  <a:spcPct val="0"/>
                </a:spcBef>
              </a:pPr>
              <a:t>15</a:t>
            </a:fld>
            <a:endParaRPr lang="en-US" altLang="ko-KR" sz="10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8D023021-A641-FB3A-D5DB-80F7E6FF89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FB3F957-F69B-D272-7C60-EED867D86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F791E56-7D34-A45E-172C-9CFB7D1BF2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C9BBEAEF-278D-46F4-B71F-7BA243D9194A}" type="slidenum">
              <a:rPr lang="en-US" altLang="ko-KR" sz="1000"/>
              <a:pPr>
                <a:spcBef>
                  <a:spcPct val="0"/>
                </a:spcBef>
              </a:pPr>
              <a:t>16</a:t>
            </a:fld>
            <a:endParaRPr lang="en-US" altLang="ko-KR" sz="10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5670115-84E5-3D28-82C6-E515A5DEFE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BE415BB-7E24-9237-777C-ED1A5F1A6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6BEFFB7C-6162-D218-5600-0740EA7297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5E68F199-B924-4899-8E8C-00700A923EA9}" type="slidenum">
              <a:rPr lang="en-US" altLang="ko-KR" sz="1000"/>
              <a:pPr>
                <a:spcBef>
                  <a:spcPct val="0"/>
                </a:spcBef>
              </a:pPr>
              <a:t>17</a:t>
            </a:fld>
            <a:endParaRPr lang="en-US" altLang="ko-KR" sz="10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8C36A73A-817A-16FB-36C2-81D57F96FD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DC9351D9-B1FB-40C3-6D35-73DA9BA06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9B0A4A1F-80F6-5C20-82F9-71842F74D4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AA059AC-7886-4D5B-84B7-20352DC50E9F}" type="slidenum">
              <a:rPr lang="en-US" altLang="ko-KR" sz="1000"/>
              <a:pPr>
                <a:spcBef>
                  <a:spcPct val="0"/>
                </a:spcBef>
              </a:pPr>
              <a:t>18</a:t>
            </a:fld>
            <a:endParaRPr lang="en-US" altLang="ko-KR" sz="10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D8B19EC6-5407-BAD6-25AD-ED48A928D3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0822BEE-10B4-89B2-BAA8-3916EDD99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84401587-74B6-9000-E179-57D4EC1C32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A2DEB2BD-119E-4837-8179-3812BE39684D}" type="slidenum">
              <a:rPr lang="en-US" altLang="ko-KR" sz="1000"/>
              <a:pPr>
                <a:spcBef>
                  <a:spcPct val="0"/>
                </a:spcBef>
              </a:pPr>
              <a:t>19</a:t>
            </a:fld>
            <a:endParaRPr lang="en-US" altLang="ko-KR" sz="10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A0682A7-961E-9D37-7AC8-0E50054915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EB45E4D9-4972-5780-4C87-161F319F2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74A2D3F0-9B1E-CF46-347B-DE40FBD416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91D0066B-9869-438C-905A-1EBE1DFE2218}" type="slidenum">
              <a:rPr lang="en-US" altLang="ko-KR" sz="1000"/>
              <a:pPr>
                <a:spcBef>
                  <a:spcPct val="0"/>
                </a:spcBef>
              </a:pPr>
              <a:t>20</a:t>
            </a:fld>
            <a:endParaRPr lang="en-US" altLang="ko-KR" sz="10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C358D11-1300-F9A7-CF3C-BF67A5019F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02B5D06B-86A0-D461-DA9B-029D728B0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FA2187D8-10C7-D777-2037-11C9CB55B8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09D4A913-6A1C-4073-9C6A-8D4AE7771A0E}" type="slidenum">
              <a:rPr lang="en-US" altLang="ko-KR" sz="1000"/>
              <a:pPr>
                <a:spcBef>
                  <a:spcPct val="0"/>
                </a:spcBef>
              </a:pPr>
              <a:t>21</a:t>
            </a:fld>
            <a:endParaRPr lang="en-US" altLang="ko-KR" sz="10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6583FF3-A2CD-DA8B-6BF7-57E8B9687E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A652D2D2-FA3F-DFFA-0F4E-C03138C83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A43729AB-C11E-028F-6ECE-9BA4E9727A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AEF2C95-EF91-47E5-9B80-16FBCCA09B05}" type="slidenum">
              <a:rPr lang="en-US" altLang="ko-KR" sz="1000"/>
              <a:pPr>
                <a:spcBef>
                  <a:spcPct val="0"/>
                </a:spcBef>
              </a:pPr>
              <a:t>22</a:t>
            </a:fld>
            <a:endParaRPr lang="en-US" altLang="ko-KR" sz="10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C5BD96CB-015E-4859-C1C3-E3DEB6682B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DB7E6FD-9C51-1B43-EF80-3B509FF92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BB9D336A-B573-489C-444F-F9AC65D74E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D84A7BA-ABF9-4B71-BA90-F46D1F5323FB}" type="slidenum">
              <a:rPr lang="en-US" altLang="ko-KR" sz="1000"/>
              <a:pPr>
                <a:spcBef>
                  <a:spcPct val="0"/>
                </a:spcBef>
              </a:pPr>
              <a:t>23</a:t>
            </a:fld>
            <a:endParaRPr lang="en-US" altLang="ko-KR" sz="10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401B0878-4C16-5868-C7F3-10630527BA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29DE85D-AAF7-594E-6191-21496E120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932B238A-2B56-E1F2-06DF-70438FD389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6BED729-C23D-4396-97C0-A765E24135F0}" type="slidenum">
              <a:rPr lang="en-US" altLang="ko-KR" sz="1000"/>
              <a:pPr>
                <a:spcBef>
                  <a:spcPct val="0"/>
                </a:spcBef>
              </a:pPr>
              <a:t>24</a:t>
            </a:fld>
            <a:endParaRPr lang="en-US" altLang="ko-KR" sz="10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A708AD8A-58AF-DE6C-DD4A-AF18F4BFF8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F170E35F-9712-FCB7-ADB5-B9FD33402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4C388576-608F-88F5-CDA8-302D69971C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80045BEA-DFB9-47AA-B772-8C0F327B822E}" type="slidenum">
              <a:rPr lang="en-US" altLang="ko-KR" sz="1000"/>
              <a:pPr>
                <a:spcBef>
                  <a:spcPct val="0"/>
                </a:spcBef>
              </a:pPr>
              <a:t>25</a:t>
            </a:fld>
            <a:endParaRPr lang="en-US" altLang="ko-KR" sz="10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BEC99503-D891-27E0-EFF6-8791AF014A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7AE8EFCD-BD54-7196-017D-D2FBAB76A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34BCDC29-7496-6B31-E1F4-21E669C2F4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8771B2BE-E27D-4812-8B22-A22D4BB24FF4}" type="slidenum">
              <a:rPr lang="en-US" altLang="ko-KR" sz="1000"/>
              <a:pPr>
                <a:spcBef>
                  <a:spcPct val="0"/>
                </a:spcBef>
              </a:pPr>
              <a:t>26</a:t>
            </a:fld>
            <a:endParaRPr lang="en-US" altLang="ko-KR" sz="10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C3D52DB7-452B-8A9B-4FFF-66CCBA077C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B25F7E04-52C9-F95C-D122-81B5F13B8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22FDA63F-B770-8F9E-2FF8-034B5BD18E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ABB15024-2366-48A8-BD92-3E4894C3317D}" type="slidenum">
              <a:rPr lang="en-US" altLang="ko-KR" sz="1000"/>
              <a:pPr>
                <a:spcBef>
                  <a:spcPct val="0"/>
                </a:spcBef>
              </a:pPr>
              <a:t>27</a:t>
            </a:fld>
            <a:endParaRPr lang="en-US" altLang="ko-KR" sz="10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F000A36-3781-7D6F-CE6A-9ABABA42E2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62602F89-BC48-298D-13A5-E192C99DF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E19F6DB4-E174-BDBD-FAF2-D2078CDCF4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7AF9CC7E-4350-475A-B9E9-2708DCDBE75F}" type="slidenum">
              <a:rPr lang="en-US" altLang="ko-KR" sz="1000"/>
              <a:pPr>
                <a:spcBef>
                  <a:spcPct val="0"/>
                </a:spcBef>
              </a:pPr>
              <a:t>28</a:t>
            </a:fld>
            <a:endParaRPr lang="en-US" altLang="ko-KR" sz="10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5512791C-577C-E627-A3E7-8916EA857E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47EDC481-AB91-B438-01DE-4C23EF861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A8A8C2A9-1AEC-3953-55D4-FFA5908D81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AFAFE6E-B56D-4F9B-980E-91705C787C05}" type="slidenum">
              <a:rPr lang="en-US" altLang="ko-KR" sz="1000"/>
              <a:pPr>
                <a:spcBef>
                  <a:spcPct val="0"/>
                </a:spcBef>
              </a:pPr>
              <a:t>29</a:t>
            </a:fld>
            <a:endParaRPr lang="en-US" altLang="ko-KR" sz="10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447F4D79-2537-1913-7924-56E972B33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2B285C39-1B4B-09E1-2794-38F5D2E39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42B17EC3-FE57-C8F5-42E6-97698BB9BF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448BFC9-A2DB-4731-9E05-0CCADD728224}" type="slidenum">
              <a:rPr lang="en-US" altLang="ko-KR" sz="1000"/>
              <a:pPr>
                <a:spcBef>
                  <a:spcPct val="0"/>
                </a:spcBef>
              </a:pPr>
              <a:t>30</a:t>
            </a:fld>
            <a:endParaRPr lang="en-US" altLang="ko-KR" sz="10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44B9DD1-5818-02E2-1B18-15457C526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09336B4-C454-EC30-2526-62DE7F0EE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BC2AF47-23A9-79E5-9DA8-3D7D312789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90BE05E-9FB8-47A7-AE09-04B4C51BF6F3}" type="slidenum">
              <a:rPr lang="en-US" altLang="ko-KR" sz="1000"/>
              <a:pPr>
                <a:spcBef>
                  <a:spcPct val="0"/>
                </a:spcBef>
              </a:pPr>
              <a:t>31</a:t>
            </a:fld>
            <a:endParaRPr lang="en-US" altLang="ko-KR" sz="10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5AD1CFA-EA8B-79BA-EC35-799341867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D1E8B21-AFB9-E0CC-ACC9-4E270E2B2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96A329BF-F692-FF8B-5C6A-13495465B1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EF12E336-677B-4E7C-9696-C9DA00A3DA42}" type="slidenum">
              <a:rPr lang="en-US" altLang="ko-KR" sz="1000"/>
              <a:pPr>
                <a:spcBef>
                  <a:spcPct val="0"/>
                </a:spcBef>
              </a:pPr>
              <a:t>32</a:t>
            </a:fld>
            <a:endParaRPr lang="en-US" altLang="ko-KR" sz="10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7CD1D1E4-B8E0-ADB5-EF97-FD82D9094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44F36D7E-F649-5000-D45B-69C77FA4D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C12E6F87-C0CD-2733-9D10-0E4773C799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83810C6-F60D-49C5-B9C2-0C6DDA68FE15}" type="slidenum">
              <a:rPr lang="en-US" altLang="ko-KR" sz="1000"/>
              <a:pPr>
                <a:spcBef>
                  <a:spcPct val="0"/>
                </a:spcBef>
              </a:pPr>
              <a:t>33</a:t>
            </a:fld>
            <a:endParaRPr lang="en-US" altLang="ko-KR" sz="10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B66E8D82-9149-EA32-F5AA-C4AF75A6DC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A842E6BC-8887-E0B4-8F72-55A46D108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8C3CC57-6A2A-FF14-B462-9C5E6C412D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46199B71-DD81-4687-A078-D38508B88D3D}" type="slidenum">
              <a:rPr lang="en-US" altLang="ko-KR" sz="1000"/>
              <a:pPr>
                <a:spcBef>
                  <a:spcPct val="0"/>
                </a:spcBef>
              </a:pPr>
              <a:t>34</a:t>
            </a:fld>
            <a:endParaRPr lang="en-US" altLang="ko-KR" sz="10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27CAC764-D964-9EF5-7045-3245A19870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781F73D3-EC6C-F655-371F-DEE3953BC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ECBA333D-18D8-CB32-5D69-99146CA76C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FD5284D1-17D7-405E-A9EC-C193CF1B6490}" type="slidenum">
              <a:rPr lang="en-US" altLang="ko-KR" sz="1000"/>
              <a:pPr>
                <a:spcBef>
                  <a:spcPct val="0"/>
                </a:spcBef>
              </a:pPr>
              <a:t>35</a:t>
            </a:fld>
            <a:endParaRPr lang="en-US" altLang="ko-KR" sz="10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8E2A0962-FA86-319C-132C-FBEA0987CF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35B947E-5DE8-362C-C0AD-7CC53318FF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3BF48F33-5C3C-035F-9460-1C357EDC01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 defTabSz="9239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</a:pPr>
            <a:fld id="{3B92570E-5C25-4F7E-B2D7-A42049D4F865}" type="slidenum">
              <a:rPr lang="en-US" altLang="ko-KR" sz="1000"/>
              <a:pPr>
                <a:spcBef>
                  <a:spcPct val="0"/>
                </a:spcBef>
              </a:pPr>
              <a:t>36</a:t>
            </a:fld>
            <a:endParaRPr lang="en-US" altLang="ko-KR" sz="10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0569AAC9-06F3-A996-8CB3-851E9F1E92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E7A2A2E9-D3DF-1F57-6080-11B4FEE7CB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>
              <a:ea typeface="돋움" panose="020B0600000101010101" pitchFamily="34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DD98E95-58CF-8C02-9C58-F1EF033A35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2A0BE4-BC7E-DBE8-06AF-C0950064D2F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480D46-0C07-46C5-825B-F80AB4D1319E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F0CFC1C-E2B9-41D3-929A-C334DD009F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820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CD83ED-8CA3-EACF-0172-BA93223E70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EDFAE5B-B469-1164-27D0-1242B55B69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ECEAF4-1CBE-448E-AB3F-223070446A53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9ED581D-513E-CD6B-63B8-1D416F74FBF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22010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E064ABF-2186-AA5C-085C-5871710E6C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E7B723-CC1F-48A6-6D2C-94C95FABB89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3B787D-76E7-4BCF-91D5-CD090DBD46DD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90CB3EC-0A15-98EE-53CA-E514FEF0449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6970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1529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1529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A92362-1182-21B2-9E6B-713349A73B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102240-DDD2-39BD-B889-0132DC39912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C01F6F-D1CD-4227-9195-137AAE19375A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93ECC6A-ED20-5077-1746-DA1069530B9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045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C968A5C-98E6-4FB9-5412-E34D67544F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E38AB5D-1458-3829-5035-7D5C0F3F7D9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1E3A78-B5F0-4025-BFF4-F3007C46C04F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995D8A3-4D45-DB66-8265-20F408D4BCC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38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21DE927-85F2-4623-A2B6-198DE7B670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41A6B44-30FD-6A52-91A6-568B61B03C2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073E1-A94E-49D0-BCE0-F00C4CB3FE0D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D2F4720-7AFA-95BD-F3BF-5AFA092E342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352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1D03BA1-522A-B0DA-192F-DB33489CA6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FFE94B8-2595-1602-B93D-76A3BE3B91B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F48F8A-BE4E-4C71-8A55-7BF323C63CE8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57DD37C-9E16-4B49-A586-FBF3CC35AB5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565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CA9517-B3D6-D91B-C8B1-F693906382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629319-AE8D-0FD6-22AE-E7A9A2B3AD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19A234-3EA2-41CA-B1F6-66D0205A8264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3F05CD7-ADD0-4530-335F-53D30E4D292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3662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FC3766-9F27-0A14-50EF-620DED3282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3BDA67-0466-9063-197B-032E58C4CCC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910765-8C51-4AE1-8827-A89F9929BFCA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7E5B0FA-0D76-9901-9627-9BA86F60635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212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566BB6E-3165-8F99-AEB7-BEDEDB9F80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EACF765-C5C0-EA32-3E3F-00ECEB28C9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3DEED5-ECA7-44CE-962B-06C62A013709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2B54CD7-FDF3-6849-BF20-3501C4DDC88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131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24650" y="274638"/>
            <a:ext cx="2114550" cy="6049962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81000" y="274638"/>
            <a:ext cx="6191250" cy="60499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94610D-F993-3556-3F2D-F74012A5F9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9A52B02-81CD-0346-34D3-2E3BCEE1387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87D83E-682C-461C-AC14-8867DF3ABB18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C159639-DB11-EDAC-4633-5E486D299B0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7942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381000" y="274638"/>
            <a:ext cx="8458200" cy="60499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9E33A5A-E34C-FED8-E7B0-82E34017B4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22AACF5-0464-168C-21C9-C4CCF5E3E82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82E22C-32B5-47FD-BD0A-FD2234239329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E1079BB-E3BF-7BCF-3D27-72165C051A3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5763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152900" cy="4724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152900" cy="4724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887E3B-4E96-B5F7-3383-6F9D18CA27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6170F6-0A48-A153-520D-95281CA9E70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11191B-F998-44F8-9723-4C6D887CB088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3D1DFD2-78EF-1DB2-505F-0BCBB2943CC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43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FB22F36-6B68-ADC6-85B5-568CF647E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8610600" cy="6172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신명조" charset="-127"/>
                <a:ea typeface="신명조" charset="-127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endParaRPr lang="ko-KR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5F64905-7A4E-8DE0-DCC6-51F733427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458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문자열 유형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363F0A8-498D-D344-9916-5047FE2EE48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400">
                <a:latin typeface="Arial" pitchFamily="34" charset="0"/>
                <a:ea typeface="+mj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3C249D5-21B4-2C23-2F70-E67C115171D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  <a:ea typeface="돋움" panose="020B0600000101010101" pitchFamily="34" charset="-127"/>
              </a:defRPr>
            </a:lvl1pPr>
          </a:lstStyle>
          <a:p>
            <a:fld id="{AA8D55B1-1876-4128-A240-7F311E1097A5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DABD762-CFC3-7E1D-49B6-044CD7C340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defRPr sz="1400">
                <a:latin typeface="Arial" pitchFamily="34" charset="0"/>
                <a:ea typeface="+mj-ea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imes New Roman" pitchFamily="18" charset="0"/>
          <a:ea typeface="돋움" pitchFamily="50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10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Arial" pitchFamily="34" charset="0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Arial" pitchFamily="34" charset="0"/>
          <a:ea typeface="+mj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Arial" pitchFamily="34" charset="0"/>
          <a:ea typeface="+mj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Arial" pitchFamily="34" charset="0"/>
          <a:ea typeface="+mj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Arial" pitchFamily="34" charset="0"/>
          <a:ea typeface="+mj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5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8.pn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0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3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17.pn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2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EF21B908-3E84-F9DE-A8EB-5BC5E738F36A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4400"/>
              <a:t>E-R Diagram Mapping</a:t>
            </a:r>
          </a:p>
        </p:txBody>
      </p:sp>
      <p:sp>
        <p:nvSpPr>
          <p:cNvPr id="4099" name="부제목 2">
            <a:extLst>
              <a:ext uri="{FF2B5EF4-FFF2-40B4-BE49-F238E27FC236}">
                <a16:creationId xmlns:a16="http://schemas.microsoft.com/office/drawing/2014/main" id="{F38906B0-57B0-9232-AE8A-CEF250BDA4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Database System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3">
            <a:extLst>
              <a:ext uri="{FF2B5EF4-FFF2-40B4-BE49-F238E27FC236}">
                <a16:creationId xmlns:a16="http://schemas.microsoft.com/office/drawing/2014/main" id="{B5DD3285-A52A-C7DF-B9CF-B24650335D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A721FB4-4ACF-4EB8-8974-62DE4F6DBA1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0566C782-A6EB-DB80-2B99-7076CBCF3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1. Logical Design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EEEA64C-31F6-8EBA-E047-F9E75C9B940D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563688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What is schema?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kern="0" dirty="0"/>
              <a:t>The overall logical structure of the database, also called metadata</a:t>
            </a:r>
          </a:p>
          <a:p>
            <a:pPr lvl="2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kern="0" dirty="0"/>
              <a:t>Ex: department(</a:t>
            </a:r>
            <a:r>
              <a:rPr lang="en-US" altLang="ko-KR" b="1" kern="0" dirty="0" err="1"/>
              <a:t>dept_name</a:t>
            </a:r>
            <a:r>
              <a:rPr lang="en-US" altLang="ko-KR" b="1" kern="0" dirty="0"/>
              <a:t>, building, budget)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b="1" kern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3E1715-0158-E5BA-C2A3-06DD6F875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700" y="3263900"/>
            <a:ext cx="3013075" cy="2160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150" name="TextBox 7">
            <a:extLst>
              <a:ext uri="{FF2B5EF4-FFF2-40B4-BE49-F238E27FC236}">
                <a16:creationId xmlns:a16="http://schemas.microsoft.com/office/drawing/2014/main" id="{923D806B-0630-2F8C-4917-C466FC56C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575" y="5614988"/>
            <a:ext cx="2473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신명조" charset="-127"/>
                <a:ea typeface="신명조" charset="-127"/>
              </a:rPr>
              <a:t>The </a:t>
            </a:r>
            <a:r>
              <a:rPr lang="en-US" altLang="en-US" sz="1800" i="1">
                <a:latin typeface="신명조" charset="-127"/>
                <a:ea typeface="신명조" charset="-127"/>
              </a:rPr>
              <a:t>department</a:t>
            </a:r>
            <a:r>
              <a:rPr lang="en-US" altLang="en-US" sz="1800">
                <a:latin typeface="신명조" charset="-127"/>
                <a:ea typeface="신명조" charset="-127"/>
              </a:rPr>
              <a:t>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3">
            <a:extLst>
              <a:ext uri="{FF2B5EF4-FFF2-40B4-BE49-F238E27FC236}">
                <a16:creationId xmlns:a16="http://schemas.microsoft.com/office/drawing/2014/main" id="{6EA4F5FD-6233-877A-6D08-73AE6B1A4C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B32A7D2-BE40-48D7-9FD0-C45A2A6C4B52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5E2606D1-A538-B14E-CAD9-C1166D06C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39D8CA8-DFDA-C87D-7DF8-229D40884510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563688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E-R Diagram Mapping Steps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1: Regular entity types and single valued attributes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2: Weak Entity Type and Single Value Attribute 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3: Binary 1:1 Relationship Type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4: Regular binary 1:N relationship type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5: Binary M:N relationship type 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6: Ternary or higher relationship types 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7: Multi-valued attribute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ko-KR" altLang="en-US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b="1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4">
            <a:extLst>
              <a:ext uri="{FF2B5EF4-FFF2-40B4-BE49-F238E27FC236}">
                <a16:creationId xmlns:a16="http://schemas.microsoft.com/office/drawing/2014/main" id="{9B0BB0F8-D88E-7ACA-1492-C3C8104CA8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4F270C0-D3FD-42C4-922C-BE4732222D6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4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766124D-4FB1-E4AF-4B11-DB6814926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AF0F518-4EE5-EE39-4425-CE835A052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1: Regular entity types and single valued attributes</a:t>
            </a:r>
            <a:endParaRPr lang="ko-KR" altLang="en-US" sz="20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One relation R is created for each regular entity type 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Include all simple attributes in E in relation R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For composite attributes, include all simple attributes of compound attributes from E to relation R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E's key attribute becomes relation R's primary key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3">
            <a:extLst>
              <a:ext uri="{FF2B5EF4-FFF2-40B4-BE49-F238E27FC236}">
                <a16:creationId xmlns:a16="http://schemas.microsoft.com/office/drawing/2014/main" id="{6785E68A-BFE0-2FFF-CE5C-2B8E7B4F4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14B564E-3534-40FF-A27A-0BF58B161A0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89AF7A0-54B1-A2E7-1F77-E063FA2AE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pic>
        <p:nvPicPr>
          <p:cNvPr id="12292" name="Picture 3">
            <a:extLst>
              <a:ext uri="{FF2B5EF4-FFF2-40B4-BE49-F238E27FC236}">
                <a16:creationId xmlns:a16="http://schemas.microsoft.com/office/drawing/2014/main" id="{ABFB9858-7683-049C-6637-47F04A331C88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67"/>
          <a:stretch>
            <a:fillRect/>
          </a:stretch>
        </p:blipFill>
        <p:spPr>
          <a:xfrm>
            <a:off x="1157288" y="2276475"/>
            <a:ext cx="6854825" cy="1724025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AB2E264-1F86-A69C-88A9-16E061EB177A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431925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1: Regular entity types and single valued attributes</a:t>
            </a:r>
            <a:endParaRPr lang="ko-KR" altLang="en-US" sz="2000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5">
            <a:extLst>
              <a:ext uri="{FF2B5EF4-FFF2-40B4-BE49-F238E27FC236}">
                <a16:creationId xmlns:a16="http://schemas.microsoft.com/office/drawing/2014/main" id="{C317C56A-A8D3-74F3-D351-8F284A8599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A161C856-C304-4E1E-A609-674215ABE423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6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5CA26B0-C749-816A-D90C-02392EB552A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237538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1: Regular entity types and single valued attributes</a:t>
            </a:r>
            <a:endParaRPr lang="ko-KR" altLang="en-US" sz="2000" b="1">
              <a:latin typeface="함초롬바탕" pitchFamily="18" charset="-127"/>
              <a:ea typeface="함초롬바탕" pitchFamily="18" charset="-127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907000A9-2545-9967-8517-DE9BFA716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pic>
        <p:nvPicPr>
          <p:cNvPr id="14341" name="그림 2">
            <a:extLst>
              <a:ext uri="{FF2B5EF4-FFF2-40B4-BE49-F238E27FC236}">
                <a16:creationId xmlns:a16="http://schemas.microsoft.com/office/drawing/2014/main" id="{06CC4705-335D-7EB4-1ACE-8D988BAE2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338388"/>
            <a:ext cx="68580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94CA3F82-C9C3-16DF-69CF-857B917C23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92D7166C-066D-4852-BFB9-146AF7997833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7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4C356E4-A735-1358-4175-ECF87D7A6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6DBC830-001B-E2FD-9F61-36EAA3749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1: Regular entity types and single valued attributes</a:t>
            </a:r>
            <a:endParaRPr lang="ko-KR" altLang="en-US" sz="2000" b="1">
              <a:latin typeface="함초롬바탕" pitchFamily="18" charset="-127"/>
              <a:ea typeface="함초롬바탕" pitchFamily="18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000">
              <a:latin typeface="½Å¸íÁ¶" charset="0"/>
              <a:ea typeface="신명조" charset="-127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latin typeface="½Å¸íÁ¶" charset="0"/>
                <a:ea typeface="신명조" charset="-127"/>
              </a:rPr>
              <a:t>	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EMPLOYEE(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Empname, Title, City, Ku, Dong, 	   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	     Salary)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PROJECT(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Projname, Budget)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DEPARTMENT(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Deptno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Deptname, Floor)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SUPPLIER(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Suppno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Suppname, Credit)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PART(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Partno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Partname, Price)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4">
            <a:extLst>
              <a:ext uri="{FF2B5EF4-FFF2-40B4-BE49-F238E27FC236}">
                <a16:creationId xmlns:a16="http://schemas.microsoft.com/office/drawing/2014/main" id="{346DF50D-1759-1F35-98E8-600C2EB906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BB99C20-0205-453F-8409-D2495BD59D2A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8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CB7815D-4295-8D61-A747-C2D9F1EE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6B8145D-D857-9990-6771-F61E9A53F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2: Weak Entity Type and Single Value Attribute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Weak entity is dependent on strong entity 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Cannot exists without a corresponding strong entity</a:t>
            </a:r>
          </a:p>
          <a:p>
            <a:pPr lvl="2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Weak entity type does not have enough attributes to form a key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Marked as Double Line Rectangle in ER Diagram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Note that weak entity is connected to owner strong entity through Double Line Diamond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4">
            <a:extLst>
              <a:ext uri="{FF2B5EF4-FFF2-40B4-BE49-F238E27FC236}">
                <a16:creationId xmlns:a16="http://schemas.microsoft.com/office/drawing/2014/main" id="{4FF2BEA5-7CA4-6A1D-44B2-697C61E219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DD0FA79-C727-46D8-9872-1F7B81909C3A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9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3949B02-819C-4570-A676-0524B512E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213623D-F93D-15FD-934A-A55392EA4A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2: Weak Entity Type and Single Value Attribute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 relation W is created for each weak entity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All simple attributes in a weak entity type is included in relation W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The primary key of the relation corresponding to the owning entity type E is included as a foreign key in the relation W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The primary key of relation W is a combination of a partial key of the weak entity type and a foreign key that refers to the relation corresponding to the owning entity type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번호 개체 틀 3">
            <a:extLst>
              <a:ext uri="{FF2B5EF4-FFF2-40B4-BE49-F238E27FC236}">
                <a16:creationId xmlns:a16="http://schemas.microsoft.com/office/drawing/2014/main" id="{5F26C6C2-4DDF-0B58-DCB5-09C74C6F2D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70394B7-024D-4C47-9025-E9932A5DE834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10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37604186-AD50-4894-CD62-7D44EEAD8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pic>
        <p:nvPicPr>
          <p:cNvPr id="22532" name="그림 2">
            <a:extLst>
              <a:ext uri="{FF2B5EF4-FFF2-40B4-BE49-F238E27FC236}">
                <a16:creationId xmlns:a16="http://schemas.microsoft.com/office/drawing/2014/main" id="{F0968834-B106-0AC5-8202-971036E20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5" y="2181225"/>
            <a:ext cx="3333750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06349F86-9062-E7D2-5006-D1C0FAEA0C61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431925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2: Weak Entity Type and Single Value Attribute </a:t>
            </a:r>
          </a:p>
        </p:txBody>
      </p:sp>
      <p:pic>
        <p:nvPicPr>
          <p:cNvPr id="22534" name="그림 3">
            <a:extLst>
              <a:ext uri="{FF2B5EF4-FFF2-40B4-BE49-F238E27FC236}">
                <a16:creationId xmlns:a16="http://schemas.microsoft.com/office/drawing/2014/main" id="{1787D5B5-4CAD-C8E4-2400-6563331380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0" y="2181225"/>
            <a:ext cx="2676525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번호 개체 틀 4">
            <a:extLst>
              <a:ext uri="{FF2B5EF4-FFF2-40B4-BE49-F238E27FC236}">
                <a16:creationId xmlns:a16="http://schemas.microsoft.com/office/drawing/2014/main" id="{FB415350-B55D-33C1-1AE3-09DE595AFB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93F34A7E-ED2B-4DEB-BB69-6C45EA5BA9FA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11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8B7EFAA-562B-E0C5-D5A6-5C3078CCA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1C69709-34E7-9B17-7731-34044D232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2: Weak Entity Type and Single Value Attribute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latin typeface="½Å¸íÁ¶" charset="0"/>
                <a:ea typeface="신명조" charset="-127"/>
              </a:rPr>
              <a:t>	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DEPENDENT(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Depname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Sex)</a:t>
            </a:r>
          </a:p>
        </p:txBody>
      </p:sp>
      <p:pic>
        <p:nvPicPr>
          <p:cNvPr id="24581" name="그림 1">
            <a:extLst>
              <a:ext uri="{FF2B5EF4-FFF2-40B4-BE49-F238E27FC236}">
                <a16:creationId xmlns:a16="http://schemas.microsoft.com/office/drawing/2014/main" id="{E428CC35-6101-CB94-8104-5BC5C76C1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2757488"/>
            <a:ext cx="7553325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번호 개체 틀 3">
            <a:extLst>
              <a:ext uri="{FF2B5EF4-FFF2-40B4-BE49-F238E27FC236}">
                <a16:creationId xmlns:a16="http://schemas.microsoft.com/office/drawing/2014/main" id="{9D6EFF33-0D67-8114-7AA0-03CA60A53A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9727C4B-0700-4C92-B7DD-6C5107D2752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12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12CBE7E-A8DF-0A78-3122-922A24321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C1FC1FA-0E62-EDFD-1814-355B39250C9B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431925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2: Weak Entity Type and Single Value Attribute </a:t>
            </a:r>
          </a:p>
        </p:txBody>
      </p:sp>
      <p:pic>
        <p:nvPicPr>
          <p:cNvPr id="26629" name="그림 1">
            <a:extLst>
              <a:ext uri="{FF2B5EF4-FFF2-40B4-BE49-F238E27FC236}">
                <a16:creationId xmlns:a16="http://schemas.microsoft.com/office/drawing/2014/main" id="{B8008B47-553F-B935-1FEF-A5DC043D4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181225"/>
            <a:ext cx="3343275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302F1D4-6D15-DC52-49E9-91F2ABBEA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050" y="2371725"/>
            <a:ext cx="235267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번호 개체 틀 4">
            <a:extLst>
              <a:ext uri="{FF2B5EF4-FFF2-40B4-BE49-F238E27FC236}">
                <a16:creationId xmlns:a16="http://schemas.microsoft.com/office/drawing/2014/main" id="{AFB8898F-09E7-B319-2D1D-7DBBCD8AB4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DA177FCE-34B4-4F0F-8FEE-1A8B4A82D02F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13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5C2331B-954B-E076-D1E6-C42C5FA2F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AA69929B-3489-D7EF-F59C-F4F9ADA5C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Step 3: Binary 1:1 Relationship Type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For each binary 1:1 relationship type R in the ER schema, the relations S and T corresponding to the entity types participating in R are found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Select one relation between S and T, and if S is selected, the primary key of T is included in S as a foreign key</a:t>
            </a:r>
            <a:endParaRPr lang="ko-KR" altLang="en-US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All simple attributes of the relationship type R (if they have a compound attribute, the simple attributes constituting the compound attribute) are included in the relation corresponding to S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Among S and T, the relation that fully participates in the relationship type is selected as the relation that plays the role of S</a:t>
            </a:r>
            <a:endParaRPr lang="ko-KR" altLang="en-US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번호 개체 틀 3">
            <a:extLst>
              <a:ext uri="{FF2B5EF4-FFF2-40B4-BE49-F238E27FC236}">
                <a16:creationId xmlns:a16="http://schemas.microsoft.com/office/drawing/2014/main" id="{C1AFD8D8-C23D-0333-01D5-EEF938BAA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91DD6E52-E81B-40E3-894E-A190E323FF99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14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75A9FF3-2A94-4191-4EAD-DCFA2BBD5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EEEF7A-BAD0-0759-A7B0-5DBDFB48904C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431925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3: Binary 1:1 Relationship Type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BE7D556-1F9F-4C85-709F-B4CF376E6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563" y="2562225"/>
            <a:ext cx="60102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그림 3">
            <a:extLst>
              <a:ext uri="{FF2B5EF4-FFF2-40B4-BE49-F238E27FC236}">
                <a16:creationId xmlns:a16="http://schemas.microsoft.com/office/drawing/2014/main" id="{46DB008D-22AA-A8F7-90FA-8EA253C8C3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4260850"/>
            <a:ext cx="34575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번호 개체 틀 4">
            <a:extLst>
              <a:ext uri="{FF2B5EF4-FFF2-40B4-BE49-F238E27FC236}">
                <a16:creationId xmlns:a16="http://schemas.microsoft.com/office/drawing/2014/main" id="{CCAB22A5-25F4-7EB5-53CA-1AA3A8B754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FCCFC0D-031E-41D9-AE1B-A62B96A4605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15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D963EF6-672F-51C5-74B4-B8A36EB02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4549EE1-4FEC-C3CB-ECA0-35C468BEE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3: Binary 1:1 Relationship Type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1800">
                <a:latin typeface="½Å¸íÁ¶" charset="0"/>
                <a:ea typeface="신명조" charset="-127"/>
              </a:rPr>
              <a:t>	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PROJECT(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Projname, Budget, </a:t>
            </a:r>
            <a:r>
              <a:rPr lang="en-US" altLang="ko-KR" sz="1800" b="1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Manager, MStartDate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)</a:t>
            </a:r>
          </a:p>
        </p:txBody>
      </p:sp>
      <p:pic>
        <p:nvPicPr>
          <p:cNvPr id="32773" name="그림 1">
            <a:extLst>
              <a:ext uri="{FF2B5EF4-FFF2-40B4-BE49-F238E27FC236}">
                <a16:creationId xmlns:a16="http://schemas.microsoft.com/office/drawing/2014/main" id="{1AB3E8CA-076B-D0E9-4434-DFC087129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13" y="2652713"/>
            <a:ext cx="665797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번호 개체 틀 4">
            <a:extLst>
              <a:ext uri="{FF2B5EF4-FFF2-40B4-BE49-F238E27FC236}">
                <a16:creationId xmlns:a16="http://schemas.microsoft.com/office/drawing/2014/main" id="{5629DFAA-3B17-DE25-FB16-0CC1B10AD8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1C5762F-E752-4011-A9FE-4F33C678E554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16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086814F-6D8D-5248-2105-BB2DF8273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442913"/>
            <a:ext cx="8234362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F284247A-20B5-D402-2AA1-9472485D8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4: Regular binary 1:N relationship type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For the regular binary 1:N relationship type R, find the relation S corresponding to the participating entity type on the N side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The primary key of relation T is included in relation S as a foreign key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All simple attributes of the relation type R (if they have a compound attribute, the simple attributes that make up the compound attribute) are included in the relation corresponding to S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번호 개체 틀 3">
            <a:extLst>
              <a:ext uri="{FF2B5EF4-FFF2-40B4-BE49-F238E27FC236}">
                <a16:creationId xmlns:a16="http://schemas.microsoft.com/office/drawing/2014/main" id="{1D9983ED-801F-B526-E4F0-882C8CC975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2547584-0D3E-46DA-91D9-5CD681AD6E77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17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984C6DD-976B-6195-9812-21122BFF7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7F6B93-E48C-9483-5032-782055E30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775" y="2187575"/>
            <a:ext cx="565785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73ACAB80-4466-A795-45DD-364E25005973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431925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4: Regular binary 1:N relationship type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DAF1A5-02CA-79FF-876B-E2D11E79E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450" y="4210050"/>
            <a:ext cx="4043363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번호 개체 틀 4">
            <a:extLst>
              <a:ext uri="{FF2B5EF4-FFF2-40B4-BE49-F238E27FC236}">
                <a16:creationId xmlns:a16="http://schemas.microsoft.com/office/drawing/2014/main" id="{5B28296A-8340-38E5-CF43-682B32DFE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DD95EB2-C542-4197-B5ED-6C92EB9038A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18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90149D9F-BDCC-E84F-0B03-C18247CBB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D642E7A-3DE2-9801-A919-38AC94D2A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4: Regular binary 1:N relationship type 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latin typeface="½Å¸íÁ¶" charset="0"/>
                <a:ea typeface="신명조" charset="-127"/>
              </a:rPr>
              <a:t>	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EMPLOYEE(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Empname, Title, City, Ku, Dong, 		     	     Salary, </a:t>
            </a:r>
            <a:r>
              <a:rPr lang="en-US" altLang="ko-KR" sz="2000" b="1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Dno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)</a:t>
            </a:r>
          </a:p>
        </p:txBody>
      </p:sp>
      <p:pic>
        <p:nvPicPr>
          <p:cNvPr id="38917" name="그림 1">
            <a:extLst>
              <a:ext uri="{FF2B5EF4-FFF2-40B4-BE49-F238E27FC236}">
                <a16:creationId xmlns:a16="http://schemas.microsoft.com/office/drawing/2014/main" id="{F7031567-9166-9910-3FB8-B8B0E3AEF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350" y="2943225"/>
            <a:ext cx="71247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번호 개체 틀 4">
            <a:extLst>
              <a:ext uri="{FF2B5EF4-FFF2-40B4-BE49-F238E27FC236}">
                <a16:creationId xmlns:a16="http://schemas.microsoft.com/office/drawing/2014/main" id="{7664D329-80AF-8912-DDAF-CE5CCB6F7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0322608F-8D00-450F-A6FE-3093627317EE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19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2012C618-7DF8-7891-D2C2-EC0F542DC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A53FA1F-921B-432E-7B5E-902ED56E9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4: Regular binary 1:N relationship type 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PART(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Partno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Partname, Price, </a:t>
            </a:r>
            <a:r>
              <a:rPr lang="en-US" altLang="ko-KR" sz="2000" b="1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Subpartno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)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ko-KR" altLang="en-US" sz="2000" b="1">
              <a:solidFill>
                <a:srgbClr val="FF3300"/>
              </a:solidFill>
              <a:latin typeface="함초롬바탕" pitchFamily="18" charset="-127"/>
              <a:ea typeface="함초롬바탕" pitchFamily="18" charset="-127"/>
            </a:endParaRPr>
          </a:p>
        </p:txBody>
      </p:sp>
      <p:pic>
        <p:nvPicPr>
          <p:cNvPr id="40965" name="그림 1">
            <a:extLst>
              <a:ext uri="{FF2B5EF4-FFF2-40B4-BE49-F238E27FC236}">
                <a16:creationId xmlns:a16="http://schemas.microsoft.com/office/drawing/2014/main" id="{F3E4A18B-E0EA-B0B1-798E-68AA589FB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2747963"/>
            <a:ext cx="608647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슬라이드 번호 개체 틀 4">
            <a:extLst>
              <a:ext uri="{FF2B5EF4-FFF2-40B4-BE49-F238E27FC236}">
                <a16:creationId xmlns:a16="http://schemas.microsoft.com/office/drawing/2014/main" id="{A9B33EDC-5F36-E4C8-D5C7-12D57E1461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B3932A4-3A10-413D-A1EC-2E1F7789E9D5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20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F951D72-B98C-7973-5F55-752292786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35F57652-2395-3F24-8E0C-D34BE1731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Step 5: Binary M:N relationship type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For binary M:N relationship type R, create relation R</a:t>
            </a:r>
            <a:endParaRPr lang="ko-KR" altLang="en-US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Primary keys of relations corresponding to the participating entity type are included in relation R as foreign keys, and a combination of these becomes the primary key of relation R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All simple attributes of the relationship type R (if they have a compound attribute, the simple attributes that make up the compound attribute) are included in relation R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sz="1600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600" b="1">
                <a:latin typeface="함초롬바탕" pitchFamily="18" charset="-127"/>
                <a:ea typeface="함초롬바탕" pitchFamily="18" charset="-127"/>
              </a:rPr>
              <a:t>If primary keys of relations corresponding to the participating entity type cannot uniquely identify the rows, then a combination of keys, including simple attributes of relation R, are used to form the primary key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ko-KR" altLang="en-US" sz="1600" b="1">
              <a:latin typeface="함초롬바탕" pitchFamily="18" charset="-127"/>
              <a:ea typeface="함초롬바탕" pitchFamily="18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슬라이드 번호 개체 틀 3">
            <a:extLst>
              <a:ext uri="{FF2B5EF4-FFF2-40B4-BE49-F238E27FC236}">
                <a16:creationId xmlns:a16="http://schemas.microsoft.com/office/drawing/2014/main" id="{751385B6-0301-5F6F-E453-914907FE7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9F3117E2-257E-419A-927C-4FE63BBE094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21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138F745-6D08-0C71-6204-62B2344BA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5F8BE9-6C54-071E-6CDC-F108660FDD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838" y="2378075"/>
            <a:ext cx="618172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42CA7B75-4F61-F399-8921-D83A9BA6A3BE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431925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5: Binary M:N relationship type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A08683-5901-DEB2-055C-A3509B564F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4133850"/>
            <a:ext cx="570547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슬라이드 번호 개체 틀 4">
            <a:extLst>
              <a:ext uri="{FF2B5EF4-FFF2-40B4-BE49-F238E27FC236}">
                <a16:creationId xmlns:a16="http://schemas.microsoft.com/office/drawing/2014/main" id="{CF71EEA9-BDA9-C000-2361-ECA61CD4AC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5CE5046E-7F55-4BB5-93CA-F3CD04335959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22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831A2A5-FA29-E710-BAB1-80F1A4011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A69B84A6-1AC9-1340-B708-39618522F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5: Binary M:N relationship type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latin typeface="½Å¸íÁ¶" charset="0"/>
                <a:ea typeface="신명조" charset="-127"/>
              </a:rPr>
              <a:t>	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WORKS_FOR(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Duration, Responsibility)</a:t>
            </a:r>
          </a:p>
        </p:txBody>
      </p:sp>
      <p:pic>
        <p:nvPicPr>
          <p:cNvPr id="47109" name="그림 1">
            <a:extLst>
              <a:ext uri="{FF2B5EF4-FFF2-40B4-BE49-F238E27FC236}">
                <a16:creationId xmlns:a16="http://schemas.microsoft.com/office/drawing/2014/main" id="{18BF5498-D99C-9F02-F2E6-471AA637C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8" y="2700338"/>
            <a:ext cx="647700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번호 개체 틀 4">
            <a:extLst>
              <a:ext uri="{FF2B5EF4-FFF2-40B4-BE49-F238E27FC236}">
                <a16:creationId xmlns:a16="http://schemas.microsoft.com/office/drawing/2014/main" id="{08DB6BE0-CF16-6EF7-3408-3B82BA8BE1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566DE15-3C78-4477-A767-BF190B3CCBF5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23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0363C9BD-AA48-815E-EBBB-F4C680198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C3F9568A-FAA2-BA51-73AE-87BFB0BC4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6: Ternary or higher relationship types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Relation R is created for each relation type R of ternary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Include primary keys of relations corresponding to all entity types participating in relation type R as foreign keys in relation R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All simple attributes of the relation type R (if they have a compound attribute, the simple attributes that make up the compound attribute) are included in relation 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슬라이드 번호 개체 틀 4">
            <a:extLst>
              <a:ext uri="{FF2B5EF4-FFF2-40B4-BE49-F238E27FC236}">
                <a16:creationId xmlns:a16="http://schemas.microsoft.com/office/drawing/2014/main" id="{927AFD54-CA91-C7EE-C231-3D201D7DB0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4C3EA4AB-EB77-4334-8EE1-CFDEF1E4A646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24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B99F84A8-D487-6630-8348-6B5EB3774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B13A188E-8DD7-B7CB-9761-706458BAE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6: Ternary or higher relationship types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In general, a combination of foreign keys becomes the primary key of relation R</a:t>
            </a:r>
          </a:p>
        </p:txBody>
      </p:sp>
      <p:pic>
        <p:nvPicPr>
          <p:cNvPr id="51205" name="그림 1">
            <a:extLst>
              <a:ext uri="{FF2B5EF4-FFF2-40B4-BE49-F238E27FC236}">
                <a16:creationId xmlns:a16="http://schemas.microsoft.com/office/drawing/2014/main" id="{0B5DF783-0AAD-04B5-F3CD-34CDC6112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" y="3048000"/>
            <a:ext cx="72580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슬라이드 번호 개체 틀 4">
            <a:extLst>
              <a:ext uri="{FF2B5EF4-FFF2-40B4-BE49-F238E27FC236}">
                <a16:creationId xmlns:a16="http://schemas.microsoft.com/office/drawing/2014/main" id="{F6669C66-85A2-68F6-D6D8-E5CCC8F52E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9165F97C-959F-4DB3-AEC9-8CC61168FD9F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25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775A7C08-665B-139A-FE71-3BC30A3E4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D90D68B3-D732-BCB5-CF6B-945EC818B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6: Ternary or higher relationship types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If the cardinality of the entity types participating in the relationship type R is 1:N:N, the combination of the remaining foreign keys except for the foreign key referring to the primary key of the relation with cardinality of 1 becomes the primary key of relation R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</p:txBody>
      </p:sp>
      <p:pic>
        <p:nvPicPr>
          <p:cNvPr id="53253" name="그림 4">
            <a:extLst>
              <a:ext uri="{FF2B5EF4-FFF2-40B4-BE49-F238E27FC236}">
                <a16:creationId xmlns:a16="http://schemas.microsoft.com/office/drawing/2014/main" id="{FA63C363-26CE-442D-DA72-D8446CAA0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743325"/>
            <a:ext cx="72294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슬라이드 번호 개체 틀 4">
            <a:extLst>
              <a:ext uri="{FF2B5EF4-FFF2-40B4-BE49-F238E27FC236}">
                <a16:creationId xmlns:a16="http://schemas.microsoft.com/office/drawing/2014/main" id="{314468B7-94B9-5A6A-B347-40C97DCB29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3EBDF45-A6AA-4D88-9F99-4FD42C24C31F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26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4D9D368E-3498-F254-EBF7-DF68BC657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B8CAFB4F-3C23-5B15-0B5F-027A9DEC8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6: Ternary or higher relationship types 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latin typeface="½Å¸íÁ¶" charset="0"/>
                <a:ea typeface="신명조" charset="-127"/>
              </a:rPr>
              <a:t>	</a:t>
            </a:r>
            <a:r>
              <a:rPr lang="en-US" altLang="ko-KR" sz="2000" b="1">
                <a:latin typeface="Courier New" panose="02070309020205020404" pitchFamily="49" charset="0"/>
              </a:rPr>
              <a:t>SUPPLY(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</a:rPr>
              <a:t>Suppno</a:t>
            </a:r>
            <a:r>
              <a:rPr lang="en-US" altLang="ko-KR" sz="2000" b="1">
                <a:latin typeface="Courier New" panose="02070309020205020404" pitchFamily="49" charset="0"/>
              </a:rPr>
              <a:t>, 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</a:rPr>
              <a:t>Projno</a:t>
            </a:r>
            <a:r>
              <a:rPr lang="en-US" altLang="ko-KR" sz="2000" b="1">
                <a:latin typeface="Courier New" panose="02070309020205020404" pitchFamily="49" charset="0"/>
              </a:rPr>
              <a:t>, 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</a:rPr>
              <a:t>Partno</a:t>
            </a:r>
            <a:r>
              <a:rPr lang="en-US" altLang="ko-KR" sz="2000" b="1">
                <a:latin typeface="Courier New" panose="02070309020205020404" pitchFamily="49" charset="0"/>
              </a:rPr>
              <a:t>, Quantity)</a:t>
            </a:r>
          </a:p>
        </p:txBody>
      </p:sp>
      <p:pic>
        <p:nvPicPr>
          <p:cNvPr id="55301" name="그림 1">
            <a:extLst>
              <a:ext uri="{FF2B5EF4-FFF2-40B4-BE49-F238E27FC236}">
                <a16:creationId xmlns:a16="http://schemas.microsoft.com/office/drawing/2014/main" id="{4EA9C07B-53CD-0712-74DB-5B2D884C0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2747963"/>
            <a:ext cx="633412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슬라이드 번호 개체 틀 4">
            <a:extLst>
              <a:ext uri="{FF2B5EF4-FFF2-40B4-BE49-F238E27FC236}">
                <a16:creationId xmlns:a16="http://schemas.microsoft.com/office/drawing/2014/main" id="{E9A6ABF0-390C-6035-F8A1-15F8B4D9F5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8471E737-19A0-4D0A-B9B0-D537BA1D7DF5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27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79036F18-F4AA-5865-104E-6BECACB36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6402760-CE23-C62D-BDF1-64CA80C25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7: Multi-valued attribute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Create a relation R for each multivalued attribute</a:t>
            </a:r>
            <a:endParaRPr lang="ko-KR" altLang="en-US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Include the attribute corresponding to the multi-valued attribute in relation R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Include the primary key of the relation corresponding to the entity type or relation type having the multi-valued attribute as an attribute in relation R as a foreign key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altLang="ko-KR" b="1">
              <a:latin typeface="함초롬바탕" pitchFamily="18" charset="-127"/>
              <a:ea typeface="함초롬바탕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b="1">
                <a:latin typeface="함초롬바탕" pitchFamily="18" charset="-127"/>
                <a:ea typeface="함초롬바탕" pitchFamily="18" charset="-127"/>
              </a:rPr>
              <a:t>The primary key of R in the relation is a combination of a multi-valued attribute and a foreign key</a:t>
            </a:r>
            <a:endParaRPr lang="ko-KR" altLang="en-US">
              <a:latin typeface="함초롬바탕" pitchFamily="18" charset="-127"/>
              <a:ea typeface="함초롬바탕" pitchFamily="18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슬라이드 번호 개체 틀 3">
            <a:extLst>
              <a:ext uri="{FF2B5EF4-FFF2-40B4-BE49-F238E27FC236}">
                <a16:creationId xmlns:a16="http://schemas.microsoft.com/office/drawing/2014/main" id="{A174707C-9525-4BC6-59BB-786C40539D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CEC0953-E1ED-4D12-BE89-FE9B0D783D1A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28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780601E3-7883-4C71-8C24-5F0841F77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pic>
        <p:nvPicPr>
          <p:cNvPr id="59396" name="그림 2">
            <a:extLst>
              <a:ext uri="{FF2B5EF4-FFF2-40B4-BE49-F238E27FC236}">
                <a16:creationId xmlns:a16="http://schemas.microsoft.com/office/drawing/2014/main" id="{551EFA76-356C-1748-CF4E-213E48D60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913" y="2119313"/>
            <a:ext cx="603885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005428E-FF2E-292E-CD67-CF21F65D4B91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431925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sz="2000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7: Multi-valued attribute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슬라이드 번호 개체 틀 4">
            <a:extLst>
              <a:ext uri="{FF2B5EF4-FFF2-40B4-BE49-F238E27FC236}">
                <a16:creationId xmlns:a16="http://schemas.microsoft.com/office/drawing/2014/main" id="{563B569C-6EE9-A5EF-EA03-DCD45A41BA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AE8B33FA-37BF-4A66-B20F-AEECD0A82D70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29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0D46738A-676D-51D2-A460-6F4BB51FB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1711B187-16D4-9598-3B7C-7A803EF9E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Step 7: Multi-valued attribute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latin typeface="½Å¸íÁ¶" charset="0"/>
                <a:ea typeface="신명조" charset="-127"/>
              </a:rPr>
              <a:t>	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PROJ_LOC(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Location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)</a:t>
            </a:r>
          </a:p>
        </p:txBody>
      </p:sp>
      <p:pic>
        <p:nvPicPr>
          <p:cNvPr id="61445" name="그림 1">
            <a:extLst>
              <a:ext uri="{FF2B5EF4-FFF2-40B4-BE49-F238E27FC236}">
                <a16:creationId xmlns:a16="http://schemas.microsoft.com/office/drawing/2014/main" id="{0B539170-2AD0-9B69-8752-C9D2B699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488" y="2728913"/>
            <a:ext cx="568642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슬라이드 번호 개체 틀 4">
            <a:extLst>
              <a:ext uri="{FF2B5EF4-FFF2-40B4-BE49-F238E27FC236}">
                <a16:creationId xmlns:a16="http://schemas.microsoft.com/office/drawing/2014/main" id="{E6074A8C-118F-39C4-D37F-DA5B70793F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03EDEF9-A596-4A08-A386-AD25E8A2E42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30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652F83C0-B926-CBC7-17F9-3F8FFFB01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6F2ABB4-86BD-87D2-6F95-196AA4EF0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Applying the algorithm to the database design case</a:t>
            </a:r>
            <a:endParaRPr lang="ko-KR" altLang="en-US" sz="2000" b="1">
              <a:latin typeface="함초롬바탕" pitchFamily="18" charset="-127"/>
              <a:ea typeface="함초롬바탕" pitchFamily="18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 b="1">
                <a:latin typeface="함초롬바탕" pitchFamily="18" charset="-127"/>
                <a:ea typeface="함초롬바탕" pitchFamily="18" charset="-127"/>
              </a:rPr>
              <a:t>	</a:t>
            </a:r>
            <a:r>
              <a:rPr lang="en-US" altLang="ko-KR" sz="2000" b="1">
                <a:solidFill>
                  <a:srgbClr val="FF3300"/>
                </a:solidFill>
                <a:latin typeface="함초롬바탕" pitchFamily="18" charset="-127"/>
                <a:ea typeface="함초롬바탕" pitchFamily="18" charset="-127"/>
              </a:rPr>
              <a:t> Step 1: Regular entity types and single valued attributes</a:t>
            </a:r>
            <a:endParaRPr lang="ko-KR" altLang="en-US" sz="2000" b="1">
              <a:solidFill>
                <a:srgbClr val="FF3300"/>
              </a:solidFill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solidFill>
                  <a:srgbClr val="FF3300"/>
                </a:solidFill>
                <a:latin typeface="½Å¸íÁ¶" charset="0"/>
                <a:ea typeface="신명조" charset="-127"/>
              </a:rPr>
              <a:t> </a:t>
            </a:r>
            <a:endParaRPr lang="ko-KR" altLang="en-US" sz="2000">
              <a:latin typeface="½Å¸íÁ¶" charset="0"/>
              <a:ea typeface="신명조" charset="-127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latin typeface="½Å¸íÁ¶" charset="0"/>
                <a:ea typeface="신명조" charset="-127"/>
              </a:rPr>
              <a:t>	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EMPLOYEE(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Empname, Title, City, Ku, Dong, 	   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	     Salary)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PROJECT(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Projname, Budget)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DEPARTMENT(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Deptno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Deptname, Floor)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SUPPLIER(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Suppno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Suppname, Credit)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	PART(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Partno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Partname, Price)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슬라이드 번호 개체 틀 4">
            <a:extLst>
              <a:ext uri="{FF2B5EF4-FFF2-40B4-BE49-F238E27FC236}">
                <a16:creationId xmlns:a16="http://schemas.microsoft.com/office/drawing/2014/main" id="{50212137-A8FC-1F01-C9A8-4D5F0E992A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157E579-AD3E-4FAE-8E6C-5D93542D5DAA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31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576B9AE-0E67-9EAF-335E-198FD3F98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1023C2E5-2518-F855-1507-1AAA25D97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Applying the algorithm to the database design case</a:t>
            </a:r>
            <a:endParaRPr lang="ko-KR" altLang="en-US" sz="1800" b="1">
              <a:latin typeface="함초롬바탕" pitchFamily="18" charset="-127"/>
              <a:ea typeface="함초롬바탕" pitchFamily="18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함초롬바탕" pitchFamily="18" charset="-127"/>
                <a:ea typeface="함초롬바탕" pitchFamily="18" charset="-127"/>
              </a:rPr>
              <a:t>	</a:t>
            </a:r>
            <a:r>
              <a:rPr lang="en-US" altLang="ko-KR" sz="1800" b="1">
                <a:solidFill>
                  <a:srgbClr val="FF3300"/>
                </a:solidFill>
                <a:latin typeface="함초롬바탕" pitchFamily="18" charset="-127"/>
                <a:ea typeface="함초롬바탕" pitchFamily="18" charset="-127"/>
              </a:rPr>
              <a:t> Step 2: Weak Entity Type and Single Value Attribute </a:t>
            </a:r>
            <a:endParaRPr lang="ko-KR" altLang="en-US" sz="1800" b="1">
              <a:solidFill>
                <a:srgbClr val="FF3300"/>
              </a:solidFill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1800">
                <a:solidFill>
                  <a:srgbClr val="FF3300"/>
                </a:solidFill>
                <a:latin typeface="½Å¸íÁ¶" charset="0"/>
                <a:ea typeface="신명조" charset="-127"/>
              </a:rPr>
              <a:t> </a:t>
            </a:r>
            <a:r>
              <a:rPr lang="ko-KR" altLang="en-US" sz="1800">
                <a:latin typeface="½Å¸íÁ¶" charset="0"/>
                <a:ea typeface="신명조" charset="-127"/>
              </a:rPr>
              <a:t>	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DEPENDENT(</a:t>
            </a:r>
            <a:r>
              <a:rPr lang="en-US" altLang="ko-KR" sz="1800" b="1" u="sng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Depname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Sex)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  <a:ea typeface="신명조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3300"/>
                </a:solidFill>
              </a:rPr>
              <a:t>	</a:t>
            </a:r>
            <a:r>
              <a:rPr lang="en-US" altLang="ko-KR" sz="1800" b="1">
                <a:solidFill>
                  <a:srgbClr val="FF3300"/>
                </a:solidFill>
                <a:latin typeface="함초롬바탕" pitchFamily="18" charset="-127"/>
                <a:ea typeface="함초롬바탕" pitchFamily="18" charset="-127"/>
              </a:rPr>
              <a:t> Step 3: Binary 1:1 Relationship Type</a:t>
            </a:r>
            <a:endParaRPr lang="ko-KR" altLang="en-US" sz="1800" b="1">
              <a:solidFill>
                <a:srgbClr val="FF3300"/>
              </a:solidFill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1800">
                <a:solidFill>
                  <a:srgbClr val="FF3300"/>
                </a:solidFill>
                <a:latin typeface="½Å¸íÁ¶" charset="0"/>
                <a:ea typeface="신명조" charset="-127"/>
              </a:rPr>
              <a:t> </a:t>
            </a:r>
            <a:r>
              <a:rPr lang="ko-KR" altLang="en-US" sz="1800">
                <a:latin typeface="½Å¸íÁ¶" charset="0"/>
                <a:ea typeface="신명조" charset="-127"/>
              </a:rPr>
              <a:t>	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PROJECT(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Projname, Budget, </a:t>
            </a:r>
            <a:r>
              <a:rPr lang="en-US" altLang="ko-KR" sz="1800" b="1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Manager, MStartDate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)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  <a:ea typeface="신명조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3300"/>
                </a:solidFill>
              </a:rPr>
              <a:t>	</a:t>
            </a:r>
            <a:r>
              <a:rPr lang="en-US" altLang="ko-KR" sz="1800" b="1">
                <a:solidFill>
                  <a:srgbClr val="FF3300"/>
                </a:solidFill>
                <a:latin typeface="함초롬바탕" pitchFamily="18" charset="-127"/>
                <a:ea typeface="함초롬바탕" pitchFamily="18" charset="-127"/>
              </a:rPr>
              <a:t> Step 4: Regular binary 1:N relationship type </a:t>
            </a:r>
            <a:endParaRPr lang="ko-KR" altLang="en-US" sz="1800" b="1">
              <a:solidFill>
                <a:srgbClr val="FF3300"/>
              </a:solidFill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1800">
                <a:solidFill>
                  <a:srgbClr val="FF3300"/>
                </a:solidFill>
                <a:latin typeface="½Å¸íÁ¶" charset="0"/>
                <a:ea typeface="신명조" charset="-127"/>
              </a:rPr>
              <a:t> </a:t>
            </a:r>
            <a:r>
              <a:rPr lang="ko-KR" altLang="en-US" sz="1800">
                <a:latin typeface="½Å¸íÁ¶" charset="0"/>
                <a:ea typeface="신명조" charset="-127"/>
              </a:rPr>
              <a:t>	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EMPLOYEE(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Empname, Title, City, Ku, Dong, 		     	     Salary, </a:t>
            </a:r>
            <a:r>
              <a:rPr lang="en-US" altLang="ko-KR" sz="1800" b="1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Dno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)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	PART(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Partno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Partname, Price, </a:t>
            </a:r>
            <a:r>
              <a:rPr lang="en-US" altLang="ko-KR" sz="1800" b="1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Subpartno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슬라이드 번호 개체 틀 4">
            <a:extLst>
              <a:ext uri="{FF2B5EF4-FFF2-40B4-BE49-F238E27FC236}">
                <a16:creationId xmlns:a16="http://schemas.microsoft.com/office/drawing/2014/main" id="{D50FADEA-B8CD-15F9-3E81-0F02D43B9D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8B79F77-FD94-4932-A2A4-4C7264A73D33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32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9DF575E-1236-1BD1-5F43-9653C4077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F162B6E6-5A17-4D53-16C8-8C5262649C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Applying the algorithm to the database design case</a:t>
            </a:r>
            <a:endParaRPr lang="ko-KR" altLang="en-US" sz="2000" b="1">
              <a:latin typeface="함초롬바탕" pitchFamily="18" charset="-127"/>
              <a:ea typeface="함초롬바탕" pitchFamily="18" charset="-127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	</a:t>
            </a:r>
            <a:r>
              <a:rPr lang="en-US" altLang="ko-KR" sz="2000" b="1">
                <a:solidFill>
                  <a:srgbClr val="FF3300"/>
                </a:solidFill>
                <a:latin typeface="함초롬바탕" pitchFamily="18" charset="-127"/>
                <a:ea typeface="함초롬바탕" pitchFamily="18" charset="-127"/>
              </a:rPr>
              <a:t> Step 5: Binary M:N relationship type </a:t>
            </a:r>
            <a:endParaRPr lang="ko-KR" altLang="en-US" sz="2000" b="1">
              <a:solidFill>
                <a:srgbClr val="FF3300"/>
              </a:solidFill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solidFill>
                  <a:srgbClr val="FF3300"/>
                </a:solidFill>
                <a:latin typeface="½Å¸íÁ¶" charset="0"/>
                <a:ea typeface="신명조" charset="-127"/>
              </a:rPr>
              <a:t> </a:t>
            </a:r>
            <a:r>
              <a:rPr lang="ko-KR" altLang="en-US" sz="2000">
                <a:latin typeface="½Å¸íÁ¶" charset="0"/>
                <a:ea typeface="신명조" charset="-127"/>
              </a:rPr>
              <a:t>	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WORKS_FOR(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Duration, Responsibility)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  <a:ea typeface="신명조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solidFill>
                  <a:srgbClr val="FF3300"/>
                </a:solidFill>
              </a:rPr>
              <a:t>	</a:t>
            </a:r>
            <a:r>
              <a:rPr lang="en-US" altLang="ko-KR" sz="2000" b="1">
                <a:solidFill>
                  <a:srgbClr val="FF3300"/>
                </a:solidFill>
                <a:latin typeface="함초롬바탕" pitchFamily="18" charset="-127"/>
                <a:ea typeface="함초롬바탕" pitchFamily="18" charset="-127"/>
              </a:rPr>
              <a:t> Step 6: Ternary or higher relationship types </a:t>
            </a:r>
            <a:endParaRPr lang="ko-KR" altLang="en-US" sz="2000" b="1">
              <a:solidFill>
                <a:srgbClr val="FF3300"/>
              </a:solidFill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solidFill>
                  <a:srgbClr val="FF3300"/>
                </a:solidFill>
                <a:latin typeface="½Å¸íÁ¶" charset="0"/>
                <a:ea typeface="신명조" charset="-127"/>
              </a:rPr>
              <a:t> </a:t>
            </a:r>
            <a:r>
              <a:rPr lang="ko-KR" altLang="en-US" sz="2000">
                <a:latin typeface="½Å¸íÁ¶" charset="0"/>
                <a:ea typeface="신명조" charset="-127"/>
              </a:rPr>
              <a:t>	</a:t>
            </a:r>
            <a:r>
              <a:rPr lang="en-US" altLang="ko-KR" sz="2000" b="1">
                <a:latin typeface="Courier New" panose="02070309020205020404" pitchFamily="49" charset="0"/>
              </a:rPr>
              <a:t>SUPPLY(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</a:rPr>
              <a:t>Suppno</a:t>
            </a:r>
            <a:r>
              <a:rPr lang="en-US" altLang="ko-KR" sz="2000" b="1">
                <a:latin typeface="Courier New" panose="02070309020205020404" pitchFamily="49" charset="0"/>
              </a:rPr>
              <a:t>, 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</a:rPr>
              <a:t>Projno</a:t>
            </a:r>
            <a:r>
              <a:rPr lang="en-US" altLang="ko-KR" sz="2000" b="1">
                <a:latin typeface="Courier New" panose="02070309020205020404" pitchFamily="49" charset="0"/>
              </a:rPr>
              <a:t>, 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</a:rPr>
              <a:t>Partno</a:t>
            </a:r>
            <a:r>
              <a:rPr lang="en-US" altLang="ko-KR" sz="2000" b="1">
                <a:latin typeface="Courier New" panose="02070309020205020404" pitchFamily="49" charset="0"/>
              </a:rPr>
              <a:t>, Quantity)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000" b="1">
              <a:latin typeface="Courier New" panose="02070309020205020404" pitchFamily="49" charset="0"/>
              <a:ea typeface="신명조" charset="-127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solidFill>
                  <a:srgbClr val="FF3300"/>
                </a:solidFill>
              </a:rPr>
              <a:t>	</a:t>
            </a:r>
            <a:r>
              <a:rPr lang="en-US" altLang="ko-KR" sz="2000" b="1">
                <a:solidFill>
                  <a:srgbClr val="FF3300"/>
                </a:solidFill>
                <a:latin typeface="함초롬바탕" pitchFamily="18" charset="-127"/>
                <a:ea typeface="함초롬바탕" pitchFamily="18" charset="-127"/>
              </a:rPr>
              <a:t> Step 7: Multi-valued Attribute</a:t>
            </a:r>
            <a:endParaRPr lang="ko-KR" altLang="en-US" sz="2000" b="1">
              <a:solidFill>
                <a:srgbClr val="FF3300"/>
              </a:solidFill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>
                <a:solidFill>
                  <a:srgbClr val="FF3300"/>
                </a:solidFill>
                <a:latin typeface="½Å¸íÁ¶" charset="0"/>
                <a:ea typeface="신명조" charset="-127"/>
              </a:rPr>
              <a:t> </a:t>
            </a:r>
            <a:r>
              <a:rPr lang="ko-KR" altLang="en-US" sz="2000">
                <a:latin typeface="½Å¸íÁ¶" charset="0"/>
                <a:ea typeface="신명조" charset="-127"/>
              </a:rPr>
              <a:t>	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PROJ_LOC(</a:t>
            </a:r>
            <a:r>
              <a:rPr lang="en-US" altLang="ko-KR" sz="2000" b="1" u="sng">
                <a:solidFill>
                  <a:schemeClr val="accent2"/>
                </a:solidFill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, </a:t>
            </a:r>
            <a:r>
              <a:rPr lang="en-US" altLang="ko-KR" sz="2000" b="1" u="sng">
                <a:latin typeface="Courier New" panose="02070309020205020404" pitchFamily="49" charset="0"/>
                <a:ea typeface="신명조" charset="-127"/>
              </a:rPr>
              <a:t>Location</a:t>
            </a:r>
            <a:r>
              <a:rPr lang="en-US" altLang="ko-KR" sz="2000" b="1">
                <a:latin typeface="Courier New" panose="02070309020205020404" pitchFamily="49" charset="0"/>
                <a:ea typeface="신명조" charset="-127"/>
              </a:rPr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슬라이드 번호 개체 틀 4">
            <a:extLst>
              <a:ext uri="{FF2B5EF4-FFF2-40B4-BE49-F238E27FC236}">
                <a16:creationId xmlns:a16="http://schemas.microsoft.com/office/drawing/2014/main" id="{E2B3349A-ADDE-5D7C-4A06-7218EE76D9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B82EBB3-BEA6-468D-96D6-91EF8131D19B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33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3AF05487-66EF-A90B-8E98-82372E0E0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2. E-R Diagram Mapping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F2DE4F7A-5B15-0FE7-2944-11A5D4A65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The company ER schema was mapped into a total of 9 relations in the relational database</a:t>
            </a:r>
            <a:endParaRPr lang="ko-KR" altLang="en-US" sz="2000" b="1">
              <a:latin typeface="함초롬바탕" pitchFamily="18" charset="-127"/>
              <a:ea typeface="함초롬바탕" pitchFamily="18" charset="-127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1800" b="1">
                <a:latin typeface="Courier New" panose="02070309020205020404" pitchFamily="49" charset="0"/>
                <a:ea typeface="신명조" charset="-127"/>
              </a:rPr>
              <a:t>	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EMPLOYEE(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Empname, Title, City, Ku, Dong, 		     	     Salary, Dno)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	PROJECT(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Projname, Budget, Manager, MStartDate)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	DEPARTMENT(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Deptno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Deptname, Floor)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	SUPPLIER(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Suppno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Suppname, Credit)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	PART(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Partno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Partname, Price, Subpartno)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	DEPENDENT(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Depname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Sex)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ea typeface="신명조" charset="-127"/>
              </a:rPr>
              <a:t> 	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WORKS_FOR(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Empno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Duration, Responsibility)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ea typeface="신명조" charset="-127"/>
              </a:rPr>
              <a:t>	</a:t>
            </a:r>
            <a:r>
              <a:rPr lang="en-US" altLang="ko-KR" sz="1800" b="1">
                <a:latin typeface="Courier New" panose="02070309020205020404" pitchFamily="49" charset="0"/>
              </a:rPr>
              <a:t>SUPPLY(</a:t>
            </a:r>
            <a:r>
              <a:rPr lang="en-US" altLang="ko-KR" sz="1800" b="1" u="sng">
                <a:latin typeface="Courier New" panose="02070309020205020404" pitchFamily="49" charset="0"/>
              </a:rPr>
              <a:t>Suppno</a:t>
            </a:r>
            <a:r>
              <a:rPr lang="en-US" altLang="ko-KR" sz="1800" b="1">
                <a:latin typeface="Courier New" panose="02070309020205020404" pitchFamily="49" charset="0"/>
              </a:rPr>
              <a:t>, </a:t>
            </a:r>
            <a:r>
              <a:rPr lang="en-US" altLang="ko-KR" sz="1800" b="1" u="sng">
                <a:latin typeface="Courier New" panose="02070309020205020404" pitchFamily="49" charset="0"/>
              </a:rPr>
              <a:t>Projno</a:t>
            </a:r>
            <a:r>
              <a:rPr lang="en-US" altLang="ko-KR" sz="1800" b="1">
                <a:latin typeface="Courier New" panose="02070309020205020404" pitchFamily="49" charset="0"/>
              </a:rPr>
              <a:t>, </a:t>
            </a:r>
            <a:r>
              <a:rPr lang="en-US" altLang="ko-KR" sz="1800" b="1" u="sng">
                <a:latin typeface="Courier New" panose="02070309020205020404" pitchFamily="49" charset="0"/>
              </a:rPr>
              <a:t>Partno</a:t>
            </a:r>
            <a:r>
              <a:rPr lang="en-US" altLang="ko-KR" sz="1800" b="1">
                <a:latin typeface="Courier New" panose="02070309020205020404" pitchFamily="49" charset="0"/>
              </a:rPr>
              <a:t>, Quantity)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ea typeface="신명조" charset="-127"/>
              </a:rPr>
              <a:t>	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PROJ_LOC(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Projno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, </a:t>
            </a:r>
            <a:r>
              <a:rPr lang="en-US" altLang="ko-KR" sz="1800" b="1" u="sng">
                <a:latin typeface="Courier New" panose="02070309020205020404" pitchFamily="49" charset="0"/>
                <a:ea typeface="신명조" charset="-127"/>
              </a:rPr>
              <a:t>Location</a:t>
            </a:r>
            <a:r>
              <a:rPr lang="en-US" altLang="ko-KR" sz="1800" b="1">
                <a:latin typeface="Courier New" panose="02070309020205020404" pitchFamily="49" charset="0"/>
                <a:ea typeface="신명조" charset="-127"/>
              </a:rPr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슬라이드 번호 개체 틀 4">
            <a:extLst>
              <a:ext uri="{FF2B5EF4-FFF2-40B4-BE49-F238E27FC236}">
                <a16:creationId xmlns:a16="http://schemas.microsoft.com/office/drawing/2014/main" id="{4B7A0738-D9B1-FD2C-4E4C-C0DDCF919E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7B8EF01-D18B-4A70-A6F8-76C73CF8CC1A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34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6588C48E-5A76-811C-9ED0-2DF78BC8C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Exercise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B1A47051-35C0-BD07-27D7-7134421AF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Given the following ER Diagram, map it into logical schemas</a:t>
            </a:r>
            <a:endParaRPr lang="en-US" altLang="ko-KR" sz="1800" b="1">
              <a:latin typeface="Courier New" panose="02070309020205020404" pitchFamily="49" charset="0"/>
              <a:ea typeface="신명조" charset="-127"/>
            </a:endParaRPr>
          </a:p>
        </p:txBody>
      </p:sp>
      <p:pic>
        <p:nvPicPr>
          <p:cNvPr id="71685" name="그림 1">
            <a:extLst>
              <a:ext uri="{FF2B5EF4-FFF2-40B4-BE49-F238E27FC236}">
                <a16:creationId xmlns:a16="http://schemas.microsoft.com/office/drawing/2014/main" id="{BFE62D3F-9641-7055-6220-5E12A879D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13" y="2009775"/>
            <a:ext cx="7419975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슬라이드 번호 개체 틀 4">
            <a:extLst>
              <a:ext uri="{FF2B5EF4-FFF2-40B4-BE49-F238E27FC236}">
                <a16:creationId xmlns:a16="http://schemas.microsoft.com/office/drawing/2014/main" id="{0F6E812B-506E-2241-8A51-E34A7A29BB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F31B374-1397-425D-84E2-2841B64C87BA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35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CD52359F-6DD0-C6D2-57F0-AB5BAB5FF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sz="2800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3. Exercise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E571F7F0-2D2F-0156-C4B9-B29D68CE0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431925"/>
            <a:ext cx="8458200" cy="49022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함초롬바탕" pitchFamily="18" charset="-127"/>
                <a:ea typeface="함초롬바탕" pitchFamily="18" charset="-127"/>
              </a:rPr>
              <a:t>Result of mapping</a:t>
            </a:r>
            <a:endParaRPr lang="en-US" altLang="ko-KR" sz="1800" b="1">
              <a:latin typeface="Courier New" panose="02070309020205020404" pitchFamily="49" charset="0"/>
              <a:ea typeface="신명조" charset="-127"/>
            </a:endParaRPr>
          </a:p>
        </p:txBody>
      </p:sp>
      <p:pic>
        <p:nvPicPr>
          <p:cNvPr id="73733" name="그림 1">
            <a:extLst>
              <a:ext uri="{FF2B5EF4-FFF2-40B4-BE49-F238E27FC236}">
                <a16:creationId xmlns:a16="http://schemas.microsoft.com/office/drawing/2014/main" id="{54811592-03E9-C9D6-F055-B552C01DF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3" y="1992313"/>
            <a:ext cx="71913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번호 개체 틀 3">
            <a:extLst>
              <a:ext uri="{FF2B5EF4-FFF2-40B4-BE49-F238E27FC236}">
                <a16:creationId xmlns:a16="http://schemas.microsoft.com/office/drawing/2014/main" id="{C928D293-B8B1-3B65-D83A-2703E4BDE5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A82C149-95D2-4F2E-85F3-5FD2D13AB2EC}" type="slidenum">
              <a:rPr lang="en-US" altLang="ko-KR" sz="1400">
                <a:latin typeface="Arial" panose="020B0604020202020204" pitchFamily="34" charset="0"/>
                <a:ea typeface="돋움" panose="020B0600000101010101" pitchFamily="34" charset="-127"/>
              </a:rPr>
              <a:pPr>
                <a:spcBef>
                  <a:spcPct val="0"/>
                </a:spcBef>
                <a:buSzTx/>
                <a:buFontTx/>
                <a:buNone/>
              </a:pPr>
              <a:t>36</a:t>
            </a:fld>
            <a:endParaRPr lang="en-US" altLang="ko-KR" sz="14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A1AB596E-FFA0-29CB-56C4-F29A20AC9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442913"/>
            <a:ext cx="8234363" cy="7381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SzPct val="110000"/>
              <a:buChar char="•"/>
              <a:defRPr kumimoji="1" sz="24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pPr algn="ctr" eaLnBrk="1" latinLnBrk="1" hangingPunct="1">
              <a:spcBef>
                <a:spcPct val="0"/>
              </a:spcBef>
              <a:buSzTx/>
              <a:buFontTx/>
              <a:buNone/>
            </a:pPr>
            <a:r>
              <a:rPr lang="en-US" altLang="ko-KR" b="1">
                <a:solidFill>
                  <a:srgbClr val="0000FF"/>
                </a:solidFill>
                <a:latin typeface="함초롬바탕" pitchFamily="18" charset="-127"/>
                <a:ea typeface="함초롬바탕" pitchFamily="18" charset="-127"/>
              </a:rPr>
              <a:t>4. Summary and Discussions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0F99184-BE8B-4FA1-9A59-4A11E607C56F}"/>
              </a:ext>
            </a:extLst>
          </p:cNvPr>
          <p:cNvSpPr txBox="1">
            <a:spLocks noChangeArrowheads="1"/>
          </p:cNvSpPr>
          <p:nvPr/>
        </p:nvSpPr>
        <p:spPr>
          <a:xfrm>
            <a:off x="355600" y="1563688"/>
            <a:ext cx="8458200" cy="4902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10000"/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Arial" pitchFamily="34" charset="0"/>
                <a:ea typeface="+mj-ea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E-R Diagram Mapping Steps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1: Regular entity types and single valued attributes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2: Weak Entity Type and Single Value Attribute 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kern="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3: Binary 1:1 Relationship Type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4: Regular binary 1:N relationship type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Step 5: Binary M:N relationship type 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6: Ternary or higher relationship types 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Step 7: Multi-valued attribute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b="1" kern="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ko-KR" altLang="en-US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/>
            </a:pPr>
            <a:endParaRPr lang="en-US" altLang="ko-KR" b="1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">
  <a:themeElements>
    <a:clrScheme name="Azure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zure">
      <a:majorFont>
        <a:latin typeface="Times New Roman"/>
        <a:ea typeface="돋움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3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신명조" charset="-127"/>
            <a:ea typeface="신명조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3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신명조" charset="-127"/>
            <a:ea typeface="신명조" charset="-127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Designs\Azure.pot</Template>
  <TotalTime>7445</TotalTime>
  <Words>1714</Words>
  <Application>Microsoft Office PowerPoint</Application>
  <PresentationFormat>화면 슬라이드 쇼(4:3)</PresentationFormat>
  <Paragraphs>268</Paragraphs>
  <Slides>36</Slides>
  <Notes>36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7" baseType="lpstr">
      <vt:lpstr>Azure</vt:lpstr>
      <vt:lpstr>E-R Diagram Mapping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creator>노웅기</dc:creator>
  <cp:lastModifiedBy>KIMGYU HYEON</cp:lastModifiedBy>
  <cp:revision>518</cp:revision>
  <cp:lastPrinted>1997-07-26T06:01:56Z</cp:lastPrinted>
  <dcterms:created xsi:type="dcterms:W3CDTF">1995-06-17T23:31:02Z</dcterms:created>
  <dcterms:modified xsi:type="dcterms:W3CDTF">2025-10-22T00:55:31Z</dcterms:modified>
</cp:coreProperties>
</file>